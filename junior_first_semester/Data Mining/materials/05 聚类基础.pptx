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2" r:id="rId1"/>
  </p:sldMasterIdLst>
  <p:notesMasterIdLst>
    <p:notesMasterId r:id="rId125"/>
  </p:notesMasterIdLst>
  <p:sldIdLst>
    <p:sldId id="323" r:id="rId2"/>
    <p:sldId id="324" r:id="rId3"/>
    <p:sldId id="325" r:id="rId4"/>
    <p:sldId id="326" r:id="rId5"/>
    <p:sldId id="327" r:id="rId6"/>
    <p:sldId id="328" r:id="rId7"/>
    <p:sldId id="329" r:id="rId8"/>
    <p:sldId id="330" r:id="rId9"/>
    <p:sldId id="331" r:id="rId10"/>
    <p:sldId id="332" r:id="rId11"/>
    <p:sldId id="499" r:id="rId12"/>
    <p:sldId id="333" r:id="rId13"/>
    <p:sldId id="334" r:id="rId14"/>
    <p:sldId id="335" r:id="rId15"/>
    <p:sldId id="393" r:id="rId16"/>
    <p:sldId id="394" r:id="rId17"/>
    <p:sldId id="417" r:id="rId18"/>
    <p:sldId id="482" r:id="rId19"/>
    <p:sldId id="483" r:id="rId20"/>
    <p:sldId id="484" r:id="rId21"/>
    <p:sldId id="418" r:id="rId22"/>
    <p:sldId id="409" r:id="rId23"/>
    <p:sldId id="419" r:id="rId24"/>
    <p:sldId id="420" r:id="rId25"/>
    <p:sldId id="411" r:id="rId26"/>
    <p:sldId id="412" r:id="rId27"/>
    <p:sldId id="413" r:id="rId28"/>
    <p:sldId id="415" r:id="rId29"/>
    <p:sldId id="416" r:id="rId30"/>
    <p:sldId id="396" r:id="rId31"/>
    <p:sldId id="397" r:id="rId32"/>
    <p:sldId id="398" r:id="rId33"/>
    <p:sldId id="399" r:id="rId34"/>
    <p:sldId id="400" r:id="rId35"/>
    <p:sldId id="501" r:id="rId36"/>
    <p:sldId id="423" r:id="rId37"/>
    <p:sldId id="424" r:id="rId38"/>
    <p:sldId id="401" r:id="rId39"/>
    <p:sldId id="502" r:id="rId40"/>
    <p:sldId id="481" r:id="rId41"/>
    <p:sldId id="503" r:id="rId42"/>
    <p:sldId id="433" r:id="rId43"/>
    <p:sldId id="507" r:id="rId44"/>
    <p:sldId id="506" r:id="rId45"/>
    <p:sldId id="431" r:id="rId46"/>
    <p:sldId id="426" r:id="rId47"/>
    <p:sldId id="505" r:id="rId48"/>
    <p:sldId id="504" r:id="rId49"/>
    <p:sldId id="425" r:id="rId50"/>
    <p:sldId id="434" r:id="rId51"/>
    <p:sldId id="435" r:id="rId52"/>
    <p:sldId id="437" r:id="rId53"/>
    <p:sldId id="508" r:id="rId54"/>
    <p:sldId id="345" r:id="rId55"/>
    <p:sldId id="346" r:id="rId56"/>
    <p:sldId id="347" r:id="rId57"/>
    <p:sldId id="438" r:id="rId58"/>
    <p:sldId id="509" r:id="rId59"/>
    <p:sldId id="439" r:id="rId60"/>
    <p:sldId id="510" r:id="rId61"/>
    <p:sldId id="511" r:id="rId62"/>
    <p:sldId id="513" r:id="rId63"/>
    <p:sldId id="514" r:id="rId64"/>
    <p:sldId id="515" r:id="rId65"/>
    <p:sldId id="512" r:id="rId66"/>
    <p:sldId id="516" r:id="rId67"/>
    <p:sldId id="451" r:id="rId68"/>
    <p:sldId id="354" r:id="rId69"/>
    <p:sldId id="355" r:id="rId70"/>
    <p:sldId id="517" r:id="rId71"/>
    <p:sldId id="452" r:id="rId72"/>
    <p:sldId id="453" r:id="rId73"/>
    <p:sldId id="356" r:id="rId74"/>
    <p:sldId id="357" r:id="rId75"/>
    <p:sldId id="358" r:id="rId76"/>
    <p:sldId id="359" r:id="rId77"/>
    <p:sldId id="518" r:id="rId78"/>
    <p:sldId id="519" r:id="rId79"/>
    <p:sldId id="520" r:id="rId80"/>
    <p:sldId id="455" r:id="rId81"/>
    <p:sldId id="456" r:id="rId82"/>
    <p:sldId id="457" r:id="rId83"/>
    <p:sldId id="458" r:id="rId84"/>
    <p:sldId id="491" r:id="rId85"/>
    <p:sldId id="493" r:id="rId86"/>
    <p:sldId id="494" r:id="rId87"/>
    <p:sldId id="522" r:id="rId88"/>
    <p:sldId id="521" r:id="rId89"/>
    <p:sldId id="459" r:id="rId90"/>
    <p:sldId id="362" r:id="rId91"/>
    <p:sldId id="495" r:id="rId92"/>
    <p:sldId id="496" r:id="rId93"/>
    <p:sldId id="460" r:id="rId94"/>
    <p:sldId id="374" r:id="rId95"/>
    <p:sldId id="375" r:id="rId96"/>
    <p:sldId id="376" r:id="rId97"/>
    <p:sldId id="523" r:id="rId98"/>
    <p:sldId id="377" r:id="rId99"/>
    <p:sldId id="461" r:id="rId100"/>
    <p:sldId id="462" r:id="rId101"/>
    <p:sldId id="463" r:id="rId102"/>
    <p:sldId id="464" r:id="rId103"/>
    <p:sldId id="378" r:id="rId104"/>
    <p:sldId id="465" r:id="rId105"/>
    <p:sldId id="379" r:id="rId106"/>
    <p:sldId id="466" r:id="rId107"/>
    <p:sldId id="467" r:id="rId108"/>
    <p:sldId id="500" r:id="rId109"/>
    <p:sldId id="384" r:id="rId110"/>
    <p:sldId id="939" r:id="rId111"/>
    <p:sldId id="940" r:id="rId112"/>
    <p:sldId id="941" r:id="rId113"/>
    <p:sldId id="942" r:id="rId114"/>
    <p:sldId id="943" r:id="rId115"/>
    <p:sldId id="944" r:id="rId116"/>
    <p:sldId id="945" r:id="rId117"/>
    <p:sldId id="946" r:id="rId118"/>
    <p:sldId id="468" r:id="rId119"/>
    <p:sldId id="498" r:id="rId120"/>
    <p:sldId id="524" r:id="rId121"/>
    <p:sldId id="526" r:id="rId122"/>
    <p:sldId id="525" r:id="rId123"/>
    <p:sldId id="392" r:id="rId12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13548C"/>
    <a:srgbClr val="FF9900"/>
    <a:srgbClr val="FF6700"/>
    <a:srgbClr val="5B9BD5"/>
    <a:srgbClr val="70AD47"/>
    <a:srgbClr val="4674CA"/>
    <a:srgbClr val="D9D9D9"/>
    <a:srgbClr val="FFCC66"/>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54" autoAdjust="0"/>
    <p:restoredTop sz="93362" autoAdjust="0"/>
  </p:normalViewPr>
  <p:slideViewPr>
    <p:cSldViewPr>
      <p:cViewPr varScale="1">
        <p:scale>
          <a:sx n="103" d="100"/>
          <a:sy n="103" d="100"/>
        </p:scale>
        <p:origin x="1064" y="60"/>
      </p:cViewPr>
      <p:guideLst>
        <p:guide orient="horz" pos="2160"/>
        <p:guide pos="2880"/>
      </p:guideLst>
    </p:cSldViewPr>
  </p:slideViewPr>
  <p:notesTextViewPr>
    <p:cViewPr>
      <p:scale>
        <a:sx n="3" d="2"/>
        <a:sy n="3" d="2"/>
      </p:scale>
      <p:origin x="0" y="0"/>
    </p:cViewPr>
  </p:notesTextViewPr>
  <p:sorterViewPr>
    <p:cViewPr>
      <p:scale>
        <a:sx n="100" d="100"/>
        <a:sy n="100" d="100"/>
      </p:scale>
      <p:origin x="0" y="0"/>
    </p:cViewPr>
  </p:sorterViewPr>
  <p:notesViewPr>
    <p:cSldViewPr>
      <p:cViewPr>
        <p:scale>
          <a:sx n="150" d="100"/>
          <a:sy n="150" d="100"/>
        </p:scale>
        <p:origin x="2472" y="12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3721A0-1885-4C27-A77D-D0F848549FC0}" type="datetimeFigureOut">
              <a:rPr lang="zh-CN" altLang="en-US" smtClean="0"/>
              <a:t>2024/11/26</a:t>
            </a:fld>
            <a:endParaRPr lang="zh-CN" altLang="en-US"/>
          </a:p>
        </p:txBody>
      </p:sp>
      <p:sp>
        <p:nvSpPr>
          <p:cNvPr id="4" name="幻灯片图像占位符 3"/>
          <p:cNvSpPr>
            <a:spLocks noGrp="1" noRot="1" noChangeAspect="1"/>
          </p:cNvSpPr>
          <p:nvPr>
            <p:ph type="sldImg" idx="2"/>
          </p:nvPr>
        </p:nvSpPr>
        <p:spPr>
          <a:xfrm>
            <a:off x="1052736" y="684213"/>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D62BF8-D29B-4EDA-8B2A-F5CB3CB8F5E0}" type="slidenum">
              <a:rPr lang="zh-CN" altLang="en-US" smtClean="0"/>
              <a:t>‹#›</a:t>
            </a:fld>
            <a:endParaRPr lang="zh-CN" altLang="en-US"/>
          </a:p>
        </p:txBody>
      </p:sp>
    </p:spTree>
    <p:extLst>
      <p:ext uri="{BB962C8B-B14F-4D97-AF65-F5344CB8AC3E}">
        <p14:creationId xmlns:p14="http://schemas.microsoft.com/office/powerpoint/2010/main" val="1721898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52513" y="684213"/>
            <a:ext cx="4572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最大化类内相似性、最小化类间相似性</a:t>
            </a:r>
          </a:p>
        </p:txBody>
      </p:sp>
      <p:sp>
        <p:nvSpPr>
          <p:cNvPr id="4" name="灯片编号占位符 3"/>
          <p:cNvSpPr>
            <a:spLocks noGrp="1"/>
          </p:cNvSpPr>
          <p:nvPr>
            <p:ph type="sldNum" sz="quarter" idx="10"/>
          </p:nvPr>
        </p:nvSpPr>
        <p:spPr/>
        <p:txBody>
          <a:bodyPr/>
          <a:lstStyle/>
          <a:p>
            <a:fld id="{0D6FF9E8-9ADA-424C-9D0F-A9B399972D04}" type="slidenum">
              <a:rPr lang="zh-CN" altLang="en-US" smtClean="0"/>
              <a:t>6</a:t>
            </a:fld>
            <a:endParaRPr lang="zh-CN" altLang="en-US"/>
          </a:p>
        </p:txBody>
      </p:sp>
    </p:spTree>
    <p:extLst>
      <p:ext uri="{BB962C8B-B14F-4D97-AF65-F5344CB8AC3E}">
        <p14:creationId xmlns:p14="http://schemas.microsoft.com/office/powerpoint/2010/main" val="1212614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52513" y="684213"/>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4D62BF8-D29B-4EDA-8B2A-F5CB3CB8F5E0}" type="slidenum">
              <a:rPr lang="zh-CN" altLang="en-US" smtClean="0">
                <a:solidFill>
                  <a:prstClr val="black"/>
                </a:solidFill>
              </a:rPr>
              <a:pPr/>
              <a:t>111</a:t>
            </a:fld>
            <a:endParaRPr lang="zh-CN" altLang="en-US">
              <a:solidFill>
                <a:prstClr val="black"/>
              </a:solidFill>
            </a:endParaRPr>
          </a:p>
        </p:txBody>
      </p:sp>
    </p:spTree>
    <p:extLst>
      <p:ext uri="{BB962C8B-B14F-4D97-AF65-F5344CB8AC3E}">
        <p14:creationId xmlns:p14="http://schemas.microsoft.com/office/powerpoint/2010/main" val="35831406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4575498-5B68-4A76-96EE-4323497992F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4038600"/>
          </a:xfrm>
          <a:prstGeom prst="rect">
            <a:avLst/>
          </a:prstGeom>
        </p:spPr>
      </p:pic>
      <p:sp>
        <p:nvSpPr>
          <p:cNvPr id="4" name="矩形 4">
            <a:extLst>
              <a:ext uri="{FF2B5EF4-FFF2-40B4-BE49-F238E27FC236}">
                <a16:creationId xmlns:a16="http://schemas.microsoft.com/office/drawing/2014/main" id="{924BD621-5C8E-46C9-B00B-820B3C5F4330}"/>
              </a:ext>
            </a:extLst>
          </p:cNvPr>
          <p:cNvSpPr/>
          <p:nvPr userDrawn="1"/>
        </p:nvSpPr>
        <p:spPr>
          <a:xfrm flipH="1">
            <a:off x="0" y="3329513"/>
            <a:ext cx="9144000" cy="2025594"/>
          </a:xfrm>
          <a:custGeom>
            <a:avLst/>
            <a:gdLst>
              <a:gd name="connsiteX0" fmla="*/ 0 w 9144010"/>
              <a:gd name="connsiteY0" fmla="*/ 0 h 2964150"/>
              <a:gd name="connsiteX1" fmla="*/ 9144010 w 9144010"/>
              <a:gd name="connsiteY1" fmla="*/ 0 h 2964150"/>
              <a:gd name="connsiteX2" fmla="*/ 9144010 w 9144010"/>
              <a:gd name="connsiteY2" fmla="*/ 2964150 h 2964150"/>
              <a:gd name="connsiteX3" fmla="*/ 0 w 9144010"/>
              <a:gd name="connsiteY3" fmla="*/ 2964150 h 2964150"/>
              <a:gd name="connsiteX4" fmla="*/ 0 w 9144010"/>
              <a:gd name="connsiteY4" fmla="*/ 0 h 2964150"/>
              <a:gd name="connsiteX0-1" fmla="*/ 0 w 9144010"/>
              <a:gd name="connsiteY0-2" fmla="*/ 0 h 2964150"/>
              <a:gd name="connsiteX1-3" fmla="*/ 9144010 w 9144010"/>
              <a:gd name="connsiteY1-4" fmla="*/ 0 h 2964150"/>
              <a:gd name="connsiteX2-5" fmla="*/ 9144010 w 9144010"/>
              <a:gd name="connsiteY2-6" fmla="*/ 2964150 h 2964150"/>
              <a:gd name="connsiteX3-7" fmla="*/ 0 w 9144010"/>
              <a:gd name="connsiteY3-8" fmla="*/ 2964150 h 2964150"/>
              <a:gd name="connsiteX4-9" fmla="*/ 0 w 9144010"/>
              <a:gd name="connsiteY4-10" fmla="*/ 0 h 2964150"/>
              <a:gd name="connsiteX0-11" fmla="*/ 0 w 9144010"/>
              <a:gd name="connsiteY0-12" fmla="*/ 0 h 2964150"/>
              <a:gd name="connsiteX1-13" fmla="*/ 9144010 w 9144010"/>
              <a:gd name="connsiteY1-14" fmla="*/ 0 h 2964150"/>
              <a:gd name="connsiteX2-15" fmla="*/ 9144010 w 9144010"/>
              <a:gd name="connsiteY2-16" fmla="*/ 2964150 h 2964150"/>
              <a:gd name="connsiteX3-17" fmla="*/ 0 w 9144010"/>
              <a:gd name="connsiteY3-18" fmla="*/ 2964150 h 2964150"/>
              <a:gd name="connsiteX4-19" fmla="*/ 0 w 9144010"/>
              <a:gd name="connsiteY4-20" fmla="*/ 0 h 2964150"/>
              <a:gd name="connsiteX0-21" fmla="*/ 0 w 9144010"/>
              <a:gd name="connsiteY0-22" fmla="*/ 0 h 2964150"/>
              <a:gd name="connsiteX1-23" fmla="*/ 9144010 w 9144010"/>
              <a:gd name="connsiteY1-24" fmla="*/ 0 h 2964150"/>
              <a:gd name="connsiteX2-25" fmla="*/ 9144010 w 9144010"/>
              <a:gd name="connsiteY2-26" fmla="*/ 2964150 h 2964150"/>
              <a:gd name="connsiteX3-27" fmla="*/ 0 w 9144010"/>
              <a:gd name="connsiteY3-28" fmla="*/ 2964150 h 2964150"/>
              <a:gd name="connsiteX4-29" fmla="*/ 0 w 9144010"/>
              <a:gd name="connsiteY4-30" fmla="*/ 0 h 2964150"/>
              <a:gd name="connsiteX0-31" fmla="*/ 0 w 9144010"/>
              <a:gd name="connsiteY0-32" fmla="*/ 0 h 2964150"/>
              <a:gd name="connsiteX1-33" fmla="*/ 9144010 w 9144010"/>
              <a:gd name="connsiteY1-34" fmla="*/ 0 h 2964150"/>
              <a:gd name="connsiteX2-35" fmla="*/ 9144010 w 9144010"/>
              <a:gd name="connsiteY2-36" fmla="*/ 2964150 h 2964150"/>
              <a:gd name="connsiteX3-37" fmla="*/ 0 w 9144010"/>
              <a:gd name="connsiteY3-38" fmla="*/ 2964150 h 2964150"/>
              <a:gd name="connsiteX4-39" fmla="*/ 0 w 9144010"/>
              <a:gd name="connsiteY4-40" fmla="*/ 0 h 29641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44010" h="2964150">
                <a:moveTo>
                  <a:pt x="0" y="0"/>
                </a:moveTo>
                <a:cubicBezTo>
                  <a:pt x="2346039" y="216256"/>
                  <a:pt x="5809680" y="2235659"/>
                  <a:pt x="9144010" y="0"/>
                </a:cubicBezTo>
                <a:lnTo>
                  <a:pt x="9144010" y="2964150"/>
                </a:lnTo>
                <a:lnTo>
                  <a:pt x="0" y="2964150"/>
                </a:lnTo>
                <a:lnTo>
                  <a:pt x="0" y="0"/>
                </a:lnTo>
                <a:close/>
              </a:path>
            </a:pathLst>
          </a:custGeom>
          <a:gradFill>
            <a:gsLst>
              <a:gs pos="0">
                <a:srgbClr val="FF6600"/>
              </a:gs>
              <a:gs pos="100000">
                <a:srgbClr val="FF99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 name="任意多边形: 形状 4">
            <a:extLst>
              <a:ext uri="{FF2B5EF4-FFF2-40B4-BE49-F238E27FC236}">
                <a16:creationId xmlns:a16="http://schemas.microsoft.com/office/drawing/2014/main" id="{4F4A0A4B-8327-4A2B-A10E-6DB97B6D05B1}"/>
              </a:ext>
            </a:extLst>
          </p:cNvPr>
          <p:cNvSpPr/>
          <p:nvPr userDrawn="1"/>
        </p:nvSpPr>
        <p:spPr>
          <a:xfrm flipH="1">
            <a:off x="0" y="3560897"/>
            <a:ext cx="9144000" cy="3297103"/>
          </a:xfrm>
          <a:custGeom>
            <a:avLst/>
            <a:gdLst>
              <a:gd name="connsiteX0" fmla="*/ 9144000 w 9144000"/>
              <a:gd name="connsiteY0" fmla="*/ 0 h 3297103"/>
              <a:gd name="connsiteX1" fmla="*/ 0 w 9144000"/>
              <a:gd name="connsiteY1" fmla="*/ 0 h 3297103"/>
              <a:gd name="connsiteX2" fmla="*/ 0 w 9144000"/>
              <a:gd name="connsiteY2" fmla="*/ 1855879 h 3297103"/>
              <a:gd name="connsiteX3" fmla="*/ 0 w 9144000"/>
              <a:gd name="connsiteY3" fmla="*/ 3297103 h 3297103"/>
              <a:gd name="connsiteX4" fmla="*/ 9144000 w 9144000"/>
              <a:gd name="connsiteY4" fmla="*/ 3297103 h 3297103"/>
              <a:gd name="connsiteX5" fmla="*/ 9144000 w 9144000"/>
              <a:gd name="connsiteY5" fmla="*/ 1855879 h 3297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3297103">
                <a:moveTo>
                  <a:pt x="9144000" y="0"/>
                </a:moveTo>
                <a:cubicBezTo>
                  <a:pt x="5994400" y="1526702"/>
                  <a:pt x="3048000" y="0"/>
                  <a:pt x="0" y="0"/>
                </a:cubicBezTo>
                <a:lnTo>
                  <a:pt x="0" y="1855879"/>
                </a:lnTo>
                <a:lnTo>
                  <a:pt x="0" y="3297103"/>
                </a:lnTo>
                <a:lnTo>
                  <a:pt x="9144000" y="3297103"/>
                </a:lnTo>
                <a:lnTo>
                  <a:pt x="9144000" y="1855879"/>
                </a:lnTo>
                <a:close/>
              </a:path>
            </a:pathLst>
          </a:custGeom>
          <a:solidFill>
            <a:srgbClr val="1354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 name="矩形 7">
            <a:extLst>
              <a:ext uri="{FF2B5EF4-FFF2-40B4-BE49-F238E27FC236}">
                <a16:creationId xmlns:a16="http://schemas.microsoft.com/office/drawing/2014/main" id="{BC161389-8B88-46BF-AA2F-246E019403A6}"/>
              </a:ext>
            </a:extLst>
          </p:cNvPr>
          <p:cNvSpPr>
            <a:spLocks noChangeArrowheads="1"/>
          </p:cNvSpPr>
          <p:nvPr userDrawn="1"/>
        </p:nvSpPr>
        <p:spPr bwMode="auto">
          <a:xfrm>
            <a:off x="2711028" y="5568412"/>
            <a:ext cx="3721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685783" rtl="0" eaLnBrk="0" fontAlgn="base" latinLnBrk="0" hangingPunct="0">
              <a:lnSpc>
                <a:spcPct val="100000"/>
              </a:lnSpc>
              <a:spcBef>
                <a:spcPct val="0"/>
              </a:spcBef>
              <a:spcAft>
                <a:spcPct val="0"/>
              </a:spcAft>
              <a:buClrTx/>
              <a:buSzTx/>
              <a:buFontTx/>
              <a:buNone/>
              <a:tabLst/>
              <a:defRPr/>
            </a:pPr>
            <a:r>
              <a:rPr kumimoji="1" lang="zh-CN" altLang="en-US" sz="2400" b="0" i="0" u="none" strike="noStrike" kern="1200" cap="none" spc="75"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主讲人：丁兆云</a:t>
            </a:r>
          </a:p>
        </p:txBody>
      </p:sp>
      <p:cxnSp>
        <p:nvCxnSpPr>
          <p:cNvPr id="7" name="直接连接符 6">
            <a:extLst>
              <a:ext uri="{FF2B5EF4-FFF2-40B4-BE49-F238E27FC236}">
                <a16:creationId xmlns:a16="http://schemas.microsoft.com/office/drawing/2014/main" id="{51FDC179-14B0-4BD2-990A-C7C6C80AC28D}"/>
              </a:ext>
            </a:extLst>
          </p:cNvPr>
          <p:cNvCxnSpPr>
            <a:cxnSpLocks/>
          </p:cNvCxnSpPr>
          <p:nvPr userDrawn="1"/>
        </p:nvCxnSpPr>
        <p:spPr>
          <a:xfrm>
            <a:off x="1642717" y="5463114"/>
            <a:ext cx="5858567" cy="0"/>
          </a:xfrm>
          <a:prstGeom prst="line">
            <a:avLst/>
          </a:prstGeom>
          <a:ln>
            <a:solidFill>
              <a:srgbClr val="FFFFFF"/>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53E6369A-7D52-43ED-9952-4CF062B81771}"/>
              </a:ext>
            </a:extLst>
          </p:cNvPr>
          <p:cNvSpPr/>
          <p:nvPr userDrawn="1"/>
        </p:nvSpPr>
        <p:spPr>
          <a:xfrm>
            <a:off x="2358894" y="4651214"/>
            <a:ext cx="4426212" cy="707886"/>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4000" b="1" i="0" u="none" strike="noStrike" kern="1200" cap="none" spc="300" normalizeH="0" baseline="0" noProof="0">
                <a:ln>
                  <a:noFill/>
                </a:ln>
                <a:solidFill>
                  <a:prstClr val="white"/>
                </a:solidFill>
                <a:effectLst/>
                <a:uLnTx/>
                <a:uFillTx/>
                <a:latin typeface="微软雅黑"/>
                <a:ea typeface="微软雅黑"/>
                <a:cs typeface="+mn-cs"/>
                <a:sym typeface="+mn-ea"/>
              </a:rPr>
              <a:t>第四</a:t>
            </a:r>
            <a:r>
              <a:rPr kumimoji="1" lang="zh-CN" altLang="en-US" sz="4000" b="1" i="0" u="none" strike="noStrike" kern="1200" cap="none" spc="300" normalizeH="0" baseline="0" noProof="0">
                <a:ln>
                  <a:noFill/>
                </a:ln>
                <a:solidFill>
                  <a:prstClr val="white"/>
                </a:solidFill>
                <a:effectLst/>
                <a:uLnTx/>
                <a:uFillTx/>
                <a:latin typeface="微软雅黑"/>
                <a:ea typeface="+mn-ea"/>
                <a:cs typeface="+mn-cs"/>
                <a:sym typeface="+mn-ea"/>
              </a:rPr>
              <a:t>课  聚类分析</a:t>
            </a:r>
            <a:endParaRPr kumimoji="1" lang="zh-CN" altLang="en-US" sz="4000" b="1" i="0" u="none" strike="noStrike" kern="1200" cap="none" spc="300" normalizeH="0" baseline="0" noProof="0">
              <a:ln>
                <a:noFill/>
              </a:ln>
              <a:solidFill>
                <a:prstClr val="white"/>
              </a:solidFill>
              <a:effectLst/>
              <a:uLnTx/>
              <a:uFillTx/>
              <a:latin typeface="微软雅黑"/>
              <a:ea typeface="微软雅黑"/>
              <a:cs typeface="+mn-cs"/>
              <a:sym typeface="+mn-ea"/>
            </a:endParaRPr>
          </a:p>
        </p:txBody>
      </p:sp>
      <p:grpSp>
        <p:nvGrpSpPr>
          <p:cNvPr id="2" name="组合 1">
            <a:extLst>
              <a:ext uri="{FF2B5EF4-FFF2-40B4-BE49-F238E27FC236}">
                <a16:creationId xmlns:a16="http://schemas.microsoft.com/office/drawing/2014/main" id="{CA2347EF-6C6F-4291-8AD4-146DC49F034C}"/>
              </a:ext>
            </a:extLst>
          </p:cNvPr>
          <p:cNvGrpSpPr/>
          <p:nvPr userDrawn="1"/>
        </p:nvGrpSpPr>
        <p:grpSpPr>
          <a:xfrm>
            <a:off x="377337" y="6382297"/>
            <a:ext cx="8717822" cy="323165"/>
            <a:chOff x="305329" y="6382297"/>
            <a:chExt cx="8717822" cy="323165"/>
          </a:xfrm>
        </p:grpSpPr>
        <p:sp>
          <p:nvSpPr>
            <p:cNvPr id="11" name="矩形 7">
              <a:extLst>
                <a:ext uri="{FF2B5EF4-FFF2-40B4-BE49-F238E27FC236}">
                  <a16:creationId xmlns:a16="http://schemas.microsoft.com/office/drawing/2014/main" id="{F71F9F14-8D10-4307-8455-ABE4CC991DF2}"/>
                </a:ext>
              </a:extLst>
            </p:cNvPr>
            <p:cNvSpPr>
              <a:spLocks noChangeArrowheads="1"/>
            </p:cNvSpPr>
            <p:nvPr userDrawn="1"/>
          </p:nvSpPr>
          <p:spPr bwMode="auto">
            <a:xfrm>
              <a:off x="504472" y="6382297"/>
              <a:ext cx="8518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783" rtl="0" eaLnBrk="0" fontAlgn="base" latinLnBrk="0" hangingPunct="0">
                <a:lnSpc>
                  <a:spcPct val="100000"/>
                </a:lnSpc>
                <a:spcBef>
                  <a:spcPct val="0"/>
                </a:spcBef>
                <a:spcAft>
                  <a:spcPct val="0"/>
                </a:spcAft>
                <a:buClrTx/>
                <a:buSzTx/>
                <a:buFontTx/>
                <a:buNone/>
                <a:tabLst/>
                <a:defRPr/>
              </a:pPr>
              <a:r>
                <a:rPr kumimoji="1" lang="en-US" altLang="zh-CN" sz="1500" b="0" i="0" u="none" strike="noStrike" kern="1200" cap="none" spc="0" normalizeH="0" baseline="0" noProof="0">
                  <a:ln>
                    <a:noFill/>
                  </a:ln>
                  <a:solidFill>
                    <a:prstClr val="white"/>
                  </a:solidFill>
                  <a:effectLst/>
                  <a:uLnTx/>
                  <a:uFillTx/>
                  <a:latin typeface="微软雅黑 Light" panose="020B0502040204020203" pitchFamily="34" charset="-122"/>
                  <a:ea typeface="微软雅黑 Light" panose="020B0502040204020203" pitchFamily="34" charset="-122"/>
                  <a:cs typeface="+mn-cs"/>
                </a:rPr>
                <a:t>dingzhaoyun1983@163.com        17607310865        https</a:t>
              </a:r>
              <a:r>
                <a:rPr kumimoji="1" lang="zh-CN" altLang="en-US" sz="1500" b="0" i="0" u="none" strike="noStrike" kern="1200" cap="none" spc="0" normalizeH="0" baseline="0" noProof="0">
                  <a:ln>
                    <a:noFill/>
                  </a:ln>
                  <a:solidFill>
                    <a:prstClr val="white"/>
                  </a:solidFill>
                  <a:effectLst/>
                  <a:uLnTx/>
                  <a:uFillTx/>
                  <a:latin typeface="微软雅黑 Light" panose="020B0502040204020203" pitchFamily="34" charset="-122"/>
                  <a:ea typeface="微软雅黑 Light" panose="020B0502040204020203" pitchFamily="34" charset="-122"/>
                  <a:cs typeface="+mn-cs"/>
                </a:rPr>
                <a:t>：</a:t>
              </a:r>
              <a:r>
                <a:rPr kumimoji="1" lang="en-US" altLang="zh-CN" sz="1500" b="0" i="0" u="none" strike="noStrike" kern="1200" cap="none" spc="0" normalizeH="0" baseline="0" noProof="0">
                  <a:ln>
                    <a:noFill/>
                  </a:ln>
                  <a:solidFill>
                    <a:prstClr val="white"/>
                  </a:solidFill>
                  <a:effectLst/>
                  <a:uLnTx/>
                  <a:uFillTx/>
                  <a:latin typeface="微软雅黑 Light" panose="020B0502040204020203" pitchFamily="34" charset="-122"/>
                  <a:ea typeface="微软雅黑 Light" panose="020B0502040204020203" pitchFamily="34" charset="-122"/>
                  <a:cs typeface="+mn-cs"/>
                </a:rPr>
                <a:t>//github.com/zyding1983/datamining</a:t>
              </a:r>
            </a:p>
          </p:txBody>
        </p:sp>
        <p:pic>
          <p:nvPicPr>
            <p:cNvPr id="19" name="图片 18">
              <a:extLst>
                <a:ext uri="{FF2B5EF4-FFF2-40B4-BE49-F238E27FC236}">
                  <a16:creationId xmlns:a16="http://schemas.microsoft.com/office/drawing/2014/main" id="{1C1EE3AE-6A9C-4868-9527-19EF7EB5B70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5329" y="6422528"/>
              <a:ext cx="242702" cy="242702"/>
            </a:xfrm>
            <a:prstGeom prst="rect">
              <a:avLst/>
            </a:prstGeom>
          </p:spPr>
        </p:pic>
        <p:pic>
          <p:nvPicPr>
            <p:cNvPr id="17" name="图片 16">
              <a:extLst>
                <a:ext uri="{FF2B5EF4-FFF2-40B4-BE49-F238E27FC236}">
                  <a16:creationId xmlns:a16="http://schemas.microsoft.com/office/drawing/2014/main" id="{12B553A3-3229-4CF4-A7F1-BB831DB5EEB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08512" y="6403941"/>
              <a:ext cx="279876" cy="279876"/>
            </a:xfrm>
            <a:prstGeom prst="rect">
              <a:avLst/>
            </a:prstGeom>
          </p:spPr>
        </p:pic>
        <p:pic>
          <p:nvPicPr>
            <p:cNvPr id="13" name="图片 12">
              <a:extLst>
                <a:ext uri="{FF2B5EF4-FFF2-40B4-BE49-F238E27FC236}">
                  <a16:creationId xmlns:a16="http://schemas.microsoft.com/office/drawing/2014/main" id="{CAEC7AD8-3298-4414-85DC-586BBE803B2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19974" y="6435217"/>
              <a:ext cx="217324" cy="217324"/>
            </a:xfrm>
            <a:prstGeom prst="rect">
              <a:avLst/>
            </a:prstGeom>
          </p:spPr>
        </p:pic>
      </p:grpSp>
    </p:spTree>
    <p:extLst>
      <p:ext uri="{BB962C8B-B14F-4D97-AF65-F5344CB8AC3E}">
        <p14:creationId xmlns:p14="http://schemas.microsoft.com/office/powerpoint/2010/main" val="4125396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4575498-5B68-4A76-96EE-4323497992F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4038600"/>
          </a:xfrm>
          <a:prstGeom prst="rect">
            <a:avLst/>
          </a:prstGeom>
        </p:spPr>
      </p:pic>
      <p:sp>
        <p:nvSpPr>
          <p:cNvPr id="4" name="矩形 4">
            <a:extLst>
              <a:ext uri="{FF2B5EF4-FFF2-40B4-BE49-F238E27FC236}">
                <a16:creationId xmlns:a16="http://schemas.microsoft.com/office/drawing/2014/main" id="{924BD621-5C8E-46C9-B00B-820B3C5F4330}"/>
              </a:ext>
            </a:extLst>
          </p:cNvPr>
          <p:cNvSpPr/>
          <p:nvPr userDrawn="1"/>
        </p:nvSpPr>
        <p:spPr>
          <a:xfrm flipH="1">
            <a:off x="0" y="3329513"/>
            <a:ext cx="9144000" cy="2025594"/>
          </a:xfrm>
          <a:custGeom>
            <a:avLst/>
            <a:gdLst>
              <a:gd name="connsiteX0" fmla="*/ 0 w 9144010"/>
              <a:gd name="connsiteY0" fmla="*/ 0 h 2964150"/>
              <a:gd name="connsiteX1" fmla="*/ 9144010 w 9144010"/>
              <a:gd name="connsiteY1" fmla="*/ 0 h 2964150"/>
              <a:gd name="connsiteX2" fmla="*/ 9144010 w 9144010"/>
              <a:gd name="connsiteY2" fmla="*/ 2964150 h 2964150"/>
              <a:gd name="connsiteX3" fmla="*/ 0 w 9144010"/>
              <a:gd name="connsiteY3" fmla="*/ 2964150 h 2964150"/>
              <a:gd name="connsiteX4" fmla="*/ 0 w 9144010"/>
              <a:gd name="connsiteY4" fmla="*/ 0 h 2964150"/>
              <a:gd name="connsiteX0-1" fmla="*/ 0 w 9144010"/>
              <a:gd name="connsiteY0-2" fmla="*/ 0 h 2964150"/>
              <a:gd name="connsiteX1-3" fmla="*/ 9144010 w 9144010"/>
              <a:gd name="connsiteY1-4" fmla="*/ 0 h 2964150"/>
              <a:gd name="connsiteX2-5" fmla="*/ 9144010 w 9144010"/>
              <a:gd name="connsiteY2-6" fmla="*/ 2964150 h 2964150"/>
              <a:gd name="connsiteX3-7" fmla="*/ 0 w 9144010"/>
              <a:gd name="connsiteY3-8" fmla="*/ 2964150 h 2964150"/>
              <a:gd name="connsiteX4-9" fmla="*/ 0 w 9144010"/>
              <a:gd name="connsiteY4-10" fmla="*/ 0 h 2964150"/>
              <a:gd name="connsiteX0-11" fmla="*/ 0 w 9144010"/>
              <a:gd name="connsiteY0-12" fmla="*/ 0 h 2964150"/>
              <a:gd name="connsiteX1-13" fmla="*/ 9144010 w 9144010"/>
              <a:gd name="connsiteY1-14" fmla="*/ 0 h 2964150"/>
              <a:gd name="connsiteX2-15" fmla="*/ 9144010 w 9144010"/>
              <a:gd name="connsiteY2-16" fmla="*/ 2964150 h 2964150"/>
              <a:gd name="connsiteX3-17" fmla="*/ 0 w 9144010"/>
              <a:gd name="connsiteY3-18" fmla="*/ 2964150 h 2964150"/>
              <a:gd name="connsiteX4-19" fmla="*/ 0 w 9144010"/>
              <a:gd name="connsiteY4-20" fmla="*/ 0 h 2964150"/>
              <a:gd name="connsiteX0-21" fmla="*/ 0 w 9144010"/>
              <a:gd name="connsiteY0-22" fmla="*/ 0 h 2964150"/>
              <a:gd name="connsiteX1-23" fmla="*/ 9144010 w 9144010"/>
              <a:gd name="connsiteY1-24" fmla="*/ 0 h 2964150"/>
              <a:gd name="connsiteX2-25" fmla="*/ 9144010 w 9144010"/>
              <a:gd name="connsiteY2-26" fmla="*/ 2964150 h 2964150"/>
              <a:gd name="connsiteX3-27" fmla="*/ 0 w 9144010"/>
              <a:gd name="connsiteY3-28" fmla="*/ 2964150 h 2964150"/>
              <a:gd name="connsiteX4-29" fmla="*/ 0 w 9144010"/>
              <a:gd name="connsiteY4-30" fmla="*/ 0 h 2964150"/>
              <a:gd name="connsiteX0-31" fmla="*/ 0 w 9144010"/>
              <a:gd name="connsiteY0-32" fmla="*/ 0 h 2964150"/>
              <a:gd name="connsiteX1-33" fmla="*/ 9144010 w 9144010"/>
              <a:gd name="connsiteY1-34" fmla="*/ 0 h 2964150"/>
              <a:gd name="connsiteX2-35" fmla="*/ 9144010 w 9144010"/>
              <a:gd name="connsiteY2-36" fmla="*/ 2964150 h 2964150"/>
              <a:gd name="connsiteX3-37" fmla="*/ 0 w 9144010"/>
              <a:gd name="connsiteY3-38" fmla="*/ 2964150 h 2964150"/>
              <a:gd name="connsiteX4-39" fmla="*/ 0 w 9144010"/>
              <a:gd name="connsiteY4-40" fmla="*/ 0 h 29641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44010" h="2964150">
                <a:moveTo>
                  <a:pt x="0" y="0"/>
                </a:moveTo>
                <a:cubicBezTo>
                  <a:pt x="2346039" y="216256"/>
                  <a:pt x="5809680" y="2235659"/>
                  <a:pt x="9144010" y="0"/>
                </a:cubicBezTo>
                <a:lnTo>
                  <a:pt x="9144010" y="2964150"/>
                </a:lnTo>
                <a:lnTo>
                  <a:pt x="0" y="2964150"/>
                </a:lnTo>
                <a:lnTo>
                  <a:pt x="0" y="0"/>
                </a:lnTo>
                <a:close/>
              </a:path>
            </a:pathLst>
          </a:custGeom>
          <a:gradFill>
            <a:gsLst>
              <a:gs pos="0">
                <a:srgbClr val="FF6600"/>
              </a:gs>
              <a:gs pos="100000">
                <a:srgbClr val="FF99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 name="任意多边形: 形状 4">
            <a:extLst>
              <a:ext uri="{FF2B5EF4-FFF2-40B4-BE49-F238E27FC236}">
                <a16:creationId xmlns:a16="http://schemas.microsoft.com/office/drawing/2014/main" id="{4F4A0A4B-8327-4A2B-A10E-6DB97B6D05B1}"/>
              </a:ext>
            </a:extLst>
          </p:cNvPr>
          <p:cNvSpPr/>
          <p:nvPr userDrawn="1"/>
        </p:nvSpPr>
        <p:spPr>
          <a:xfrm flipH="1">
            <a:off x="0" y="3560897"/>
            <a:ext cx="9144000" cy="3297103"/>
          </a:xfrm>
          <a:custGeom>
            <a:avLst/>
            <a:gdLst>
              <a:gd name="connsiteX0" fmla="*/ 9144000 w 9144000"/>
              <a:gd name="connsiteY0" fmla="*/ 0 h 3297103"/>
              <a:gd name="connsiteX1" fmla="*/ 0 w 9144000"/>
              <a:gd name="connsiteY1" fmla="*/ 0 h 3297103"/>
              <a:gd name="connsiteX2" fmla="*/ 0 w 9144000"/>
              <a:gd name="connsiteY2" fmla="*/ 1855879 h 3297103"/>
              <a:gd name="connsiteX3" fmla="*/ 0 w 9144000"/>
              <a:gd name="connsiteY3" fmla="*/ 3297103 h 3297103"/>
              <a:gd name="connsiteX4" fmla="*/ 9144000 w 9144000"/>
              <a:gd name="connsiteY4" fmla="*/ 3297103 h 3297103"/>
              <a:gd name="connsiteX5" fmla="*/ 9144000 w 9144000"/>
              <a:gd name="connsiteY5" fmla="*/ 1855879 h 3297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3297103">
                <a:moveTo>
                  <a:pt x="9144000" y="0"/>
                </a:moveTo>
                <a:cubicBezTo>
                  <a:pt x="5994400" y="1526702"/>
                  <a:pt x="3048000" y="0"/>
                  <a:pt x="0" y="0"/>
                </a:cubicBezTo>
                <a:lnTo>
                  <a:pt x="0" y="1855879"/>
                </a:lnTo>
                <a:lnTo>
                  <a:pt x="0" y="3297103"/>
                </a:lnTo>
                <a:lnTo>
                  <a:pt x="9144000" y="3297103"/>
                </a:lnTo>
                <a:lnTo>
                  <a:pt x="9144000" y="1855879"/>
                </a:lnTo>
                <a:close/>
              </a:path>
            </a:pathLst>
          </a:custGeom>
          <a:solidFill>
            <a:srgbClr val="1354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 name="直接连接符 6">
            <a:extLst>
              <a:ext uri="{FF2B5EF4-FFF2-40B4-BE49-F238E27FC236}">
                <a16:creationId xmlns:a16="http://schemas.microsoft.com/office/drawing/2014/main" id="{51FDC179-14B0-4BD2-990A-C7C6C80AC28D}"/>
              </a:ext>
            </a:extLst>
          </p:cNvPr>
          <p:cNvCxnSpPr/>
          <p:nvPr userDrawn="1"/>
        </p:nvCxnSpPr>
        <p:spPr>
          <a:xfrm>
            <a:off x="2097809" y="5463114"/>
            <a:ext cx="4948383" cy="0"/>
          </a:xfrm>
          <a:prstGeom prst="line">
            <a:avLst/>
          </a:prstGeom>
          <a:ln>
            <a:solidFill>
              <a:srgbClr val="FFFFFF"/>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53E6369A-7D52-43ED-9952-4CF062B81771}"/>
              </a:ext>
            </a:extLst>
          </p:cNvPr>
          <p:cNvSpPr/>
          <p:nvPr userDrawn="1"/>
        </p:nvSpPr>
        <p:spPr>
          <a:xfrm>
            <a:off x="2408910" y="4444720"/>
            <a:ext cx="4445448" cy="1829860"/>
          </a:xfrm>
          <a:prstGeom prst="rect">
            <a:avLst/>
          </a:prstGeom>
        </p:spPr>
        <p:txBody>
          <a:bodyPr wrap="none">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1" lang="en-US" altLang="zh-CN" sz="4000" b="1" i="0" u="none" strike="noStrike" kern="1200" cap="none" spc="300" normalizeH="0" baseline="0" noProof="0">
                <a:ln>
                  <a:noFill/>
                </a:ln>
                <a:solidFill>
                  <a:prstClr val="white"/>
                </a:solidFill>
                <a:effectLst/>
                <a:uLnTx/>
                <a:uFillTx/>
                <a:latin typeface="Times New Roman"/>
                <a:ea typeface="微软雅黑"/>
                <a:cs typeface="+mn-cs"/>
                <a:sym typeface="+mn-ea"/>
              </a:rPr>
              <a:t>Any Questions</a:t>
            </a:r>
            <a:r>
              <a:rPr kumimoji="1" lang="zh-CN" altLang="en-US" sz="4000" b="1" i="0" u="none" strike="noStrike" kern="1200" cap="none" spc="300" normalizeH="0" baseline="0" noProof="0">
                <a:ln>
                  <a:noFill/>
                </a:ln>
                <a:solidFill>
                  <a:prstClr val="white"/>
                </a:solidFill>
                <a:effectLst/>
                <a:uLnTx/>
                <a:uFillTx/>
                <a:latin typeface="Times New Roman"/>
                <a:ea typeface="微软雅黑"/>
                <a:cs typeface="+mn-cs"/>
                <a:sym typeface="+mn-ea"/>
              </a:rPr>
              <a:t>？</a:t>
            </a:r>
          </a:p>
          <a:p>
            <a:pPr marL="0" marR="0" lvl="0" indent="0" algn="ctr" defTabSz="914400" rtl="0" eaLnBrk="1" fontAlgn="base" latinLnBrk="0" hangingPunct="1">
              <a:lnSpc>
                <a:spcPct val="150000"/>
              </a:lnSpc>
              <a:spcBef>
                <a:spcPct val="0"/>
              </a:spcBef>
              <a:spcAft>
                <a:spcPct val="0"/>
              </a:spcAft>
              <a:buClrTx/>
              <a:buSzTx/>
              <a:buFontTx/>
              <a:buNone/>
              <a:tabLst/>
              <a:defRPr/>
            </a:pPr>
            <a:r>
              <a:rPr kumimoji="1" lang="zh-CN" altLang="en-US" sz="4000" b="1" i="0" u="none" strike="noStrike" kern="1200" cap="none" spc="300" normalizeH="0" baseline="0" noProof="0">
                <a:ln>
                  <a:noFill/>
                </a:ln>
                <a:solidFill>
                  <a:prstClr val="white"/>
                </a:solidFill>
                <a:effectLst/>
                <a:uLnTx/>
                <a:uFillTx/>
                <a:latin typeface="Times New Roman"/>
                <a:ea typeface="微软雅黑"/>
                <a:cs typeface="+mn-cs"/>
                <a:sym typeface="+mn-ea"/>
              </a:rPr>
              <a:t>谢   谢！</a:t>
            </a:r>
          </a:p>
        </p:txBody>
      </p:sp>
    </p:spTree>
    <p:extLst>
      <p:ext uri="{BB962C8B-B14F-4D97-AF65-F5344CB8AC3E}">
        <p14:creationId xmlns:p14="http://schemas.microsoft.com/office/powerpoint/2010/main" val="2608019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4575498-5B68-4A76-96EE-4323497992F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4038600"/>
          </a:xfrm>
          <a:prstGeom prst="rect">
            <a:avLst/>
          </a:prstGeom>
        </p:spPr>
      </p:pic>
      <p:sp>
        <p:nvSpPr>
          <p:cNvPr id="4" name="矩形 4">
            <a:extLst>
              <a:ext uri="{FF2B5EF4-FFF2-40B4-BE49-F238E27FC236}">
                <a16:creationId xmlns:a16="http://schemas.microsoft.com/office/drawing/2014/main" id="{924BD621-5C8E-46C9-B00B-820B3C5F4330}"/>
              </a:ext>
            </a:extLst>
          </p:cNvPr>
          <p:cNvSpPr/>
          <p:nvPr userDrawn="1"/>
        </p:nvSpPr>
        <p:spPr>
          <a:xfrm flipH="1">
            <a:off x="0" y="3329513"/>
            <a:ext cx="9144000" cy="2025594"/>
          </a:xfrm>
          <a:custGeom>
            <a:avLst/>
            <a:gdLst>
              <a:gd name="connsiteX0" fmla="*/ 0 w 9144010"/>
              <a:gd name="connsiteY0" fmla="*/ 0 h 2964150"/>
              <a:gd name="connsiteX1" fmla="*/ 9144010 w 9144010"/>
              <a:gd name="connsiteY1" fmla="*/ 0 h 2964150"/>
              <a:gd name="connsiteX2" fmla="*/ 9144010 w 9144010"/>
              <a:gd name="connsiteY2" fmla="*/ 2964150 h 2964150"/>
              <a:gd name="connsiteX3" fmla="*/ 0 w 9144010"/>
              <a:gd name="connsiteY3" fmla="*/ 2964150 h 2964150"/>
              <a:gd name="connsiteX4" fmla="*/ 0 w 9144010"/>
              <a:gd name="connsiteY4" fmla="*/ 0 h 2964150"/>
              <a:gd name="connsiteX0-1" fmla="*/ 0 w 9144010"/>
              <a:gd name="connsiteY0-2" fmla="*/ 0 h 2964150"/>
              <a:gd name="connsiteX1-3" fmla="*/ 9144010 w 9144010"/>
              <a:gd name="connsiteY1-4" fmla="*/ 0 h 2964150"/>
              <a:gd name="connsiteX2-5" fmla="*/ 9144010 w 9144010"/>
              <a:gd name="connsiteY2-6" fmla="*/ 2964150 h 2964150"/>
              <a:gd name="connsiteX3-7" fmla="*/ 0 w 9144010"/>
              <a:gd name="connsiteY3-8" fmla="*/ 2964150 h 2964150"/>
              <a:gd name="connsiteX4-9" fmla="*/ 0 w 9144010"/>
              <a:gd name="connsiteY4-10" fmla="*/ 0 h 2964150"/>
              <a:gd name="connsiteX0-11" fmla="*/ 0 w 9144010"/>
              <a:gd name="connsiteY0-12" fmla="*/ 0 h 2964150"/>
              <a:gd name="connsiteX1-13" fmla="*/ 9144010 w 9144010"/>
              <a:gd name="connsiteY1-14" fmla="*/ 0 h 2964150"/>
              <a:gd name="connsiteX2-15" fmla="*/ 9144010 w 9144010"/>
              <a:gd name="connsiteY2-16" fmla="*/ 2964150 h 2964150"/>
              <a:gd name="connsiteX3-17" fmla="*/ 0 w 9144010"/>
              <a:gd name="connsiteY3-18" fmla="*/ 2964150 h 2964150"/>
              <a:gd name="connsiteX4-19" fmla="*/ 0 w 9144010"/>
              <a:gd name="connsiteY4-20" fmla="*/ 0 h 2964150"/>
              <a:gd name="connsiteX0-21" fmla="*/ 0 w 9144010"/>
              <a:gd name="connsiteY0-22" fmla="*/ 0 h 2964150"/>
              <a:gd name="connsiteX1-23" fmla="*/ 9144010 w 9144010"/>
              <a:gd name="connsiteY1-24" fmla="*/ 0 h 2964150"/>
              <a:gd name="connsiteX2-25" fmla="*/ 9144010 w 9144010"/>
              <a:gd name="connsiteY2-26" fmla="*/ 2964150 h 2964150"/>
              <a:gd name="connsiteX3-27" fmla="*/ 0 w 9144010"/>
              <a:gd name="connsiteY3-28" fmla="*/ 2964150 h 2964150"/>
              <a:gd name="connsiteX4-29" fmla="*/ 0 w 9144010"/>
              <a:gd name="connsiteY4-30" fmla="*/ 0 h 2964150"/>
              <a:gd name="connsiteX0-31" fmla="*/ 0 w 9144010"/>
              <a:gd name="connsiteY0-32" fmla="*/ 0 h 2964150"/>
              <a:gd name="connsiteX1-33" fmla="*/ 9144010 w 9144010"/>
              <a:gd name="connsiteY1-34" fmla="*/ 0 h 2964150"/>
              <a:gd name="connsiteX2-35" fmla="*/ 9144010 w 9144010"/>
              <a:gd name="connsiteY2-36" fmla="*/ 2964150 h 2964150"/>
              <a:gd name="connsiteX3-37" fmla="*/ 0 w 9144010"/>
              <a:gd name="connsiteY3-38" fmla="*/ 2964150 h 2964150"/>
              <a:gd name="connsiteX4-39" fmla="*/ 0 w 9144010"/>
              <a:gd name="connsiteY4-40" fmla="*/ 0 h 29641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44010" h="2964150">
                <a:moveTo>
                  <a:pt x="0" y="0"/>
                </a:moveTo>
                <a:cubicBezTo>
                  <a:pt x="2346039" y="216256"/>
                  <a:pt x="5809680" y="2235659"/>
                  <a:pt x="9144010" y="0"/>
                </a:cubicBezTo>
                <a:lnTo>
                  <a:pt x="9144010" y="2964150"/>
                </a:lnTo>
                <a:lnTo>
                  <a:pt x="0" y="2964150"/>
                </a:lnTo>
                <a:lnTo>
                  <a:pt x="0" y="0"/>
                </a:lnTo>
                <a:close/>
              </a:path>
            </a:pathLst>
          </a:custGeom>
          <a:gradFill>
            <a:gsLst>
              <a:gs pos="0">
                <a:srgbClr val="FF6600"/>
              </a:gs>
              <a:gs pos="100000">
                <a:srgbClr val="FF99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 name="任意多边形: 形状 4">
            <a:extLst>
              <a:ext uri="{FF2B5EF4-FFF2-40B4-BE49-F238E27FC236}">
                <a16:creationId xmlns:a16="http://schemas.microsoft.com/office/drawing/2014/main" id="{4F4A0A4B-8327-4A2B-A10E-6DB97B6D05B1}"/>
              </a:ext>
            </a:extLst>
          </p:cNvPr>
          <p:cNvSpPr/>
          <p:nvPr userDrawn="1"/>
        </p:nvSpPr>
        <p:spPr>
          <a:xfrm flipH="1">
            <a:off x="0" y="3560897"/>
            <a:ext cx="9144000" cy="3297103"/>
          </a:xfrm>
          <a:custGeom>
            <a:avLst/>
            <a:gdLst>
              <a:gd name="connsiteX0" fmla="*/ 9144000 w 9144000"/>
              <a:gd name="connsiteY0" fmla="*/ 0 h 3297103"/>
              <a:gd name="connsiteX1" fmla="*/ 0 w 9144000"/>
              <a:gd name="connsiteY1" fmla="*/ 0 h 3297103"/>
              <a:gd name="connsiteX2" fmla="*/ 0 w 9144000"/>
              <a:gd name="connsiteY2" fmla="*/ 1855879 h 3297103"/>
              <a:gd name="connsiteX3" fmla="*/ 0 w 9144000"/>
              <a:gd name="connsiteY3" fmla="*/ 3297103 h 3297103"/>
              <a:gd name="connsiteX4" fmla="*/ 9144000 w 9144000"/>
              <a:gd name="connsiteY4" fmla="*/ 3297103 h 3297103"/>
              <a:gd name="connsiteX5" fmla="*/ 9144000 w 9144000"/>
              <a:gd name="connsiteY5" fmla="*/ 1855879 h 3297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3297103">
                <a:moveTo>
                  <a:pt x="9144000" y="0"/>
                </a:moveTo>
                <a:cubicBezTo>
                  <a:pt x="5994400" y="1526702"/>
                  <a:pt x="3048000" y="0"/>
                  <a:pt x="0" y="0"/>
                </a:cubicBezTo>
                <a:lnTo>
                  <a:pt x="0" y="1855879"/>
                </a:lnTo>
                <a:lnTo>
                  <a:pt x="0" y="3297103"/>
                </a:lnTo>
                <a:lnTo>
                  <a:pt x="9144000" y="3297103"/>
                </a:lnTo>
                <a:lnTo>
                  <a:pt x="9144000" y="1855879"/>
                </a:lnTo>
                <a:close/>
              </a:path>
            </a:pathLst>
          </a:custGeom>
          <a:solidFill>
            <a:srgbClr val="1354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2" name="组合 1">
            <a:extLst>
              <a:ext uri="{FF2B5EF4-FFF2-40B4-BE49-F238E27FC236}">
                <a16:creationId xmlns:a16="http://schemas.microsoft.com/office/drawing/2014/main" id="{6D1BB0A9-3F86-4B62-AA40-ECAAE8F33AB9}"/>
              </a:ext>
            </a:extLst>
          </p:cNvPr>
          <p:cNvGrpSpPr/>
          <p:nvPr userDrawn="1"/>
        </p:nvGrpSpPr>
        <p:grpSpPr>
          <a:xfrm>
            <a:off x="574379" y="4701128"/>
            <a:ext cx="7989554" cy="1504743"/>
            <a:chOff x="1118962" y="4467938"/>
            <a:chExt cx="4145537" cy="2218976"/>
          </a:xfrm>
        </p:grpSpPr>
        <p:sp>
          <p:nvSpPr>
            <p:cNvPr id="12" name="矩形 11">
              <a:extLst>
                <a:ext uri="{FF2B5EF4-FFF2-40B4-BE49-F238E27FC236}">
                  <a16:creationId xmlns:a16="http://schemas.microsoft.com/office/drawing/2014/main" id="{335EADA8-EA3D-4E7C-8208-07D2FAD11A74}"/>
                </a:ext>
              </a:extLst>
            </p:cNvPr>
            <p:cNvSpPr/>
            <p:nvPr userDrawn="1"/>
          </p:nvSpPr>
          <p:spPr>
            <a:xfrm>
              <a:off x="1118962" y="4881937"/>
              <a:ext cx="1384994" cy="1804977"/>
            </a:xfrm>
            <a:prstGeom prst="rect">
              <a:avLst/>
            </a:prstGeom>
            <a:solidFill>
              <a:schemeClr val="bg1"/>
            </a:solidFill>
            <a:ln w="9525">
              <a:solidFill>
                <a:srgbClr val="135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srgbClr val="13548C"/>
                </a:solidFill>
                <a:effectLst/>
                <a:uLnTx/>
                <a:uFillTx/>
                <a:latin typeface="等线" panose="02010600030101010101" charset="-122"/>
                <a:ea typeface="等线" panose="02010600030101010101" charset="-122"/>
                <a:cs typeface="+mn-cs"/>
              </a:endParaRPr>
            </a:p>
          </p:txBody>
        </p:sp>
        <p:sp>
          <p:nvSpPr>
            <p:cNvPr id="13" name="矩形 12">
              <a:extLst>
                <a:ext uri="{FF2B5EF4-FFF2-40B4-BE49-F238E27FC236}">
                  <a16:creationId xmlns:a16="http://schemas.microsoft.com/office/drawing/2014/main" id="{93253D45-8E2D-4D7F-A511-11AC876F35C6}"/>
                </a:ext>
              </a:extLst>
            </p:cNvPr>
            <p:cNvSpPr/>
            <p:nvPr userDrawn="1"/>
          </p:nvSpPr>
          <p:spPr>
            <a:xfrm>
              <a:off x="2499232" y="4881937"/>
              <a:ext cx="1384994" cy="1804977"/>
            </a:xfrm>
            <a:prstGeom prst="rect">
              <a:avLst/>
            </a:prstGeom>
            <a:solidFill>
              <a:schemeClr val="bg1"/>
            </a:solidFill>
            <a:ln w="9525">
              <a:solidFill>
                <a:srgbClr val="135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srgbClr val="13548C"/>
                </a:solidFill>
                <a:effectLst/>
                <a:uLnTx/>
                <a:uFillTx/>
                <a:latin typeface="等线" panose="02010600030101010101" charset="-122"/>
                <a:ea typeface="等线" panose="02010600030101010101" charset="-122"/>
                <a:cs typeface="+mn-cs"/>
              </a:endParaRPr>
            </a:p>
          </p:txBody>
        </p:sp>
        <p:sp>
          <p:nvSpPr>
            <p:cNvPr id="14" name="矩形 13">
              <a:extLst>
                <a:ext uri="{FF2B5EF4-FFF2-40B4-BE49-F238E27FC236}">
                  <a16:creationId xmlns:a16="http://schemas.microsoft.com/office/drawing/2014/main" id="{63258F64-DDEC-48D8-91B4-DED7EA87C312}"/>
                </a:ext>
              </a:extLst>
            </p:cNvPr>
            <p:cNvSpPr/>
            <p:nvPr userDrawn="1"/>
          </p:nvSpPr>
          <p:spPr>
            <a:xfrm>
              <a:off x="3879505" y="4881937"/>
              <a:ext cx="1384994" cy="1804977"/>
            </a:xfrm>
            <a:prstGeom prst="rect">
              <a:avLst/>
            </a:prstGeom>
            <a:solidFill>
              <a:schemeClr val="bg1"/>
            </a:solidFill>
            <a:ln w="9525">
              <a:solidFill>
                <a:srgbClr val="135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srgbClr val="13548C"/>
                </a:solidFill>
                <a:effectLst/>
                <a:uLnTx/>
                <a:uFillTx/>
                <a:latin typeface="等线" panose="02010600030101010101" charset="-122"/>
                <a:ea typeface="等线" panose="02010600030101010101" charset="-122"/>
                <a:cs typeface="+mn-cs"/>
              </a:endParaRPr>
            </a:p>
          </p:txBody>
        </p:sp>
        <p:sp>
          <p:nvSpPr>
            <p:cNvPr id="18" name="矩形 17">
              <a:extLst>
                <a:ext uri="{FF2B5EF4-FFF2-40B4-BE49-F238E27FC236}">
                  <a16:creationId xmlns:a16="http://schemas.microsoft.com/office/drawing/2014/main" id="{5708F2DC-68A3-4F89-8E69-141DB44D2698}"/>
                </a:ext>
              </a:extLst>
            </p:cNvPr>
            <p:cNvSpPr/>
            <p:nvPr userDrawn="1"/>
          </p:nvSpPr>
          <p:spPr>
            <a:xfrm>
              <a:off x="1123683" y="5565222"/>
              <a:ext cx="1383225" cy="726183"/>
            </a:xfrm>
            <a:prstGeom prst="rect">
              <a:avLst/>
            </a:prstGeom>
          </p:spPr>
          <p:txBody>
            <a:bodyPr wrap="square" lIns="0" rIns="0">
              <a:spAutoFit/>
            </a:bodyPr>
            <a:lstStyle/>
            <a:p>
              <a:pPr marL="0" marR="0" lvl="0" indent="0" algn="ctr" defTabSz="685783" rtl="0" eaLnBrk="0" fontAlgn="base" latinLnBrk="0" hangingPunct="0">
                <a:lnSpc>
                  <a:spcPct val="100000"/>
                </a:lnSpc>
                <a:spcBef>
                  <a:spcPts val="600"/>
                </a:spcBef>
                <a:spcAft>
                  <a:spcPct val="0"/>
                </a:spcAft>
                <a:buClrTx/>
                <a:buSzTx/>
                <a:buFontTx/>
                <a:buNone/>
                <a:tabLst/>
                <a:defRPr/>
              </a:pPr>
              <a:r>
                <a:rPr kumimoji="1" lang="zh-CN" altLang="en-US" sz="2600" b="1" i="0" u="none" strike="noStrike" kern="1200" cap="none" spc="0" normalizeH="0" baseline="0" noProof="0">
                  <a:ln>
                    <a:noFill/>
                  </a:ln>
                  <a:solidFill>
                    <a:srgbClr val="13548C"/>
                  </a:solidFill>
                  <a:effectLst/>
                  <a:uLnTx/>
                  <a:uFillTx/>
                  <a:latin typeface="微软雅黑" panose="020B0503020204020204" pitchFamily="34" charset="-122"/>
                  <a:ea typeface="微软雅黑" panose="020B0503020204020204" pitchFamily="34" charset="-122"/>
                  <a:cs typeface="+mn-cs"/>
                </a:rPr>
                <a:t>聚类分析概述</a:t>
              </a:r>
            </a:p>
          </p:txBody>
        </p:sp>
        <p:sp>
          <p:nvSpPr>
            <p:cNvPr id="20" name="矩形 19">
              <a:extLst>
                <a:ext uri="{FF2B5EF4-FFF2-40B4-BE49-F238E27FC236}">
                  <a16:creationId xmlns:a16="http://schemas.microsoft.com/office/drawing/2014/main" id="{920F0DC9-8D1C-4F7D-9F3B-5D346DC5A875}"/>
                </a:ext>
              </a:extLst>
            </p:cNvPr>
            <p:cNvSpPr/>
            <p:nvPr userDrawn="1"/>
          </p:nvSpPr>
          <p:spPr>
            <a:xfrm>
              <a:off x="2503953" y="5565222"/>
              <a:ext cx="1383225" cy="726183"/>
            </a:xfrm>
            <a:prstGeom prst="rect">
              <a:avLst/>
            </a:prstGeom>
          </p:spPr>
          <p:txBody>
            <a:bodyPr wrap="square" lIns="0" rIns="0">
              <a:spAutoFit/>
            </a:bodyPr>
            <a:lstStyle/>
            <a:p>
              <a:pPr marL="0" marR="0" lvl="0" indent="0" algn="ctr" defTabSz="685783" rtl="0" eaLnBrk="0" fontAlgn="base" latinLnBrk="0" hangingPunct="0">
                <a:lnSpc>
                  <a:spcPct val="100000"/>
                </a:lnSpc>
                <a:spcBef>
                  <a:spcPts val="600"/>
                </a:spcBef>
                <a:spcAft>
                  <a:spcPct val="0"/>
                </a:spcAft>
                <a:buClrTx/>
                <a:buSzTx/>
                <a:buFontTx/>
                <a:buNone/>
                <a:tabLst/>
                <a:defRPr/>
              </a:pPr>
              <a:r>
                <a:rPr kumimoji="1" lang="zh-CN" altLang="en-US" sz="2600" b="1" i="0" u="none" strike="noStrike" kern="1200" cap="none" spc="0" normalizeH="0" baseline="0" noProof="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基本聚类方法</a:t>
              </a:r>
            </a:p>
          </p:txBody>
        </p:sp>
        <p:sp>
          <p:nvSpPr>
            <p:cNvPr id="21" name="矩形 20">
              <a:extLst>
                <a:ext uri="{FF2B5EF4-FFF2-40B4-BE49-F238E27FC236}">
                  <a16:creationId xmlns:a16="http://schemas.microsoft.com/office/drawing/2014/main" id="{896B452C-1792-4CDF-8E3E-A02293C97908}"/>
                </a:ext>
              </a:extLst>
            </p:cNvPr>
            <p:cNvSpPr/>
            <p:nvPr userDrawn="1"/>
          </p:nvSpPr>
          <p:spPr>
            <a:xfrm>
              <a:off x="3879502" y="5565222"/>
              <a:ext cx="1383225" cy="726183"/>
            </a:xfrm>
            <a:prstGeom prst="rect">
              <a:avLst/>
            </a:prstGeom>
          </p:spPr>
          <p:txBody>
            <a:bodyPr wrap="square" lIns="0" rIns="0">
              <a:spAutoFit/>
            </a:bodyPr>
            <a:lstStyle/>
            <a:p>
              <a:pPr marL="0" marR="0" lvl="0" indent="0" algn="ctr" defTabSz="685783" rtl="0" eaLnBrk="0" fontAlgn="base" latinLnBrk="0" hangingPunct="0">
                <a:lnSpc>
                  <a:spcPct val="100000"/>
                </a:lnSpc>
                <a:spcBef>
                  <a:spcPts val="600"/>
                </a:spcBef>
                <a:spcAft>
                  <a:spcPct val="0"/>
                </a:spcAft>
                <a:buClrTx/>
                <a:buSzTx/>
                <a:buFontTx/>
                <a:buNone/>
                <a:tabLst/>
                <a:defRPr/>
              </a:pPr>
              <a:r>
                <a:rPr kumimoji="1" lang="zh-CN" altLang="en-US" sz="2600" b="1" i="0" u="none" strike="noStrike" kern="1200" cap="none" spc="0" normalizeH="0" baseline="0" noProof="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聚类评估</a:t>
              </a:r>
            </a:p>
          </p:txBody>
        </p:sp>
        <p:sp>
          <p:nvSpPr>
            <p:cNvPr id="27" name="文本框 26">
              <a:extLst>
                <a:ext uri="{FF2B5EF4-FFF2-40B4-BE49-F238E27FC236}">
                  <a16:creationId xmlns:a16="http://schemas.microsoft.com/office/drawing/2014/main" id="{BC274980-C854-4099-B0A5-8191EC77E850}"/>
                </a:ext>
              </a:extLst>
            </p:cNvPr>
            <p:cNvSpPr txBox="1"/>
            <p:nvPr userDrawn="1"/>
          </p:nvSpPr>
          <p:spPr>
            <a:xfrm>
              <a:off x="4426303" y="4491022"/>
              <a:ext cx="291397" cy="828000"/>
            </a:xfrm>
            <a:prstGeom prst="ellipse">
              <a:avLst/>
            </a:prstGeom>
            <a:solidFill>
              <a:schemeClr val="bg1">
                <a:lumMod val="65000"/>
              </a:schemeClr>
            </a:solidFill>
            <a:ln w="38100">
              <a:solidFill>
                <a:srgbClr val="FFFFFF"/>
              </a:solidFill>
            </a:ln>
          </p:spPr>
          <p:txBody>
            <a:bodyPr wrap="square" lIns="0" tIns="0" rIns="0" bIns="0" rtlCol="0" anchor="ctr" anchorCtr="1">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rPr>
                <a:t>03</a:t>
              </a:r>
              <a:endParaRPr kumimoji="1" lang="zh-CN" altLang="en-US"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endParaRPr>
            </a:p>
          </p:txBody>
        </p:sp>
        <p:sp>
          <p:nvSpPr>
            <p:cNvPr id="28" name="文本框 27">
              <a:extLst>
                <a:ext uri="{FF2B5EF4-FFF2-40B4-BE49-F238E27FC236}">
                  <a16:creationId xmlns:a16="http://schemas.microsoft.com/office/drawing/2014/main" id="{1BDD26CC-6000-4BBA-B26B-38C3826FC6AC}"/>
                </a:ext>
              </a:extLst>
            </p:cNvPr>
            <p:cNvSpPr txBox="1"/>
            <p:nvPr userDrawn="1"/>
          </p:nvSpPr>
          <p:spPr>
            <a:xfrm>
              <a:off x="3046030" y="4491022"/>
              <a:ext cx="291397" cy="828000"/>
            </a:xfrm>
            <a:prstGeom prst="ellipse">
              <a:avLst/>
            </a:prstGeom>
            <a:solidFill>
              <a:schemeClr val="bg1">
                <a:lumMod val="65000"/>
              </a:schemeClr>
            </a:solidFill>
            <a:ln w="38100">
              <a:solidFill>
                <a:srgbClr val="FFFFFF"/>
              </a:solidFill>
            </a:ln>
          </p:spPr>
          <p:txBody>
            <a:bodyPr wrap="square" lIns="0" tIns="0" rIns="0" bIns="0" rtlCol="0" anchor="ctr" anchorCtr="1">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rPr>
                <a:t>02</a:t>
              </a:r>
              <a:endParaRPr kumimoji="1" lang="zh-CN" altLang="en-US"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endParaRPr>
            </a:p>
          </p:txBody>
        </p:sp>
        <p:sp>
          <p:nvSpPr>
            <p:cNvPr id="29" name="文本框 28">
              <a:extLst>
                <a:ext uri="{FF2B5EF4-FFF2-40B4-BE49-F238E27FC236}">
                  <a16:creationId xmlns:a16="http://schemas.microsoft.com/office/drawing/2014/main" id="{21F42B5A-5687-473A-BF4A-F1DC06576F65}"/>
                </a:ext>
              </a:extLst>
            </p:cNvPr>
            <p:cNvSpPr txBox="1"/>
            <p:nvPr userDrawn="1"/>
          </p:nvSpPr>
          <p:spPr>
            <a:xfrm>
              <a:off x="1665760" y="4467938"/>
              <a:ext cx="291397" cy="828000"/>
            </a:xfrm>
            <a:prstGeom prst="ellipse">
              <a:avLst/>
            </a:prstGeom>
            <a:solidFill>
              <a:srgbClr val="13548C"/>
            </a:solidFill>
            <a:ln w="38100">
              <a:solidFill>
                <a:srgbClr val="FFFFFF"/>
              </a:solidFill>
            </a:ln>
          </p:spPr>
          <p:txBody>
            <a:bodyPr wrap="square" lIns="0" tIns="0" rIns="0" bIns="0" rtlCol="0" anchor="ctr" anchorCtr="1">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75" normalizeH="0" baseline="0" noProof="0">
                  <a:ln>
                    <a:noFill/>
                  </a:ln>
                  <a:solidFill>
                    <a:prstClr val="white"/>
                  </a:solidFill>
                  <a:effectLst/>
                  <a:uLnTx/>
                  <a:uFillTx/>
                  <a:latin typeface="Times New Roman"/>
                  <a:ea typeface="等线" panose="02010600030101010101" charset="-122"/>
                  <a:cs typeface="+mn-cs"/>
                </a:rPr>
                <a:t>01</a:t>
              </a:r>
              <a:endParaRPr kumimoji="1" lang="zh-CN" altLang="en-US"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endParaRPr>
            </a:p>
          </p:txBody>
        </p:sp>
      </p:grpSp>
    </p:spTree>
    <p:extLst>
      <p:ext uri="{BB962C8B-B14F-4D97-AF65-F5344CB8AC3E}">
        <p14:creationId xmlns:p14="http://schemas.microsoft.com/office/powerpoint/2010/main" val="417686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4575498-5B68-4A76-96EE-4323497992F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4038600"/>
          </a:xfrm>
          <a:prstGeom prst="rect">
            <a:avLst/>
          </a:prstGeom>
        </p:spPr>
      </p:pic>
      <p:sp>
        <p:nvSpPr>
          <p:cNvPr id="4" name="矩形 4">
            <a:extLst>
              <a:ext uri="{FF2B5EF4-FFF2-40B4-BE49-F238E27FC236}">
                <a16:creationId xmlns:a16="http://schemas.microsoft.com/office/drawing/2014/main" id="{924BD621-5C8E-46C9-B00B-820B3C5F4330}"/>
              </a:ext>
            </a:extLst>
          </p:cNvPr>
          <p:cNvSpPr/>
          <p:nvPr userDrawn="1"/>
        </p:nvSpPr>
        <p:spPr>
          <a:xfrm flipH="1">
            <a:off x="0" y="3329513"/>
            <a:ext cx="9144000" cy="2025594"/>
          </a:xfrm>
          <a:custGeom>
            <a:avLst/>
            <a:gdLst>
              <a:gd name="connsiteX0" fmla="*/ 0 w 9144010"/>
              <a:gd name="connsiteY0" fmla="*/ 0 h 2964150"/>
              <a:gd name="connsiteX1" fmla="*/ 9144010 w 9144010"/>
              <a:gd name="connsiteY1" fmla="*/ 0 h 2964150"/>
              <a:gd name="connsiteX2" fmla="*/ 9144010 w 9144010"/>
              <a:gd name="connsiteY2" fmla="*/ 2964150 h 2964150"/>
              <a:gd name="connsiteX3" fmla="*/ 0 w 9144010"/>
              <a:gd name="connsiteY3" fmla="*/ 2964150 h 2964150"/>
              <a:gd name="connsiteX4" fmla="*/ 0 w 9144010"/>
              <a:gd name="connsiteY4" fmla="*/ 0 h 2964150"/>
              <a:gd name="connsiteX0-1" fmla="*/ 0 w 9144010"/>
              <a:gd name="connsiteY0-2" fmla="*/ 0 h 2964150"/>
              <a:gd name="connsiteX1-3" fmla="*/ 9144010 w 9144010"/>
              <a:gd name="connsiteY1-4" fmla="*/ 0 h 2964150"/>
              <a:gd name="connsiteX2-5" fmla="*/ 9144010 w 9144010"/>
              <a:gd name="connsiteY2-6" fmla="*/ 2964150 h 2964150"/>
              <a:gd name="connsiteX3-7" fmla="*/ 0 w 9144010"/>
              <a:gd name="connsiteY3-8" fmla="*/ 2964150 h 2964150"/>
              <a:gd name="connsiteX4-9" fmla="*/ 0 w 9144010"/>
              <a:gd name="connsiteY4-10" fmla="*/ 0 h 2964150"/>
              <a:gd name="connsiteX0-11" fmla="*/ 0 w 9144010"/>
              <a:gd name="connsiteY0-12" fmla="*/ 0 h 2964150"/>
              <a:gd name="connsiteX1-13" fmla="*/ 9144010 w 9144010"/>
              <a:gd name="connsiteY1-14" fmla="*/ 0 h 2964150"/>
              <a:gd name="connsiteX2-15" fmla="*/ 9144010 w 9144010"/>
              <a:gd name="connsiteY2-16" fmla="*/ 2964150 h 2964150"/>
              <a:gd name="connsiteX3-17" fmla="*/ 0 w 9144010"/>
              <a:gd name="connsiteY3-18" fmla="*/ 2964150 h 2964150"/>
              <a:gd name="connsiteX4-19" fmla="*/ 0 w 9144010"/>
              <a:gd name="connsiteY4-20" fmla="*/ 0 h 2964150"/>
              <a:gd name="connsiteX0-21" fmla="*/ 0 w 9144010"/>
              <a:gd name="connsiteY0-22" fmla="*/ 0 h 2964150"/>
              <a:gd name="connsiteX1-23" fmla="*/ 9144010 w 9144010"/>
              <a:gd name="connsiteY1-24" fmla="*/ 0 h 2964150"/>
              <a:gd name="connsiteX2-25" fmla="*/ 9144010 w 9144010"/>
              <a:gd name="connsiteY2-26" fmla="*/ 2964150 h 2964150"/>
              <a:gd name="connsiteX3-27" fmla="*/ 0 w 9144010"/>
              <a:gd name="connsiteY3-28" fmla="*/ 2964150 h 2964150"/>
              <a:gd name="connsiteX4-29" fmla="*/ 0 w 9144010"/>
              <a:gd name="connsiteY4-30" fmla="*/ 0 h 2964150"/>
              <a:gd name="connsiteX0-31" fmla="*/ 0 w 9144010"/>
              <a:gd name="connsiteY0-32" fmla="*/ 0 h 2964150"/>
              <a:gd name="connsiteX1-33" fmla="*/ 9144010 w 9144010"/>
              <a:gd name="connsiteY1-34" fmla="*/ 0 h 2964150"/>
              <a:gd name="connsiteX2-35" fmla="*/ 9144010 w 9144010"/>
              <a:gd name="connsiteY2-36" fmla="*/ 2964150 h 2964150"/>
              <a:gd name="connsiteX3-37" fmla="*/ 0 w 9144010"/>
              <a:gd name="connsiteY3-38" fmla="*/ 2964150 h 2964150"/>
              <a:gd name="connsiteX4-39" fmla="*/ 0 w 9144010"/>
              <a:gd name="connsiteY4-40" fmla="*/ 0 h 29641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44010" h="2964150">
                <a:moveTo>
                  <a:pt x="0" y="0"/>
                </a:moveTo>
                <a:cubicBezTo>
                  <a:pt x="2346039" y="216256"/>
                  <a:pt x="5809680" y="2235659"/>
                  <a:pt x="9144010" y="0"/>
                </a:cubicBezTo>
                <a:lnTo>
                  <a:pt x="9144010" y="2964150"/>
                </a:lnTo>
                <a:lnTo>
                  <a:pt x="0" y="2964150"/>
                </a:lnTo>
                <a:lnTo>
                  <a:pt x="0" y="0"/>
                </a:lnTo>
                <a:close/>
              </a:path>
            </a:pathLst>
          </a:custGeom>
          <a:gradFill>
            <a:gsLst>
              <a:gs pos="0">
                <a:srgbClr val="FF6600"/>
              </a:gs>
              <a:gs pos="100000">
                <a:srgbClr val="FF99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 name="任意多边形: 形状 4">
            <a:extLst>
              <a:ext uri="{FF2B5EF4-FFF2-40B4-BE49-F238E27FC236}">
                <a16:creationId xmlns:a16="http://schemas.microsoft.com/office/drawing/2014/main" id="{4F4A0A4B-8327-4A2B-A10E-6DB97B6D05B1}"/>
              </a:ext>
            </a:extLst>
          </p:cNvPr>
          <p:cNvSpPr/>
          <p:nvPr userDrawn="1"/>
        </p:nvSpPr>
        <p:spPr>
          <a:xfrm flipH="1">
            <a:off x="0" y="3560897"/>
            <a:ext cx="9144000" cy="3297103"/>
          </a:xfrm>
          <a:custGeom>
            <a:avLst/>
            <a:gdLst>
              <a:gd name="connsiteX0" fmla="*/ 9144000 w 9144000"/>
              <a:gd name="connsiteY0" fmla="*/ 0 h 3297103"/>
              <a:gd name="connsiteX1" fmla="*/ 0 w 9144000"/>
              <a:gd name="connsiteY1" fmla="*/ 0 h 3297103"/>
              <a:gd name="connsiteX2" fmla="*/ 0 w 9144000"/>
              <a:gd name="connsiteY2" fmla="*/ 1855879 h 3297103"/>
              <a:gd name="connsiteX3" fmla="*/ 0 w 9144000"/>
              <a:gd name="connsiteY3" fmla="*/ 3297103 h 3297103"/>
              <a:gd name="connsiteX4" fmla="*/ 9144000 w 9144000"/>
              <a:gd name="connsiteY4" fmla="*/ 3297103 h 3297103"/>
              <a:gd name="connsiteX5" fmla="*/ 9144000 w 9144000"/>
              <a:gd name="connsiteY5" fmla="*/ 1855879 h 3297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3297103">
                <a:moveTo>
                  <a:pt x="9144000" y="0"/>
                </a:moveTo>
                <a:cubicBezTo>
                  <a:pt x="5994400" y="1526702"/>
                  <a:pt x="3048000" y="0"/>
                  <a:pt x="0" y="0"/>
                </a:cubicBezTo>
                <a:lnTo>
                  <a:pt x="0" y="1855879"/>
                </a:lnTo>
                <a:lnTo>
                  <a:pt x="0" y="3297103"/>
                </a:lnTo>
                <a:lnTo>
                  <a:pt x="9144000" y="3297103"/>
                </a:lnTo>
                <a:lnTo>
                  <a:pt x="9144000" y="1855879"/>
                </a:lnTo>
                <a:close/>
              </a:path>
            </a:pathLst>
          </a:custGeom>
          <a:solidFill>
            <a:srgbClr val="1354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2" name="组合 1">
            <a:extLst>
              <a:ext uri="{FF2B5EF4-FFF2-40B4-BE49-F238E27FC236}">
                <a16:creationId xmlns:a16="http://schemas.microsoft.com/office/drawing/2014/main" id="{6D1BB0A9-3F86-4B62-AA40-ECAAE8F33AB9}"/>
              </a:ext>
            </a:extLst>
          </p:cNvPr>
          <p:cNvGrpSpPr/>
          <p:nvPr userDrawn="1"/>
        </p:nvGrpSpPr>
        <p:grpSpPr>
          <a:xfrm>
            <a:off x="574379" y="4701128"/>
            <a:ext cx="7989554" cy="1504743"/>
            <a:chOff x="1118962" y="4467938"/>
            <a:chExt cx="4145537" cy="2218976"/>
          </a:xfrm>
        </p:grpSpPr>
        <p:sp>
          <p:nvSpPr>
            <p:cNvPr id="12" name="矩形 11">
              <a:extLst>
                <a:ext uri="{FF2B5EF4-FFF2-40B4-BE49-F238E27FC236}">
                  <a16:creationId xmlns:a16="http://schemas.microsoft.com/office/drawing/2014/main" id="{335EADA8-EA3D-4E7C-8208-07D2FAD11A74}"/>
                </a:ext>
              </a:extLst>
            </p:cNvPr>
            <p:cNvSpPr/>
            <p:nvPr userDrawn="1"/>
          </p:nvSpPr>
          <p:spPr>
            <a:xfrm>
              <a:off x="1118962" y="4881937"/>
              <a:ext cx="1384994" cy="1804977"/>
            </a:xfrm>
            <a:prstGeom prst="rect">
              <a:avLst/>
            </a:prstGeom>
            <a:solidFill>
              <a:schemeClr val="bg1"/>
            </a:solidFill>
            <a:ln w="9525">
              <a:solidFill>
                <a:srgbClr val="135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srgbClr val="13548C"/>
                </a:solidFill>
                <a:effectLst/>
                <a:uLnTx/>
                <a:uFillTx/>
                <a:latin typeface="等线" panose="02010600030101010101" charset="-122"/>
                <a:ea typeface="等线" panose="02010600030101010101" charset="-122"/>
                <a:cs typeface="+mn-cs"/>
              </a:endParaRPr>
            </a:p>
          </p:txBody>
        </p:sp>
        <p:sp>
          <p:nvSpPr>
            <p:cNvPr id="13" name="矩形 12">
              <a:extLst>
                <a:ext uri="{FF2B5EF4-FFF2-40B4-BE49-F238E27FC236}">
                  <a16:creationId xmlns:a16="http://schemas.microsoft.com/office/drawing/2014/main" id="{93253D45-8E2D-4D7F-A511-11AC876F35C6}"/>
                </a:ext>
              </a:extLst>
            </p:cNvPr>
            <p:cNvSpPr/>
            <p:nvPr userDrawn="1"/>
          </p:nvSpPr>
          <p:spPr>
            <a:xfrm>
              <a:off x="2499232" y="4881937"/>
              <a:ext cx="1384994" cy="1804977"/>
            </a:xfrm>
            <a:prstGeom prst="rect">
              <a:avLst/>
            </a:prstGeom>
            <a:solidFill>
              <a:schemeClr val="bg1"/>
            </a:solidFill>
            <a:ln w="9525">
              <a:solidFill>
                <a:srgbClr val="135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srgbClr val="13548C"/>
                </a:solidFill>
                <a:effectLst/>
                <a:uLnTx/>
                <a:uFillTx/>
                <a:latin typeface="等线" panose="02010600030101010101" charset="-122"/>
                <a:ea typeface="等线" panose="02010600030101010101" charset="-122"/>
                <a:cs typeface="+mn-cs"/>
              </a:endParaRPr>
            </a:p>
          </p:txBody>
        </p:sp>
        <p:sp>
          <p:nvSpPr>
            <p:cNvPr id="14" name="矩形 13">
              <a:extLst>
                <a:ext uri="{FF2B5EF4-FFF2-40B4-BE49-F238E27FC236}">
                  <a16:creationId xmlns:a16="http://schemas.microsoft.com/office/drawing/2014/main" id="{63258F64-DDEC-48D8-91B4-DED7EA87C312}"/>
                </a:ext>
              </a:extLst>
            </p:cNvPr>
            <p:cNvSpPr/>
            <p:nvPr userDrawn="1"/>
          </p:nvSpPr>
          <p:spPr>
            <a:xfrm>
              <a:off x="3879505" y="4881937"/>
              <a:ext cx="1384994" cy="1804977"/>
            </a:xfrm>
            <a:prstGeom prst="rect">
              <a:avLst/>
            </a:prstGeom>
            <a:solidFill>
              <a:schemeClr val="bg1"/>
            </a:solidFill>
            <a:ln w="9525">
              <a:solidFill>
                <a:srgbClr val="135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srgbClr val="13548C"/>
                </a:solidFill>
                <a:effectLst/>
                <a:uLnTx/>
                <a:uFillTx/>
                <a:latin typeface="等线" panose="02010600030101010101" charset="-122"/>
                <a:ea typeface="等线" panose="02010600030101010101" charset="-122"/>
                <a:cs typeface="+mn-cs"/>
              </a:endParaRPr>
            </a:p>
          </p:txBody>
        </p:sp>
        <p:sp>
          <p:nvSpPr>
            <p:cNvPr id="18" name="矩形 17">
              <a:extLst>
                <a:ext uri="{FF2B5EF4-FFF2-40B4-BE49-F238E27FC236}">
                  <a16:creationId xmlns:a16="http://schemas.microsoft.com/office/drawing/2014/main" id="{5708F2DC-68A3-4F89-8E69-141DB44D2698}"/>
                </a:ext>
              </a:extLst>
            </p:cNvPr>
            <p:cNvSpPr/>
            <p:nvPr userDrawn="1"/>
          </p:nvSpPr>
          <p:spPr>
            <a:xfrm>
              <a:off x="1123683" y="5565222"/>
              <a:ext cx="1383225" cy="726183"/>
            </a:xfrm>
            <a:prstGeom prst="rect">
              <a:avLst/>
            </a:prstGeom>
          </p:spPr>
          <p:txBody>
            <a:bodyPr wrap="square" lIns="0" rIns="0">
              <a:spAutoFit/>
            </a:bodyPr>
            <a:lstStyle/>
            <a:p>
              <a:pPr marL="0" marR="0" lvl="0" indent="0" algn="ctr" defTabSz="685783" rtl="0" eaLnBrk="0" fontAlgn="base" latinLnBrk="0" hangingPunct="0">
                <a:lnSpc>
                  <a:spcPct val="100000"/>
                </a:lnSpc>
                <a:spcBef>
                  <a:spcPts val="600"/>
                </a:spcBef>
                <a:spcAft>
                  <a:spcPct val="0"/>
                </a:spcAft>
                <a:buClrTx/>
                <a:buSzTx/>
                <a:buFontTx/>
                <a:buNone/>
                <a:tabLst/>
                <a:defRPr/>
              </a:pPr>
              <a:r>
                <a:rPr kumimoji="1" lang="zh-CN" altLang="en-US" sz="2600" b="1" i="0" u="none" strike="noStrike" kern="1200" cap="none" spc="0" normalizeH="0" baseline="0" noProof="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聚类分析概述</a:t>
              </a:r>
            </a:p>
          </p:txBody>
        </p:sp>
        <p:sp>
          <p:nvSpPr>
            <p:cNvPr id="20" name="矩形 19">
              <a:extLst>
                <a:ext uri="{FF2B5EF4-FFF2-40B4-BE49-F238E27FC236}">
                  <a16:creationId xmlns:a16="http://schemas.microsoft.com/office/drawing/2014/main" id="{920F0DC9-8D1C-4F7D-9F3B-5D346DC5A875}"/>
                </a:ext>
              </a:extLst>
            </p:cNvPr>
            <p:cNvSpPr/>
            <p:nvPr userDrawn="1"/>
          </p:nvSpPr>
          <p:spPr>
            <a:xfrm>
              <a:off x="2503953" y="5565222"/>
              <a:ext cx="1383225" cy="726183"/>
            </a:xfrm>
            <a:prstGeom prst="rect">
              <a:avLst/>
            </a:prstGeom>
          </p:spPr>
          <p:txBody>
            <a:bodyPr wrap="square" lIns="0" rIns="0">
              <a:spAutoFit/>
            </a:bodyPr>
            <a:lstStyle/>
            <a:p>
              <a:pPr marL="0" marR="0" lvl="0" indent="0" algn="ctr" defTabSz="685783" rtl="0" eaLnBrk="0" fontAlgn="base" latinLnBrk="0" hangingPunct="0">
                <a:lnSpc>
                  <a:spcPct val="100000"/>
                </a:lnSpc>
                <a:spcBef>
                  <a:spcPts val="600"/>
                </a:spcBef>
                <a:spcAft>
                  <a:spcPct val="0"/>
                </a:spcAft>
                <a:buClrTx/>
                <a:buSzTx/>
                <a:buFontTx/>
                <a:buNone/>
                <a:tabLst/>
                <a:defRPr/>
              </a:pPr>
              <a:r>
                <a:rPr kumimoji="1" lang="zh-CN" altLang="en-US" sz="2600" b="1" i="0" u="none" strike="noStrike" kern="1200" cap="none" spc="0" normalizeH="0" baseline="0" noProof="0">
                  <a:ln>
                    <a:noFill/>
                  </a:ln>
                  <a:solidFill>
                    <a:srgbClr val="13548C"/>
                  </a:solidFill>
                  <a:effectLst/>
                  <a:uLnTx/>
                  <a:uFillTx/>
                  <a:latin typeface="微软雅黑" panose="020B0503020204020204" pitchFamily="34" charset="-122"/>
                  <a:ea typeface="微软雅黑" panose="020B0503020204020204" pitchFamily="34" charset="-122"/>
                  <a:cs typeface="+mn-cs"/>
                </a:rPr>
                <a:t>基本聚类方法</a:t>
              </a:r>
            </a:p>
          </p:txBody>
        </p:sp>
        <p:sp>
          <p:nvSpPr>
            <p:cNvPr id="21" name="矩形 20">
              <a:extLst>
                <a:ext uri="{FF2B5EF4-FFF2-40B4-BE49-F238E27FC236}">
                  <a16:creationId xmlns:a16="http://schemas.microsoft.com/office/drawing/2014/main" id="{896B452C-1792-4CDF-8E3E-A02293C97908}"/>
                </a:ext>
              </a:extLst>
            </p:cNvPr>
            <p:cNvSpPr/>
            <p:nvPr userDrawn="1"/>
          </p:nvSpPr>
          <p:spPr>
            <a:xfrm>
              <a:off x="3879502" y="5565222"/>
              <a:ext cx="1383225" cy="726183"/>
            </a:xfrm>
            <a:prstGeom prst="rect">
              <a:avLst/>
            </a:prstGeom>
          </p:spPr>
          <p:txBody>
            <a:bodyPr wrap="square" lIns="0" rIns="0">
              <a:spAutoFit/>
            </a:bodyPr>
            <a:lstStyle/>
            <a:p>
              <a:pPr marL="0" marR="0" lvl="0" indent="0" algn="ctr" defTabSz="685783" rtl="0" eaLnBrk="0" fontAlgn="base" latinLnBrk="0" hangingPunct="0">
                <a:lnSpc>
                  <a:spcPct val="100000"/>
                </a:lnSpc>
                <a:spcBef>
                  <a:spcPts val="600"/>
                </a:spcBef>
                <a:spcAft>
                  <a:spcPct val="0"/>
                </a:spcAft>
                <a:buClrTx/>
                <a:buSzTx/>
                <a:buFontTx/>
                <a:buNone/>
                <a:tabLst/>
                <a:defRPr/>
              </a:pPr>
              <a:r>
                <a:rPr kumimoji="1" lang="zh-CN" altLang="en-US" sz="2600" b="1" i="0" u="none" strike="noStrike" kern="1200" cap="none" spc="0" normalizeH="0" baseline="0" noProof="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聚类评估</a:t>
              </a:r>
            </a:p>
          </p:txBody>
        </p:sp>
        <p:sp>
          <p:nvSpPr>
            <p:cNvPr id="27" name="文本框 26">
              <a:extLst>
                <a:ext uri="{FF2B5EF4-FFF2-40B4-BE49-F238E27FC236}">
                  <a16:creationId xmlns:a16="http://schemas.microsoft.com/office/drawing/2014/main" id="{BC274980-C854-4099-B0A5-8191EC77E850}"/>
                </a:ext>
              </a:extLst>
            </p:cNvPr>
            <p:cNvSpPr txBox="1"/>
            <p:nvPr userDrawn="1"/>
          </p:nvSpPr>
          <p:spPr>
            <a:xfrm>
              <a:off x="4426303" y="4491022"/>
              <a:ext cx="291397" cy="828000"/>
            </a:xfrm>
            <a:prstGeom prst="ellipse">
              <a:avLst/>
            </a:prstGeom>
            <a:solidFill>
              <a:schemeClr val="bg1">
                <a:lumMod val="65000"/>
              </a:schemeClr>
            </a:solidFill>
            <a:ln w="38100">
              <a:solidFill>
                <a:srgbClr val="FFFFFF"/>
              </a:solidFill>
            </a:ln>
          </p:spPr>
          <p:txBody>
            <a:bodyPr wrap="square" lIns="0" tIns="0" rIns="0" bIns="0" rtlCol="0" anchor="ctr" anchorCtr="1">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rPr>
                <a:t>03</a:t>
              </a:r>
              <a:endParaRPr kumimoji="1" lang="zh-CN" altLang="en-US"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endParaRPr>
            </a:p>
          </p:txBody>
        </p:sp>
        <p:sp>
          <p:nvSpPr>
            <p:cNvPr id="28" name="文本框 27">
              <a:extLst>
                <a:ext uri="{FF2B5EF4-FFF2-40B4-BE49-F238E27FC236}">
                  <a16:creationId xmlns:a16="http://schemas.microsoft.com/office/drawing/2014/main" id="{1BDD26CC-6000-4BBA-B26B-38C3826FC6AC}"/>
                </a:ext>
              </a:extLst>
            </p:cNvPr>
            <p:cNvSpPr txBox="1"/>
            <p:nvPr userDrawn="1"/>
          </p:nvSpPr>
          <p:spPr>
            <a:xfrm>
              <a:off x="3046030" y="4491022"/>
              <a:ext cx="291397" cy="828000"/>
            </a:xfrm>
            <a:prstGeom prst="ellipse">
              <a:avLst/>
            </a:prstGeom>
            <a:solidFill>
              <a:srgbClr val="13548C"/>
            </a:solidFill>
            <a:ln w="38100">
              <a:solidFill>
                <a:srgbClr val="FFFFFF"/>
              </a:solidFill>
            </a:ln>
          </p:spPr>
          <p:txBody>
            <a:bodyPr wrap="square" lIns="0" tIns="0" rIns="0" bIns="0" rtlCol="0" anchor="ctr" anchorCtr="1">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rPr>
                <a:t>02</a:t>
              </a:r>
              <a:endParaRPr kumimoji="1" lang="zh-CN" altLang="en-US"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endParaRPr>
            </a:p>
          </p:txBody>
        </p:sp>
        <p:sp>
          <p:nvSpPr>
            <p:cNvPr id="29" name="文本框 28">
              <a:extLst>
                <a:ext uri="{FF2B5EF4-FFF2-40B4-BE49-F238E27FC236}">
                  <a16:creationId xmlns:a16="http://schemas.microsoft.com/office/drawing/2014/main" id="{21F42B5A-5687-473A-BF4A-F1DC06576F65}"/>
                </a:ext>
              </a:extLst>
            </p:cNvPr>
            <p:cNvSpPr txBox="1"/>
            <p:nvPr userDrawn="1"/>
          </p:nvSpPr>
          <p:spPr>
            <a:xfrm>
              <a:off x="1665760" y="4467938"/>
              <a:ext cx="291397" cy="828000"/>
            </a:xfrm>
            <a:prstGeom prst="ellipse">
              <a:avLst/>
            </a:prstGeom>
            <a:solidFill>
              <a:schemeClr val="bg1">
                <a:lumMod val="65000"/>
              </a:schemeClr>
            </a:solidFill>
            <a:ln w="38100">
              <a:solidFill>
                <a:srgbClr val="FFFFFF"/>
              </a:solidFill>
            </a:ln>
          </p:spPr>
          <p:txBody>
            <a:bodyPr wrap="square" lIns="0" tIns="0" rIns="0" bIns="0" rtlCol="0" anchor="ctr" anchorCtr="1">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75" normalizeH="0" baseline="0" noProof="0">
                  <a:ln>
                    <a:noFill/>
                  </a:ln>
                  <a:solidFill>
                    <a:prstClr val="white"/>
                  </a:solidFill>
                  <a:effectLst/>
                  <a:uLnTx/>
                  <a:uFillTx/>
                  <a:latin typeface="Times New Roman"/>
                  <a:ea typeface="等线" panose="02010600030101010101" charset="-122"/>
                  <a:cs typeface="+mn-cs"/>
                </a:rPr>
                <a:t>01</a:t>
              </a:r>
              <a:endParaRPr kumimoji="1" lang="zh-CN" altLang="en-US"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endParaRPr>
            </a:p>
          </p:txBody>
        </p:sp>
      </p:grpSp>
    </p:spTree>
    <p:extLst>
      <p:ext uri="{BB962C8B-B14F-4D97-AF65-F5344CB8AC3E}">
        <p14:creationId xmlns:p14="http://schemas.microsoft.com/office/powerpoint/2010/main" val="3733381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4575498-5B68-4A76-96EE-4323497992F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4038600"/>
          </a:xfrm>
          <a:prstGeom prst="rect">
            <a:avLst/>
          </a:prstGeom>
        </p:spPr>
      </p:pic>
      <p:sp>
        <p:nvSpPr>
          <p:cNvPr id="4" name="矩形 4">
            <a:extLst>
              <a:ext uri="{FF2B5EF4-FFF2-40B4-BE49-F238E27FC236}">
                <a16:creationId xmlns:a16="http://schemas.microsoft.com/office/drawing/2014/main" id="{924BD621-5C8E-46C9-B00B-820B3C5F4330}"/>
              </a:ext>
            </a:extLst>
          </p:cNvPr>
          <p:cNvSpPr/>
          <p:nvPr userDrawn="1"/>
        </p:nvSpPr>
        <p:spPr>
          <a:xfrm flipH="1">
            <a:off x="0" y="3329513"/>
            <a:ext cx="9144000" cy="2025594"/>
          </a:xfrm>
          <a:custGeom>
            <a:avLst/>
            <a:gdLst>
              <a:gd name="connsiteX0" fmla="*/ 0 w 9144010"/>
              <a:gd name="connsiteY0" fmla="*/ 0 h 2964150"/>
              <a:gd name="connsiteX1" fmla="*/ 9144010 w 9144010"/>
              <a:gd name="connsiteY1" fmla="*/ 0 h 2964150"/>
              <a:gd name="connsiteX2" fmla="*/ 9144010 w 9144010"/>
              <a:gd name="connsiteY2" fmla="*/ 2964150 h 2964150"/>
              <a:gd name="connsiteX3" fmla="*/ 0 w 9144010"/>
              <a:gd name="connsiteY3" fmla="*/ 2964150 h 2964150"/>
              <a:gd name="connsiteX4" fmla="*/ 0 w 9144010"/>
              <a:gd name="connsiteY4" fmla="*/ 0 h 2964150"/>
              <a:gd name="connsiteX0-1" fmla="*/ 0 w 9144010"/>
              <a:gd name="connsiteY0-2" fmla="*/ 0 h 2964150"/>
              <a:gd name="connsiteX1-3" fmla="*/ 9144010 w 9144010"/>
              <a:gd name="connsiteY1-4" fmla="*/ 0 h 2964150"/>
              <a:gd name="connsiteX2-5" fmla="*/ 9144010 w 9144010"/>
              <a:gd name="connsiteY2-6" fmla="*/ 2964150 h 2964150"/>
              <a:gd name="connsiteX3-7" fmla="*/ 0 w 9144010"/>
              <a:gd name="connsiteY3-8" fmla="*/ 2964150 h 2964150"/>
              <a:gd name="connsiteX4-9" fmla="*/ 0 w 9144010"/>
              <a:gd name="connsiteY4-10" fmla="*/ 0 h 2964150"/>
              <a:gd name="connsiteX0-11" fmla="*/ 0 w 9144010"/>
              <a:gd name="connsiteY0-12" fmla="*/ 0 h 2964150"/>
              <a:gd name="connsiteX1-13" fmla="*/ 9144010 w 9144010"/>
              <a:gd name="connsiteY1-14" fmla="*/ 0 h 2964150"/>
              <a:gd name="connsiteX2-15" fmla="*/ 9144010 w 9144010"/>
              <a:gd name="connsiteY2-16" fmla="*/ 2964150 h 2964150"/>
              <a:gd name="connsiteX3-17" fmla="*/ 0 w 9144010"/>
              <a:gd name="connsiteY3-18" fmla="*/ 2964150 h 2964150"/>
              <a:gd name="connsiteX4-19" fmla="*/ 0 w 9144010"/>
              <a:gd name="connsiteY4-20" fmla="*/ 0 h 2964150"/>
              <a:gd name="connsiteX0-21" fmla="*/ 0 w 9144010"/>
              <a:gd name="connsiteY0-22" fmla="*/ 0 h 2964150"/>
              <a:gd name="connsiteX1-23" fmla="*/ 9144010 w 9144010"/>
              <a:gd name="connsiteY1-24" fmla="*/ 0 h 2964150"/>
              <a:gd name="connsiteX2-25" fmla="*/ 9144010 w 9144010"/>
              <a:gd name="connsiteY2-26" fmla="*/ 2964150 h 2964150"/>
              <a:gd name="connsiteX3-27" fmla="*/ 0 w 9144010"/>
              <a:gd name="connsiteY3-28" fmla="*/ 2964150 h 2964150"/>
              <a:gd name="connsiteX4-29" fmla="*/ 0 w 9144010"/>
              <a:gd name="connsiteY4-30" fmla="*/ 0 h 2964150"/>
              <a:gd name="connsiteX0-31" fmla="*/ 0 w 9144010"/>
              <a:gd name="connsiteY0-32" fmla="*/ 0 h 2964150"/>
              <a:gd name="connsiteX1-33" fmla="*/ 9144010 w 9144010"/>
              <a:gd name="connsiteY1-34" fmla="*/ 0 h 2964150"/>
              <a:gd name="connsiteX2-35" fmla="*/ 9144010 w 9144010"/>
              <a:gd name="connsiteY2-36" fmla="*/ 2964150 h 2964150"/>
              <a:gd name="connsiteX3-37" fmla="*/ 0 w 9144010"/>
              <a:gd name="connsiteY3-38" fmla="*/ 2964150 h 2964150"/>
              <a:gd name="connsiteX4-39" fmla="*/ 0 w 9144010"/>
              <a:gd name="connsiteY4-40" fmla="*/ 0 h 29641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44010" h="2964150">
                <a:moveTo>
                  <a:pt x="0" y="0"/>
                </a:moveTo>
                <a:cubicBezTo>
                  <a:pt x="2346039" y="216256"/>
                  <a:pt x="5809680" y="2235659"/>
                  <a:pt x="9144010" y="0"/>
                </a:cubicBezTo>
                <a:lnTo>
                  <a:pt x="9144010" y="2964150"/>
                </a:lnTo>
                <a:lnTo>
                  <a:pt x="0" y="2964150"/>
                </a:lnTo>
                <a:lnTo>
                  <a:pt x="0" y="0"/>
                </a:lnTo>
                <a:close/>
              </a:path>
            </a:pathLst>
          </a:custGeom>
          <a:gradFill>
            <a:gsLst>
              <a:gs pos="0">
                <a:srgbClr val="FF6600"/>
              </a:gs>
              <a:gs pos="100000">
                <a:srgbClr val="FF99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 name="任意多边形: 形状 4">
            <a:extLst>
              <a:ext uri="{FF2B5EF4-FFF2-40B4-BE49-F238E27FC236}">
                <a16:creationId xmlns:a16="http://schemas.microsoft.com/office/drawing/2014/main" id="{4F4A0A4B-8327-4A2B-A10E-6DB97B6D05B1}"/>
              </a:ext>
            </a:extLst>
          </p:cNvPr>
          <p:cNvSpPr/>
          <p:nvPr userDrawn="1"/>
        </p:nvSpPr>
        <p:spPr>
          <a:xfrm flipH="1">
            <a:off x="0" y="3560897"/>
            <a:ext cx="9144000" cy="3297103"/>
          </a:xfrm>
          <a:custGeom>
            <a:avLst/>
            <a:gdLst>
              <a:gd name="connsiteX0" fmla="*/ 9144000 w 9144000"/>
              <a:gd name="connsiteY0" fmla="*/ 0 h 3297103"/>
              <a:gd name="connsiteX1" fmla="*/ 0 w 9144000"/>
              <a:gd name="connsiteY1" fmla="*/ 0 h 3297103"/>
              <a:gd name="connsiteX2" fmla="*/ 0 w 9144000"/>
              <a:gd name="connsiteY2" fmla="*/ 1855879 h 3297103"/>
              <a:gd name="connsiteX3" fmla="*/ 0 w 9144000"/>
              <a:gd name="connsiteY3" fmla="*/ 3297103 h 3297103"/>
              <a:gd name="connsiteX4" fmla="*/ 9144000 w 9144000"/>
              <a:gd name="connsiteY4" fmla="*/ 3297103 h 3297103"/>
              <a:gd name="connsiteX5" fmla="*/ 9144000 w 9144000"/>
              <a:gd name="connsiteY5" fmla="*/ 1855879 h 3297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3297103">
                <a:moveTo>
                  <a:pt x="9144000" y="0"/>
                </a:moveTo>
                <a:cubicBezTo>
                  <a:pt x="5994400" y="1526702"/>
                  <a:pt x="3048000" y="0"/>
                  <a:pt x="0" y="0"/>
                </a:cubicBezTo>
                <a:lnTo>
                  <a:pt x="0" y="1855879"/>
                </a:lnTo>
                <a:lnTo>
                  <a:pt x="0" y="3297103"/>
                </a:lnTo>
                <a:lnTo>
                  <a:pt x="9144000" y="3297103"/>
                </a:lnTo>
                <a:lnTo>
                  <a:pt x="9144000" y="1855879"/>
                </a:lnTo>
                <a:close/>
              </a:path>
            </a:pathLst>
          </a:custGeom>
          <a:solidFill>
            <a:srgbClr val="1354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2" name="组合 1">
            <a:extLst>
              <a:ext uri="{FF2B5EF4-FFF2-40B4-BE49-F238E27FC236}">
                <a16:creationId xmlns:a16="http://schemas.microsoft.com/office/drawing/2014/main" id="{6D1BB0A9-3F86-4B62-AA40-ECAAE8F33AB9}"/>
              </a:ext>
            </a:extLst>
          </p:cNvPr>
          <p:cNvGrpSpPr/>
          <p:nvPr userDrawn="1"/>
        </p:nvGrpSpPr>
        <p:grpSpPr>
          <a:xfrm>
            <a:off x="574379" y="4701128"/>
            <a:ext cx="7989554" cy="1504743"/>
            <a:chOff x="1118962" y="4467938"/>
            <a:chExt cx="4145537" cy="2218976"/>
          </a:xfrm>
        </p:grpSpPr>
        <p:sp>
          <p:nvSpPr>
            <p:cNvPr id="12" name="矩形 11">
              <a:extLst>
                <a:ext uri="{FF2B5EF4-FFF2-40B4-BE49-F238E27FC236}">
                  <a16:creationId xmlns:a16="http://schemas.microsoft.com/office/drawing/2014/main" id="{335EADA8-EA3D-4E7C-8208-07D2FAD11A74}"/>
                </a:ext>
              </a:extLst>
            </p:cNvPr>
            <p:cNvSpPr/>
            <p:nvPr userDrawn="1"/>
          </p:nvSpPr>
          <p:spPr>
            <a:xfrm>
              <a:off x="1118962" y="4881937"/>
              <a:ext cx="1384994" cy="1804977"/>
            </a:xfrm>
            <a:prstGeom prst="rect">
              <a:avLst/>
            </a:prstGeom>
            <a:solidFill>
              <a:schemeClr val="bg1"/>
            </a:solidFill>
            <a:ln w="9525">
              <a:solidFill>
                <a:srgbClr val="135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srgbClr val="13548C"/>
                </a:solidFill>
                <a:effectLst/>
                <a:uLnTx/>
                <a:uFillTx/>
                <a:latin typeface="等线" panose="02010600030101010101" charset="-122"/>
                <a:ea typeface="等线" panose="02010600030101010101" charset="-122"/>
                <a:cs typeface="+mn-cs"/>
              </a:endParaRPr>
            </a:p>
          </p:txBody>
        </p:sp>
        <p:sp>
          <p:nvSpPr>
            <p:cNvPr id="13" name="矩形 12">
              <a:extLst>
                <a:ext uri="{FF2B5EF4-FFF2-40B4-BE49-F238E27FC236}">
                  <a16:creationId xmlns:a16="http://schemas.microsoft.com/office/drawing/2014/main" id="{93253D45-8E2D-4D7F-A511-11AC876F35C6}"/>
                </a:ext>
              </a:extLst>
            </p:cNvPr>
            <p:cNvSpPr/>
            <p:nvPr userDrawn="1"/>
          </p:nvSpPr>
          <p:spPr>
            <a:xfrm>
              <a:off x="2499232" y="4881937"/>
              <a:ext cx="1384994" cy="1804977"/>
            </a:xfrm>
            <a:prstGeom prst="rect">
              <a:avLst/>
            </a:prstGeom>
            <a:solidFill>
              <a:schemeClr val="bg1"/>
            </a:solidFill>
            <a:ln w="9525">
              <a:solidFill>
                <a:srgbClr val="135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srgbClr val="13548C"/>
                </a:solidFill>
                <a:effectLst/>
                <a:uLnTx/>
                <a:uFillTx/>
                <a:latin typeface="等线" panose="02010600030101010101" charset="-122"/>
                <a:ea typeface="等线" panose="02010600030101010101" charset="-122"/>
                <a:cs typeface="+mn-cs"/>
              </a:endParaRPr>
            </a:p>
          </p:txBody>
        </p:sp>
        <p:sp>
          <p:nvSpPr>
            <p:cNvPr id="14" name="矩形 13">
              <a:extLst>
                <a:ext uri="{FF2B5EF4-FFF2-40B4-BE49-F238E27FC236}">
                  <a16:creationId xmlns:a16="http://schemas.microsoft.com/office/drawing/2014/main" id="{63258F64-DDEC-48D8-91B4-DED7EA87C312}"/>
                </a:ext>
              </a:extLst>
            </p:cNvPr>
            <p:cNvSpPr/>
            <p:nvPr userDrawn="1"/>
          </p:nvSpPr>
          <p:spPr>
            <a:xfrm>
              <a:off x="3879505" y="4881937"/>
              <a:ext cx="1384994" cy="1804977"/>
            </a:xfrm>
            <a:prstGeom prst="rect">
              <a:avLst/>
            </a:prstGeom>
            <a:solidFill>
              <a:schemeClr val="bg1"/>
            </a:solidFill>
            <a:ln w="9525">
              <a:solidFill>
                <a:srgbClr val="135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0" fontAlgn="base" latinLnBrk="0" hangingPunct="0">
                <a:lnSpc>
                  <a:spcPct val="100000"/>
                </a:lnSpc>
                <a:spcBef>
                  <a:spcPct val="0"/>
                </a:spcBef>
                <a:spcAft>
                  <a:spcPct val="0"/>
                </a:spcAft>
                <a:buClrTx/>
                <a:buSzTx/>
                <a:buFontTx/>
                <a:buNone/>
                <a:tabLst/>
                <a:defRPr/>
              </a:pPr>
              <a:endParaRPr kumimoji="1" lang="zh-CN" altLang="en-US" sz="1350" b="0" i="0" u="none" strike="noStrike" kern="1200" cap="none" spc="0" normalizeH="0" baseline="0" noProof="0">
                <a:ln>
                  <a:noFill/>
                </a:ln>
                <a:solidFill>
                  <a:srgbClr val="13548C"/>
                </a:solidFill>
                <a:effectLst/>
                <a:uLnTx/>
                <a:uFillTx/>
                <a:latin typeface="等线" panose="02010600030101010101" charset="-122"/>
                <a:ea typeface="等线" panose="02010600030101010101" charset="-122"/>
                <a:cs typeface="+mn-cs"/>
              </a:endParaRPr>
            </a:p>
          </p:txBody>
        </p:sp>
        <p:sp>
          <p:nvSpPr>
            <p:cNvPr id="18" name="矩形 17">
              <a:extLst>
                <a:ext uri="{FF2B5EF4-FFF2-40B4-BE49-F238E27FC236}">
                  <a16:creationId xmlns:a16="http://schemas.microsoft.com/office/drawing/2014/main" id="{5708F2DC-68A3-4F89-8E69-141DB44D2698}"/>
                </a:ext>
              </a:extLst>
            </p:cNvPr>
            <p:cNvSpPr/>
            <p:nvPr userDrawn="1"/>
          </p:nvSpPr>
          <p:spPr>
            <a:xfrm>
              <a:off x="1123683" y="5565222"/>
              <a:ext cx="1383225" cy="726183"/>
            </a:xfrm>
            <a:prstGeom prst="rect">
              <a:avLst/>
            </a:prstGeom>
          </p:spPr>
          <p:txBody>
            <a:bodyPr wrap="square" lIns="0" rIns="0">
              <a:spAutoFit/>
            </a:bodyPr>
            <a:lstStyle/>
            <a:p>
              <a:pPr marL="0" marR="0" lvl="0" indent="0" algn="ctr" defTabSz="685783" rtl="0" eaLnBrk="0" fontAlgn="base" latinLnBrk="0" hangingPunct="0">
                <a:lnSpc>
                  <a:spcPct val="100000"/>
                </a:lnSpc>
                <a:spcBef>
                  <a:spcPts val="600"/>
                </a:spcBef>
                <a:spcAft>
                  <a:spcPct val="0"/>
                </a:spcAft>
                <a:buClrTx/>
                <a:buSzTx/>
                <a:buFontTx/>
                <a:buNone/>
                <a:tabLst/>
                <a:defRPr/>
              </a:pPr>
              <a:r>
                <a:rPr kumimoji="1" lang="zh-CN" altLang="en-US" sz="2600" b="1" i="0" u="none" strike="noStrike" kern="1200" cap="none" spc="0" normalizeH="0" baseline="0" noProof="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聚类分析概述</a:t>
              </a:r>
            </a:p>
          </p:txBody>
        </p:sp>
        <p:sp>
          <p:nvSpPr>
            <p:cNvPr id="20" name="矩形 19">
              <a:extLst>
                <a:ext uri="{FF2B5EF4-FFF2-40B4-BE49-F238E27FC236}">
                  <a16:creationId xmlns:a16="http://schemas.microsoft.com/office/drawing/2014/main" id="{920F0DC9-8D1C-4F7D-9F3B-5D346DC5A875}"/>
                </a:ext>
              </a:extLst>
            </p:cNvPr>
            <p:cNvSpPr/>
            <p:nvPr userDrawn="1"/>
          </p:nvSpPr>
          <p:spPr>
            <a:xfrm>
              <a:off x="2503953" y="5565222"/>
              <a:ext cx="1383225" cy="726183"/>
            </a:xfrm>
            <a:prstGeom prst="rect">
              <a:avLst/>
            </a:prstGeom>
          </p:spPr>
          <p:txBody>
            <a:bodyPr wrap="square" lIns="0" rIns="0">
              <a:spAutoFit/>
            </a:bodyPr>
            <a:lstStyle/>
            <a:p>
              <a:pPr marL="0" marR="0" lvl="0" indent="0" algn="ctr" defTabSz="685783" rtl="0" eaLnBrk="0" fontAlgn="base" latinLnBrk="0" hangingPunct="0">
                <a:lnSpc>
                  <a:spcPct val="100000"/>
                </a:lnSpc>
                <a:spcBef>
                  <a:spcPts val="600"/>
                </a:spcBef>
                <a:spcAft>
                  <a:spcPct val="0"/>
                </a:spcAft>
                <a:buClrTx/>
                <a:buSzTx/>
                <a:buFontTx/>
                <a:buNone/>
                <a:tabLst/>
                <a:defRPr/>
              </a:pPr>
              <a:r>
                <a:rPr kumimoji="1" lang="zh-CN" altLang="en-US" sz="2600" b="1" i="0" u="none" strike="noStrike" kern="1200" cap="none" spc="0" normalizeH="0" baseline="0" noProof="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基本聚类方法</a:t>
              </a:r>
            </a:p>
          </p:txBody>
        </p:sp>
        <p:sp>
          <p:nvSpPr>
            <p:cNvPr id="21" name="矩形 20">
              <a:extLst>
                <a:ext uri="{FF2B5EF4-FFF2-40B4-BE49-F238E27FC236}">
                  <a16:creationId xmlns:a16="http://schemas.microsoft.com/office/drawing/2014/main" id="{896B452C-1792-4CDF-8E3E-A02293C97908}"/>
                </a:ext>
              </a:extLst>
            </p:cNvPr>
            <p:cNvSpPr/>
            <p:nvPr userDrawn="1"/>
          </p:nvSpPr>
          <p:spPr>
            <a:xfrm>
              <a:off x="3879502" y="5565222"/>
              <a:ext cx="1383225" cy="726183"/>
            </a:xfrm>
            <a:prstGeom prst="rect">
              <a:avLst/>
            </a:prstGeom>
          </p:spPr>
          <p:txBody>
            <a:bodyPr wrap="square" lIns="0" rIns="0">
              <a:spAutoFit/>
            </a:bodyPr>
            <a:lstStyle/>
            <a:p>
              <a:pPr marL="0" marR="0" lvl="0" indent="0" algn="ctr" defTabSz="685783" rtl="0" eaLnBrk="0" fontAlgn="base" latinLnBrk="0" hangingPunct="0">
                <a:lnSpc>
                  <a:spcPct val="100000"/>
                </a:lnSpc>
                <a:spcBef>
                  <a:spcPts val="600"/>
                </a:spcBef>
                <a:spcAft>
                  <a:spcPct val="0"/>
                </a:spcAft>
                <a:buClrTx/>
                <a:buSzTx/>
                <a:buFontTx/>
                <a:buNone/>
                <a:tabLst/>
                <a:defRPr/>
              </a:pPr>
              <a:r>
                <a:rPr kumimoji="1" lang="zh-CN" altLang="en-US" sz="2600" b="1" i="0" u="none" strike="noStrike" kern="1200" cap="none" spc="0" normalizeH="0" baseline="0" noProof="0">
                  <a:ln>
                    <a:noFill/>
                  </a:ln>
                  <a:solidFill>
                    <a:srgbClr val="13548C"/>
                  </a:solidFill>
                  <a:effectLst/>
                  <a:uLnTx/>
                  <a:uFillTx/>
                  <a:latin typeface="微软雅黑" panose="020B0503020204020204" pitchFamily="34" charset="-122"/>
                  <a:ea typeface="微软雅黑" panose="020B0503020204020204" pitchFamily="34" charset="-122"/>
                  <a:cs typeface="+mn-cs"/>
                </a:rPr>
                <a:t>聚类评估</a:t>
              </a:r>
            </a:p>
          </p:txBody>
        </p:sp>
        <p:sp>
          <p:nvSpPr>
            <p:cNvPr id="27" name="文本框 26">
              <a:extLst>
                <a:ext uri="{FF2B5EF4-FFF2-40B4-BE49-F238E27FC236}">
                  <a16:creationId xmlns:a16="http://schemas.microsoft.com/office/drawing/2014/main" id="{BC274980-C854-4099-B0A5-8191EC77E850}"/>
                </a:ext>
              </a:extLst>
            </p:cNvPr>
            <p:cNvSpPr txBox="1"/>
            <p:nvPr userDrawn="1"/>
          </p:nvSpPr>
          <p:spPr>
            <a:xfrm>
              <a:off x="4426303" y="4491022"/>
              <a:ext cx="291397" cy="828000"/>
            </a:xfrm>
            <a:prstGeom prst="ellipse">
              <a:avLst/>
            </a:prstGeom>
            <a:solidFill>
              <a:srgbClr val="13548C"/>
            </a:solidFill>
            <a:ln w="38100">
              <a:solidFill>
                <a:srgbClr val="FFFFFF"/>
              </a:solidFill>
            </a:ln>
          </p:spPr>
          <p:txBody>
            <a:bodyPr wrap="square" lIns="0" tIns="0" rIns="0" bIns="0" rtlCol="0" anchor="ctr" anchorCtr="1">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rPr>
                <a:t>03</a:t>
              </a:r>
              <a:endParaRPr kumimoji="1" lang="zh-CN" altLang="en-US"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endParaRPr>
            </a:p>
          </p:txBody>
        </p:sp>
        <p:sp>
          <p:nvSpPr>
            <p:cNvPr id="28" name="文本框 27">
              <a:extLst>
                <a:ext uri="{FF2B5EF4-FFF2-40B4-BE49-F238E27FC236}">
                  <a16:creationId xmlns:a16="http://schemas.microsoft.com/office/drawing/2014/main" id="{1BDD26CC-6000-4BBA-B26B-38C3826FC6AC}"/>
                </a:ext>
              </a:extLst>
            </p:cNvPr>
            <p:cNvSpPr txBox="1"/>
            <p:nvPr userDrawn="1"/>
          </p:nvSpPr>
          <p:spPr>
            <a:xfrm>
              <a:off x="3046030" y="4491022"/>
              <a:ext cx="291397" cy="828000"/>
            </a:xfrm>
            <a:prstGeom prst="ellipse">
              <a:avLst/>
            </a:prstGeom>
            <a:solidFill>
              <a:schemeClr val="bg1">
                <a:lumMod val="65000"/>
              </a:schemeClr>
            </a:solidFill>
            <a:ln w="38100">
              <a:solidFill>
                <a:srgbClr val="FFFFFF"/>
              </a:solidFill>
            </a:ln>
          </p:spPr>
          <p:txBody>
            <a:bodyPr wrap="square" lIns="0" tIns="0" rIns="0" bIns="0" rtlCol="0" anchor="ctr" anchorCtr="1">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rPr>
                <a:t>02</a:t>
              </a:r>
              <a:endParaRPr kumimoji="1" lang="zh-CN" altLang="en-US"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endParaRPr>
            </a:p>
          </p:txBody>
        </p:sp>
        <p:sp>
          <p:nvSpPr>
            <p:cNvPr id="29" name="文本框 28">
              <a:extLst>
                <a:ext uri="{FF2B5EF4-FFF2-40B4-BE49-F238E27FC236}">
                  <a16:creationId xmlns:a16="http://schemas.microsoft.com/office/drawing/2014/main" id="{21F42B5A-5687-473A-BF4A-F1DC06576F65}"/>
                </a:ext>
              </a:extLst>
            </p:cNvPr>
            <p:cNvSpPr txBox="1"/>
            <p:nvPr userDrawn="1"/>
          </p:nvSpPr>
          <p:spPr>
            <a:xfrm>
              <a:off x="1665760" y="4467938"/>
              <a:ext cx="291397" cy="828000"/>
            </a:xfrm>
            <a:prstGeom prst="ellipse">
              <a:avLst/>
            </a:prstGeom>
            <a:solidFill>
              <a:schemeClr val="bg1">
                <a:lumMod val="65000"/>
              </a:schemeClr>
            </a:solidFill>
            <a:ln w="38100">
              <a:solidFill>
                <a:srgbClr val="FFFFFF"/>
              </a:solidFill>
            </a:ln>
          </p:spPr>
          <p:txBody>
            <a:bodyPr wrap="square" lIns="0" tIns="0" rIns="0" bIns="0" rtlCol="0" anchor="ctr" anchorCtr="1">
              <a:noAutofit/>
            </a:bodyPr>
            <a:lstStyle/>
            <a:p>
              <a:pPr marL="0" marR="0" lvl="0" indent="0" algn="ctr" defTabSz="685783"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75" normalizeH="0" baseline="0" noProof="0">
                  <a:ln>
                    <a:noFill/>
                  </a:ln>
                  <a:solidFill>
                    <a:prstClr val="white"/>
                  </a:solidFill>
                  <a:effectLst/>
                  <a:uLnTx/>
                  <a:uFillTx/>
                  <a:latin typeface="Times New Roman"/>
                  <a:ea typeface="等线" panose="02010600030101010101" charset="-122"/>
                  <a:cs typeface="+mn-cs"/>
                </a:rPr>
                <a:t>01</a:t>
              </a:r>
              <a:endParaRPr kumimoji="1" lang="zh-CN" altLang="en-US" sz="2400" b="1" i="0" u="none" strike="noStrike" kern="1200" cap="none" spc="75" normalizeH="0" baseline="0" noProof="0" dirty="0">
                <a:ln>
                  <a:noFill/>
                </a:ln>
                <a:solidFill>
                  <a:prstClr val="white"/>
                </a:solidFill>
                <a:effectLst/>
                <a:uLnTx/>
                <a:uFillTx/>
                <a:latin typeface="Times New Roman"/>
                <a:ea typeface="等线" panose="02010600030101010101" charset="-122"/>
                <a:cs typeface="+mn-cs"/>
              </a:endParaRPr>
            </a:p>
          </p:txBody>
        </p:sp>
      </p:grpSp>
    </p:spTree>
    <p:extLst>
      <p:ext uri="{BB962C8B-B14F-4D97-AF65-F5344CB8AC3E}">
        <p14:creationId xmlns:p14="http://schemas.microsoft.com/office/powerpoint/2010/main" val="4229545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2690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5513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7130843A-30A4-4154-B1B7-825880A447C3}"/>
              </a:ext>
            </a:extLst>
          </p:cNvPr>
          <p:cNvGrpSpPr/>
          <p:nvPr userDrawn="1"/>
        </p:nvGrpSpPr>
        <p:grpSpPr>
          <a:xfrm>
            <a:off x="100208" y="56873"/>
            <a:ext cx="8943584" cy="576000"/>
            <a:chOff x="145280" y="123917"/>
            <a:chExt cx="11880000" cy="790381"/>
          </a:xfrm>
        </p:grpSpPr>
        <p:sp>
          <p:nvSpPr>
            <p:cNvPr id="8" name="任意多边形: 形状 41">
              <a:extLst>
                <a:ext uri="{FF2B5EF4-FFF2-40B4-BE49-F238E27FC236}">
                  <a16:creationId xmlns:a16="http://schemas.microsoft.com/office/drawing/2014/main" id="{89FB4556-E482-4FDF-9A95-CAA2AE729385}"/>
                </a:ext>
              </a:extLst>
            </p:cNvPr>
            <p:cNvSpPr/>
            <p:nvPr/>
          </p:nvSpPr>
          <p:spPr>
            <a:xfrm>
              <a:off x="145280" y="154441"/>
              <a:ext cx="11880000" cy="740983"/>
            </a:xfrm>
            <a:prstGeom prst="roundRect">
              <a:avLst>
                <a:gd name="adj" fmla="val 50000"/>
              </a:avLst>
            </a:prstGeom>
            <a:solidFill>
              <a:srgbClr val="13548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612000" tIns="0" bIns="0"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zh-CN" altLang="en-US" sz="26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9" name="图片 8">
              <a:extLst>
                <a:ext uri="{FF2B5EF4-FFF2-40B4-BE49-F238E27FC236}">
                  <a16:creationId xmlns:a16="http://schemas.microsoft.com/office/drawing/2014/main" id="{4DC8B13E-9FF1-46C6-ABFB-24D3C576B99D}"/>
                </a:ext>
              </a:extLst>
            </p:cNvPr>
            <p:cNvPicPr>
              <a:picLocks noChangeAspect="1"/>
            </p:cNvPicPr>
            <p:nvPr/>
          </p:nvPicPr>
          <p:blipFill>
            <a:blip r:embed="rId9">
              <a:extLst>
                <a:ext uri="{BEBA8EAE-BF5A-486C-A8C5-ECC9F3942E4B}">
                  <a14:imgProps xmlns:a14="http://schemas.microsoft.com/office/drawing/2010/main">
                    <a14:imgLayer r:embed="rId10">
                      <a14:imgEffect>
                        <a14:colorTemperature colorTemp="5900"/>
                      </a14:imgEffect>
                      <a14:imgEffect>
                        <a14:brightnessContrast bright="100000"/>
                      </a14:imgEffect>
                    </a14:imgLayer>
                  </a14:imgProps>
                </a:ext>
              </a:extLst>
            </a:blip>
            <a:stretch>
              <a:fillRect/>
            </a:stretch>
          </p:blipFill>
          <p:spPr>
            <a:xfrm>
              <a:off x="145280" y="123917"/>
              <a:ext cx="759645" cy="790381"/>
            </a:xfrm>
            <a:prstGeom prst="rect">
              <a:avLst/>
            </a:prstGeom>
          </p:spPr>
        </p:pic>
      </p:grpSp>
      <p:sp>
        <p:nvSpPr>
          <p:cNvPr id="10" name="椭圆 9">
            <a:extLst>
              <a:ext uri="{FF2B5EF4-FFF2-40B4-BE49-F238E27FC236}">
                <a16:creationId xmlns:a16="http://schemas.microsoft.com/office/drawing/2014/main" id="{537FDDBA-1A73-4052-84EF-CF46F18D0C72}"/>
              </a:ext>
            </a:extLst>
          </p:cNvPr>
          <p:cNvSpPr/>
          <p:nvPr userDrawn="1"/>
        </p:nvSpPr>
        <p:spPr>
          <a:xfrm>
            <a:off x="8576282" y="164873"/>
            <a:ext cx="360000" cy="360000"/>
          </a:xfrm>
          <a:prstGeom prst="ellipse">
            <a:avLst/>
          </a:prstGeom>
          <a:solidFill>
            <a:schemeClr val="bg1">
              <a:alpha val="21000"/>
            </a:schemeClr>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457200" rtl="0" eaLnBrk="1" fontAlgn="auto" latinLnBrk="0" hangingPunct="1">
              <a:lnSpc>
                <a:spcPct val="100000"/>
              </a:lnSpc>
              <a:spcBef>
                <a:spcPts val="0"/>
              </a:spcBef>
              <a:spcAft>
                <a:spcPts val="0"/>
              </a:spcAft>
              <a:buClrTx/>
              <a:buSzTx/>
              <a:buFontTx/>
              <a:buNone/>
              <a:tabLst/>
              <a:defRPr/>
            </a:pPr>
            <a:fld id="{F3B56E54-1B18-4F37-A491-1B5FADA5F331}" type="slidenum">
              <a:rPr kumimoji="0" lang="zh-CN" altLang="en-US" sz="1400" b="0" i="0" u="none" strike="noStrike" kern="1200" cap="none" spc="0" normalizeH="0" baseline="0" noProof="0" smtClean="0">
                <a:ln>
                  <a:noFill/>
                </a:ln>
                <a:solidFill>
                  <a:prstClr val="white"/>
                </a:solidFill>
                <a:effectLst/>
                <a:uLnTx/>
                <a:uFillTx/>
                <a:latin typeface="微软雅黑"/>
                <a:ea typeface="微软雅黑"/>
                <a:cs typeface="+mn-cs"/>
              </a:rPr>
              <a:t>‹#›</a:t>
            </a:fld>
            <a:endParaRPr kumimoji="0" lang="zh-CN" altLang="en-US" sz="1400" b="0" i="0" u="none" strike="noStrike" kern="1200" cap="none" spc="0" normalizeH="0" baseline="0" noProof="0">
              <a:ln>
                <a:noFill/>
              </a:ln>
              <a:solidFill>
                <a:prstClr val="white"/>
              </a:solidFill>
              <a:effectLst/>
              <a:uLnTx/>
              <a:uFillTx/>
              <a:latin typeface="微软雅黑"/>
              <a:ea typeface="微软雅黑"/>
              <a:cs typeface="+mn-cs"/>
            </a:endParaRPr>
          </a:p>
        </p:txBody>
      </p:sp>
    </p:spTree>
    <p:extLst>
      <p:ext uri="{BB962C8B-B14F-4D97-AF65-F5344CB8AC3E}">
        <p14:creationId xmlns:p14="http://schemas.microsoft.com/office/powerpoint/2010/main" val="1405180509"/>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11.tmp"/><Relationship Id="rId2" Type="http://schemas.openxmlformats.org/officeDocument/2006/relationships/tags" Target="../tags/tag2.xml"/><Relationship Id="rId16" Type="http://schemas.openxmlformats.org/officeDocument/2006/relationships/slideLayout" Target="../slideLayouts/slideLayout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8.xml"/></Relationships>
</file>

<file path=ppt/slides/_rels/slide45.xml.rels><?xml version="1.0" encoding="UTF-8" standalone="yes"?>
<Relationships xmlns="http://schemas.openxmlformats.org/package/2006/relationships"><Relationship Id="rId8" Type="http://schemas.openxmlformats.org/officeDocument/2006/relationships/tags" Target="../tags/tag26.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11.tmp"/><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slideLayout" Target="../slideLayouts/slideLayout6.xml"/><Relationship Id="rId5" Type="http://schemas.openxmlformats.org/officeDocument/2006/relationships/tags" Target="../tags/tag2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s>
</file>

<file path=ppt/slides/_rels/slide46.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tags" Target="../tags/tag41.xml"/><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tags" Target="../tags/tag40.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5" Type="http://schemas.openxmlformats.org/officeDocument/2006/relationships/tags" Target="../tags/tag33.xml"/><Relationship Id="rId15" Type="http://schemas.openxmlformats.org/officeDocument/2006/relationships/image" Target="../media/image11.tmp"/><Relationship Id="rId10" Type="http://schemas.openxmlformats.org/officeDocument/2006/relationships/tags" Target="../tags/tag38.xml"/><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4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43.xml"/></Relationships>
</file>

<file path=ppt/slides/_rels/slide49.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bin"/><Relationship Id="rId1" Type="http://schemas.openxmlformats.org/officeDocument/2006/relationships/slideLayout" Target="../slideLayouts/slideLayout6.xml"/><Relationship Id="rId5" Type="http://schemas.openxmlformats.org/officeDocument/2006/relationships/image" Target="../media/image27.emf"/><Relationship Id="rId4" Type="http://schemas.openxmlformats.org/officeDocument/2006/relationships/oleObject" Target="../embeddings/oleObject2.bin"/></Relationships>
</file>

<file path=ppt/slides/_rels/slide5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3.bin"/><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bin"/><Relationship Id="rId1" Type="http://schemas.openxmlformats.org/officeDocument/2006/relationships/slideLayout" Target="../slideLayouts/slideLayout6.xml"/><Relationship Id="rId5" Type="http://schemas.openxmlformats.org/officeDocument/2006/relationships/image" Target="../media/image27.emf"/><Relationship Id="rId4" Type="http://schemas.openxmlformats.org/officeDocument/2006/relationships/oleObject" Target="../embeddings/oleObject2.bin"/></Relationships>
</file>

<file path=ppt/slides/_rels/slide6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bin"/><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6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bin"/><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6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bin"/><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6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bin"/><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6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bin"/><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6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bin"/><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6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bin"/><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18" Type="http://schemas.openxmlformats.org/officeDocument/2006/relationships/slideLayout" Target="../slideLayouts/slideLayout6.xml"/><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tags" Target="../tags/tag60.xml"/><Relationship Id="rId2" Type="http://schemas.openxmlformats.org/officeDocument/2006/relationships/tags" Target="../tags/tag45.xml"/><Relationship Id="rId16" Type="http://schemas.openxmlformats.org/officeDocument/2006/relationships/tags" Target="../tags/tag59.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5" Type="http://schemas.openxmlformats.org/officeDocument/2006/relationships/tags" Target="../tags/tag48.xml"/><Relationship Id="rId15" Type="http://schemas.openxmlformats.org/officeDocument/2006/relationships/tags" Target="../tags/tag58.xml"/><Relationship Id="rId10" Type="http://schemas.openxmlformats.org/officeDocument/2006/relationships/tags" Target="../tags/tag53.xml"/><Relationship Id="rId19" Type="http://schemas.openxmlformats.org/officeDocument/2006/relationships/image" Target="../media/image11.tmp"/><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tags" Target="../tags/tag57.xml"/></Relationships>
</file>

<file path=ppt/slides/_rels/slide72.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tags" Target="../tags/tag73.xml"/><Relationship Id="rId18" Type="http://schemas.openxmlformats.org/officeDocument/2006/relationships/slideLayout" Target="../slideLayouts/slideLayout6.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tags" Target="../tags/tag72.xml"/><Relationship Id="rId17" Type="http://schemas.openxmlformats.org/officeDocument/2006/relationships/tags" Target="../tags/tag77.xml"/><Relationship Id="rId2" Type="http://schemas.openxmlformats.org/officeDocument/2006/relationships/tags" Target="../tags/tag62.xml"/><Relationship Id="rId16" Type="http://schemas.openxmlformats.org/officeDocument/2006/relationships/tags" Target="../tags/tag76.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5" Type="http://schemas.openxmlformats.org/officeDocument/2006/relationships/tags" Target="../tags/tag75.xml"/><Relationship Id="rId10" Type="http://schemas.openxmlformats.org/officeDocument/2006/relationships/tags" Target="../tags/tag70.xml"/><Relationship Id="rId19" Type="http://schemas.openxmlformats.org/officeDocument/2006/relationships/image" Target="../media/image11.tmp"/><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tags" Target="../tags/tag7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4.bin"/><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81.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5.bin"/><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8" Type="http://schemas.openxmlformats.org/officeDocument/2006/relationships/tags" Target="../tags/tag85.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11.tmp"/><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image" Target="../media/image38.png"/><Relationship Id="rId5" Type="http://schemas.openxmlformats.org/officeDocument/2006/relationships/tags" Target="../tags/tag82.xml"/><Relationship Id="rId10" Type="http://schemas.openxmlformats.org/officeDocument/2006/relationships/slideLayout" Target="../slideLayouts/slideLayout6.xml"/><Relationship Id="rId4" Type="http://schemas.openxmlformats.org/officeDocument/2006/relationships/tags" Target="../tags/tag81.xml"/><Relationship Id="rId9" Type="http://schemas.openxmlformats.org/officeDocument/2006/relationships/tags" Target="../tags/tag86.xml"/></Relationships>
</file>

<file path=ppt/slides/_rels/slide8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image" Target="../media/image11.tmp"/><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image" Target="../media/image39.png"/><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image" Target="../media/image38.png"/><Relationship Id="rId5" Type="http://schemas.openxmlformats.org/officeDocument/2006/relationships/tags" Target="../tags/tag91.xml"/><Relationship Id="rId10" Type="http://schemas.openxmlformats.org/officeDocument/2006/relationships/slideLayout" Target="../slideLayouts/slideLayout6.xml"/><Relationship Id="rId4" Type="http://schemas.openxmlformats.org/officeDocument/2006/relationships/tags" Target="../tags/tag90.xml"/><Relationship Id="rId9" Type="http://schemas.openxmlformats.org/officeDocument/2006/relationships/tags" Target="../tags/tag95.xml"/></Relationships>
</file>

<file path=ppt/slides/_rels/slide8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0.png"/><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oleObject" Target="../embeddings/oleObject6.bin"/><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oleObject" Target="../embeddings/oleObject6.bin"/><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tags" Target="../tags/tag108.xml"/><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tags" Target="../tags/tag107.xml"/><Relationship Id="rId17" Type="http://schemas.openxmlformats.org/officeDocument/2006/relationships/image" Target="../media/image11.tmp"/><Relationship Id="rId2" Type="http://schemas.openxmlformats.org/officeDocument/2006/relationships/tags" Target="../tags/tag97.xml"/><Relationship Id="rId16" Type="http://schemas.openxmlformats.org/officeDocument/2006/relationships/slideLayout" Target="../slideLayouts/slideLayout6.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tags" Target="../tags/tag106.xml"/><Relationship Id="rId5" Type="http://schemas.openxmlformats.org/officeDocument/2006/relationships/tags" Target="../tags/tag100.xml"/><Relationship Id="rId15" Type="http://schemas.openxmlformats.org/officeDocument/2006/relationships/tags" Target="../tags/tag110.xml"/><Relationship Id="rId10" Type="http://schemas.openxmlformats.org/officeDocument/2006/relationships/tags" Target="../tags/tag105.xml"/><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tags" Target="../tags/tag109.xml"/></Relationships>
</file>

<file path=ppt/slides/_rels/slide9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6.png"/><Relationship Id="rId1" Type="http://schemas.openxmlformats.org/officeDocument/2006/relationships/slideLayout" Target="../slideLayouts/slideLayout6.xml"/><Relationship Id="rId4" Type="http://schemas.openxmlformats.org/officeDocument/2006/relationships/image" Target="../media/image46.emf"/></Relationships>
</file>

<file path=ppt/slides/_rels/slide97.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9.png"/><Relationship Id="rId1" Type="http://schemas.openxmlformats.org/officeDocument/2006/relationships/slideLayout" Target="../slideLayouts/slideLayout6.xml"/><Relationship Id="rId4" Type="http://schemas.openxmlformats.org/officeDocument/2006/relationships/image" Target="../media/image46.emf"/></Relationships>
</file>

<file path=ppt/slides/_rels/slide9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8" Type="http://schemas.openxmlformats.org/officeDocument/2006/relationships/tags" Target="../tags/tag118.xml"/><Relationship Id="rId13" Type="http://schemas.openxmlformats.org/officeDocument/2006/relationships/tags" Target="../tags/tag123.xml"/><Relationship Id="rId18" Type="http://schemas.openxmlformats.org/officeDocument/2006/relationships/slideLayout" Target="../slideLayouts/slideLayout6.xml"/><Relationship Id="rId3" Type="http://schemas.openxmlformats.org/officeDocument/2006/relationships/tags" Target="../tags/tag113.xml"/><Relationship Id="rId7" Type="http://schemas.openxmlformats.org/officeDocument/2006/relationships/tags" Target="../tags/tag117.xml"/><Relationship Id="rId12" Type="http://schemas.openxmlformats.org/officeDocument/2006/relationships/tags" Target="../tags/tag122.xml"/><Relationship Id="rId17" Type="http://schemas.openxmlformats.org/officeDocument/2006/relationships/tags" Target="../tags/tag127.xml"/><Relationship Id="rId2" Type="http://schemas.openxmlformats.org/officeDocument/2006/relationships/tags" Target="../tags/tag112.xml"/><Relationship Id="rId16" Type="http://schemas.openxmlformats.org/officeDocument/2006/relationships/tags" Target="../tags/tag126.xml"/><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tags" Target="../tags/tag121.xml"/><Relationship Id="rId5" Type="http://schemas.openxmlformats.org/officeDocument/2006/relationships/tags" Target="../tags/tag115.xml"/><Relationship Id="rId15" Type="http://schemas.openxmlformats.org/officeDocument/2006/relationships/tags" Target="../tags/tag125.xml"/><Relationship Id="rId10" Type="http://schemas.openxmlformats.org/officeDocument/2006/relationships/tags" Target="../tags/tag120.xml"/><Relationship Id="rId19" Type="http://schemas.openxmlformats.org/officeDocument/2006/relationships/image" Target="../media/image11.tmp"/><Relationship Id="rId4" Type="http://schemas.openxmlformats.org/officeDocument/2006/relationships/tags" Target="../tags/tag114.xml"/><Relationship Id="rId9" Type="http://schemas.openxmlformats.org/officeDocument/2006/relationships/tags" Target="../tags/tag119.xml"/><Relationship Id="rId14" Type="http://schemas.openxmlformats.org/officeDocument/2006/relationships/tags" Target="../tags/tag12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6.xml"/><Relationship Id="rId4" Type="http://schemas.openxmlformats.org/officeDocument/2006/relationships/image" Target="../media/image62.png"/></Relationships>
</file>

<file path=ppt/slides/_rels/slide111.xml.rels><?xml version="1.0" encoding="UTF-8" standalone="yes"?>
<Relationships xmlns="http://schemas.openxmlformats.org/package/2006/relationships"><Relationship Id="rId3" Type="http://schemas.openxmlformats.org/officeDocument/2006/relationships/image" Target="../media/image120.png"/><Relationship Id="rId7" Type="http://schemas.openxmlformats.org/officeDocument/2006/relationships/image" Target="../media/image6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1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4527212"/>
      </p:ext>
    </p:extLst>
  </p:cSld>
  <p:clrMapOvr>
    <a:masterClrMapping/>
  </p:clrMapOvr>
  <p:transition spd="med">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3671984" cy="492443"/>
          </a:xfrm>
          <a:prstGeom prst="rect">
            <a:avLst/>
          </a:prstGeom>
        </p:spPr>
        <p:txBody>
          <a:bodyPr wrap="square">
            <a:spAutoFit/>
          </a:bodyPr>
          <a:lstStyle/>
          <a:p>
            <a:pPr fontAlgn="base">
              <a:lnSpc>
                <a:spcPct val="100000"/>
              </a:lnSpc>
              <a:spcAft>
                <a:spcPct val="0"/>
              </a:spcAft>
            </a:pP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物以类聚、人以群分</a:t>
            </a:r>
          </a:p>
        </p:txBody>
      </p:sp>
      <p:pic>
        <p:nvPicPr>
          <p:cNvPr id="1026" name="Picture 2" descr="https://timgsa.baidu.com/timg?image&amp;quality=80&amp;size=b9999_10000&amp;sec=1545190148506&amp;di=f733fe010e3571edd45742005a8041f0&amp;imgtype=0&amp;src=http%3A%2F%2Fspider.nosdn.127.net%2F9afaad295cdfb36120a54d3e0e271a0a.jpeg"/>
          <p:cNvPicPr>
            <a:picLocks noChangeAspect="1" noChangeArrowheads="1"/>
          </p:cNvPicPr>
          <p:nvPr/>
        </p:nvPicPr>
        <p:blipFill rotWithShape="1">
          <a:blip r:embed="rId2">
            <a:extLst>
              <a:ext uri="{28A0092B-C50C-407E-A947-70E740481C1C}">
                <a14:useLocalDpi xmlns:a14="http://schemas.microsoft.com/office/drawing/2010/main" val="0"/>
              </a:ext>
            </a:extLst>
          </a:blip>
          <a:srcRect r="1178"/>
          <a:stretch/>
        </p:blipFill>
        <p:spPr bwMode="auto">
          <a:xfrm>
            <a:off x="252000" y="1028699"/>
            <a:ext cx="8640000" cy="5092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893066"/>
      </p:ext>
    </p:extLst>
  </p:cSld>
  <p:clrMapOvr>
    <a:masterClrMapping/>
  </p:clrMapOvr>
  <p:transition spd="med">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聚类效果</a:t>
            </a:r>
          </a:p>
        </p:txBody>
      </p:sp>
      <p:pic>
        <p:nvPicPr>
          <p:cNvPr id="4"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8000" y="1009773"/>
            <a:ext cx="6228000" cy="4631583"/>
          </a:xfrm>
          <a:prstGeom prst="rect">
            <a:avLst/>
          </a:prstGeom>
        </p:spPr>
      </p:pic>
      <p:sp>
        <p:nvSpPr>
          <p:cNvPr id="5" name="矩形 4"/>
          <p:cNvSpPr/>
          <p:nvPr/>
        </p:nvSpPr>
        <p:spPr>
          <a:xfrm>
            <a:off x="1458000" y="5829626"/>
            <a:ext cx="6228000" cy="830997"/>
          </a:xfrm>
          <a:prstGeom prst="rect">
            <a:avLst/>
          </a:prstGeom>
        </p:spPr>
        <p:txBody>
          <a:bodyPr wrap="square">
            <a:spAutoFit/>
          </a:bodyPr>
          <a:lstStyle/>
          <a:p>
            <a:r>
              <a:rPr lang="en-US" altLang="zh-CN" sz="2400" dirty="0">
                <a:solidFill>
                  <a:srgbClr val="2E2E2E"/>
                </a:solidFill>
                <a:latin typeface="Times New Roman" panose="02020603050405020304" pitchFamily="18" charset="0"/>
                <a:ea typeface="微软雅黑" panose="020B0503020204020204" pitchFamily="34" charset="-122"/>
                <a:sym typeface="Times New Roman" panose="02020603050405020304" pitchFamily="18" charset="0"/>
              </a:rPr>
              <a:t>Clustering by fast search and find of density peak. Alex Rodriguez, Alessandro </a:t>
            </a:r>
            <a:r>
              <a:rPr lang="en-US" altLang="zh-CN" sz="2400" dirty="0" err="1">
                <a:solidFill>
                  <a:srgbClr val="2E2E2E"/>
                </a:solidFill>
                <a:latin typeface="Times New Roman" panose="02020603050405020304" pitchFamily="18" charset="0"/>
                <a:ea typeface="微软雅黑" panose="020B0503020204020204" pitchFamily="34" charset="-122"/>
                <a:sym typeface="Times New Roman" panose="02020603050405020304" pitchFamily="18" charset="0"/>
              </a:rPr>
              <a:t>Laio</a:t>
            </a:r>
            <a:endParaRPr lang="zh-CN" altLang="en-US" sz="2400"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69398635"/>
      </p:ext>
    </p:extLst>
  </p:cSld>
  <p:clrMapOvr>
    <a:masterClrMapping/>
  </p:clrMapOvr>
  <p:transition spd="med">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学习目标</a:t>
            </a:r>
          </a:p>
        </p:txBody>
      </p:sp>
      <p:sp>
        <p:nvSpPr>
          <p:cNvPr id="3" name="内容占位符 2"/>
          <p:cNvSpPr>
            <a:spLocks noGrp="1"/>
          </p:cNvSpPr>
          <p:nvPr>
            <p:ph idx="4294967295"/>
          </p:nvPr>
        </p:nvSpPr>
        <p:spPr>
          <a:xfrm>
            <a:off x="252000" y="756000"/>
            <a:ext cx="8229600" cy="1842749"/>
          </a:xfrm>
          <a:prstGeom prst="rect">
            <a:avLst/>
          </a:prstGeom>
          <a:noFill/>
        </p:spPr>
        <p:txBody>
          <a:bodyPr wrap="square">
            <a:spAutoFit/>
          </a:body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描述聚类分析的概念，区分聚类</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和分类</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应用基本的聚类方法解决</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实际应用问题</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了解聚类评估的任务有哪些</a:t>
            </a:r>
          </a:p>
        </p:txBody>
      </p:sp>
    </p:spTree>
    <p:extLst>
      <p:ext uri="{BB962C8B-B14F-4D97-AF65-F5344CB8AC3E}">
        <p14:creationId xmlns:p14="http://schemas.microsoft.com/office/powerpoint/2010/main" val="1596722186"/>
      </p:ext>
    </p:extLst>
  </p:cSld>
  <p:clrMapOvr>
    <a:masterClrMapping/>
  </p:clrMapOvr>
  <p:transition spd="med">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47659229"/>
      </p:ext>
    </p:extLst>
  </p:cSld>
  <p:clrMapOvr>
    <a:masterClrMapping/>
  </p:clrMapOvr>
  <p:transition spd="med">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聚类分析</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概述</a:t>
            </a:r>
          </a:p>
        </p:txBody>
      </p:sp>
      <p:sp>
        <p:nvSpPr>
          <p:cNvPr id="3" name="内容占位符 2"/>
          <p:cNvSpPr>
            <a:spLocks noGrp="1"/>
          </p:cNvSpPr>
          <p:nvPr>
            <p:ph idx="4294967295"/>
          </p:nvPr>
        </p:nvSpPr>
        <p:spPr>
          <a:xfrm>
            <a:off x="251520" y="756000"/>
            <a:ext cx="8640000" cy="2889189"/>
          </a:xfrm>
          <a:prstGeom prst="rect">
            <a:avLst/>
          </a:prstGeom>
          <a:noFill/>
        </p:spPr>
        <p:txBody>
          <a:bodyPr wrap="square">
            <a:spAutoFit/>
          </a:body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什么是</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聚类？</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是把数据对象集合按照相似性划分成多个子集的</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过程。</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每个子集是一个</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簇（</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cluster</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），使得簇中的对象彼此相似，但与其他簇中的对象不</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相似。</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聚类是无监督学习，因为给的数据没有类标号信息</a:t>
            </a:r>
          </a:p>
        </p:txBody>
      </p:sp>
    </p:spTree>
    <p:extLst>
      <p:ext uri="{BB962C8B-B14F-4D97-AF65-F5344CB8AC3E}">
        <p14:creationId xmlns:p14="http://schemas.microsoft.com/office/powerpoint/2010/main" val="361621315"/>
      </p:ext>
    </p:extLst>
  </p:cSld>
  <p:clrMapOvr>
    <a:masterClrMapping/>
  </p:clrMapOvr>
  <p:transition spd="med">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分类 </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vs. </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聚类</a:t>
            </a:r>
          </a:p>
        </p:txBody>
      </p:sp>
      <p:sp>
        <p:nvSpPr>
          <p:cNvPr id="3" name="内容占位符 2"/>
          <p:cNvSpPr>
            <a:spLocks noGrp="1"/>
          </p:cNvSpPr>
          <p:nvPr>
            <p:ph idx="4294967295"/>
          </p:nvPr>
        </p:nvSpPr>
        <p:spPr>
          <a:xfrm>
            <a:off x="252000" y="756000"/>
            <a:ext cx="8229600" cy="3556358"/>
          </a:xfrm>
          <a:prstGeom prst="rect">
            <a:avLst/>
          </a:prstGeom>
          <a:noFill/>
        </p:spPr>
        <p:txBody>
          <a:bodyPr wrap="square">
            <a:spAutoFit/>
          </a:body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分类</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有监督学习</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通过有标签样本学习分类器</a:t>
            </a: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聚类</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无监督学习</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通过观察学习，将数据分割成多</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个簇</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2491315173"/>
      </p:ext>
    </p:extLst>
  </p:cSld>
  <p:clrMapOvr>
    <a:masterClrMapping/>
  </p:clrMapOvr>
  <p:transition spd="med">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聚类的应用</a:t>
            </a:r>
          </a:p>
        </p:txBody>
      </p:sp>
      <p:sp>
        <p:nvSpPr>
          <p:cNvPr id="3" name="内容占位符 2"/>
          <p:cNvSpPr>
            <a:spLocks noGrp="1"/>
          </p:cNvSpPr>
          <p:nvPr>
            <p:ph idx="4294967295"/>
          </p:nvPr>
        </p:nvSpPr>
        <p:spPr>
          <a:xfrm>
            <a:off x="252000" y="756000"/>
            <a:ext cx="8640000" cy="5710794"/>
          </a:xfrm>
          <a:prstGeom prst="rect">
            <a:avLst/>
          </a:prstGeom>
          <a:noFill/>
        </p:spPr>
        <p:txBody>
          <a:bodyPr wrap="square">
            <a:spAutoFit/>
          </a:body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商业领域</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聚类分析被用来发现不同的客户群，并且通过购买模式刻画不同的客户群的</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特征。</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电子商务</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聚类出具有相似浏览行为的客户，并分析客户的共同特征，可以更好的帮助电子商务的用户了解自己的客户，向客户提供更合适的</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服务。</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舆情监控</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发现热点主题、话题、</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事件等</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发现</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未知异常</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4009884698"/>
      </p:ext>
    </p:extLst>
  </p:cSld>
  <p:clrMapOvr>
    <a:masterClrMapping/>
  </p:clrMapOvr>
  <p:transition spd="med">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数据挖掘对聚类</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的要求</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a:spLocks noGrp="1"/>
          </p:cNvSpPr>
          <p:nvPr>
            <p:ph idx="4294967295"/>
          </p:nvPr>
        </p:nvSpPr>
        <p:spPr>
          <a:xfrm>
            <a:off x="252000" y="692696"/>
            <a:ext cx="8640000" cy="6020944"/>
          </a:xfrm>
          <a:prstGeom prst="rect">
            <a:avLst/>
          </a:prstGeom>
          <a:noFill/>
        </p:spPr>
        <p:txBody>
          <a:bodyPr wrap="square">
            <a:spAutoFit/>
          </a:bodyPr>
          <a:lstStyle/>
          <a:p>
            <a:pPr marL="360000" indent="-360000" algn="just" fontAlgn="base">
              <a:lnSpc>
                <a:spcPct val="130000"/>
              </a:lnSpc>
              <a:spcBef>
                <a:spcPts val="600"/>
              </a:spcBef>
              <a:spcAft>
                <a:spcPct val="0"/>
              </a:spcAft>
              <a:buClr>
                <a:srgbClr val="FF6600"/>
              </a:buClr>
              <a:buSzPct val="80000"/>
              <a:buFont typeface="Wingdings" panose="05000000000000000000" pitchFamily="2" charset="2"/>
              <a:buChar char="l"/>
            </a:pPr>
            <a:r>
              <a:rPr lang="zh-CN" altLang="en-US" sz="24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可扩展性</a:t>
            </a:r>
            <a:endParaRPr lang="en-US" altLang="zh-CN" sz="24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3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许多聚类算法在小于几百个数据对象的小数据集合上工作得很好</a:t>
            </a:r>
          </a:p>
          <a:p>
            <a:pPr marL="817200" lvl="1" indent="-360000" algn="just" fontAlgn="base">
              <a:lnSpc>
                <a:spcPct val="13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而一个大规模数据库可能包含几百万</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个对象</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30000"/>
              </a:lnSpc>
              <a:spcBef>
                <a:spcPts val="600"/>
              </a:spcBef>
              <a:spcAft>
                <a:spcPct val="0"/>
              </a:spcAft>
              <a:buClr>
                <a:srgbClr val="FF6600"/>
              </a:buClr>
              <a:buSzPct val="80000"/>
              <a:buFont typeface="Wingdings" panose="05000000000000000000" pitchFamily="2" charset="2"/>
              <a:buChar char="l"/>
            </a:pPr>
            <a:r>
              <a:rPr lang="zh-CN" altLang="en-US" sz="24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处理不同数据类型的能力</a:t>
            </a:r>
          </a:p>
          <a:p>
            <a:pPr marL="817200" lvl="1" indent="-360000" algn="just" fontAlgn="base">
              <a:lnSpc>
                <a:spcPct val="13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许多聚类算法专门用于数值类型的数据</a:t>
            </a:r>
          </a:p>
          <a:p>
            <a:pPr marL="817200" lvl="1" indent="-360000" algn="just" fontAlgn="base">
              <a:lnSpc>
                <a:spcPct val="13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而实际应用涉及不同的数据类型，如二元的、分类的、图像</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的等</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30000"/>
              </a:lnSpc>
              <a:spcBef>
                <a:spcPts val="600"/>
              </a:spcBef>
              <a:spcAft>
                <a:spcPct val="0"/>
              </a:spcAft>
              <a:buClr>
                <a:srgbClr val="FF6600"/>
              </a:buClr>
              <a:buSzPct val="80000"/>
              <a:buFont typeface="Wingdings" panose="05000000000000000000" pitchFamily="2" charset="2"/>
              <a:buChar char="l"/>
            </a:pPr>
            <a:r>
              <a:rPr lang="zh-CN" altLang="en-US" sz="24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发现任意形状的能力</a:t>
            </a:r>
          </a:p>
          <a:p>
            <a:pPr marL="817200" lvl="1" indent="-360000" algn="just" fontAlgn="base">
              <a:lnSpc>
                <a:spcPct val="13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基于距离的聚类算法往往发现的是球形的聚类</a:t>
            </a:r>
          </a:p>
          <a:p>
            <a:pPr marL="817200" lvl="1" indent="-360000" algn="just" fontAlgn="base">
              <a:lnSpc>
                <a:spcPct val="13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而现实的聚类是任意</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形状的</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30000"/>
              </a:lnSpc>
              <a:spcBef>
                <a:spcPts val="600"/>
              </a:spcBef>
              <a:spcAft>
                <a:spcPct val="0"/>
              </a:spcAft>
              <a:buClr>
                <a:srgbClr val="FF6600"/>
              </a:buClr>
              <a:buSzPct val="80000"/>
              <a:buFont typeface="Wingdings" panose="05000000000000000000" pitchFamily="2" charset="2"/>
              <a:buChar char="l"/>
            </a:pPr>
            <a:r>
              <a:rPr lang="zh-CN" altLang="en-US" sz="24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用于决定输入参数的领域知识最小化</a:t>
            </a:r>
          </a:p>
          <a:p>
            <a:pPr marL="817200" lvl="1" indent="-360000" algn="just" fontAlgn="base">
              <a:lnSpc>
                <a:spcPct val="13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聚类结果对于输入参数十分敏感</a:t>
            </a:r>
          </a:p>
          <a:p>
            <a:pPr marL="817200" lvl="1" indent="-360000" algn="just" fontAlgn="base">
              <a:lnSpc>
                <a:spcPct val="13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而参数很难决定，聚类的质量也很难控制</a:t>
            </a:r>
          </a:p>
        </p:txBody>
      </p:sp>
    </p:spTree>
    <p:extLst>
      <p:ext uri="{BB962C8B-B14F-4D97-AF65-F5344CB8AC3E}">
        <p14:creationId xmlns:p14="http://schemas.microsoft.com/office/powerpoint/2010/main" val="4117771673"/>
      </p:ext>
    </p:extLst>
  </p:cSld>
  <p:clrMapOvr>
    <a:masterClrMapping/>
  </p:clrMapOvr>
  <p:transition spd="med">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252000" y="756000"/>
            <a:ext cx="8640000" cy="5546968"/>
          </a:xfrm>
          <a:prstGeom prst="rect">
            <a:avLst/>
          </a:prstGeom>
          <a:noFill/>
        </p:spPr>
        <p:txBody>
          <a:bodyPr wrap="square">
            <a:spAutoFit/>
          </a:body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处理噪声数据</a:t>
            </a:r>
            <a:r>
              <a:rPr lang="zh-CN" altLang="en-US" sz="24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的能力</a:t>
            </a:r>
            <a:endParaRPr lang="en-US" altLang="zh-CN" sz="24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很多数据库都包含了孤立点，缺失或错误的数据</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而一些聚类算法对于这样的数据敏感，可能导致低质量的</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聚类结果</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对输入数据的顺序不敏感和增量聚类</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同一个数据集合，以不同的次序提交给同一个算法，应该产生相似的结果</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能将新加入的数据合并到已有聚类中</a:t>
            </a: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高维度</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许多聚类算法擅长处理低维数据，可能只涉及两到三维</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而数据库或者数据仓库可能包含若干维</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或属性</a:t>
            </a:r>
            <a:endPar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灯片编号占位符 3">
            <a:extLst>
              <a:ext uri="{FF2B5EF4-FFF2-40B4-BE49-F238E27FC236}">
                <a16:creationId xmlns:a16="http://schemas.microsoft.com/office/drawing/2014/main" id="{591D759D-F2EB-41C5-B0CC-7F63D0BA744E}"/>
              </a:ext>
            </a:extLst>
          </p:cNvPr>
          <p:cNvSpPr>
            <a:spLocks noGrp="1"/>
          </p:cNvSpPr>
          <p:nvPr>
            <p:ph type="sldNum" sz="quarter" idx="4294967295"/>
          </p:nvPr>
        </p:nvSpPr>
        <p:spPr>
          <a:xfrm>
            <a:off x="8578850" y="6411913"/>
            <a:ext cx="565150" cy="365125"/>
          </a:xfrm>
          <a:prstGeom prst="rect">
            <a:avLst/>
          </a:prstGeom>
        </p:spPr>
        <p:txBody>
          <a:bodyPr/>
          <a:lstStyle/>
          <a:p>
            <a:fld id="{D9A2D461-AF4D-47C7-9839-6831AAAE9194}" type="slidenum">
              <a:rPr lang="zh-CN" altLang="en-US" smtClean="0">
                <a:latin typeface="Times New Roman" panose="02020603050405020304" pitchFamily="18" charset="0"/>
                <a:ea typeface="微软雅黑" panose="020B0503020204020204" pitchFamily="34" charset="-122"/>
                <a:sym typeface="Times New Roman" panose="02020603050405020304" pitchFamily="18" charset="0"/>
              </a:rPr>
              <a:t>10</a:t>
            </a:fld>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标题 1">
            <a:extLst>
              <a:ext uri="{FF2B5EF4-FFF2-40B4-BE49-F238E27FC236}">
                <a16:creationId xmlns:a16="http://schemas.microsoft.com/office/drawing/2014/main" id="{01206C29-2FE8-4FDB-8780-1AE5F0EF6532}"/>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数据挖掘对聚类的要求</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1202148550"/>
      </p:ext>
    </p:extLst>
  </p:cSld>
  <p:clrMapOvr>
    <a:masterClrMapping/>
  </p:clrMapOvr>
  <p:transition spd="med">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117465"/>
      </p:ext>
    </p:extLst>
  </p:cSld>
  <p:clrMapOvr>
    <a:masterClrMapping/>
  </p:clrMapOvr>
  <p:transition spd="med">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基本</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聚类方法</a:t>
            </a:r>
          </a:p>
        </p:txBody>
      </p:sp>
      <p:grpSp>
        <p:nvGrpSpPr>
          <p:cNvPr id="8" name="组合 7">
            <a:extLst>
              <a:ext uri="{FF2B5EF4-FFF2-40B4-BE49-F238E27FC236}">
                <a16:creationId xmlns:a16="http://schemas.microsoft.com/office/drawing/2014/main" id="{E074A871-E342-4784-9A3E-9DC117534043}"/>
              </a:ext>
            </a:extLst>
          </p:cNvPr>
          <p:cNvGrpSpPr/>
          <p:nvPr/>
        </p:nvGrpSpPr>
        <p:grpSpPr>
          <a:xfrm>
            <a:off x="2195736" y="1556792"/>
            <a:ext cx="4499812" cy="4033292"/>
            <a:chOff x="3124994" y="2132012"/>
            <a:chExt cx="2894013" cy="2593975"/>
          </a:xfrm>
        </p:grpSpPr>
        <p:sp>
          <p:nvSpPr>
            <p:cNvPr id="5" name="Freeform 5">
              <a:extLst>
                <a:ext uri="{FF2B5EF4-FFF2-40B4-BE49-F238E27FC236}">
                  <a16:creationId xmlns:a16="http://schemas.microsoft.com/office/drawing/2014/main" id="{1D29DC65-97A3-48E9-B82F-E6AE7F703E29}"/>
                </a:ext>
              </a:extLst>
            </p:cNvPr>
            <p:cNvSpPr/>
            <p:nvPr/>
          </p:nvSpPr>
          <p:spPr bwMode="auto">
            <a:xfrm>
              <a:off x="3124994" y="2132012"/>
              <a:ext cx="1868487" cy="1476375"/>
            </a:xfrm>
            <a:custGeom>
              <a:avLst/>
              <a:gdLst/>
              <a:ahLst/>
              <a:cxnLst>
                <a:cxn ang="0">
                  <a:pos x="1177" y="0"/>
                </a:cxn>
                <a:cxn ang="0">
                  <a:pos x="797" y="722"/>
                </a:cxn>
                <a:cxn ang="0">
                  <a:pos x="796" y="722"/>
                </a:cxn>
                <a:cxn ang="0">
                  <a:pos x="0" y="930"/>
                </a:cxn>
                <a:cxn ang="0">
                  <a:pos x="325" y="218"/>
                </a:cxn>
                <a:cxn ang="0">
                  <a:pos x="1177" y="0"/>
                </a:cxn>
              </a:cxnLst>
              <a:rect l="0" t="0" r="r" b="b"/>
              <a:pathLst>
                <a:path w="1177" h="930">
                  <a:moveTo>
                    <a:pt x="1177" y="0"/>
                  </a:moveTo>
                  <a:lnTo>
                    <a:pt x="797" y="722"/>
                  </a:lnTo>
                  <a:lnTo>
                    <a:pt x="796" y="722"/>
                  </a:lnTo>
                  <a:lnTo>
                    <a:pt x="0" y="930"/>
                  </a:lnTo>
                  <a:lnTo>
                    <a:pt x="325" y="218"/>
                  </a:lnTo>
                  <a:lnTo>
                    <a:pt x="1177" y="0"/>
                  </a:lnTo>
                  <a:close/>
                </a:path>
              </a:pathLst>
            </a:custGeom>
            <a:solidFill>
              <a:srgbClr val="00B0F0"/>
            </a:solidFill>
            <a:ln w="9525">
              <a:solidFill>
                <a:schemeClr val="bg1"/>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Freeform 6">
              <a:extLst>
                <a:ext uri="{FF2B5EF4-FFF2-40B4-BE49-F238E27FC236}">
                  <a16:creationId xmlns:a16="http://schemas.microsoft.com/office/drawing/2014/main" id="{26F10F05-93B1-4CC5-8AB1-341FEF3C0B13}"/>
                </a:ext>
              </a:extLst>
            </p:cNvPr>
            <p:cNvSpPr/>
            <p:nvPr/>
          </p:nvSpPr>
          <p:spPr bwMode="auto">
            <a:xfrm>
              <a:off x="3124994" y="3278187"/>
              <a:ext cx="2281237" cy="1447800"/>
            </a:xfrm>
            <a:custGeom>
              <a:avLst/>
              <a:gdLst/>
              <a:ahLst/>
              <a:cxnLst>
                <a:cxn ang="0">
                  <a:pos x="815" y="20"/>
                </a:cxn>
                <a:cxn ang="0">
                  <a:pos x="1437" y="732"/>
                </a:cxn>
                <a:cxn ang="0">
                  <a:pos x="705" y="912"/>
                </a:cxn>
                <a:cxn ang="0">
                  <a:pos x="0" y="208"/>
                </a:cxn>
                <a:cxn ang="0">
                  <a:pos x="796" y="0"/>
                </a:cxn>
                <a:cxn ang="0">
                  <a:pos x="815" y="20"/>
                </a:cxn>
              </a:cxnLst>
              <a:rect l="0" t="0" r="r" b="b"/>
              <a:pathLst>
                <a:path w="1437" h="912">
                  <a:moveTo>
                    <a:pt x="815" y="20"/>
                  </a:moveTo>
                  <a:lnTo>
                    <a:pt x="1437" y="732"/>
                  </a:lnTo>
                  <a:lnTo>
                    <a:pt x="705" y="912"/>
                  </a:lnTo>
                  <a:lnTo>
                    <a:pt x="0" y="208"/>
                  </a:lnTo>
                  <a:lnTo>
                    <a:pt x="796" y="0"/>
                  </a:lnTo>
                  <a:lnTo>
                    <a:pt x="815" y="20"/>
                  </a:lnTo>
                  <a:close/>
                </a:path>
              </a:pathLst>
            </a:custGeom>
            <a:solidFill>
              <a:srgbClr val="13548C"/>
            </a:solidFill>
            <a:ln w="9525">
              <a:solidFill>
                <a:schemeClr val="bg1"/>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Freeform 7">
              <a:extLst>
                <a:ext uri="{FF2B5EF4-FFF2-40B4-BE49-F238E27FC236}">
                  <a16:creationId xmlns:a16="http://schemas.microsoft.com/office/drawing/2014/main" id="{FF3FE5D6-4DC5-4520-9540-34B1A92D8FBA}"/>
                </a:ext>
              </a:extLst>
            </p:cNvPr>
            <p:cNvSpPr/>
            <p:nvPr/>
          </p:nvSpPr>
          <p:spPr bwMode="auto">
            <a:xfrm>
              <a:off x="4390232" y="2132012"/>
              <a:ext cx="1628775" cy="2308225"/>
            </a:xfrm>
            <a:custGeom>
              <a:avLst/>
              <a:gdLst/>
              <a:ahLst/>
              <a:cxnLst>
                <a:cxn ang="0">
                  <a:pos x="0" y="722"/>
                </a:cxn>
                <a:cxn ang="0">
                  <a:pos x="380" y="0"/>
                </a:cxn>
                <a:cxn ang="0">
                  <a:pos x="1026" y="736"/>
                </a:cxn>
                <a:cxn ang="0">
                  <a:pos x="640" y="1454"/>
                </a:cxn>
                <a:cxn ang="0">
                  <a:pos x="18" y="742"/>
                </a:cxn>
                <a:cxn ang="0">
                  <a:pos x="0" y="722"/>
                </a:cxn>
              </a:cxnLst>
              <a:rect l="0" t="0" r="r" b="b"/>
              <a:pathLst>
                <a:path w="1026" h="1454">
                  <a:moveTo>
                    <a:pt x="0" y="722"/>
                  </a:moveTo>
                  <a:lnTo>
                    <a:pt x="380" y="0"/>
                  </a:lnTo>
                  <a:lnTo>
                    <a:pt x="1026" y="736"/>
                  </a:lnTo>
                  <a:lnTo>
                    <a:pt x="640" y="1454"/>
                  </a:lnTo>
                  <a:lnTo>
                    <a:pt x="18" y="742"/>
                  </a:lnTo>
                  <a:lnTo>
                    <a:pt x="0" y="722"/>
                  </a:lnTo>
                  <a:close/>
                </a:path>
              </a:pathLst>
            </a:custGeom>
            <a:solidFill>
              <a:srgbClr val="0070C0"/>
            </a:solidFill>
            <a:ln w="9525">
              <a:solidFill>
                <a:schemeClr val="bg1"/>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9" name="内容占位符 2">
            <a:extLst>
              <a:ext uri="{FF2B5EF4-FFF2-40B4-BE49-F238E27FC236}">
                <a16:creationId xmlns:a16="http://schemas.microsoft.com/office/drawing/2014/main" id="{8423E2FE-5ED1-4464-90C5-0ABED116A90B}"/>
              </a:ext>
            </a:extLst>
          </p:cNvPr>
          <p:cNvSpPr txBox="1">
            <a:spLocks/>
          </p:cNvSpPr>
          <p:nvPr/>
        </p:nvSpPr>
        <p:spPr>
          <a:xfrm>
            <a:off x="2699792" y="2337550"/>
            <a:ext cx="1766891" cy="523220"/>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en-US" altLang="zh-CN">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划分方法</a:t>
            </a:r>
            <a:endParaRPr lang="en-US" altLang="zh-CN">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内容占位符 2">
            <a:extLst>
              <a:ext uri="{FF2B5EF4-FFF2-40B4-BE49-F238E27FC236}">
                <a16:creationId xmlns:a16="http://schemas.microsoft.com/office/drawing/2014/main" id="{D62FE73D-1B34-42EE-A402-65E34D58FDE5}"/>
              </a:ext>
            </a:extLst>
          </p:cNvPr>
          <p:cNvSpPr txBox="1">
            <a:spLocks/>
          </p:cNvSpPr>
          <p:nvPr/>
        </p:nvSpPr>
        <p:spPr>
          <a:xfrm>
            <a:off x="4545836" y="3089676"/>
            <a:ext cx="1766891" cy="523220"/>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层次方法</a:t>
            </a:r>
            <a:endParaRPr lang="en-US" altLang="zh-CN">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内容占位符 2">
            <a:extLst>
              <a:ext uri="{FF2B5EF4-FFF2-40B4-BE49-F238E27FC236}">
                <a16:creationId xmlns:a16="http://schemas.microsoft.com/office/drawing/2014/main" id="{9D2EFD0A-EF1A-46F5-80D8-CCB1966A17D5}"/>
              </a:ext>
            </a:extLst>
          </p:cNvPr>
          <p:cNvSpPr txBox="1">
            <a:spLocks/>
          </p:cNvSpPr>
          <p:nvPr/>
        </p:nvSpPr>
        <p:spPr>
          <a:xfrm>
            <a:off x="3085802" y="3953707"/>
            <a:ext cx="1766891" cy="954107"/>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基于密度的方法</a:t>
            </a:r>
            <a:endParaRPr lang="en-US" altLang="zh-CN">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846405407"/>
      </p:ext>
    </p:extLst>
  </p:cSld>
  <p:clrMapOvr>
    <a:masterClrMapping/>
  </p:clrMapOvr>
  <p:transition spd="med">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 </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划分方法</a:t>
            </a:r>
          </a:p>
        </p:txBody>
      </p:sp>
      <p:sp>
        <p:nvSpPr>
          <p:cNvPr id="3" name="内容占位符 2"/>
          <p:cNvSpPr>
            <a:spLocks noGrp="1"/>
          </p:cNvSpPr>
          <p:nvPr>
            <p:ph idx="4294967295"/>
          </p:nvPr>
        </p:nvSpPr>
        <p:spPr>
          <a:xfrm>
            <a:off x="252000" y="756000"/>
            <a:ext cx="8640000" cy="6042423"/>
          </a:xfrm>
          <a:prstGeom prst="rect">
            <a:avLst/>
          </a:prstGeom>
          <a:noFill/>
        </p:spPr>
        <p:txBody>
          <a:bodyPr wrap="square">
            <a:spAutoFit/>
          </a:bodyPr>
          <a:lstStyle/>
          <a:p>
            <a:pPr marL="360000" indent="-360000" algn="just" fontAlgn="base">
              <a:lnSpc>
                <a:spcPct val="14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划分方法：</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将有</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n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个对象的</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数据集</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划分成</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个簇</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，并且</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n</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，满足如下的要求：</a:t>
            </a:r>
          </a:p>
          <a:p>
            <a:pPr marL="817200" lvl="1" indent="-360000" algn="just" fontAlgn="base">
              <a:lnSpc>
                <a:spcPct val="14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每个簇至少包含一个对象</a:t>
            </a:r>
          </a:p>
          <a:p>
            <a:pPr marL="817200" lvl="1" indent="-360000" algn="just" fontAlgn="base">
              <a:lnSpc>
                <a:spcPct val="14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每个对象属于且仅属于一个簇</a:t>
            </a:r>
          </a:p>
          <a:p>
            <a:pPr marL="360000" indent="-360000" algn="just" fontAlgn="base">
              <a:lnSpc>
                <a:spcPct val="140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基本思想</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4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首先创建一</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个初始</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划分</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为要构造的</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划分数</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p>
          <a:p>
            <a:pPr marL="817200" lvl="1" indent="-360000" algn="just" fontAlgn="base">
              <a:lnSpc>
                <a:spcPct val="14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然后不断迭代地计算各个簇的聚类中心并依新的聚类中心调整聚类情况，</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直至收敛</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40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目标</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4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同一个簇中的对象之间尽可能“接近”或相关</a:t>
            </a:r>
          </a:p>
          <a:p>
            <a:pPr marL="817200" lvl="1" indent="-360000" algn="just" fontAlgn="base">
              <a:lnSpc>
                <a:spcPct val="14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不同簇中的对象之间尽可能“远离”</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或不同</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1881222732"/>
      </p:ext>
    </p:extLst>
  </p:cSld>
  <p:clrMapOvr>
    <a:masterClrMapping/>
  </p:clrMapOvr>
  <p:transition spd="med">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252000" y="756000"/>
            <a:ext cx="8640000" cy="5860835"/>
          </a:xfrm>
          <a:prstGeom prst="rect">
            <a:avLst/>
          </a:prstGeom>
          <a:noFill/>
        </p:spPr>
        <p:txBody>
          <a:bodyPr wrap="square">
            <a:spAutoFit/>
          </a:bodyPr>
          <a:lstStyle/>
          <a:p>
            <a:pPr marL="360000" indent="-360000" algn="just" fontAlgn="base">
              <a:lnSpc>
                <a:spcPct val="140000"/>
              </a:lnSpc>
              <a:spcBef>
                <a:spcPts val="600"/>
              </a:spcBef>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启发式方法</a:t>
            </a:r>
          </a:p>
          <a:p>
            <a:pPr marL="817200" lvl="1" indent="-360000" algn="just" fontAlgn="base">
              <a:lnSpc>
                <a:spcPct val="140000"/>
              </a:lnSpc>
              <a:spcBef>
                <a:spcPts val="600"/>
              </a:spcBef>
              <a:buClr>
                <a:srgbClr val="FF6600"/>
              </a:buClr>
              <a:buSzPct val="80000"/>
              <a:buFont typeface="Wingdings" panose="05000000000000000000" pitchFamily="2" charset="2"/>
              <a:buChar char="l"/>
            </a:pP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均值</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(k-means)</a:t>
            </a:r>
          </a:p>
          <a:p>
            <a:pPr lvl="2">
              <a:lnSpc>
                <a:spcPct val="140000"/>
              </a:lnSpc>
              <a:spcBef>
                <a:spcPts val="600"/>
              </a:spcBef>
              <a:buClr>
                <a:srgbClr val="FF6700"/>
              </a:buClr>
            </a:pPr>
            <a:r>
              <a:rPr lang="zh-CN" altLang="en-US" dirty="0">
                <a:sym typeface="Times New Roman" panose="02020603050405020304" pitchFamily="18" charset="0"/>
              </a:rPr>
              <a:t>每个簇用该簇中对象的均值来表示</a:t>
            </a:r>
          </a:p>
          <a:p>
            <a:pPr lvl="2">
              <a:lnSpc>
                <a:spcPct val="140000"/>
              </a:lnSpc>
              <a:spcBef>
                <a:spcPts val="600"/>
              </a:spcBef>
              <a:buClr>
                <a:srgbClr val="FF6700"/>
              </a:buClr>
            </a:pPr>
            <a:r>
              <a:rPr lang="zh-CN" altLang="en-US" dirty="0">
                <a:sym typeface="Times New Roman" panose="02020603050405020304" pitchFamily="18" charset="0"/>
              </a:rPr>
              <a:t>基于质心的技术</a:t>
            </a:r>
          </a:p>
          <a:p>
            <a:pPr marL="817200" lvl="1" indent="-360000" algn="just" fontAlgn="base">
              <a:lnSpc>
                <a:spcPct val="140000"/>
              </a:lnSpc>
              <a:spcBef>
                <a:spcPts val="600"/>
              </a:spcBef>
              <a:buClr>
                <a:srgbClr val="FF6600"/>
              </a:buClr>
              <a:buSzPct val="80000"/>
              <a:buFont typeface="Wingdings" panose="05000000000000000000" pitchFamily="2" charset="2"/>
              <a:buChar char="l"/>
            </a:pP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(k-medoids)</a:t>
            </a:r>
          </a:p>
          <a:p>
            <a:pPr lvl="2">
              <a:lnSpc>
                <a:spcPct val="140000"/>
              </a:lnSpc>
              <a:spcBef>
                <a:spcPts val="600"/>
              </a:spcBef>
              <a:buClr>
                <a:srgbClr val="FF6700"/>
              </a:buClr>
            </a:pPr>
            <a:r>
              <a:rPr lang="zh-CN" altLang="en-US" dirty="0">
                <a:sym typeface="Times New Roman" panose="02020603050405020304" pitchFamily="18" charset="0"/>
              </a:rPr>
              <a:t>每个簇用接近簇中心的一个对象来表示</a:t>
            </a:r>
          </a:p>
          <a:p>
            <a:pPr lvl="2">
              <a:lnSpc>
                <a:spcPct val="140000"/>
              </a:lnSpc>
              <a:spcBef>
                <a:spcPts val="600"/>
              </a:spcBef>
              <a:buClr>
                <a:srgbClr val="FF6700"/>
              </a:buClr>
            </a:pPr>
            <a:r>
              <a:rPr lang="zh-CN" altLang="en-US" dirty="0">
                <a:sym typeface="Times New Roman" panose="02020603050405020304" pitchFamily="18" charset="0"/>
              </a:rPr>
              <a:t>基于代表对象的技术</a:t>
            </a:r>
          </a:p>
          <a:p>
            <a:pPr marL="360000" indent="-360000" algn="just" fontAlgn="base">
              <a:lnSpc>
                <a:spcPct val="140000"/>
              </a:lnSpc>
              <a:spcBef>
                <a:spcPts val="600"/>
              </a:spcBef>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适用性</a:t>
            </a:r>
          </a:p>
          <a:p>
            <a:pPr marL="817200" lvl="1" indent="-360000" algn="just" fontAlgn="base">
              <a:lnSpc>
                <a:spcPct val="14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这些启发式算法适合发现中小规模数据库中的球状聚类</a:t>
            </a:r>
          </a:p>
          <a:p>
            <a:pPr marL="817200" lvl="1" indent="-360000" algn="just" fontAlgn="base">
              <a:lnSpc>
                <a:spcPct val="14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对于大规模数据库和处理任意形状的聚类，这些算法需要进一步扩展</a:t>
            </a:r>
          </a:p>
        </p:txBody>
      </p:sp>
      <p:sp>
        <p:nvSpPr>
          <p:cNvPr id="12" name="标题 1">
            <a:extLst>
              <a:ext uri="{FF2B5EF4-FFF2-40B4-BE49-F238E27FC236}">
                <a16:creationId xmlns:a16="http://schemas.microsoft.com/office/drawing/2014/main" id="{91FD3E6F-181F-49DF-92FA-A0119335B635}"/>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划分方法</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4" name="组合 13">
            <a:extLst>
              <a:ext uri="{FF2B5EF4-FFF2-40B4-BE49-F238E27FC236}">
                <a16:creationId xmlns:a16="http://schemas.microsoft.com/office/drawing/2014/main" id="{D7D2EB3B-FD4F-4DF5-A9F7-FB5B442AB318}"/>
              </a:ext>
            </a:extLst>
          </p:cNvPr>
          <p:cNvGrpSpPr/>
          <p:nvPr/>
        </p:nvGrpSpPr>
        <p:grpSpPr>
          <a:xfrm>
            <a:off x="2462252" y="897962"/>
            <a:ext cx="2764155" cy="461645"/>
            <a:chOff x="4592" y="1885"/>
            <a:chExt cx="4353" cy="727"/>
          </a:xfrm>
        </p:grpSpPr>
        <p:sp>
          <p:nvSpPr>
            <p:cNvPr id="15" name="object 4">
              <a:extLst>
                <a:ext uri="{FF2B5EF4-FFF2-40B4-BE49-F238E27FC236}">
                  <a16:creationId xmlns:a16="http://schemas.microsoft.com/office/drawing/2014/main" id="{FBD9009C-53B3-4B70-B383-271F15AA4418}"/>
                </a:ext>
              </a:extLst>
            </p:cNvPr>
            <p:cNvSpPr txBox="1"/>
            <p:nvPr/>
          </p:nvSpPr>
          <p:spPr>
            <a:xfrm>
              <a:off x="8762" y="1885"/>
              <a:ext cx="183"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spc="30" dirty="0">
                  <a:latin typeface="Times New Roman" panose="02020603050405020304"/>
                  <a:cs typeface="Times New Roman" panose="02020603050405020304"/>
                </a:rPr>
                <a:t>2</a:t>
              </a:r>
              <a:endParaRPr sz="1350">
                <a:latin typeface="Times New Roman" panose="02020603050405020304"/>
                <a:cs typeface="Times New Roman" panose="02020603050405020304"/>
              </a:endParaRPr>
            </a:p>
          </p:txBody>
        </p:sp>
        <p:sp>
          <p:nvSpPr>
            <p:cNvPr id="16" name="object 5">
              <a:extLst>
                <a:ext uri="{FF2B5EF4-FFF2-40B4-BE49-F238E27FC236}">
                  <a16:creationId xmlns:a16="http://schemas.microsoft.com/office/drawing/2014/main" id="{5A06DB2F-8549-4915-9193-F5364B99BCFA}"/>
                </a:ext>
              </a:extLst>
            </p:cNvPr>
            <p:cNvSpPr txBox="1"/>
            <p:nvPr/>
          </p:nvSpPr>
          <p:spPr>
            <a:xfrm>
              <a:off x="8292" y="2215"/>
              <a:ext cx="120"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i="1" spc="15" dirty="0">
                  <a:latin typeface="Times New Roman" panose="02020603050405020304"/>
                  <a:cs typeface="Times New Roman" panose="02020603050405020304"/>
                </a:rPr>
                <a:t>i</a:t>
              </a:r>
              <a:endParaRPr sz="1350">
                <a:latin typeface="Times New Roman" panose="02020603050405020304"/>
                <a:cs typeface="Times New Roman" panose="02020603050405020304"/>
              </a:endParaRPr>
            </a:p>
          </p:txBody>
        </p:sp>
        <p:sp>
          <p:nvSpPr>
            <p:cNvPr id="17" name="object 6">
              <a:extLst>
                <a:ext uri="{FF2B5EF4-FFF2-40B4-BE49-F238E27FC236}">
                  <a16:creationId xmlns:a16="http://schemas.microsoft.com/office/drawing/2014/main" id="{8B2FAD9B-4834-4422-8FF3-634679900BE1}"/>
                </a:ext>
              </a:extLst>
            </p:cNvPr>
            <p:cNvSpPr txBox="1"/>
            <p:nvPr/>
          </p:nvSpPr>
          <p:spPr>
            <a:xfrm>
              <a:off x="5672" y="1885"/>
              <a:ext cx="168"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i="1" spc="30" dirty="0">
                  <a:latin typeface="Times New Roman" panose="02020603050405020304"/>
                  <a:cs typeface="Times New Roman" panose="02020603050405020304"/>
                </a:rPr>
                <a:t>k</a:t>
              </a:r>
              <a:endParaRPr sz="1350">
                <a:latin typeface="Times New Roman" panose="02020603050405020304"/>
                <a:cs typeface="Times New Roman" panose="02020603050405020304"/>
              </a:endParaRPr>
            </a:p>
          </p:txBody>
        </p:sp>
        <p:sp>
          <p:nvSpPr>
            <p:cNvPr id="18" name="object 7">
              <a:extLst>
                <a:ext uri="{FF2B5EF4-FFF2-40B4-BE49-F238E27FC236}">
                  <a16:creationId xmlns:a16="http://schemas.microsoft.com/office/drawing/2014/main" id="{FC2D239A-E97D-4BAC-BFF7-A85B84375537}"/>
                </a:ext>
              </a:extLst>
            </p:cNvPr>
            <p:cNvSpPr txBox="1"/>
            <p:nvPr/>
          </p:nvSpPr>
          <p:spPr>
            <a:xfrm>
              <a:off x="6999" y="1897"/>
              <a:ext cx="1785" cy="583"/>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2350" spc="45" dirty="0">
                  <a:latin typeface="Times New Roman" panose="02020603050405020304"/>
                  <a:cs typeface="Times New Roman" panose="02020603050405020304"/>
                </a:rPr>
                <a:t>(</a:t>
              </a:r>
              <a:r>
                <a:rPr sz="2350" i="1" spc="45" dirty="0">
                  <a:latin typeface="Times New Roman" panose="02020603050405020304"/>
                  <a:cs typeface="Times New Roman" panose="02020603050405020304"/>
                </a:rPr>
                <a:t>d</a:t>
              </a:r>
              <a:r>
                <a:rPr sz="2350" i="1" spc="-395" dirty="0">
                  <a:latin typeface="Times New Roman" panose="02020603050405020304"/>
                  <a:cs typeface="Times New Roman" panose="02020603050405020304"/>
                </a:rPr>
                <a:t> </a:t>
              </a:r>
              <a:r>
                <a:rPr sz="2350" spc="25" dirty="0">
                  <a:latin typeface="Times New Roman" panose="02020603050405020304"/>
                  <a:cs typeface="Times New Roman" panose="02020603050405020304"/>
                </a:rPr>
                <a:t>(</a:t>
              </a:r>
              <a:r>
                <a:rPr sz="2350" spc="-285" dirty="0">
                  <a:latin typeface="Times New Roman" panose="02020603050405020304"/>
                  <a:cs typeface="Times New Roman" panose="02020603050405020304"/>
                </a:rPr>
                <a:t> </a:t>
              </a:r>
              <a:r>
                <a:rPr sz="2350" i="1" spc="25" dirty="0">
                  <a:latin typeface="Times New Roman" panose="02020603050405020304"/>
                  <a:cs typeface="Times New Roman" panose="02020603050405020304"/>
                </a:rPr>
                <a:t>p</a:t>
              </a:r>
              <a:r>
                <a:rPr sz="2350" spc="25" dirty="0">
                  <a:latin typeface="Times New Roman" panose="02020603050405020304"/>
                  <a:cs typeface="Times New Roman" panose="02020603050405020304"/>
                </a:rPr>
                <a:t>,</a:t>
              </a:r>
              <a:r>
                <a:rPr sz="2350" spc="-375" dirty="0">
                  <a:latin typeface="Times New Roman" panose="02020603050405020304"/>
                  <a:cs typeface="Times New Roman" panose="02020603050405020304"/>
                </a:rPr>
                <a:t> </a:t>
              </a:r>
              <a:r>
                <a:rPr sz="2350" i="1" spc="35" dirty="0">
                  <a:latin typeface="Times New Roman" panose="02020603050405020304"/>
                  <a:cs typeface="Times New Roman" panose="02020603050405020304"/>
                </a:rPr>
                <a:t>c</a:t>
              </a:r>
              <a:r>
                <a:rPr sz="2350" i="1" spc="-10" dirty="0">
                  <a:latin typeface="Times New Roman" panose="02020603050405020304"/>
                  <a:cs typeface="Times New Roman" panose="02020603050405020304"/>
                </a:rPr>
                <a:t> </a:t>
              </a:r>
              <a:r>
                <a:rPr sz="2350" dirty="0">
                  <a:latin typeface="Times New Roman" panose="02020603050405020304"/>
                  <a:cs typeface="Times New Roman" panose="02020603050405020304"/>
                </a:rPr>
                <a:t>))</a:t>
              </a:r>
            </a:p>
          </p:txBody>
        </p:sp>
        <p:sp>
          <p:nvSpPr>
            <p:cNvPr id="19" name="object 8">
              <a:extLst>
                <a:ext uri="{FF2B5EF4-FFF2-40B4-BE49-F238E27FC236}">
                  <a16:creationId xmlns:a16="http://schemas.microsoft.com/office/drawing/2014/main" id="{3983CB99-81AE-4D5A-B6C7-2A50A8CDCA42}"/>
                </a:ext>
              </a:extLst>
            </p:cNvPr>
            <p:cNvSpPr txBox="1"/>
            <p:nvPr/>
          </p:nvSpPr>
          <p:spPr>
            <a:xfrm>
              <a:off x="6852" y="2362"/>
              <a:ext cx="98" cy="250"/>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950" i="1" spc="15" dirty="0">
                  <a:latin typeface="Times New Roman" panose="02020603050405020304"/>
                  <a:cs typeface="Times New Roman" panose="02020603050405020304"/>
                </a:rPr>
                <a:t>i</a:t>
              </a:r>
              <a:endParaRPr sz="950">
                <a:latin typeface="Times New Roman" panose="02020603050405020304"/>
                <a:cs typeface="Times New Roman" panose="02020603050405020304"/>
              </a:endParaRPr>
            </a:p>
          </p:txBody>
        </p:sp>
        <p:sp>
          <p:nvSpPr>
            <p:cNvPr id="20" name="object 9">
              <a:extLst>
                <a:ext uri="{FF2B5EF4-FFF2-40B4-BE49-F238E27FC236}">
                  <a16:creationId xmlns:a16="http://schemas.microsoft.com/office/drawing/2014/main" id="{E1ABCA68-E694-4DDB-94D7-1F99DD02186B}"/>
                </a:ext>
              </a:extLst>
            </p:cNvPr>
            <p:cNvSpPr txBox="1"/>
            <p:nvPr/>
          </p:nvSpPr>
          <p:spPr>
            <a:xfrm>
              <a:off x="5664" y="2215"/>
              <a:ext cx="1232"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tabLst>
                  <a:tab pos="458470" algn="l"/>
                </a:tabLst>
                <a:defRPr/>
              </a:pPr>
              <a:r>
                <a:rPr sz="1350" i="1" spc="105" dirty="0">
                  <a:latin typeface="Times New Roman" panose="02020603050405020304"/>
                  <a:cs typeface="Times New Roman" panose="02020603050405020304"/>
                </a:rPr>
                <a:t>i</a:t>
              </a:r>
              <a:r>
                <a:rPr sz="1350" spc="-70" dirty="0">
                  <a:latin typeface="Symbol" panose="05050102010706020507"/>
                  <a:cs typeface="Symbol" panose="05050102010706020507"/>
                </a:rPr>
                <a:t></a:t>
              </a:r>
              <a:r>
                <a:rPr sz="1350" spc="30" dirty="0">
                  <a:latin typeface="Times New Roman" panose="02020603050405020304"/>
                  <a:cs typeface="Times New Roman" panose="02020603050405020304"/>
                </a:rPr>
                <a:t>1</a:t>
              </a:r>
              <a:r>
                <a:rPr sz="1350" dirty="0">
                  <a:latin typeface="Times New Roman" panose="02020603050405020304"/>
                  <a:cs typeface="Times New Roman" panose="02020603050405020304"/>
                </a:rPr>
                <a:t>	</a:t>
              </a:r>
              <a:r>
                <a:rPr sz="1350" i="1" spc="-50" dirty="0">
                  <a:latin typeface="Times New Roman" panose="02020603050405020304"/>
                  <a:cs typeface="Times New Roman" panose="02020603050405020304"/>
                </a:rPr>
                <a:t>p</a:t>
              </a:r>
              <a:r>
                <a:rPr sz="1350" spc="-95" dirty="0">
                  <a:latin typeface="Symbol" panose="05050102010706020507"/>
                  <a:cs typeface="Symbol" panose="05050102010706020507"/>
                </a:rPr>
                <a:t></a:t>
              </a:r>
              <a:r>
                <a:rPr sz="1350" i="1" spc="45" dirty="0">
                  <a:latin typeface="Times New Roman" panose="02020603050405020304"/>
                  <a:cs typeface="Times New Roman" panose="02020603050405020304"/>
                </a:rPr>
                <a:t>C</a:t>
              </a:r>
              <a:endParaRPr sz="1350" dirty="0">
                <a:latin typeface="Times New Roman" panose="02020603050405020304"/>
                <a:cs typeface="Times New Roman" panose="02020603050405020304"/>
              </a:endParaRPr>
            </a:p>
          </p:txBody>
        </p:sp>
        <p:sp>
          <p:nvSpPr>
            <p:cNvPr id="21" name="object 10">
              <a:extLst>
                <a:ext uri="{FF2B5EF4-FFF2-40B4-BE49-F238E27FC236}">
                  <a16:creationId xmlns:a16="http://schemas.microsoft.com/office/drawing/2014/main" id="{101BE4A8-208A-4A17-882B-2858B2E1E547}"/>
                </a:ext>
              </a:extLst>
            </p:cNvPr>
            <p:cNvSpPr txBox="1"/>
            <p:nvPr/>
          </p:nvSpPr>
          <p:spPr>
            <a:xfrm>
              <a:off x="4592" y="1897"/>
              <a:ext cx="1765" cy="583"/>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tabLst>
                  <a:tab pos="924560" algn="l"/>
                </a:tabLst>
                <a:defRPr/>
              </a:pPr>
              <a:r>
                <a:rPr sz="2350" i="1" spc="50" dirty="0">
                  <a:latin typeface="Times New Roman" panose="02020603050405020304"/>
                  <a:cs typeface="Times New Roman" panose="02020603050405020304"/>
                </a:rPr>
                <a:t>E</a:t>
              </a:r>
              <a:r>
                <a:rPr sz="2350" i="1" spc="10" dirty="0">
                  <a:latin typeface="Times New Roman" panose="02020603050405020304"/>
                  <a:cs typeface="Times New Roman" panose="02020603050405020304"/>
                </a:rPr>
                <a:t> </a:t>
              </a:r>
              <a:r>
                <a:rPr sz="2350" spc="45" dirty="0">
                  <a:latin typeface="Symbol" panose="05050102010706020507"/>
                  <a:cs typeface="Symbol" panose="05050102010706020507"/>
                </a:rPr>
                <a:t></a:t>
              </a:r>
              <a:r>
                <a:rPr sz="2350" spc="-135" dirty="0">
                  <a:latin typeface="Times New Roman" panose="02020603050405020304"/>
                  <a:cs typeface="Times New Roman" panose="02020603050405020304"/>
                </a:rPr>
                <a:t> </a:t>
              </a:r>
              <a:r>
                <a:rPr sz="2350" spc="45" dirty="0">
                  <a:latin typeface="Symbol" panose="05050102010706020507"/>
                  <a:cs typeface="Symbol" panose="05050102010706020507"/>
                </a:rPr>
                <a:t></a:t>
              </a:r>
              <a:r>
                <a:rPr sz="2350" dirty="0">
                  <a:latin typeface="Times New Roman" panose="02020603050405020304"/>
                  <a:cs typeface="Times New Roman" panose="02020603050405020304"/>
                </a:rPr>
                <a:t>	</a:t>
              </a:r>
              <a:r>
                <a:rPr sz="2350" spc="45" dirty="0">
                  <a:latin typeface="Symbol" panose="05050102010706020507"/>
                  <a:cs typeface="Symbol" panose="05050102010706020507"/>
                </a:rPr>
                <a:t></a:t>
              </a:r>
              <a:endParaRPr sz="2350" dirty="0">
                <a:latin typeface="Symbol" panose="05050102010706020507"/>
                <a:cs typeface="Symbol" panose="05050102010706020507"/>
              </a:endParaRPr>
            </a:p>
          </p:txBody>
        </p:sp>
      </p:grpSp>
    </p:spTree>
    <p:extLst>
      <p:ext uri="{BB962C8B-B14F-4D97-AF65-F5344CB8AC3E}">
        <p14:creationId xmlns:p14="http://schemas.microsoft.com/office/powerpoint/2010/main" val="167403203"/>
      </p:ext>
    </p:extLst>
  </p:cSld>
  <p:clrMapOvr>
    <a:masterClrMapping/>
  </p:clrMapOvr>
  <p:transition spd="med">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内容占位符 1"/>
              <p:cNvSpPr txBox="1">
                <a:spLocks/>
              </p:cNvSpPr>
              <p:nvPr/>
            </p:nvSpPr>
            <p:spPr bwMode="gray">
              <a:xfrm>
                <a:off x="457200" y="972000"/>
                <a:ext cx="8229600" cy="4814138"/>
              </a:xfrm>
              <a:prstGeom prst="rect">
                <a:avLst/>
              </a:prstGeom>
              <a:solidFill>
                <a:schemeClr val="accent1">
                  <a:lumMod val="20000"/>
                  <a:lumOff val="80000"/>
                </a:schemeClr>
              </a:solidFill>
              <a:ln w="19050">
                <a:solidFill>
                  <a:srgbClr val="13548C"/>
                </a:solid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1" fontAlgn="base" hangingPunct="1">
                  <a:lnSpc>
                    <a:spcPct val="120000"/>
                  </a:lnSpc>
                  <a:spcBef>
                    <a:spcPct val="20000"/>
                  </a:spcBef>
                  <a:spcAft>
                    <a:spcPct val="0"/>
                  </a:spcAft>
                  <a:buClrTx/>
                  <a:buFont typeface="Wingdings" pitchFamily="2" charset="2"/>
                  <a:buChar char=""/>
                  <a:defRPr lang="zh-CN" altLang="en-US" sz="3000" b="0" spc="0" baseline="0" dirty="0" smtClean="0">
                    <a:solidFill>
                      <a:schemeClr val="tx1"/>
                    </a:solidFill>
                    <a:latin typeface="华文中宋" panose="02010600040101010101" pitchFamily="2" charset="-122"/>
                    <a:ea typeface="华文中宋" panose="02010600040101010101" pitchFamily="2" charset="-122"/>
                    <a:cs typeface="+mn-cs"/>
                  </a:defRPr>
                </a:lvl1pPr>
                <a:lvl2pPr marL="742950" indent="-285750" algn="l" rtl="0" eaLnBrk="1" fontAlgn="base" hangingPunct="1">
                  <a:lnSpc>
                    <a:spcPct val="120000"/>
                  </a:lnSpc>
                  <a:spcBef>
                    <a:spcPct val="20000"/>
                  </a:spcBef>
                  <a:spcAft>
                    <a:spcPct val="0"/>
                  </a:spcAft>
                  <a:buClrTx/>
                  <a:buFont typeface="Wingdings" pitchFamily="2" charset="2"/>
                  <a:buChar char="§"/>
                  <a:defRPr lang="zh-CN" altLang="en-US" sz="2600" b="0" spc="0" baseline="0" dirty="0" smtClean="0">
                    <a:solidFill>
                      <a:schemeClr val="tx1"/>
                    </a:solidFill>
                    <a:latin typeface="华文中宋" panose="02010600040101010101" pitchFamily="2" charset="-122"/>
                    <a:ea typeface="华文中宋" panose="02010600040101010101" pitchFamily="2" charset="-122"/>
                  </a:defRPr>
                </a:lvl2pPr>
                <a:lvl3pPr marL="1143000" indent="-228600" algn="l" rtl="0" eaLnBrk="1" fontAlgn="base" hangingPunct="1">
                  <a:lnSpc>
                    <a:spcPct val="120000"/>
                  </a:lnSpc>
                  <a:spcBef>
                    <a:spcPct val="20000"/>
                  </a:spcBef>
                  <a:spcAft>
                    <a:spcPct val="0"/>
                  </a:spcAft>
                  <a:buClr>
                    <a:schemeClr val="hlink"/>
                  </a:buClr>
                  <a:buFont typeface="+mj-lt"/>
                  <a:buChar char="•"/>
                  <a:defRPr lang="zh-CN" altLang="en-US" sz="2400" b="0" cap="none" spc="0" baseline="0" dirty="0" smtClean="0">
                    <a:ln>
                      <a:noFill/>
                    </a:ln>
                    <a:solidFill>
                      <a:schemeClr val="tx1"/>
                    </a:solidFill>
                    <a:effectLst/>
                    <a:latin typeface="华文中宋" panose="02010600040101010101" pitchFamily="2" charset="-122"/>
                    <a:ea typeface="华文中宋" panose="02010600040101010101" pitchFamily="2" charset="-122"/>
                  </a:defRPr>
                </a:lvl3pPr>
                <a:lvl4pPr marL="1600200" indent="-228600" algn="l" rtl="0" eaLnBrk="1" fontAlgn="base" hangingPunct="1">
                  <a:lnSpc>
                    <a:spcPct val="120000"/>
                  </a:lnSpc>
                  <a:spcBef>
                    <a:spcPct val="20000"/>
                  </a:spcBef>
                  <a:spcAft>
                    <a:spcPct val="0"/>
                  </a:spcAft>
                  <a:buChar char="–"/>
                  <a:defRPr lang="zh-CN" altLang="en-US" sz="2200" b="0" spc="0" baseline="0" dirty="0" smtClean="0">
                    <a:solidFill>
                      <a:schemeClr val="tx1"/>
                    </a:solidFill>
                    <a:latin typeface="华文中宋" panose="02010600040101010101" pitchFamily="2" charset="-122"/>
                    <a:ea typeface="华文中宋" panose="02010600040101010101" pitchFamily="2" charset="-122"/>
                  </a:defRPr>
                </a:lvl4pPr>
                <a:lvl5pPr marL="2057400" indent="-228600" algn="l" rtl="0" eaLnBrk="1" fontAlgn="base" hangingPunct="1">
                  <a:lnSpc>
                    <a:spcPct val="120000"/>
                  </a:lnSpc>
                  <a:spcBef>
                    <a:spcPct val="20000"/>
                  </a:spcBef>
                  <a:spcAft>
                    <a:spcPct val="0"/>
                  </a:spcAft>
                  <a:buChar char="»"/>
                  <a:defRPr lang="zh-CN" altLang="en-US" sz="2000" b="0" cap="none" spc="0" baseline="0">
                    <a:ln>
                      <a:noFill/>
                    </a:ln>
                    <a:solidFill>
                      <a:schemeClr val="tx1"/>
                    </a:solidFill>
                    <a:effectLst/>
                    <a:latin typeface="华文中宋" panose="02010600040101010101" pitchFamily="2" charset="-122"/>
                    <a:ea typeface="华文中宋" panose="02010600040101010101" pitchFamily="2" charset="-122"/>
                  </a:defRPr>
                </a:lvl5pPr>
                <a:lvl6pPr marL="2514600" indent="-228600" algn="l" rtl="0" eaLnBrk="1" fontAlgn="base" hangingPunct="1">
                  <a:spcBef>
                    <a:spcPct val="20000"/>
                  </a:spcBef>
                  <a:spcAft>
                    <a:spcPct val="0"/>
                  </a:spcAft>
                  <a:buChar char="»"/>
                  <a:defRPr sz="2000">
                    <a:solidFill>
                      <a:schemeClr val="tx2"/>
                    </a:solidFill>
                    <a:latin typeface="Arial" charset="0"/>
                  </a:defRPr>
                </a:lvl6pPr>
                <a:lvl7pPr marL="2971800" indent="-228600" algn="l" rtl="0" eaLnBrk="1" fontAlgn="base" hangingPunct="1">
                  <a:spcBef>
                    <a:spcPct val="20000"/>
                  </a:spcBef>
                  <a:spcAft>
                    <a:spcPct val="0"/>
                  </a:spcAft>
                  <a:buChar char="»"/>
                  <a:defRPr sz="2000">
                    <a:solidFill>
                      <a:schemeClr val="tx2"/>
                    </a:solidFill>
                    <a:latin typeface="Arial" charset="0"/>
                  </a:defRPr>
                </a:lvl7pPr>
                <a:lvl8pPr marL="3429000" indent="-228600" algn="l" rtl="0" eaLnBrk="1" fontAlgn="base" hangingPunct="1">
                  <a:spcBef>
                    <a:spcPct val="20000"/>
                  </a:spcBef>
                  <a:spcAft>
                    <a:spcPct val="0"/>
                  </a:spcAft>
                  <a:buChar char="»"/>
                  <a:defRPr sz="2000">
                    <a:solidFill>
                      <a:schemeClr val="tx2"/>
                    </a:solidFill>
                    <a:latin typeface="Arial" charset="0"/>
                  </a:defRPr>
                </a:lvl8pPr>
                <a:lvl9pPr marL="3886200" indent="-228600" algn="l" rtl="0" eaLnBrk="1" fontAlgn="base" hangingPunct="1">
                  <a:spcBef>
                    <a:spcPct val="20000"/>
                  </a:spcBef>
                  <a:spcAft>
                    <a:spcPct val="0"/>
                  </a:spcAft>
                  <a:buChar char="»"/>
                  <a:defRPr sz="2000">
                    <a:solidFill>
                      <a:schemeClr val="tx2"/>
                    </a:solidFill>
                    <a:latin typeface="Arial" charset="0"/>
                  </a:defRPr>
                </a:lvl9pPr>
              </a:lstStyle>
              <a:p>
                <a:pPr marL="514350" indent="-514350">
                  <a:lnSpc>
                    <a:spcPct val="150000"/>
                  </a:lnSpc>
                  <a:spcBef>
                    <a:spcPts val="600"/>
                  </a:spcBef>
                  <a:buAutoNum type="arabicPeriod"/>
                </a:pP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从数据集中随机取</a:t>
                </a:r>
                <a:r>
                  <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rPr>
                  <a:t>K</a:t>
                </a: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个样本作为初始的聚类中心</a:t>
                </a:r>
                <a14:m>
                  <m:oMath xmlns:m="http://schemas.openxmlformats.org/officeDocument/2006/math">
                    <m:r>
                      <m:rPr>
                        <m:sty m:val="p"/>
                      </m:rPr>
                      <a:rPr lang="en-US" altLang="zh-CN" sz="2400" i="1" kern="0" dirty="0">
                        <a:latin typeface="Cambria Math" panose="02040503050406030204" pitchFamily="18" charset="0"/>
                        <a:sym typeface="Times New Roman" panose="02020603050405020304" pitchFamily="18" charset="0"/>
                      </a:rPr>
                      <m:t>C</m:t>
                    </m:r>
                    <m:r>
                      <a:rPr lang="en-US" altLang="zh-CN" sz="2400" b="0" i="1" kern="0" dirty="0" smtClean="0">
                        <a:latin typeface="Cambria Math" panose="02040503050406030204" pitchFamily="18" charset="0"/>
                        <a:sym typeface="Times New Roman" panose="02020603050405020304" pitchFamily="18" charset="0"/>
                      </a:rPr>
                      <m:t>={</m:t>
                    </m:r>
                    <m:sSub>
                      <m:sSubPr>
                        <m:ctrlPr>
                          <a:rPr lang="en-US" altLang="zh-CN" sz="2400" b="0" i="1" kern="0" dirty="0" smtClean="0">
                            <a:latin typeface="Cambria Math" panose="02040503050406030204" pitchFamily="18" charset="0"/>
                            <a:sym typeface="Times New Roman" panose="02020603050405020304" pitchFamily="18" charset="0"/>
                          </a:rPr>
                        </m:ctrlPr>
                      </m:sSubPr>
                      <m:e>
                        <m:r>
                          <a:rPr lang="en-US" altLang="zh-CN" sz="2400" b="0" i="1" kern="0" dirty="0" smtClean="0">
                            <a:latin typeface="Cambria Math" panose="02040503050406030204" pitchFamily="18" charset="0"/>
                            <a:sym typeface="Times New Roman" panose="02020603050405020304" pitchFamily="18" charset="0"/>
                          </a:rPr>
                          <m:t>𝑐</m:t>
                        </m:r>
                      </m:e>
                      <m:sub>
                        <m:r>
                          <a:rPr lang="en-US" altLang="zh-CN" sz="2400" b="0" i="1" kern="0" dirty="0" smtClean="0">
                            <a:latin typeface="Cambria Math" panose="02040503050406030204" pitchFamily="18" charset="0"/>
                            <a:sym typeface="Times New Roman" panose="02020603050405020304" pitchFamily="18" charset="0"/>
                          </a:rPr>
                          <m:t>1</m:t>
                        </m:r>
                      </m:sub>
                    </m:sSub>
                    <m:r>
                      <a:rPr lang="en-US" altLang="zh-CN" sz="2400" b="0" i="1" kern="0" dirty="0" smtClean="0">
                        <a:latin typeface="Cambria Math" panose="02040503050406030204" pitchFamily="18" charset="0"/>
                        <a:sym typeface="Times New Roman" panose="02020603050405020304" pitchFamily="18" charset="0"/>
                      </a:rPr>
                      <m:t>,</m:t>
                    </m:r>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a:rPr lang="en-US" altLang="zh-CN" sz="2400" b="0" i="1" kern="0" dirty="0" smtClean="0">
                            <a:latin typeface="Cambria Math" panose="02040503050406030204" pitchFamily="18" charset="0"/>
                            <a:sym typeface="Times New Roman" panose="02020603050405020304" pitchFamily="18" charset="0"/>
                          </a:rPr>
                          <m:t>2</m:t>
                        </m:r>
                      </m:sub>
                    </m:sSub>
                    <m:r>
                      <a:rPr lang="en-US" altLang="zh-CN" sz="2400" b="0" i="1" kern="0" dirty="0" smtClean="0">
                        <a:latin typeface="Cambria Math" panose="02040503050406030204" pitchFamily="18" charset="0"/>
                        <a:sym typeface="Times New Roman" panose="02020603050405020304" pitchFamily="18" charset="0"/>
                      </a:rPr>
                      <m:t>,…,</m:t>
                    </m:r>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a:rPr lang="en-US" altLang="zh-CN" sz="2400" b="0" i="1" kern="0" dirty="0" smtClean="0">
                            <a:latin typeface="Cambria Math" panose="02040503050406030204" pitchFamily="18" charset="0"/>
                            <a:sym typeface="Times New Roman" panose="02020603050405020304" pitchFamily="18" charset="0"/>
                          </a:rPr>
                          <m:t>𝑘</m:t>
                        </m:r>
                      </m:sub>
                    </m:sSub>
                    <m:r>
                      <a:rPr lang="en-US" altLang="zh-CN" sz="2400" b="0" i="1" kern="0" dirty="0" smtClean="0">
                        <a:latin typeface="Cambria Math" panose="02040503050406030204" pitchFamily="18" charset="0"/>
                        <a:sym typeface="Times New Roman" panose="02020603050405020304" pitchFamily="18" charset="0"/>
                      </a:rPr>
                      <m:t>}</m:t>
                    </m:r>
                  </m:oMath>
                </a14:m>
                <a:endPar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endParaRPr>
              </a:p>
              <a:p>
                <a:pPr marL="514350" indent="-514350">
                  <a:lnSpc>
                    <a:spcPct val="150000"/>
                  </a:lnSpc>
                  <a:spcBef>
                    <a:spcPts val="600"/>
                  </a:spcBef>
                  <a:buAutoNum type="arabicPeriod"/>
                </a:pP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针对数据集中每个样本</a:t>
                </a:r>
                <a14:m>
                  <m:oMath xmlns:m="http://schemas.openxmlformats.org/officeDocument/2006/math">
                    <m:sSub>
                      <m:sSubPr>
                        <m:ctrlPr>
                          <a:rPr lang="en-US" altLang="zh-CN" sz="2400" i="1" kern="0" dirty="0">
                            <a:latin typeface="Cambria Math" panose="02040503050406030204" pitchFamily="18" charset="0"/>
                            <a:sym typeface="Times New Roman" panose="02020603050405020304" pitchFamily="18" charset="0"/>
                          </a:rPr>
                        </m:ctrlPr>
                      </m:sSubPr>
                      <m:e>
                        <m:r>
                          <m:rPr>
                            <m:sty m:val="p"/>
                          </m:rPr>
                          <a:rPr lang="en-US" altLang="zh-CN" sz="2400" i="1" kern="0" dirty="0" smtClean="0">
                            <a:latin typeface="Cambria Math" panose="02040503050406030204" pitchFamily="18" charset="0"/>
                            <a:sym typeface="Times New Roman" panose="02020603050405020304" pitchFamily="18" charset="0"/>
                          </a:rPr>
                          <m:t>x</m:t>
                        </m:r>
                      </m:e>
                      <m:sub>
                        <m:r>
                          <m:rPr>
                            <m:sty m:val="p"/>
                          </m:rPr>
                          <a:rPr lang="en-US" altLang="zh-CN" sz="2400" i="1" kern="0" dirty="0" smtClean="0">
                            <a:latin typeface="Cambria Math" panose="02040503050406030204" pitchFamily="18" charset="0"/>
                            <a:sym typeface="Times New Roman" panose="02020603050405020304" pitchFamily="18" charset="0"/>
                          </a:rPr>
                          <m:t>i</m:t>
                        </m:r>
                      </m:sub>
                    </m:sSub>
                  </m:oMath>
                </a14:m>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，计算它到</a:t>
                </a:r>
                <a:r>
                  <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rPr>
                  <a:t>K</a:t>
                </a: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个聚类中心的距离并将其分到距离最小的聚类中心对应的类中</a:t>
                </a:r>
                <a:endPar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endParaRPr>
              </a:p>
              <a:p>
                <a:pPr marL="514350" indent="-514350">
                  <a:lnSpc>
                    <a:spcPct val="150000"/>
                  </a:lnSpc>
                  <a:spcBef>
                    <a:spcPts val="600"/>
                  </a:spcBef>
                  <a:buAutoNum type="arabicPeriod"/>
                </a:pP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针对每个类别</a:t>
                </a:r>
                <a14:m>
                  <m:oMath xmlns:m="http://schemas.openxmlformats.org/officeDocument/2006/math">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m:rPr>
                            <m:sty m:val="p"/>
                          </m:rPr>
                          <a:rPr lang="en-US" altLang="zh-CN" sz="2400" i="1" kern="0" dirty="0" smtClean="0">
                            <a:latin typeface="Cambria Math" panose="02040503050406030204" pitchFamily="18" charset="0"/>
                            <a:sym typeface="Times New Roman" panose="02020603050405020304" pitchFamily="18" charset="0"/>
                          </a:rPr>
                          <m:t>i</m:t>
                        </m:r>
                      </m:sub>
                    </m:sSub>
                  </m:oMath>
                </a14:m>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，重新计算其聚类中心</a:t>
                </a:r>
                <a14:m>
                  <m:oMath xmlns:m="http://schemas.openxmlformats.org/officeDocument/2006/math">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m:rPr>
                            <m:sty m:val="p"/>
                          </m:rPr>
                          <a:rPr lang="en-US" altLang="zh-CN" sz="2400" i="1" kern="0" dirty="0">
                            <a:latin typeface="Cambria Math" panose="02040503050406030204" pitchFamily="18" charset="0"/>
                            <a:sym typeface="Times New Roman" panose="02020603050405020304" pitchFamily="18" charset="0"/>
                          </a:rPr>
                          <m:t>i</m:t>
                        </m:r>
                      </m:sub>
                    </m:sSub>
                    <m:r>
                      <a:rPr lang="en-US" altLang="zh-CN" sz="2400" i="1" kern="0" dirty="0" smtClean="0">
                        <a:latin typeface="Cambria Math" panose="02040503050406030204" pitchFamily="18" charset="0"/>
                        <a:sym typeface="Times New Roman" panose="02020603050405020304" pitchFamily="18" charset="0"/>
                      </a:rPr>
                      <m:t>=</m:t>
                    </m:r>
                    <m:f>
                      <m:fPr>
                        <m:ctrlPr>
                          <a:rPr lang="en-US" altLang="zh-CN" sz="2400" i="1" kern="0" dirty="0" smtClean="0">
                            <a:latin typeface="Cambria Math" panose="02040503050406030204" pitchFamily="18" charset="0"/>
                            <a:sym typeface="Times New Roman" panose="02020603050405020304" pitchFamily="18" charset="0"/>
                          </a:rPr>
                        </m:ctrlPr>
                      </m:fPr>
                      <m:num>
                        <m:r>
                          <a:rPr lang="en-US" altLang="zh-CN" sz="2400" b="0" i="1" kern="0" dirty="0" smtClean="0">
                            <a:latin typeface="Cambria Math" panose="02040503050406030204" pitchFamily="18" charset="0"/>
                            <a:sym typeface="Times New Roman" panose="02020603050405020304" pitchFamily="18" charset="0"/>
                          </a:rPr>
                          <m:t>1</m:t>
                        </m:r>
                      </m:num>
                      <m:den>
                        <m:r>
                          <a:rPr lang="en-US" altLang="zh-CN" sz="2400" i="1" kern="0" dirty="0">
                            <a:latin typeface="Cambria Math" panose="02040503050406030204" pitchFamily="18" charset="0"/>
                            <a:sym typeface="Times New Roman" panose="02020603050405020304" pitchFamily="18" charset="0"/>
                          </a:rPr>
                          <m:t>|</m:t>
                        </m:r>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m:rPr>
                                <m:sty m:val="p"/>
                              </m:rPr>
                              <a:rPr lang="en-US" altLang="zh-CN" sz="2400" i="1" kern="0" dirty="0">
                                <a:latin typeface="Cambria Math" panose="02040503050406030204" pitchFamily="18" charset="0"/>
                                <a:sym typeface="Times New Roman" panose="02020603050405020304" pitchFamily="18" charset="0"/>
                              </a:rPr>
                              <m:t>i</m:t>
                            </m:r>
                          </m:sub>
                        </m:sSub>
                        <m:r>
                          <a:rPr lang="en-US" altLang="zh-CN" sz="2400" i="1" kern="0" dirty="0" smtClean="0">
                            <a:latin typeface="Cambria Math" panose="02040503050406030204" pitchFamily="18" charset="0"/>
                            <a:sym typeface="Times New Roman" panose="02020603050405020304" pitchFamily="18" charset="0"/>
                          </a:rPr>
                          <m:t>|</m:t>
                        </m:r>
                      </m:den>
                    </m:f>
                    <m:nary>
                      <m:naryPr>
                        <m:chr m:val="∑"/>
                        <m:limLoc m:val="subSup"/>
                        <m:supHide m:val="on"/>
                        <m:ctrlPr>
                          <a:rPr lang="en-US" altLang="zh-CN" sz="2400" i="1" kern="0" dirty="0" smtClean="0">
                            <a:latin typeface="Cambria Math" panose="02040503050406030204" pitchFamily="18" charset="0"/>
                            <a:sym typeface="Times New Roman" panose="02020603050405020304" pitchFamily="18" charset="0"/>
                          </a:rPr>
                        </m:ctrlPr>
                      </m:naryPr>
                      <m:sub>
                        <m:r>
                          <m:rPr>
                            <m:sty m:val="p"/>
                            <m:brk m:alnAt="9"/>
                          </m:rPr>
                          <a:rPr lang="en-US" altLang="zh-CN" sz="2400" i="1" kern="0" dirty="0">
                            <a:latin typeface="Cambria Math" panose="02040503050406030204" pitchFamily="18" charset="0"/>
                            <a:sym typeface="Times New Roman" panose="02020603050405020304" pitchFamily="18" charset="0"/>
                          </a:rPr>
                          <m:t>x</m:t>
                        </m:r>
                        <m:r>
                          <a:rPr lang="en-US" altLang="zh-CN" sz="2400" i="1" kern="0" dirty="0" smtClean="0">
                            <a:latin typeface="Cambria Math" panose="02040503050406030204" pitchFamily="18" charset="0"/>
                            <a:ea typeface="Cambria Math" panose="02040503050406030204" pitchFamily="18" charset="0"/>
                            <a:sym typeface="Times New Roman" panose="02020603050405020304" pitchFamily="18" charset="0"/>
                          </a:rPr>
                          <m:t>∈</m:t>
                        </m:r>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m:rPr>
                                <m:sty m:val="p"/>
                              </m:rPr>
                              <a:rPr lang="en-US" altLang="zh-CN" sz="2400" i="1" kern="0" dirty="0">
                                <a:latin typeface="Cambria Math" panose="02040503050406030204" pitchFamily="18" charset="0"/>
                                <a:sym typeface="Times New Roman" panose="02020603050405020304" pitchFamily="18" charset="0"/>
                              </a:rPr>
                              <m:t>i</m:t>
                            </m:r>
                          </m:sub>
                        </m:sSub>
                      </m:sub>
                      <m:sup/>
                      <m:e>
                        <m:r>
                          <m:rPr>
                            <m:sty m:val="p"/>
                          </m:rPr>
                          <a:rPr lang="en-US" altLang="zh-CN" sz="2400" i="1" kern="0" dirty="0">
                            <a:latin typeface="Cambria Math" panose="02040503050406030204" pitchFamily="18" charset="0"/>
                            <a:sym typeface="Times New Roman" panose="02020603050405020304" pitchFamily="18" charset="0"/>
                          </a:rPr>
                          <m:t>x</m:t>
                        </m:r>
                      </m:e>
                    </m:nary>
                  </m:oMath>
                </a14:m>
                <a:endPar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endParaRPr>
              </a:p>
              <a:p>
                <a:pPr marL="514350" indent="-514350">
                  <a:lnSpc>
                    <a:spcPct val="150000"/>
                  </a:lnSpc>
                  <a:spcBef>
                    <a:spcPts val="600"/>
                  </a:spcBef>
                  <a:buAutoNum type="arabicPeriod"/>
                </a:pP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重复第</a:t>
                </a:r>
                <a:r>
                  <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和第</a:t>
                </a:r>
                <a:r>
                  <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步骤，直到</a:t>
                </a:r>
                <a14:m>
                  <m:oMath xmlns:m="http://schemas.openxmlformats.org/officeDocument/2006/math">
                    <m:nary>
                      <m:naryPr>
                        <m:chr m:val="∑"/>
                        <m:ctrlPr>
                          <a:rPr lang="zh-CN" altLang="en-US" sz="2400" i="1" kern="0" smtClean="0">
                            <a:latin typeface="Cambria Math" panose="02040503050406030204" pitchFamily="18" charset="0"/>
                            <a:sym typeface="Times New Roman" panose="02020603050405020304" pitchFamily="18" charset="0"/>
                          </a:rPr>
                        </m:ctrlPr>
                      </m:naryPr>
                      <m:sub>
                        <m:r>
                          <m:rPr>
                            <m:sty m:val="p"/>
                            <m:brk m:alnAt="23"/>
                          </m:rPr>
                          <a:rPr lang="en-US" altLang="zh-CN" sz="2400" i="1" kern="0">
                            <a:latin typeface="Cambria Math" panose="02040503050406030204" pitchFamily="18" charset="0"/>
                            <a:sym typeface="Times New Roman" panose="02020603050405020304" pitchFamily="18" charset="0"/>
                          </a:rPr>
                          <m:t>i</m:t>
                        </m:r>
                        <m:r>
                          <a:rPr lang="en-US" altLang="zh-CN" sz="2400" b="0" i="1" kern="0" smtClean="0">
                            <a:latin typeface="Cambria Math" panose="02040503050406030204" pitchFamily="18" charset="0"/>
                            <a:sym typeface="Times New Roman" panose="02020603050405020304" pitchFamily="18" charset="0"/>
                          </a:rPr>
                          <m:t>=0</m:t>
                        </m:r>
                      </m:sub>
                      <m:sup>
                        <m:r>
                          <a:rPr lang="en-US" altLang="zh-CN" sz="2400" b="0" i="1" kern="0" smtClean="0">
                            <a:latin typeface="Cambria Math" panose="02040503050406030204" pitchFamily="18" charset="0"/>
                            <a:sym typeface="Times New Roman" panose="02020603050405020304" pitchFamily="18" charset="0"/>
                          </a:rPr>
                          <m:t>𝑛</m:t>
                        </m:r>
                      </m:sup>
                      <m:e>
                        <m:func>
                          <m:funcPr>
                            <m:ctrlPr>
                              <a:rPr lang="en-US" altLang="zh-CN" sz="2400" i="1" kern="0" smtClean="0">
                                <a:latin typeface="Cambria Math" panose="02040503050406030204" pitchFamily="18" charset="0"/>
                                <a:sym typeface="Times New Roman" panose="02020603050405020304" pitchFamily="18" charset="0"/>
                              </a:rPr>
                            </m:ctrlPr>
                          </m:funcPr>
                          <m:fName>
                            <m:limLow>
                              <m:limLowPr>
                                <m:ctrlPr>
                                  <a:rPr lang="en-US" altLang="zh-CN" sz="2400" i="1" kern="0" smtClean="0">
                                    <a:latin typeface="Cambria Math" panose="02040503050406030204" pitchFamily="18" charset="0"/>
                                    <a:sym typeface="Times New Roman" panose="02020603050405020304" pitchFamily="18" charset="0"/>
                                  </a:rPr>
                                </m:ctrlPr>
                              </m:limLowPr>
                              <m:e>
                                <m:r>
                                  <m:rPr>
                                    <m:sty m:val="p"/>
                                  </m:rPr>
                                  <a:rPr lang="en-US" altLang="zh-CN" sz="2400" i="0" kern="0" smtClean="0">
                                    <a:latin typeface="Cambria Math" panose="02040503050406030204" pitchFamily="18" charset="0"/>
                                    <a:sym typeface="Times New Roman" panose="02020603050405020304" pitchFamily="18" charset="0"/>
                                  </a:rPr>
                                  <m:t>min</m:t>
                                </m:r>
                              </m:e>
                              <m:lim>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a:rPr lang="en-US" altLang="zh-CN" sz="2400" b="0" i="1" kern="0" dirty="0" smtClean="0">
                                        <a:latin typeface="Cambria Math" panose="02040503050406030204" pitchFamily="18" charset="0"/>
                                        <a:sym typeface="Times New Roman" panose="02020603050405020304" pitchFamily="18" charset="0"/>
                                      </a:rPr>
                                      <m:t>𝑗</m:t>
                                    </m:r>
                                  </m:sub>
                                </m:sSub>
                                <m:r>
                                  <a:rPr lang="en-US" altLang="zh-CN" sz="2400" i="1" kern="0" dirty="0">
                                    <a:latin typeface="Cambria Math" panose="02040503050406030204" pitchFamily="18" charset="0"/>
                                    <a:ea typeface="Cambria Math" panose="02040503050406030204" pitchFamily="18" charset="0"/>
                                    <a:sym typeface="Times New Roman" panose="02020603050405020304" pitchFamily="18" charset="0"/>
                                  </a:rPr>
                                  <m:t>∈</m:t>
                                </m:r>
                                <m:r>
                                  <a:rPr lang="en-US" altLang="zh-CN" sz="2400" b="0" i="1" kern="0" dirty="0" smtClean="0">
                                    <a:latin typeface="Cambria Math" panose="02040503050406030204" pitchFamily="18" charset="0"/>
                                    <a:ea typeface="Cambria Math" panose="02040503050406030204" pitchFamily="18" charset="0"/>
                                    <a:sym typeface="Times New Roman" panose="02020603050405020304" pitchFamily="18" charset="0"/>
                                  </a:rPr>
                                  <m:t>𝐶</m:t>
                                </m:r>
                              </m:lim>
                            </m:limLow>
                          </m:fName>
                          <m:e>
                            <m:r>
                              <a:rPr lang="en-US" altLang="zh-CN" sz="2400" b="0" i="1" kern="0" smtClean="0">
                                <a:latin typeface="Cambria Math" panose="02040503050406030204" pitchFamily="18" charset="0"/>
                                <a:sym typeface="Times New Roman" panose="02020603050405020304" pitchFamily="18" charset="0"/>
                              </a:rPr>
                              <m:t>(</m:t>
                            </m:r>
                            <m:sSup>
                              <m:sSupPr>
                                <m:ctrlPr>
                                  <a:rPr lang="en-US" altLang="zh-CN" sz="2400" b="0" i="1" kern="0" smtClean="0">
                                    <a:latin typeface="Cambria Math" panose="02040503050406030204" pitchFamily="18" charset="0"/>
                                    <a:sym typeface="Times New Roman" panose="02020603050405020304" pitchFamily="18" charset="0"/>
                                  </a:rPr>
                                </m:ctrlPr>
                              </m:sSupPr>
                              <m:e>
                                <m:r>
                                  <a:rPr lang="en-US" altLang="zh-CN" sz="2400" i="1" kern="0">
                                    <a:latin typeface="Cambria Math" panose="02040503050406030204" pitchFamily="18" charset="0"/>
                                    <a:ea typeface="Cambria Math" panose="02040503050406030204" pitchFamily="18" charset="0"/>
                                    <a:sym typeface="Times New Roman" panose="02020603050405020304" pitchFamily="18" charset="0"/>
                                  </a:rPr>
                                  <m:t>∥</m:t>
                                </m:r>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b="0" i="1" kern="0" dirty="0" smtClean="0">
                                        <a:latin typeface="Cambria Math" panose="02040503050406030204" pitchFamily="18" charset="0"/>
                                        <a:sym typeface="Times New Roman" panose="02020603050405020304" pitchFamily="18" charset="0"/>
                                      </a:rPr>
                                      <m:t>𝑥</m:t>
                                    </m:r>
                                  </m:e>
                                  <m:sub>
                                    <m:r>
                                      <a:rPr lang="en-US" altLang="zh-CN" sz="2400" i="1" kern="0" dirty="0">
                                        <a:latin typeface="Cambria Math" panose="02040503050406030204" pitchFamily="18" charset="0"/>
                                        <a:sym typeface="Times New Roman" panose="02020603050405020304" pitchFamily="18" charset="0"/>
                                      </a:rPr>
                                      <m:t>𝑗</m:t>
                                    </m:r>
                                  </m:sub>
                                </m:sSub>
                                <m:r>
                                  <a:rPr lang="en-US" altLang="zh-CN" sz="2400" b="0" i="1" kern="0" dirty="0" smtClean="0">
                                    <a:latin typeface="Cambria Math" panose="02040503050406030204" pitchFamily="18" charset="0"/>
                                    <a:sym typeface="Times New Roman" panose="02020603050405020304" pitchFamily="18" charset="0"/>
                                  </a:rPr>
                                  <m:t>−</m:t>
                                </m:r>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a:rPr lang="en-US" altLang="zh-CN" sz="2400" b="0" i="1" kern="0" dirty="0" smtClean="0">
                                        <a:latin typeface="Cambria Math" panose="02040503050406030204" pitchFamily="18" charset="0"/>
                                        <a:sym typeface="Times New Roman" panose="02020603050405020304" pitchFamily="18" charset="0"/>
                                      </a:rPr>
                                      <m:t>𝑖</m:t>
                                    </m:r>
                                  </m:sub>
                                </m:sSub>
                                <m:r>
                                  <a:rPr lang="en-US" altLang="zh-CN" sz="2400" i="1" kern="0">
                                    <a:latin typeface="Cambria Math" panose="02040503050406030204" pitchFamily="18" charset="0"/>
                                    <a:ea typeface="Cambria Math" panose="02040503050406030204" pitchFamily="18" charset="0"/>
                                    <a:sym typeface="Times New Roman" panose="02020603050405020304" pitchFamily="18" charset="0"/>
                                  </a:rPr>
                                  <m:t>∥</m:t>
                                </m:r>
                              </m:e>
                              <m:sup>
                                <m:r>
                                  <a:rPr lang="en-US" altLang="zh-CN" sz="2400" b="0" i="1" kern="0" smtClean="0">
                                    <a:latin typeface="Cambria Math" panose="02040503050406030204" pitchFamily="18" charset="0"/>
                                    <a:sym typeface="Times New Roman" panose="02020603050405020304" pitchFamily="18" charset="0"/>
                                  </a:rPr>
                                  <m:t>2</m:t>
                                </m:r>
                              </m:sup>
                            </m:sSup>
                            <m:r>
                              <a:rPr lang="en-US" altLang="zh-CN" sz="2400" b="0" i="1" kern="0" smtClean="0">
                                <a:latin typeface="Cambria Math" panose="02040503050406030204" pitchFamily="18" charset="0"/>
                                <a:sym typeface="Times New Roman" panose="02020603050405020304" pitchFamily="18" charset="0"/>
                              </a:rPr>
                              <m:t>)</m:t>
                            </m:r>
                          </m:e>
                        </m:func>
                      </m:e>
                    </m:nary>
                    <m:r>
                      <a:rPr lang="zh-CN" altLang="en-US" sz="2400" i="1" kern="0">
                        <a:latin typeface="Cambria Math" panose="02040503050406030204" pitchFamily="18" charset="0"/>
                        <a:sym typeface="Times New Roman" panose="02020603050405020304" pitchFamily="18" charset="0"/>
                      </a:rPr>
                      <m:t>小</m:t>
                    </m:r>
                  </m:oMath>
                </a14:m>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于特定的阈值</a:t>
                </a:r>
              </a:p>
            </p:txBody>
          </p:sp>
        </mc:Choice>
        <mc:Fallback xmlns="">
          <p:sp>
            <p:nvSpPr>
              <p:cNvPr id="5" name="内容占位符 1"/>
              <p:cNvSpPr txBox="1">
                <a:spLocks noRot="1" noChangeAspect="1" noMove="1" noResize="1" noEditPoints="1" noAdjustHandles="1" noChangeArrowheads="1" noChangeShapeType="1" noTextEdit="1"/>
              </p:cNvSpPr>
              <p:nvPr/>
            </p:nvSpPr>
            <p:spPr bwMode="gray">
              <a:xfrm>
                <a:off x="457200" y="972000"/>
                <a:ext cx="8229600" cy="4814138"/>
              </a:xfrm>
              <a:prstGeom prst="rect">
                <a:avLst/>
              </a:prstGeom>
              <a:blipFill>
                <a:blip r:embed="rId2"/>
                <a:stretch>
                  <a:fillRect l="-887" r="-74" b="-2144"/>
                </a:stretch>
              </a:blipFill>
              <a:ln w="19050">
                <a:solidFill>
                  <a:srgbClr val="13548C"/>
                </a:solidFill>
                <a:miter lim="800000"/>
                <a:headEnd/>
                <a:tailEnd/>
              </a:ln>
              <a:effectLst/>
            </p:spPr>
            <p:txBody>
              <a:bodyPr/>
              <a:lstStyle/>
              <a:p>
                <a:r>
                  <a:rPr lang="zh-CN" altLang="en-US">
                    <a:noFill/>
                  </a:rPr>
                  <a:t> </a:t>
                </a:r>
              </a:p>
            </p:txBody>
          </p:sp>
        </mc:Fallback>
      </mc:AlternateContent>
    </p:spTree>
    <p:extLst>
      <p:ext uri="{BB962C8B-B14F-4D97-AF65-F5344CB8AC3E}">
        <p14:creationId xmlns:p14="http://schemas.microsoft.com/office/powerpoint/2010/main" val="243718381"/>
      </p:ext>
    </p:extLst>
  </p:cSld>
  <p:clrMapOvr>
    <a:masterClrMapping/>
  </p:clrMapOvr>
  <p:transition spd="med">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000" y="1224000"/>
            <a:ext cx="8640000" cy="461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3">
            <a:extLst>
              <a:ext uri="{FF2B5EF4-FFF2-40B4-BE49-F238E27FC236}">
                <a16:creationId xmlns:a16="http://schemas.microsoft.com/office/drawing/2014/main" id="{0F2621B9-73DA-4CDD-B698-DE72FADE42B6}"/>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3235306344"/>
      </p:ext>
    </p:extLst>
  </p:cSld>
  <p:clrMapOvr>
    <a:masterClrMapping/>
  </p:clrMapOvr>
  <p:transition spd="med">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3">
            <a:extLst>
              <a:ext uri="{FF2B5EF4-FFF2-40B4-BE49-F238E27FC236}">
                <a16:creationId xmlns:a16="http://schemas.microsoft.com/office/drawing/2014/main" id="{98C4B626-17B9-4B92-9B5B-A268F9ACF1C9}"/>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内容占位符 1">
                <a:extLst>
                  <a:ext uri="{FF2B5EF4-FFF2-40B4-BE49-F238E27FC236}">
                    <a16:creationId xmlns:a16="http://schemas.microsoft.com/office/drawing/2014/main" id="{93A5FE07-01C9-4D5D-BEE5-85521A845C86}"/>
                  </a:ext>
                </a:extLst>
              </p:cNvPr>
              <p:cNvSpPr txBox="1">
                <a:spLocks/>
              </p:cNvSpPr>
              <p:nvPr/>
            </p:nvSpPr>
            <p:spPr bwMode="gray">
              <a:xfrm>
                <a:off x="457200" y="972000"/>
                <a:ext cx="8229600" cy="4814138"/>
              </a:xfrm>
              <a:prstGeom prst="rect">
                <a:avLst/>
              </a:prstGeom>
              <a:solidFill>
                <a:schemeClr val="accent1">
                  <a:lumMod val="20000"/>
                  <a:lumOff val="80000"/>
                </a:schemeClr>
              </a:solidFill>
              <a:ln w="19050">
                <a:solidFill>
                  <a:srgbClr val="13548C"/>
                </a:solid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1" fontAlgn="base" hangingPunct="1">
                  <a:lnSpc>
                    <a:spcPct val="120000"/>
                  </a:lnSpc>
                  <a:spcBef>
                    <a:spcPct val="20000"/>
                  </a:spcBef>
                  <a:spcAft>
                    <a:spcPct val="0"/>
                  </a:spcAft>
                  <a:buClrTx/>
                  <a:buFont typeface="Wingdings" pitchFamily="2" charset="2"/>
                  <a:buChar char=""/>
                  <a:defRPr lang="zh-CN" altLang="en-US" sz="3000" b="0" spc="0" baseline="0" dirty="0" smtClean="0">
                    <a:solidFill>
                      <a:schemeClr val="tx1"/>
                    </a:solidFill>
                    <a:latin typeface="华文中宋" panose="02010600040101010101" pitchFamily="2" charset="-122"/>
                    <a:ea typeface="华文中宋" panose="02010600040101010101" pitchFamily="2" charset="-122"/>
                    <a:cs typeface="+mn-cs"/>
                  </a:defRPr>
                </a:lvl1pPr>
                <a:lvl2pPr marL="742950" indent="-285750" algn="l" rtl="0" eaLnBrk="1" fontAlgn="base" hangingPunct="1">
                  <a:lnSpc>
                    <a:spcPct val="120000"/>
                  </a:lnSpc>
                  <a:spcBef>
                    <a:spcPct val="20000"/>
                  </a:spcBef>
                  <a:spcAft>
                    <a:spcPct val="0"/>
                  </a:spcAft>
                  <a:buClrTx/>
                  <a:buFont typeface="Wingdings" pitchFamily="2" charset="2"/>
                  <a:buChar char="§"/>
                  <a:defRPr lang="zh-CN" altLang="en-US" sz="2600" b="0" spc="0" baseline="0" dirty="0" smtClean="0">
                    <a:solidFill>
                      <a:schemeClr val="tx1"/>
                    </a:solidFill>
                    <a:latin typeface="华文中宋" panose="02010600040101010101" pitchFamily="2" charset="-122"/>
                    <a:ea typeface="华文中宋" panose="02010600040101010101" pitchFamily="2" charset="-122"/>
                  </a:defRPr>
                </a:lvl2pPr>
                <a:lvl3pPr marL="1143000" indent="-228600" algn="l" rtl="0" eaLnBrk="1" fontAlgn="base" hangingPunct="1">
                  <a:lnSpc>
                    <a:spcPct val="120000"/>
                  </a:lnSpc>
                  <a:spcBef>
                    <a:spcPct val="20000"/>
                  </a:spcBef>
                  <a:spcAft>
                    <a:spcPct val="0"/>
                  </a:spcAft>
                  <a:buClr>
                    <a:schemeClr val="hlink"/>
                  </a:buClr>
                  <a:buFont typeface="+mj-lt"/>
                  <a:buChar char="•"/>
                  <a:defRPr lang="zh-CN" altLang="en-US" sz="2400" b="0" cap="none" spc="0" baseline="0" dirty="0" smtClean="0">
                    <a:ln>
                      <a:noFill/>
                    </a:ln>
                    <a:solidFill>
                      <a:schemeClr val="tx1"/>
                    </a:solidFill>
                    <a:effectLst/>
                    <a:latin typeface="华文中宋" panose="02010600040101010101" pitchFamily="2" charset="-122"/>
                    <a:ea typeface="华文中宋" panose="02010600040101010101" pitchFamily="2" charset="-122"/>
                  </a:defRPr>
                </a:lvl3pPr>
                <a:lvl4pPr marL="1600200" indent="-228600" algn="l" rtl="0" eaLnBrk="1" fontAlgn="base" hangingPunct="1">
                  <a:lnSpc>
                    <a:spcPct val="120000"/>
                  </a:lnSpc>
                  <a:spcBef>
                    <a:spcPct val="20000"/>
                  </a:spcBef>
                  <a:spcAft>
                    <a:spcPct val="0"/>
                  </a:spcAft>
                  <a:buChar char="–"/>
                  <a:defRPr lang="zh-CN" altLang="en-US" sz="2200" b="0" spc="0" baseline="0" dirty="0" smtClean="0">
                    <a:solidFill>
                      <a:schemeClr val="tx1"/>
                    </a:solidFill>
                    <a:latin typeface="华文中宋" panose="02010600040101010101" pitchFamily="2" charset="-122"/>
                    <a:ea typeface="华文中宋" panose="02010600040101010101" pitchFamily="2" charset="-122"/>
                  </a:defRPr>
                </a:lvl4pPr>
                <a:lvl5pPr marL="2057400" indent="-228600" algn="l" rtl="0" eaLnBrk="1" fontAlgn="base" hangingPunct="1">
                  <a:lnSpc>
                    <a:spcPct val="120000"/>
                  </a:lnSpc>
                  <a:spcBef>
                    <a:spcPct val="20000"/>
                  </a:spcBef>
                  <a:spcAft>
                    <a:spcPct val="0"/>
                  </a:spcAft>
                  <a:buChar char="»"/>
                  <a:defRPr lang="zh-CN" altLang="en-US" sz="2000" b="0" cap="none" spc="0" baseline="0">
                    <a:ln>
                      <a:noFill/>
                    </a:ln>
                    <a:solidFill>
                      <a:schemeClr val="tx1"/>
                    </a:solidFill>
                    <a:effectLst/>
                    <a:latin typeface="华文中宋" panose="02010600040101010101" pitchFamily="2" charset="-122"/>
                    <a:ea typeface="华文中宋" panose="02010600040101010101" pitchFamily="2" charset="-122"/>
                  </a:defRPr>
                </a:lvl5pPr>
                <a:lvl6pPr marL="2514600" indent="-228600" algn="l" rtl="0" eaLnBrk="1" fontAlgn="base" hangingPunct="1">
                  <a:spcBef>
                    <a:spcPct val="20000"/>
                  </a:spcBef>
                  <a:spcAft>
                    <a:spcPct val="0"/>
                  </a:spcAft>
                  <a:buChar char="»"/>
                  <a:defRPr sz="2000">
                    <a:solidFill>
                      <a:schemeClr val="tx2"/>
                    </a:solidFill>
                    <a:latin typeface="Arial" charset="0"/>
                  </a:defRPr>
                </a:lvl6pPr>
                <a:lvl7pPr marL="2971800" indent="-228600" algn="l" rtl="0" eaLnBrk="1" fontAlgn="base" hangingPunct="1">
                  <a:spcBef>
                    <a:spcPct val="20000"/>
                  </a:spcBef>
                  <a:spcAft>
                    <a:spcPct val="0"/>
                  </a:spcAft>
                  <a:buChar char="»"/>
                  <a:defRPr sz="2000">
                    <a:solidFill>
                      <a:schemeClr val="tx2"/>
                    </a:solidFill>
                    <a:latin typeface="Arial" charset="0"/>
                  </a:defRPr>
                </a:lvl7pPr>
                <a:lvl8pPr marL="3429000" indent="-228600" algn="l" rtl="0" eaLnBrk="1" fontAlgn="base" hangingPunct="1">
                  <a:spcBef>
                    <a:spcPct val="20000"/>
                  </a:spcBef>
                  <a:spcAft>
                    <a:spcPct val="0"/>
                  </a:spcAft>
                  <a:buChar char="»"/>
                  <a:defRPr sz="2000">
                    <a:solidFill>
                      <a:schemeClr val="tx2"/>
                    </a:solidFill>
                    <a:latin typeface="Arial" charset="0"/>
                  </a:defRPr>
                </a:lvl8pPr>
                <a:lvl9pPr marL="3886200" indent="-228600" algn="l" rtl="0" eaLnBrk="1" fontAlgn="base" hangingPunct="1">
                  <a:spcBef>
                    <a:spcPct val="20000"/>
                  </a:spcBef>
                  <a:spcAft>
                    <a:spcPct val="0"/>
                  </a:spcAft>
                  <a:buChar char="»"/>
                  <a:defRPr sz="2000">
                    <a:solidFill>
                      <a:schemeClr val="tx2"/>
                    </a:solidFill>
                    <a:latin typeface="Arial" charset="0"/>
                  </a:defRPr>
                </a:lvl9pPr>
              </a:lstStyle>
              <a:p>
                <a:pPr marL="514350" indent="-514350">
                  <a:lnSpc>
                    <a:spcPct val="150000"/>
                  </a:lnSpc>
                  <a:spcBef>
                    <a:spcPts val="600"/>
                  </a:spcBef>
                  <a:buAutoNum type="arabicPeriod"/>
                </a:pP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从数据集中随机取</a:t>
                </a:r>
                <a:r>
                  <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rPr>
                  <a:t>K</a:t>
                </a: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个样本作为初始的聚类中心</a:t>
                </a:r>
                <a14:m>
                  <m:oMath xmlns:m="http://schemas.openxmlformats.org/officeDocument/2006/math">
                    <m:r>
                      <m:rPr>
                        <m:sty m:val="p"/>
                      </m:rPr>
                      <a:rPr lang="en-US" altLang="zh-CN" sz="2400" i="1" kern="0" dirty="0">
                        <a:latin typeface="Cambria Math" panose="02040503050406030204" pitchFamily="18" charset="0"/>
                        <a:sym typeface="Times New Roman" panose="02020603050405020304" pitchFamily="18" charset="0"/>
                      </a:rPr>
                      <m:t>C</m:t>
                    </m:r>
                    <m:r>
                      <a:rPr lang="en-US" altLang="zh-CN" sz="2400" b="0" i="1" kern="0" dirty="0" smtClean="0">
                        <a:latin typeface="Cambria Math" panose="02040503050406030204" pitchFamily="18" charset="0"/>
                        <a:sym typeface="Times New Roman" panose="02020603050405020304" pitchFamily="18" charset="0"/>
                      </a:rPr>
                      <m:t>={</m:t>
                    </m:r>
                    <m:sSub>
                      <m:sSubPr>
                        <m:ctrlPr>
                          <a:rPr lang="en-US" altLang="zh-CN" sz="2400" b="0" i="1" kern="0" dirty="0" smtClean="0">
                            <a:latin typeface="Cambria Math" panose="02040503050406030204" pitchFamily="18" charset="0"/>
                            <a:sym typeface="Times New Roman" panose="02020603050405020304" pitchFamily="18" charset="0"/>
                          </a:rPr>
                        </m:ctrlPr>
                      </m:sSubPr>
                      <m:e>
                        <m:r>
                          <a:rPr lang="en-US" altLang="zh-CN" sz="2400" b="0" i="1" kern="0" dirty="0" smtClean="0">
                            <a:latin typeface="Cambria Math" panose="02040503050406030204" pitchFamily="18" charset="0"/>
                            <a:sym typeface="Times New Roman" panose="02020603050405020304" pitchFamily="18" charset="0"/>
                          </a:rPr>
                          <m:t>𝑐</m:t>
                        </m:r>
                      </m:e>
                      <m:sub>
                        <m:r>
                          <a:rPr lang="en-US" altLang="zh-CN" sz="2400" b="0" i="1" kern="0" dirty="0" smtClean="0">
                            <a:latin typeface="Cambria Math" panose="02040503050406030204" pitchFamily="18" charset="0"/>
                            <a:sym typeface="Times New Roman" panose="02020603050405020304" pitchFamily="18" charset="0"/>
                          </a:rPr>
                          <m:t>1</m:t>
                        </m:r>
                      </m:sub>
                    </m:sSub>
                    <m:r>
                      <a:rPr lang="en-US" altLang="zh-CN" sz="2400" b="0" i="1" kern="0" dirty="0" smtClean="0">
                        <a:latin typeface="Cambria Math" panose="02040503050406030204" pitchFamily="18" charset="0"/>
                        <a:sym typeface="Times New Roman" panose="02020603050405020304" pitchFamily="18" charset="0"/>
                      </a:rPr>
                      <m:t>,</m:t>
                    </m:r>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a:rPr lang="en-US" altLang="zh-CN" sz="2400" b="0" i="1" kern="0" dirty="0" smtClean="0">
                            <a:latin typeface="Cambria Math" panose="02040503050406030204" pitchFamily="18" charset="0"/>
                            <a:sym typeface="Times New Roman" panose="02020603050405020304" pitchFamily="18" charset="0"/>
                          </a:rPr>
                          <m:t>2</m:t>
                        </m:r>
                      </m:sub>
                    </m:sSub>
                    <m:r>
                      <a:rPr lang="en-US" altLang="zh-CN" sz="2400" b="0" i="1" kern="0" dirty="0" smtClean="0">
                        <a:latin typeface="Cambria Math" panose="02040503050406030204" pitchFamily="18" charset="0"/>
                        <a:sym typeface="Times New Roman" panose="02020603050405020304" pitchFamily="18" charset="0"/>
                      </a:rPr>
                      <m:t>,…,</m:t>
                    </m:r>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a:rPr lang="en-US" altLang="zh-CN" sz="2400" b="0" i="1" kern="0" dirty="0" smtClean="0">
                            <a:latin typeface="Cambria Math" panose="02040503050406030204" pitchFamily="18" charset="0"/>
                            <a:sym typeface="Times New Roman" panose="02020603050405020304" pitchFamily="18" charset="0"/>
                          </a:rPr>
                          <m:t>𝑘</m:t>
                        </m:r>
                      </m:sub>
                    </m:sSub>
                    <m:r>
                      <a:rPr lang="en-US" altLang="zh-CN" sz="2400" b="0" i="1" kern="0" dirty="0" smtClean="0">
                        <a:latin typeface="Cambria Math" panose="02040503050406030204" pitchFamily="18" charset="0"/>
                        <a:sym typeface="Times New Roman" panose="02020603050405020304" pitchFamily="18" charset="0"/>
                      </a:rPr>
                      <m:t>}</m:t>
                    </m:r>
                  </m:oMath>
                </a14:m>
                <a:endPar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endParaRPr>
              </a:p>
              <a:p>
                <a:pPr marL="514350" indent="-514350">
                  <a:lnSpc>
                    <a:spcPct val="150000"/>
                  </a:lnSpc>
                  <a:spcBef>
                    <a:spcPts val="600"/>
                  </a:spcBef>
                  <a:buAutoNum type="arabicPeriod"/>
                </a:pP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针对数据集中每个样本</a:t>
                </a:r>
                <a14:m>
                  <m:oMath xmlns:m="http://schemas.openxmlformats.org/officeDocument/2006/math">
                    <m:sSub>
                      <m:sSubPr>
                        <m:ctrlPr>
                          <a:rPr lang="en-US" altLang="zh-CN" sz="2400" i="1" kern="0" dirty="0">
                            <a:latin typeface="Cambria Math" panose="02040503050406030204" pitchFamily="18" charset="0"/>
                            <a:sym typeface="Times New Roman" panose="02020603050405020304" pitchFamily="18" charset="0"/>
                          </a:rPr>
                        </m:ctrlPr>
                      </m:sSubPr>
                      <m:e>
                        <m:r>
                          <m:rPr>
                            <m:sty m:val="p"/>
                          </m:rPr>
                          <a:rPr lang="en-US" altLang="zh-CN" sz="2400" i="1" kern="0" dirty="0" smtClean="0">
                            <a:latin typeface="Cambria Math" panose="02040503050406030204" pitchFamily="18" charset="0"/>
                            <a:sym typeface="Times New Roman" panose="02020603050405020304" pitchFamily="18" charset="0"/>
                          </a:rPr>
                          <m:t>x</m:t>
                        </m:r>
                      </m:e>
                      <m:sub>
                        <m:r>
                          <m:rPr>
                            <m:sty m:val="p"/>
                          </m:rPr>
                          <a:rPr lang="en-US" altLang="zh-CN" sz="2400" i="1" kern="0" dirty="0" smtClean="0">
                            <a:latin typeface="Cambria Math" panose="02040503050406030204" pitchFamily="18" charset="0"/>
                            <a:sym typeface="Times New Roman" panose="02020603050405020304" pitchFamily="18" charset="0"/>
                          </a:rPr>
                          <m:t>i</m:t>
                        </m:r>
                      </m:sub>
                    </m:sSub>
                  </m:oMath>
                </a14:m>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，计算它到</a:t>
                </a:r>
                <a:r>
                  <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rPr>
                  <a:t>K</a:t>
                </a: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个聚类中心的距离并将其分到距离最小的聚类中心对应的类中</a:t>
                </a:r>
                <a:endPar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endParaRPr>
              </a:p>
              <a:p>
                <a:pPr marL="514350" indent="-514350">
                  <a:lnSpc>
                    <a:spcPct val="150000"/>
                  </a:lnSpc>
                  <a:spcBef>
                    <a:spcPts val="600"/>
                  </a:spcBef>
                  <a:buAutoNum type="arabicPeriod"/>
                </a:pP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针对每个类别</a:t>
                </a:r>
                <a14:m>
                  <m:oMath xmlns:m="http://schemas.openxmlformats.org/officeDocument/2006/math">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m:rPr>
                            <m:sty m:val="p"/>
                          </m:rPr>
                          <a:rPr lang="en-US" altLang="zh-CN" sz="2400" i="1" kern="0" dirty="0" smtClean="0">
                            <a:latin typeface="Cambria Math" panose="02040503050406030204" pitchFamily="18" charset="0"/>
                            <a:sym typeface="Times New Roman" panose="02020603050405020304" pitchFamily="18" charset="0"/>
                          </a:rPr>
                          <m:t>i</m:t>
                        </m:r>
                      </m:sub>
                    </m:sSub>
                  </m:oMath>
                </a14:m>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，重新计算其聚类中心</a:t>
                </a:r>
                <a14:m>
                  <m:oMath xmlns:m="http://schemas.openxmlformats.org/officeDocument/2006/math">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m:rPr>
                            <m:sty m:val="p"/>
                          </m:rPr>
                          <a:rPr lang="en-US" altLang="zh-CN" sz="2400" i="1" kern="0" dirty="0">
                            <a:latin typeface="Cambria Math" panose="02040503050406030204" pitchFamily="18" charset="0"/>
                            <a:sym typeface="Times New Roman" panose="02020603050405020304" pitchFamily="18" charset="0"/>
                          </a:rPr>
                          <m:t>i</m:t>
                        </m:r>
                      </m:sub>
                    </m:sSub>
                    <m:r>
                      <a:rPr lang="en-US" altLang="zh-CN" sz="2400" i="1" kern="0" dirty="0" smtClean="0">
                        <a:latin typeface="Cambria Math" panose="02040503050406030204" pitchFamily="18" charset="0"/>
                        <a:sym typeface="Times New Roman" panose="02020603050405020304" pitchFamily="18" charset="0"/>
                      </a:rPr>
                      <m:t>=</m:t>
                    </m:r>
                    <m:f>
                      <m:fPr>
                        <m:ctrlPr>
                          <a:rPr lang="en-US" altLang="zh-CN" sz="2400" i="1" kern="0" dirty="0" smtClean="0">
                            <a:latin typeface="Cambria Math" panose="02040503050406030204" pitchFamily="18" charset="0"/>
                            <a:sym typeface="Times New Roman" panose="02020603050405020304" pitchFamily="18" charset="0"/>
                          </a:rPr>
                        </m:ctrlPr>
                      </m:fPr>
                      <m:num>
                        <m:r>
                          <a:rPr lang="en-US" altLang="zh-CN" sz="2400" b="0" i="1" kern="0" dirty="0" smtClean="0">
                            <a:latin typeface="Cambria Math" panose="02040503050406030204" pitchFamily="18" charset="0"/>
                            <a:sym typeface="Times New Roman" panose="02020603050405020304" pitchFamily="18" charset="0"/>
                          </a:rPr>
                          <m:t>1</m:t>
                        </m:r>
                      </m:num>
                      <m:den>
                        <m:r>
                          <a:rPr lang="en-US" altLang="zh-CN" sz="2400" i="1" kern="0" dirty="0">
                            <a:latin typeface="Cambria Math" panose="02040503050406030204" pitchFamily="18" charset="0"/>
                            <a:sym typeface="Times New Roman" panose="02020603050405020304" pitchFamily="18" charset="0"/>
                          </a:rPr>
                          <m:t>|</m:t>
                        </m:r>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m:rPr>
                                <m:sty m:val="p"/>
                              </m:rPr>
                              <a:rPr lang="en-US" altLang="zh-CN" sz="2400" i="1" kern="0" dirty="0">
                                <a:latin typeface="Cambria Math" panose="02040503050406030204" pitchFamily="18" charset="0"/>
                                <a:sym typeface="Times New Roman" panose="02020603050405020304" pitchFamily="18" charset="0"/>
                              </a:rPr>
                              <m:t>i</m:t>
                            </m:r>
                          </m:sub>
                        </m:sSub>
                        <m:r>
                          <a:rPr lang="en-US" altLang="zh-CN" sz="2400" i="1" kern="0" dirty="0" smtClean="0">
                            <a:latin typeface="Cambria Math" panose="02040503050406030204" pitchFamily="18" charset="0"/>
                            <a:sym typeface="Times New Roman" panose="02020603050405020304" pitchFamily="18" charset="0"/>
                          </a:rPr>
                          <m:t>|</m:t>
                        </m:r>
                      </m:den>
                    </m:f>
                    <m:nary>
                      <m:naryPr>
                        <m:chr m:val="∑"/>
                        <m:limLoc m:val="subSup"/>
                        <m:supHide m:val="on"/>
                        <m:ctrlPr>
                          <a:rPr lang="en-US" altLang="zh-CN" sz="2400" i="1" kern="0" dirty="0" smtClean="0">
                            <a:latin typeface="Cambria Math" panose="02040503050406030204" pitchFamily="18" charset="0"/>
                            <a:sym typeface="Times New Roman" panose="02020603050405020304" pitchFamily="18" charset="0"/>
                          </a:rPr>
                        </m:ctrlPr>
                      </m:naryPr>
                      <m:sub>
                        <m:r>
                          <m:rPr>
                            <m:sty m:val="p"/>
                            <m:brk m:alnAt="9"/>
                          </m:rPr>
                          <a:rPr lang="en-US" altLang="zh-CN" sz="2400" i="1" kern="0" dirty="0">
                            <a:latin typeface="Cambria Math" panose="02040503050406030204" pitchFamily="18" charset="0"/>
                            <a:sym typeface="Times New Roman" panose="02020603050405020304" pitchFamily="18" charset="0"/>
                          </a:rPr>
                          <m:t>x</m:t>
                        </m:r>
                        <m:r>
                          <a:rPr lang="en-US" altLang="zh-CN" sz="2400" i="1" kern="0" dirty="0" smtClean="0">
                            <a:latin typeface="Cambria Math" panose="02040503050406030204" pitchFamily="18" charset="0"/>
                            <a:ea typeface="Cambria Math" panose="02040503050406030204" pitchFamily="18" charset="0"/>
                            <a:sym typeface="Times New Roman" panose="02020603050405020304" pitchFamily="18" charset="0"/>
                          </a:rPr>
                          <m:t>∈</m:t>
                        </m:r>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m:rPr>
                                <m:sty m:val="p"/>
                              </m:rPr>
                              <a:rPr lang="en-US" altLang="zh-CN" sz="2400" i="1" kern="0" dirty="0">
                                <a:latin typeface="Cambria Math" panose="02040503050406030204" pitchFamily="18" charset="0"/>
                                <a:sym typeface="Times New Roman" panose="02020603050405020304" pitchFamily="18" charset="0"/>
                              </a:rPr>
                              <m:t>i</m:t>
                            </m:r>
                          </m:sub>
                        </m:sSub>
                      </m:sub>
                      <m:sup/>
                      <m:e>
                        <m:r>
                          <m:rPr>
                            <m:sty m:val="p"/>
                          </m:rPr>
                          <a:rPr lang="en-US" altLang="zh-CN" sz="2400" i="1" kern="0" dirty="0">
                            <a:latin typeface="Cambria Math" panose="02040503050406030204" pitchFamily="18" charset="0"/>
                            <a:sym typeface="Times New Roman" panose="02020603050405020304" pitchFamily="18" charset="0"/>
                          </a:rPr>
                          <m:t>x</m:t>
                        </m:r>
                      </m:e>
                    </m:nary>
                  </m:oMath>
                </a14:m>
                <a:endPar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endParaRPr>
              </a:p>
              <a:p>
                <a:pPr marL="514350" indent="-514350">
                  <a:lnSpc>
                    <a:spcPct val="150000"/>
                  </a:lnSpc>
                  <a:spcBef>
                    <a:spcPts val="600"/>
                  </a:spcBef>
                  <a:buAutoNum type="arabicPeriod"/>
                </a:pP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重复第</a:t>
                </a:r>
                <a:r>
                  <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和第</a:t>
                </a:r>
                <a:r>
                  <a:rPr lang="en-US" altLang="zh-CN" sz="2400" kern="0" dirty="0">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步骤，直到</a:t>
                </a:r>
                <a14:m>
                  <m:oMath xmlns:m="http://schemas.openxmlformats.org/officeDocument/2006/math">
                    <m:nary>
                      <m:naryPr>
                        <m:chr m:val="∑"/>
                        <m:ctrlPr>
                          <a:rPr lang="zh-CN" altLang="en-US" sz="2400" i="1" kern="0" smtClean="0">
                            <a:latin typeface="Cambria Math" panose="02040503050406030204" pitchFamily="18" charset="0"/>
                            <a:sym typeface="Times New Roman" panose="02020603050405020304" pitchFamily="18" charset="0"/>
                          </a:rPr>
                        </m:ctrlPr>
                      </m:naryPr>
                      <m:sub>
                        <m:r>
                          <m:rPr>
                            <m:sty m:val="p"/>
                            <m:brk m:alnAt="23"/>
                          </m:rPr>
                          <a:rPr lang="en-US" altLang="zh-CN" sz="2400" i="1" kern="0">
                            <a:latin typeface="Cambria Math" panose="02040503050406030204" pitchFamily="18" charset="0"/>
                            <a:sym typeface="Times New Roman" panose="02020603050405020304" pitchFamily="18" charset="0"/>
                          </a:rPr>
                          <m:t>i</m:t>
                        </m:r>
                        <m:r>
                          <a:rPr lang="en-US" altLang="zh-CN" sz="2400" b="0" i="1" kern="0" smtClean="0">
                            <a:latin typeface="Cambria Math" panose="02040503050406030204" pitchFamily="18" charset="0"/>
                            <a:sym typeface="Times New Roman" panose="02020603050405020304" pitchFamily="18" charset="0"/>
                          </a:rPr>
                          <m:t>=0</m:t>
                        </m:r>
                      </m:sub>
                      <m:sup>
                        <m:r>
                          <a:rPr lang="en-US" altLang="zh-CN" sz="2400" b="0" i="1" kern="0" smtClean="0">
                            <a:latin typeface="Cambria Math" panose="02040503050406030204" pitchFamily="18" charset="0"/>
                            <a:sym typeface="Times New Roman" panose="02020603050405020304" pitchFamily="18" charset="0"/>
                          </a:rPr>
                          <m:t>𝑛</m:t>
                        </m:r>
                      </m:sup>
                      <m:e>
                        <m:func>
                          <m:funcPr>
                            <m:ctrlPr>
                              <a:rPr lang="en-US" altLang="zh-CN" sz="2400" i="1" kern="0" smtClean="0">
                                <a:latin typeface="Cambria Math" panose="02040503050406030204" pitchFamily="18" charset="0"/>
                                <a:sym typeface="Times New Roman" panose="02020603050405020304" pitchFamily="18" charset="0"/>
                              </a:rPr>
                            </m:ctrlPr>
                          </m:funcPr>
                          <m:fName>
                            <m:limLow>
                              <m:limLowPr>
                                <m:ctrlPr>
                                  <a:rPr lang="en-US" altLang="zh-CN" sz="2400" i="1" kern="0" smtClean="0">
                                    <a:latin typeface="Cambria Math" panose="02040503050406030204" pitchFamily="18" charset="0"/>
                                    <a:sym typeface="Times New Roman" panose="02020603050405020304" pitchFamily="18" charset="0"/>
                                  </a:rPr>
                                </m:ctrlPr>
                              </m:limLowPr>
                              <m:e>
                                <m:r>
                                  <m:rPr>
                                    <m:sty m:val="p"/>
                                  </m:rPr>
                                  <a:rPr lang="en-US" altLang="zh-CN" sz="2400" i="0" kern="0" smtClean="0">
                                    <a:latin typeface="Cambria Math" panose="02040503050406030204" pitchFamily="18" charset="0"/>
                                    <a:sym typeface="Times New Roman" panose="02020603050405020304" pitchFamily="18" charset="0"/>
                                  </a:rPr>
                                  <m:t>min</m:t>
                                </m:r>
                              </m:e>
                              <m:lim>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a:rPr lang="en-US" altLang="zh-CN" sz="2400" b="0" i="1" kern="0" dirty="0" smtClean="0">
                                        <a:latin typeface="Cambria Math" panose="02040503050406030204" pitchFamily="18" charset="0"/>
                                        <a:sym typeface="Times New Roman" panose="02020603050405020304" pitchFamily="18" charset="0"/>
                                      </a:rPr>
                                      <m:t>𝑗</m:t>
                                    </m:r>
                                  </m:sub>
                                </m:sSub>
                                <m:r>
                                  <a:rPr lang="en-US" altLang="zh-CN" sz="2400" i="1" kern="0" dirty="0">
                                    <a:latin typeface="Cambria Math" panose="02040503050406030204" pitchFamily="18" charset="0"/>
                                    <a:ea typeface="Cambria Math" panose="02040503050406030204" pitchFamily="18" charset="0"/>
                                    <a:sym typeface="Times New Roman" panose="02020603050405020304" pitchFamily="18" charset="0"/>
                                  </a:rPr>
                                  <m:t>∈</m:t>
                                </m:r>
                                <m:r>
                                  <a:rPr lang="en-US" altLang="zh-CN" sz="2400" b="0" i="1" kern="0" dirty="0" smtClean="0">
                                    <a:latin typeface="Cambria Math" panose="02040503050406030204" pitchFamily="18" charset="0"/>
                                    <a:ea typeface="Cambria Math" panose="02040503050406030204" pitchFamily="18" charset="0"/>
                                    <a:sym typeface="Times New Roman" panose="02020603050405020304" pitchFamily="18" charset="0"/>
                                  </a:rPr>
                                  <m:t>𝐶</m:t>
                                </m:r>
                              </m:lim>
                            </m:limLow>
                          </m:fName>
                          <m:e>
                            <m:r>
                              <a:rPr lang="en-US" altLang="zh-CN" sz="2400" b="0" i="1" kern="0" smtClean="0">
                                <a:latin typeface="Cambria Math" panose="02040503050406030204" pitchFamily="18" charset="0"/>
                                <a:sym typeface="Times New Roman" panose="02020603050405020304" pitchFamily="18" charset="0"/>
                              </a:rPr>
                              <m:t>(</m:t>
                            </m:r>
                            <m:sSup>
                              <m:sSupPr>
                                <m:ctrlPr>
                                  <a:rPr lang="en-US" altLang="zh-CN" sz="2400" b="0" i="1" kern="0" smtClean="0">
                                    <a:latin typeface="Cambria Math" panose="02040503050406030204" pitchFamily="18" charset="0"/>
                                    <a:sym typeface="Times New Roman" panose="02020603050405020304" pitchFamily="18" charset="0"/>
                                  </a:rPr>
                                </m:ctrlPr>
                              </m:sSupPr>
                              <m:e>
                                <m:r>
                                  <a:rPr lang="en-US" altLang="zh-CN" sz="2400" i="1" kern="0">
                                    <a:latin typeface="Cambria Math" panose="02040503050406030204" pitchFamily="18" charset="0"/>
                                    <a:ea typeface="Cambria Math" panose="02040503050406030204" pitchFamily="18" charset="0"/>
                                    <a:sym typeface="Times New Roman" panose="02020603050405020304" pitchFamily="18" charset="0"/>
                                  </a:rPr>
                                  <m:t>∥</m:t>
                                </m:r>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b="0" i="1" kern="0" dirty="0" smtClean="0">
                                        <a:latin typeface="Cambria Math" panose="02040503050406030204" pitchFamily="18" charset="0"/>
                                        <a:sym typeface="Times New Roman" panose="02020603050405020304" pitchFamily="18" charset="0"/>
                                      </a:rPr>
                                      <m:t>𝑥</m:t>
                                    </m:r>
                                  </m:e>
                                  <m:sub>
                                    <m:r>
                                      <a:rPr lang="en-US" altLang="zh-CN" sz="2400" i="1" kern="0" dirty="0">
                                        <a:latin typeface="Cambria Math" panose="02040503050406030204" pitchFamily="18" charset="0"/>
                                        <a:sym typeface="Times New Roman" panose="02020603050405020304" pitchFamily="18" charset="0"/>
                                      </a:rPr>
                                      <m:t>𝑗</m:t>
                                    </m:r>
                                  </m:sub>
                                </m:sSub>
                                <m:r>
                                  <a:rPr lang="en-US" altLang="zh-CN" sz="2400" b="0" i="1" kern="0" dirty="0" smtClean="0">
                                    <a:latin typeface="Cambria Math" panose="02040503050406030204" pitchFamily="18" charset="0"/>
                                    <a:sym typeface="Times New Roman" panose="02020603050405020304" pitchFamily="18" charset="0"/>
                                  </a:rPr>
                                  <m:t>−</m:t>
                                </m:r>
                                <m:sSub>
                                  <m:sSubPr>
                                    <m:ctrlPr>
                                      <a:rPr lang="en-US" altLang="zh-CN" sz="2400" i="1" kern="0" dirty="0">
                                        <a:latin typeface="Cambria Math" panose="02040503050406030204" pitchFamily="18" charset="0"/>
                                        <a:sym typeface="Times New Roman" panose="02020603050405020304" pitchFamily="18" charset="0"/>
                                      </a:rPr>
                                    </m:ctrlPr>
                                  </m:sSubPr>
                                  <m:e>
                                    <m:r>
                                      <a:rPr lang="en-US" altLang="zh-CN" sz="2400" i="1" kern="0" dirty="0">
                                        <a:latin typeface="Cambria Math" panose="02040503050406030204" pitchFamily="18" charset="0"/>
                                        <a:sym typeface="Times New Roman" panose="02020603050405020304" pitchFamily="18" charset="0"/>
                                      </a:rPr>
                                      <m:t>𝑐</m:t>
                                    </m:r>
                                  </m:e>
                                  <m:sub>
                                    <m:r>
                                      <a:rPr lang="en-US" altLang="zh-CN" sz="2400" b="0" i="1" kern="0" dirty="0" smtClean="0">
                                        <a:latin typeface="Cambria Math" panose="02040503050406030204" pitchFamily="18" charset="0"/>
                                        <a:sym typeface="Times New Roman" panose="02020603050405020304" pitchFamily="18" charset="0"/>
                                      </a:rPr>
                                      <m:t>𝑖</m:t>
                                    </m:r>
                                  </m:sub>
                                </m:sSub>
                                <m:r>
                                  <a:rPr lang="en-US" altLang="zh-CN" sz="2400" i="1" kern="0">
                                    <a:latin typeface="Cambria Math" panose="02040503050406030204" pitchFamily="18" charset="0"/>
                                    <a:ea typeface="Cambria Math" panose="02040503050406030204" pitchFamily="18" charset="0"/>
                                    <a:sym typeface="Times New Roman" panose="02020603050405020304" pitchFamily="18" charset="0"/>
                                  </a:rPr>
                                  <m:t>∥</m:t>
                                </m:r>
                              </m:e>
                              <m:sup>
                                <m:r>
                                  <a:rPr lang="en-US" altLang="zh-CN" sz="2400" b="0" i="1" kern="0" smtClean="0">
                                    <a:latin typeface="Cambria Math" panose="02040503050406030204" pitchFamily="18" charset="0"/>
                                    <a:sym typeface="Times New Roman" panose="02020603050405020304" pitchFamily="18" charset="0"/>
                                  </a:rPr>
                                  <m:t>2</m:t>
                                </m:r>
                              </m:sup>
                            </m:sSup>
                            <m:r>
                              <a:rPr lang="en-US" altLang="zh-CN" sz="2400" b="0" i="1" kern="0" smtClean="0">
                                <a:latin typeface="Cambria Math" panose="02040503050406030204" pitchFamily="18" charset="0"/>
                                <a:sym typeface="Times New Roman" panose="02020603050405020304" pitchFamily="18" charset="0"/>
                              </a:rPr>
                              <m:t>)</m:t>
                            </m:r>
                          </m:e>
                        </m:func>
                      </m:e>
                    </m:nary>
                    <m:r>
                      <a:rPr lang="zh-CN" altLang="en-US" sz="2400" i="1" kern="0">
                        <a:latin typeface="Cambria Math" panose="02040503050406030204" pitchFamily="18" charset="0"/>
                        <a:sym typeface="Times New Roman" panose="02020603050405020304" pitchFamily="18" charset="0"/>
                      </a:rPr>
                      <m:t>小</m:t>
                    </m:r>
                  </m:oMath>
                </a14:m>
                <a:r>
                  <a:rPr lang="zh-CN" altLang="en-US" sz="2400" kern="0" dirty="0">
                    <a:latin typeface="Times New Roman" panose="02020603050405020304" pitchFamily="18" charset="0"/>
                    <a:ea typeface="微软雅黑" panose="020B0503020204020204" pitchFamily="34" charset="-122"/>
                    <a:sym typeface="Times New Roman" panose="02020603050405020304" pitchFamily="18" charset="0"/>
                  </a:rPr>
                  <a:t>于特定的阈值</a:t>
                </a:r>
              </a:p>
            </p:txBody>
          </p:sp>
        </mc:Choice>
        <mc:Fallback xmlns="">
          <p:sp>
            <p:nvSpPr>
              <p:cNvPr id="7" name="内容占位符 1">
                <a:extLst>
                  <a:ext uri="{FF2B5EF4-FFF2-40B4-BE49-F238E27FC236}">
                    <a16:creationId xmlns:a16="http://schemas.microsoft.com/office/drawing/2014/main" id="{93A5FE07-01C9-4D5D-BEE5-85521A845C86}"/>
                  </a:ext>
                </a:extLst>
              </p:cNvPr>
              <p:cNvSpPr txBox="1">
                <a:spLocks noRot="1" noChangeAspect="1" noMove="1" noResize="1" noEditPoints="1" noAdjustHandles="1" noChangeArrowheads="1" noChangeShapeType="1" noTextEdit="1"/>
              </p:cNvSpPr>
              <p:nvPr/>
            </p:nvSpPr>
            <p:spPr bwMode="gray">
              <a:xfrm>
                <a:off x="457200" y="972000"/>
                <a:ext cx="8229600" cy="4814138"/>
              </a:xfrm>
              <a:prstGeom prst="rect">
                <a:avLst/>
              </a:prstGeom>
              <a:blipFill>
                <a:blip r:embed="rId2"/>
                <a:stretch>
                  <a:fillRect l="-887" r="-74" b="-2144"/>
                </a:stretch>
              </a:blipFill>
              <a:ln w="19050">
                <a:solidFill>
                  <a:srgbClr val="13548C"/>
                </a:solidFill>
                <a:miter lim="800000"/>
                <a:headEnd/>
                <a:tailEnd/>
              </a:ln>
              <a:effectLst/>
            </p:spPr>
            <p:txBody>
              <a:bodyPr/>
              <a:lstStyle/>
              <a:p>
                <a:r>
                  <a:rPr lang="zh-CN" altLang="en-US">
                    <a:noFill/>
                  </a:rPr>
                  <a:t> </a:t>
                </a:r>
              </a:p>
            </p:txBody>
          </p:sp>
        </mc:Fallback>
      </mc:AlternateContent>
    </p:spTree>
    <p:extLst>
      <p:ext uri="{BB962C8B-B14F-4D97-AF65-F5344CB8AC3E}">
        <p14:creationId xmlns:p14="http://schemas.microsoft.com/office/powerpoint/2010/main" val="595631965"/>
      </p:ext>
    </p:extLst>
  </p:cSld>
  <p:clrMapOvr>
    <a:masterClrMapping/>
  </p:clrMapOvr>
  <p:transition spd="med">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000" y="1224000"/>
            <a:ext cx="8640000" cy="4618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3">
            <a:extLst>
              <a:ext uri="{FF2B5EF4-FFF2-40B4-BE49-F238E27FC236}">
                <a16:creationId xmlns:a16="http://schemas.microsoft.com/office/drawing/2014/main" id="{39B547C7-D6DB-4C04-92BD-6E81AFF1DFE1}"/>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3257396665"/>
      </p:ext>
    </p:extLst>
  </p:cSld>
  <p:clrMapOvr>
    <a:masterClrMapping/>
  </p:clrMapOvr>
  <p:transition spd="med">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000" y="1224000"/>
            <a:ext cx="8640000" cy="4618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3">
            <a:extLst>
              <a:ext uri="{FF2B5EF4-FFF2-40B4-BE49-F238E27FC236}">
                <a16:creationId xmlns:a16="http://schemas.microsoft.com/office/drawing/2014/main" id="{135B0117-1299-4CE9-97DD-668B7E8302D3}"/>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8" name="TextBox 1">
            <a:extLst>
              <a:ext uri="{FF2B5EF4-FFF2-40B4-BE49-F238E27FC236}">
                <a16:creationId xmlns:a16="http://schemas.microsoft.com/office/drawing/2014/main" id="{B880C627-DF9A-4403-BDF4-BE2892002197}"/>
              </a:ext>
            </a:extLst>
          </p:cNvPr>
          <p:cNvSpPr txBox="1"/>
          <p:nvPr/>
        </p:nvSpPr>
        <p:spPr>
          <a:xfrm>
            <a:off x="0" y="5902824"/>
            <a:ext cx="9144000" cy="874214"/>
          </a:xfrm>
          <a:prstGeom prst="rect">
            <a:avLst/>
          </a:prstGeom>
          <a:noFill/>
        </p:spPr>
        <p:txBody>
          <a:bodyPr wrap="square" rtlCol="0">
            <a:spAutoFit/>
          </a:bodyPr>
          <a:lstStyle/>
          <a:p>
            <a:pPr algn="ctr">
              <a:lnSpc>
                <a:spcPct val="150000"/>
              </a:lnSpc>
            </a:pPr>
            <a:r>
              <a:rPr lang="en-US" altLang="zh-CN" dirty="0" err="1">
                <a:latin typeface="Times New Roman" panose="02020603050405020304" pitchFamily="18" charset="0"/>
                <a:ea typeface="微软雅黑" panose="020B0503020204020204" pitchFamily="34" charset="-122"/>
                <a:sym typeface="Times New Roman" panose="02020603050405020304" pitchFamily="18" charset="0"/>
              </a:rPr>
              <a:t>Kmeans</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算法为启发式算法，遵循的寻优</a:t>
            </a:r>
            <a:r>
              <a:rPr lang="zh-CN" altLang="en-US">
                <a:latin typeface="Times New Roman" panose="02020603050405020304" pitchFamily="18" charset="0"/>
                <a:ea typeface="微软雅黑" panose="020B0503020204020204" pitchFamily="34" charset="-122"/>
                <a:sym typeface="Times New Roman" panose="02020603050405020304" pitchFamily="18" charset="0"/>
              </a:rPr>
              <a:t>原则：</a:t>
            </a:r>
            <a:endParaRPr lang="en-US" altLang="zh-CN">
              <a:latin typeface="Times New Roman" panose="02020603050405020304" pitchFamily="18" charset="0"/>
              <a:ea typeface="微软雅黑" panose="020B0503020204020204" pitchFamily="34" charset="-122"/>
              <a:sym typeface="Times New Roman" panose="02020603050405020304" pitchFamily="18" charset="0"/>
            </a:endParaRPr>
          </a:p>
          <a:p>
            <a:pPr algn="ctr">
              <a:lnSpc>
                <a:spcPct val="150000"/>
              </a:lnSpc>
            </a:pPr>
            <a:r>
              <a:rPr lang="zh-CN" altLang="en-US"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每次</a:t>
            </a: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聚类保证局部最优，随后调整聚类，利用局部最优聚类的上限来不断逼近全局最优</a:t>
            </a:r>
          </a:p>
        </p:txBody>
      </p:sp>
    </p:spTree>
    <p:extLst>
      <p:ext uri="{BB962C8B-B14F-4D97-AF65-F5344CB8AC3E}">
        <p14:creationId xmlns:p14="http://schemas.microsoft.com/office/powerpoint/2010/main" val="3969924854"/>
      </p:ext>
    </p:extLst>
  </p:cSld>
  <p:clrMapOvr>
    <a:masterClrMapping/>
  </p:clrMapOvr>
  <p:transition spd="med">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000" y="2112458"/>
            <a:ext cx="4248472" cy="2270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0" y="5902824"/>
            <a:ext cx="9144000" cy="874214"/>
          </a:xfrm>
          <a:prstGeom prst="rect">
            <a:avLst/>
          </a:prstGeom>
          <a:noFill/>
        </p:spPr>
        <p:txBody>
          <a:bodyPr wrap="square" rtlCol="0">
            <a:spAutoFit/>
          </a:bodyPr>
          <a:lstStyle/>
          <a:p>
            <a:pPr algn="ctr">
              <a:lnSpc>
                <a:spcPct val="150000"/>
              </a:lnSpc>
            </a:pPr>
            <a:r>
              <a:rPr lang="en-US" altLang="zh-CN" dirty="0" err="1">
                <a:latin typeface="Times New Roman" panose="02020603050405020304" pitchFamily="18" charset="0"/>
                <a:ea typeface="微软雅黑" panose="020B0503020204020204" pitchFamily="34" charset="-122"/>
                <a:sym typeface="Times New Roman" panose="02020603050405020304" pitchFamily="18" charset="0"/>
              </a:rPr>
              <a:t>Kmeans</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算法为启发式算法，遵循的寻优</a:t>
            </a:r>
            <a:r>
              <a:rPr lang="zh-CN" altLang="en-US">
                <a:latin typeface="Times New Roman" panose="02020603050405020304" pitchFamily="18" charset="0"/>
                <a:ea typeface="微软雅黑" panose="020B0503020204020204" pitchFamily="34" charset="-122"/>
                <a:sym typeface="Times New Roman" panose="02020603050405020304" pitchFamily="18" charset="0"/>
              </a:rPr>
              <a:t>原则：</a:t>
            </a:r>
            <a:endParaRPr lang="en-US" altLang="zh-CN">
              <a:latin typeface="Times New Roman" panose="02020603050405020304" pitchFamily="18" charset="0"/>
              <a:ea typeface="微软雅黑" panose="020B0503020204020204" pitchFamily="34" charset="-122"/>
              <a:sym typeface="Times New Roman" panose="02020603050405020304" pitchFamily="18" charset="0"/>
            </a:endParaRPr>
          </a:p>
          <a:p>
            <a:pPr algn="ctr">
              <a:lnSpc>
                <a:spcPct val="150000"/>
              </a:lnSpc>
            </a:pPr>
            <a:r>
              <a:rPr lang="zh-CN" altLang="en-US"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每次</a:t>
            </a: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聚类保证局部最优，随后调整聚类，利用局部最优聚类的上限来不断逼近全局最优</a:t>
            </a:r>
          </a:p>
        </p:txBody>
      </p:sp>
      <p:pic>
        <p:nvPicPr>
          <p:cNvPr id="7" name="Image-12.png" descr="Image-12.png">
            <a:extLst>
              <a:ext uri="{FF2B5EF4-FFF2-40B4-BE49-F238E27FC236}">
                <a16:creationId xmlns:a16="http://schemas.microsoft.com/office/drawing/2014/main" id="{E9A6ECC4-98B0-4092-9C3B-3800EAA3C314}"/>
              </a:ext>
            </a:extLst>
          </p:cNvPr>
          <p:cNvPicPr>
            <a:picLocks noChangeAspect="1"/>
          </p:cNvPicPr>
          <p:nvPr/>
        </p:nvPicPr>
        <p:blipFill>
          <a:blip r:embed="rId3"/>
          <a:stretch>
            <a:fillRect/>
          </a:stretch>
        </p:blipFill>
        <p:spPr>
          <a:xfrm>
            <a:off x="4860032" y="1484784"/>
            <a:ext cx="3708726" cy="33944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p:spPr>
      </p:pic>
      <p:sp>
        <p:nvSpPr>
          <p:cNvPr id="8" name="标题 3">
            <a:extLst>
              <a:ext uri="{FF2B5EF4-FFF2-40B4-BE49-F238E27FC236}">
                <a16:creationId xmlns:a16="http://schemas.microsoft.com/office/drawing/2014/main" id="{72CE608C-1683-4464-BA44-5167C7605A78}"/>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3168273441"/>
      </p:ext>
    </p:extLst>
  </p:cSld>
  <p:clrMapOvr>
    <a:masterClrMapping/>
  </p:clrMapOvr>
  <p:transition spd="med">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计算示例</a:t>
            </a:r>
          </a:p>
        </p:txBody>
      </p:sp>
      <p:sp>
        <p:nvSpPr>
          <p:cNvPr id="20484" name="Rectangle 3"/>
          <p:cNvSpPr>
            <a:spLocks noGrp="1" noChangeArrowheads="1"/>
          </p:cNvSpPr>
          <p:nvPr>
            <p:ph type="body" idx="4294967295"/>
          </p:nvPr>
        </p:nvSpPr>
        <p:spPr>
          <a:xfrm>
            <a:off x="323528" y="753268"/>
            <a:ext cx="8229600" cy="5481501"/>
          </a:xfrm>
          <a:prstGeom prst="rect">
            <a:avLst/>
          </a:prstGeom>
          <a:noFill/>
        </p:spPr>
        <p:txBody>
          <a:bodyPr wrap="square">
            <a:spAutoFit/>
          </a:bodyPr>
          <a:lstStyle/>
          <a:p>
            <a:pPr marL="360000" indent="-360000" algn="just" fontAlgn="base">
              <a:lnSpc>
                <a:spcPct val="140000"/>
              </a:lnSpc>
              <a:spcBef>
                <a:spcPts val="600"/>
              </a:spcBef>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假设：给定如下要进行聚类的对象：</a:t>
            </a:r>
          </a:p>
          <a:p>
            <a:pPr marL="457200" lvl="1" indent="0" algn="just" fontAlgn="base">
              <a:lnSpc>
                <a:spcPct val="140000"/>
              </a:lnSpc>
              <a:spcBef>
                <a:spcPts val="600"/>
              </a:spcBef>
              <a:buClr>
                <a:srgbClr val="FF6600"/>
              </a:buClr>
              <a:buSzPct val="80000"/>
              <a:buNone/>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10</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20</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30</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11</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25}</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k = 2</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，请使用</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均值划分聚类</a:t>
            </a:r>
          </a:p>
          <a:p>
            <a:pPr marL="360000" indent="-360000" algn="just" fontAlgn="base">
              <a:lnSpc>
                <a:spcPct val="140000"/>
              </a:lnSpc>
              <a:spcBef>
                <a:spcPts val="600"/>
              </a:spcBef>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步骤如下：</a:t>
            </a:r>
          </a:p>
          <a:p>
            <a:pPr marL="0" indent="0" algn="just" fontAlgn="base">
              <a:lnSpc>
                <a:spcPct val="140000"/>
              </a:lnSpc>
              <a:spcBef>
                <a:spcPts val="600"/>
              </a:spcBef>
              <a:buClr>
                <a:srgbClr val="FF6600"/>
              </a:buClr>
              <a:buSzPct val="80000"/>
              <a:buNone/>
            </a:pP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m1               m2           </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 K1                                        K2</a:t>
            </a:r>
          </a:p>
          <a:p>
            <a:pPr marL="0" indent="0" algn="just" fontAlgn="base">
              <a:lnSpc>
                <a:spcPct val="140000"/>
              </a:lnSpc>
              <a:spcBef>
                <a:spcPts val="600"/>
              </a:spcBef>
              <a:buClr>
                <a:srgbClr val="FF6600"/>
              </a:buClr>
              <a:buSzPct val="80000"/>
              <a:buNone/>
            </a:pP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      2                   4              {2,3}                             {4,10,12,20,30,11,25}</a:t>
            </a:r>
          </a:p>
          <a:p>
            <a:pPr marL="0" indent="0" algn="just" fontAlgn="base">
              <a:lnSpc>
                <a:spcPct val="140000"/>
              </a:lnSpc>
              <a:spcBef>
                <a:spcPts val="600"/>
              </a:spcBef>
              <a:buClr>
                <a:srgbClr val="FF6600"/>
              </a:buClr>
              <a:buSzPct val="80000"/>
              <a:buNone/>
            </a:pP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     2.5                16             {2,3,4}                          {10,12,20,30,11,25}</a:t>
            </a:r>
          </a:p>
          <a:p>
            <a:pPr marL="0" indent="0" algn="just" fontAlgn="base">
              <a:lnSpc>
                <a:spcPct val="140000"/>
              </a:lnSpc>
              <a:spcBef>
                <a:spcPts val="600"/>
              </a:spcBef>
              <a:buClr>
                <a:srgbClr val="FF6600"/>
              </a:buClr>
              <a:buSzPct val="80000"/>
              <a:buNone/>
            </a:pP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      3                  18             {2,3,4,10}                     {10,12,20,30,11,25}</a:t>
            </a:r>
          </a:p>
          <a:p>
            <a:pPr marL="0" indent="0" algn="just" fontAlgn="base">
              <a:lnSpc>
                <a:spcPct val="140000"/>
              </a:lnSpc>
              <a:spcBef>
                <a:spcPts val="600"/>
              </a:spcBef>
              <a:buClr>
                <a:srgbClr val="FF6600"/>
              </a:buClr>
              <a:buSzPct val="80000"/>
              <a:buNone/>
            </a:pP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    4.75              19.6           {2,3,4,10,11,12}           {20,30,25}</a:t>
            </a:r>
          </a:p>
          <a:p>
            <a:pPr marL="0" indent="0" algn="just" fontAlgn="base">
              <a:lnSpc>
                <a:spcPct val="140000"/>
              </a:lnSpc>
              <a:spcBef>
                <a:spcPts val="600"/>
              </a:spcBef>
              <a:buClr>
                <a:srgbClr val="FF6600"/>
              </a:buClr>
              <a:buSzPct val="80000"/>
              <a:buNone/>
            </a:pP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      7                  25             {2,3,4,10,11,12}           {20,30,25}</a:t>
            </a:r>
          </a:p>
        </p:txBody>
      </p:sp>
    </p:spTree>
    <p:extLst>
      <p:ext uri="{BB962C8B-B14F-4D97-AF65-F5344CB8AC3E}">
        <p14:creationId xmlns:p14="http://schemas.microsoft.com/office/powerpoint/2010/main" val="552051698"/>
      </p:ext>
    </p:extLst>
  </p:cSld>
  <p:clrMapOvr>
    <a:masterClrMapping/>
  </p:clrMapOvr>
  <p:transition spd="med">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object 2"/>
          <p:cNvSpPr txBox="1">
            <a:spLocks noChangeArrowheads="1"/>
          </p:cNvSpPr>
          <p:nvPr/>
        </p:nvSpPr>
        <p:spPr bwMode="auto">
          <a:xfrm>
            <a:off x="252000" y="756000"/>
            <a:ext cx="8640000" cy="1042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a:tabLst>
                <a:tab pos="354013" algn="l"/>
              </a:tabLst>
              <a:defRPr sz="3200">
                <a:solidFill>
                  <a:schemeClr val="tx1"/>
                </a:solidFill>
                <a:latin typeface="Arial" charset="0"/>
                <a:ea typeface="楷体_GB2312" pitchFamily="49" charset="-122"/>
              </a:defRPr>
            </a:lvl1pPr>
            <a:lvl2pPr>
              <a:tabLst>
                <a:tab pos="354013" algn="l"/>
              </a:tabLst>
              <a:defRPr sz="2800">
                <a:solidFill>
                  <a:schemeClr val="tx1"/>
                </a:solidFill>
                <a:latin typeface="Arial" charset="0"/>
                <a:ea typeface="楷体_GB2312" pitchFamily="49" charset="-122"/>
              </a:defRPr>
            </a:lvl2pPr>
            <a:lvl3pPr>
              <a:tabLst>
                <a:tab pos="354013" algn="l"/>
              </a:tabLst>
              <a:defRPr sz="2400">
                <a:solidFill>
                  <a:schemeClr val="tx1"/>
                </a:solidFill>
                <a:latin typeface="Arial" charset="0"/>
                <a:ea typeface="楷体_GB2312" pitchFamily="49" charset="-122"/>
              </a:defRPr>
            </a:lvl3pPr>
            <a:lvl4pPr>
              <a:tabLst>
                <a:tab pos="354013" algn="l"/>
              </a:tabLst>
              <a:defRPr sz="2000">
                <a:solidFill>
                  <a:schemeClr val="tx1"/>
                </a:solidFill>
                <a:latin typeface="Arial" charset="0"/>
                <a:ea typeface="楷体_GB2312" pitchFamily="49" charset="-122"/>
              </a:defRPr>
            </a:lvl4pPr>
            <a:lvl5pPr>
              <a:tabLst>
                <a:tab pos="354013" algn="l"/>
              </a:tabLst>
              <a:defRPr sz="2000">
                <a:solidFill>
                  <a:schemeClr val="tx1"/>
                </a:solidFill>
                <a:latin typeface="Arial" charset="0"/>
                <a:ea typeface="楷体_GB2312" pitchFamily="49" charset="-122"/>
              </a:defRPr>
            </a:lvl5pPr>
            <a:lvl6pPr eaLnBrk="0" hangingPunct="0">
              <a:tabLst>
                <a:tab pos="354013" algn="l"/>
              </a:tabLst>
              <a:defRPr sz="2000">
                <a:solidFill>
                  <a:schemeClr val="tx1"/>
                </a:solidFill>
                <a:latin typeface="Arial" charset="0"/>
                <a:ea typeface="楷体_GB2312" pitchFamily="49" charset="-122"/>
              </a:defRPr>
            </a:lvl6pPr>
            <a:lvl7pPr eaLnBrk="0" hangingPunct="0">
              <a:tabLst>
                <a:tab pos="354013" algn="l"/>
              </a:tabLst>
              <a:defRPr sz="2000">
                <a:solidFill>
                  <a:schemeClr val="tx1"/>
                </a:solidFill>
                <a:latin typeface="Arial" charset="0"/>
                <a:ea typeface="楷体_GB2312" pitchFamily="49" charset="-122"/>
              </a:defRPr>
            </a:lvl7pPr>
            <a:lvl8pPr eaLnBrk="0" hangingPunct="0">
              <a:tabLst>
                <a:tab pos="354013" algn="l"/>
              </a:tabLst>
              <a:defRPr sz="2000">
                <a:solidFill>
                  <a:schemeClr val="tx1"/>
                </a:solidFill>
                <a:latin typeface="Arial" charset="0"/>
                <a:ea typeface="楷体_GB2312" pitchFamily="49" charset="-122"/>
              </a:defRPr>
            </a:lvl8pPr>
            <a:lvl9pPr eaLnBrk="0" hangingPunct="0">
              <a:tabLst>
                <a:tab pos="354013" algn="l"/>
              </a:tabLst>
              <a:defRPr sz="2000">
                <a:solidFill>
                  <a:schemeClr val="tx1"/>
                </a:solidFill>
                <a:latin typeface="Arial" charset="0"/>
                <a:ea typeface="楷体_GB2312" pitchFamily="49" charset="-122"/>
              </a:defRPr>
            </a:lvl9pPr>
          </a:lstStyle>
          <a:p>
            <a:pPr marL="0" eaLnBrk="1" hangingPunct="1">
              <a:lnSpc>
                <a:spcPct val="150000"/>
              </a:lnSpc>
            </a:pPr>
            <a:r>
              <a:rPr lang="zh-CN" altLang="zh-CN" sz="24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【例】</a:t>
            </a:r>
            <a:r>
              <a:rPr lang="zh-CN" altLang="zh-CN" sz="2400">
                <a:latin typeface="Times New Roman" panose="02020603050405020304" pitchFamily="18" charset="0"/>
                <a:ea typeface="微软雅黑" panose="020B0503020204020204" pitchFamily="34" charset="-122"/>
                <a:sym typeface="Times New Roman" panose="02020603050405020304" pitchFamily="18" charset="0"/>
              </a:rPr>
              <a:t>假定我们对A、B、C、D四个样品分别测量两个变量和得</a:t>
            </a:r>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     </a:t>
            </a:r>
          </a:p>
          <a:p>
            <a:pPr marL="0" eaLnBrk="1" hangingPunct="1">
              <a:lnSpc>
                <a:spcPct val="150000"/>
              </a:lnSpc>
            </a:pPr>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400">
                <a:latin typeface="Times New Roman" panose="02020603050405020304" pitchFamily="18" charset="0"/>
                <a:ea typeface="微软雅黑" panose="020B0503020204020204" pitchFamily="34" charset="-122"/>
                <a:sym typeface="Times New Roman" panose="02020603050405020304" pitchFamily="18" charset="0"/>
              </a:rPr>
              <a:t>到结果见表。</a:t>
            </a:r>
          </a:p>
        </p:txBody>
      </p:sp>
      <p:graphicFrame>
        <p:nvGraphicFramePr>
          <p:cNvPr id="3" name="object 3"/>
          <p:cNvGraphicFramePr>
            <a:graphicFrameLocks noGrp="1"/>
          </p:cNvGraphicFramePr>
          <p:nvPr>
            <p:extLst>
              <p:ext uri="{D42A27DB-BD31-4B8C-83A1-F6EECF244321}">
                <p14:modId xmlns:p14="http://schemas.microsoft.com/office/powerpoint/2010/main" val="1699055389"/>
              </p:ext>
            </p:extLst>
          </p:nvPr>
        </p:nvGraphicFramePr>
        <p:xfrm>
          <a:off x="838994" y="1946359"/>
          <a:ext cx="7466013" cy="2268660"/>
        </p:xfrm>
        <a:graphic>
          <a:graphicData uri="http://schemas.openxmlformats.org/drawingml/2006/table">
            <a:tbl>
              <a:tblPr/>
              <a:tblGrid>
                <a:gridCol w="2357437">
                  <a:extLst>
                    <a:ext uri="{9D8B030D-6E8A-4147-A177-3AD203B41FA5}">
                      <a16:colId xmlns:a16="http://schemas.microsoft.com/office/drawing/2014/main" val="20000"/>
                    </a:ext>
                  </a:extLst>
                </a:gridCol>
                <a:gridCol w="2554288">
                  <a:extLst>
                    <a:ext uri="{9D8B030D-6E8A-4147-A177-3AD203B41FA5}">
                      <a16:colId xmlns:a16="http://schemas.microsoft.com/office/drawing/2014/main" val="20001"/>
                    </a:ext>
                  </a:extLst>
                </a:gridCol>
                <a:gridCol w="2554288">
                  <a:extLst>
                    <a:ext uri="{9D8B030D-6E8A-4147-A177-3AD203B41FA5}">
                      <a16:colId xmlns:a16="http://schemas.microsoft.com/office/drawing/2014/main" val="2927513231"/>
                    </a:ext>
                  </a:extLst>
                </a:gridCol>
              </a:tblGrid>
              <a:tr h="378110">
                <a:tc rowSpan="2">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zh-CN"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样品</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gridSpan="2">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变量</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hMerge="1">
                  <a:txBody>
                    <a:bodyPr/>
                    <a:lstStyle/>
                    <a:p>
                      <a:endParaRPr lang="zh-CN" altLang="en-US"/>
                    </a:p>
                  </a:txBody>
                  <a:tcPr/>
                </a:tc>
                <a:extLst>
                  <a:ext uri="{0D108BD9-81ED-4DB2-BD59-A6C34878D82A}">
                    <a16:rowId xmlns:a16="http://schemas.microsoft.com/office/drawing/2014/main" val="10000"/>
                  </a:ext>
                </a:extLst>
              </a:tr>
              <a:tr h="378110">
                <a:tc vMerge="1">
                  <a:txBody>
                    <a:bodyPr/>
                    <a:lstStyle/>
                    <a:p>
                      <a:endParaRPr lang="zh-CN" altLang="en-US"/>
                    </a:p>
                  </a:txBody>
                  <a:tcPr/>
                </a:tc>
                <a:tc>
                  <a:txBody>
                    <a:bodyPr/>
                    <a:lstStyle/>
                    <a:p>
                      <a:pPr marL="52388" marR="0" lvl="0" indent="0" algn="ctr" defTabSz="914400" rtl="0" eaLnBrk="1" fontAlgn="base" latinLnBrk="0" hangingPunct="1">
                        <a:lnSpc>
                          <a:spcPct val="100000"/>
                        </a:lnSpc>
                        <a:spcBef>
                          <a:spcPts val="0"/>
                        </a:spcBef>
                        <a:spcAft>
                          <a:spcPct val="0"/>
                        </a:spcAft>
                        <a:buClrTx/>
                        <a:buSzTx/>
                        <a:buFontTx/>
                        <a:buNone/>
                        <a:tabLst>
                          <a:tab pos="2593975" algn="l"/>
                        </a:tabLst>
                        <a:defRPr/>
                      </a:pPr>
                      <a:r>
                        <a:rPr kumimoji="0" lang="zh-CN"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X </a:t>
                      </a:r>
                      <a:r>
                        <a:rPr kumimoji="0" lang="en-US"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1</a:t>
                      </a:r>
                      <a:endParaRPr kumimoji="0" lang="zh-CN"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p>
                      <a:pPr marL="52388" marR="0" lvl="0" indent="0" algn="ctr" defTabSz="914400" rtl="0" eaLnBrk="1" fontAlgn="base" latinLnBrk="0" hangingPunct="1">
                        <a:lnSpc>
                          <a:spcPct val="100000"/>
                        </a:lnSpc>
                        <a:spcBef>
                          <a:spcPts val="0"/>
                        </a:spcBef>
                        <a:spcAft>
                          <a:spcPct val="0"/>
                        </a:spcAft>
                        <a:buClrTx/>
                        <a:buSzTx/>
                        <a:buFontTx/>
                        <a:buNone/>
                        <a:tabLst>
                          <a:tab pos="2593975" algn="l"/>
                        </a:tabLst>
                      </a:pPr>
                      <a:r>
                        <a:rPr kumimoji="0" lang="zh-CN"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X </a:t>
                      </a:r>
                      <a:r>
                        <a:rPr kumimoji="0" lang="zh-CN"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1"/>
                  </a:ext>
                </a:extLst>
              </a:tr>
              <a:tr h="378110">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5</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3</a:t>
                      </a:r>
                      <a:endParaRPr kumimoji="0" lang="zh-CN" altLang="zh-CN" sz="1800" b="0" i="0" u="none" strike="noStrike" cap="none" normalizeH="0" baseline="0" dirty="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78110">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B</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-1</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1</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2497755098"/>
                  </a:ext>
                </a:extLst>
              </a:tr>
              <a:tr h="378110">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C</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1</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-2</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2653610205"/>
                  </a:ext>
                </a:extLst>
              </a:tr>
              <a:tr h="378110">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D</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-3</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-2</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4091783122"/>
                  </a:ext>
                </a:extLst>
              </a:tr>
            </a:tbl>
          </a:graphicData>
        </a:graphic>
      </p:graphicFrame>
      <p:sp>
        <p:nvSpPr>
          <p:cNvPr id="37899" name="object 4"/>
          <p:cNvSpPr txBox="1">
            <a:spLocks noChangeArrowheads="1"/>
          </p:cNvSpPr>
          <p:nvPr/>
        </p:nvSpPr>
        <p:spPr bwMode="auto">
          <a:xfrm>
            <a:off x="838994" y="4869160"/>
            <a:ext cx="5100638" cy="390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3200">
                <a:solidFill>
                  <a:schemeClr val="tx1"/>
                </a:solidFill>
                <a:latin typeface="Arial" charset="0"/>
                <a:ea typeface="楷体_GB2312" pitchFamily="49" charset="-122"/>
              </a:defRPr>
            </a:lvl1pPr>
            <a:lvl2pPr>
              <a:defRPr sz="2800">
                <a:solidFill>
                  <a:schemeClr val="tx1"/>
                </a:solidFill>
                <a:latin typeface="Arial" charset="0"/>
                <a:ea typeface="楷体_GB2312" pitchFamily="49" charset="-122"/>
              </a:defRPr>
            </a:lvl2pPr>
            <a:lvl3pPr>
              <a:defRPr sz="2400">
                <a:solidFill>
                  <a:schemeClr val="tx1"/>
                </a:solidFill>
                <a:latin typeface="Arial" charset="0"/>
                <a:ea typeface="楷体_GB2312" pitchFamily="49" charset="-122"/>
              </a:defRPr>
            </a:lvl3pPr>
            <a:lvl4pPr>
              <a:defRPr sz="2000">
                <a:solidFill>
                  <a:schemeClr val="tx1"/>
                </a:solidFill>
                <a:latin typeface="Arial" charset="0"/>
                <a:ea typeface="楷体_GB2312" pitchFamily="49" charset="-122"/>
              </a:defRPr>
            </a:lvl4pPr>
            <a:lvl5pPr>
              <a:defRPr sz="2000">
                <a:solidFill>
                  <a:schemeClr val="tx1"/>
                </a:solidFill>
                <a:latin typeface="Arial" charset="0"/>
                <a:ea typeface="楷体_GB2312" pitchFamily="49" charset="-122"/>
              </a:defRPr>
            </a:lvl5pPr>
            <a:lvl6pPr eaLnBrk="0" hangingPunct="0">
              <a:defRPr sz="2000">
                <a:solidFill>
                  <a:schemeClr val="tx1"/>
                </a:solidFill>
                <a:latin typeface="Arial" charset="0"/>
                <a:ea typeface="楷体_GB2312" pitchFamily="49" charset="-122"/>
              </a:defRPr>
            </a:lvl6pPr>
            <a:lvl7pPr eaLnBrk="0" hangingPunct="0">
              <a:defRPr sz="2000">
                <a:solidFill>
                  <a:schemeClr val="tx1"/>
                </a:solidFill>
                <a:latin typeface="Arial" charset="0"/>
                <a:ea typeface="楷体_GB2312" pitchFamily="49" charset="-122"/>
              </a:defRPr>
            </a:lvl7pPr>
            <a:lvl8pPr eaLnBrk="0" hangingPunct="0">
              <a:defRPr sz="2000">
                <a:solidFill>
                  <a:schemeClr val="tx1"/>
                </a:solidFill>
                <a:latin typeface="Arial" charset="0"/>
                <a:ea typeface="楷体_GB2312" pitchFamily="49" charset="-122"/>
              </a:defRPr>
            </a:lvl8pPr>
            <a:lvl9pPr eaLnBrk="0" hangingPunct="0">
              <a:defRPr sz="2000">
                <a:solidFill>
                  <a:schemeClr val="tx1"/>
                </a:solidFill>
                <a:latin typeface="Arial" charset="0"/>
                <a:ea typeface="楷体_GB2312" pitchFamily="49" charset="-122"/>
              </a:defRPr>
            </a:lvl9pPr>
          </a:lstStyle>
          <a:p>
            <a:pPr eaLnBrk="1" hangingPunct="1">
              <a:lnSpc>
                <a:spcPts val="3300"/>
              </a:lnSpc>
              <a:spcBef>
                <a:spcPts val="75"/>
              </a:spcBef>
            </a:pPr>
            <a:r>
              <a:rPr lang="zh-CN" altLang="zh-CN" sz="2400">
                <a:latin typeface="Times New Roman" panose="02020603050405020304" pitchFamily="18" charset="0"/>
                <a:ea typeface="微软雅黑" panose="020B0503020204020204" pitchFamily="34" charset="-122"/>
                <a:sym typeface="Times New Roman" panose="02020603050405020304" pitchFamily="18" charset="0"/>
              </a:rPr>
              <a:t>试将以上的样品聚成两类。</a:t>
            </a:r>
          </a:p>
        </p:txBody>
      </p:sp>
      <p:sp>
        <p:nvSpPr>
          <p:cNvPr id="6" name="标题 3"/>
          <p:cNvSpPr txBox="1">
            <a:spLocks/>
          </p:cNvSpPr>
          <p:nvPr/>
        </p:nvSpPr>
        <p:spPr bwMode="gray">
          <a:xfrm>
            <a:off x="756001" y="108000"/>
            <a:ext cx="6768328" cy="492443"/>
          </a:xfrm>
          <a:prstGeom prst="rect">
            <a:avLst/>
          </a:prstGeom>
        </p:spPr>
        <p:txBody>
          <a:bodyPr wrap="square">
            <a:spAutoFit/>
          </a:bodyPr>
          <a:lstStyle>
            <a:lvl1pPr fontAlgn="base">
              <a:lnSpc>
                <a:spcPct val="100000"/>
              </a:lnSpc>
              <a:spcBef>
                <a:spcPct val="0"/>
              </a:spcBef>
              <a:spcAft>
                <a:spcPct val="0"/>
              </a:spcAft>
              <a:buNone/>
              <a:defRPr sz="2600" b="1" spc="50">
                <a:solidFill>
                  <a:schemeClr val="bg1"/>
                </a:solidFill>
                <a:latin typeface="Times New Roman" panose="02020603050405020304" pitchFamily="18" charset="0"/>
                <a:ea typeface="微软雅黑" panose="020B0503020204020204" pitchFamily="34" charset="-122"/>
                <a:cs typeface="+mn-ea"/>
              </a:defRPr>
            </a:lvl1pPr>
          </a:lstStyle>
          <a:p>
            <a:r>
              <a:rPr lang="en-US" altLang="zh-CN">
                <a:sym typeface="Times New Roman" panose="02020603050405020304" pitchFamily="18" charset="0"/>
              </a:rPr>
              <a:t>2.1.1 An </a:t>
            </a:r>
            <a:r>
              <a:rPr lang="en-US" altLang="zh-CN" dirty="0">
                <a:sym typeface="Times New Roman" panose="02020603050405020304" pitchFamily="18" charset="0"/>
              </a:rPr>
              <a:t>Example of K-Means Clustering</a:t>
            </a:r>
            <a:endParaRPr lang="zh-CN" altLang="en-US" dirty="0">
              <a:sym typeface="Times New Roman" panose="02020603050405020304" pitchFamily="18" charset="0"/>
            </a:endParaRPr>
          </a:p>
        </p:txBody>
      </p:sp>
      <p:sp>
        <p:nvSpPr>
          <p:cNvPr id="4" name="矩形 3">
            <a:extLst>
              <a:ext uri="{FF2B5EF4-FFF2-40B4-BE49-F238E27FC236}">
                <a16:creationId xmlns:a16="http://schemas.microsoft.com/office/drawing/2014/main" id="{8992B360-877E-4056-A96B-BDA1ADE4F146}"/>
              </a:ext>
            </a:extLst>
          </p:cNvPr>
          <p:cNvSpPr/>
          <p:nvPr/>
        </p:nvSpPr>
        <p:spPr>
          <a:xfrm>
            <a:off x="3710225" y="4326351"/>
            <a:ext cx="1723550" cy="400110"/>
          </a:xfrm>
          <a:prstGeom prst="rect">
            <a:avLst/>
          </a:prstGeom>
        </p:spPr>
        <p:txBody>
          <a:bodyPr wrap="none">
            <a:spAutoFit/>
          </a:bodyPr>
          <a:lstStyle/>
          <a:p>
            <a:pPr algn="r"/>
            <a:r>
              <a:rPr lang="zh-CN" altLang="zh-CN" sz="2000">
                <a:latin typeface="Times New Roman" panose="02020603050405020304" pitchFamily="18" charset="0"/>
                <a:ea typeface="微软雅黑" panose="020B0503020204020204" pitchFamily="34" charset="-122"/>
                <a:sym typeface="Times New Roman" panose="02020603050405020304" pitchFamily="18" charset="0"/>
              </a:rPr>
              <a:t>样品测量结果</a:t>
            </a:r>
          </a:p>
        </p:txBody>
      </p:sp>
    </p:spTree>
    <p:extLst>
      <p:ext uri="{BB962C8B-B14F-4D97-AF65-F5344CB8AC3E}">
        <p14:creationId xmlns:p14="http://schemas.microsoft.com/office/powerpoint/2010/main" val="108721736"/>
      </p:ext>
    </p:extLst>
  </p:cSld>
  <p:clrMapOvr>
    <a:masterClrMapping/>
  </p:clrMapOvr>
  <p:transition spd="med">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custDataLst>
              <p:tags r:id="rId2"/>
            </p:custDataLst>
          </p:nvPr>
        </p:nvSpPr>
        <p:spPr>
          <a:xfrm>
            <a:off x="579206" y="672616"/>
            <a:ext cx="2883066" cy="635000"/>
          </a:xfrm>
          <a:prstGeom prst="rect">
            <a:avLst/>
          </a:prstGeom>
          <a:noFill/>
        </p:spPr>
        <p:txBody>
          <a:bodyPr vert="horz" wrap="square" rtlCol="0" anchor="ctr" anchorCtr="0">
            <a:noAutofit/>
          </a:bodyPr>
          <a:lstStyle/>
          <a:p>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最后形成的</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类为</a:t>
            </a:r>
          </a:p>
        </p:txBody>
      </p:sp>
      <p:sp>
        <p:nvSpPr>
          <p:cNvPr id="7" name="TextBox 6"/>
          <p:cNvSpPr txBox="1"/>
          <p:nvPr>
            <p:custDataLst>
              <p:tags r:id="rId3"/>
            </p:custDataLst>
          </p:nvPr>
        </p:nvSpPr>
        <p:spPr>
          <a:xfrm>
            <a:off x="1349846" y="1345902"/>
            <a:ext cx="1905000" cy="642938"/>
          </a:xfrm>
          <a:prstGeom prst="rect">
            <a:avLst/>
          </a:prstGeom>
          <a:noFill/>
        </p:spPr>
        <p:txBody>
          <a:bodyPr vert="horz" rtlCol="0" anchor="ctr" anchorCtr="0">
            <a:noAutofit/>
          </a:bodyPr>
          <a:lstStyle/>
          <a:p>
            <a:r>
              <a:rPr lang="en-US" altLang="zh-CN"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(A,B)(C,D)</a:t>
            </a:r>
            <a:endParaRPr lang="zh-CN" altLang="en-US"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TextBox 7"/>
          <p:cNvSpPr txBox="1"/>
          <p:nvPr>
            <p:custDataLst>
              <p:tags r:id="rId4"/>
            </p:custDataLst>
          </p:nvPr>
        </p:nvSpPr>
        <p:spPr>
          <a:xfrm>
            <a:off x="1349846" y="2054796"/>
            <a:ext cx="2008312" cy="642938"/>
          </a:xfrm>
          <a:prstGeom prst="rect">
            <a:avLst/>
          </a:prstGeom>
          <a:noFill/>
        </p:spPr>
        <p:txBody>
          <a:bodyPr vert="horz" rtlCol="0" anchor="ctr" anchorCtr="0">
            <a:noAutofit/>
          </a:bodyPr>
          <a:lstStyle/>
          <a:p>
            <a:r>
              <a:rPr lang="en-US" altLang="zh-CN"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(A,B,C)(D)</a:t>
            </a:r>
            <a:endParaRPr lang="zh-CN" altLang="en-US"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TextBox 8"/>
          <p:cNvSpPr txBox="1"/>
          <p:nvPr>
            <p:custDataLst>
              <p:tags r:id="rId5"/>
            </p:custDataLst>
          </p:nvPr>
        </p:nvSpPr>
        <p:spPr>
          <a:xfrm>
            <a:off x="1349846" y="2780928"/>
            <a:ext cx="2008312" cy="642938"/>
          </a:xfrm>
          <a:prstGeom prst="rect">
            <a:avLst/>
          </a:prstGeom>
          <a:noFill/>
        </p:spPr>
        <p:txBody>
          <a:bodyPr vert="horz" rtlCol="0" anchor="ctr" anchorCtr="0">
            <a:noAutofit/>
          </a:bodyPr>
          <a:lstStyle/>
          <a:p>
            <a:r>
              <a:rPr lang="en-US" altLang="zh-CN"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(A)(B,C,D)</a:t>
            </a:r>
            <a:endParaRPr lang="zh-CN" altLang="en-US"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椭圆 10"/>
          <p:cNvSpPr>
            <a:spLocks noChangeAspect="1"/>
          </p:cNvSpPr>
          <p:nvPr>
            <p:custDataLst>
              <p:tags r:id="rId6"/>
            </p:custDataLst>
          </p:nvPr>
        </p:nvSpPr>
        <p:spPr bwMode="auto">
          <a:xfrm>
            <a:off x="827584" y="1410195"/>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A</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椭圆 11"/>
          <p:cNvSpPr>
            <a:spLocks noChangeAspect="1"/>
          </p:cNvSpPr>
          <p:nvPr>
            <p:custDataLst>
              <p:tags r:id="rId7"/>
            </p:custDataLst>
          </p:nvPr>
        </p:nvSpPr>
        <p:spPr bwMode="auto">
          <a:xfrm>
            <a:off x="827584" y="2119089"/>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B</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椭圆 12"/>
          <p:cNvSpPr>
            <a:spLocks noChangeAspect="1"/>
          </p:cNvSpPr>
          <p:nvPr>
            <p:custDataLst>
              <p:tags r:id="rId8"/>
            </p:custDataLst>
          </p:nvPr>
        </p:nvSpPr>
        <p:spPr bwMode="auto">
          <a:xfrm>
            <a:off x="827584" y="2845221"/>
            <a:ext cx="514350" cy="514350"/>
          </a:xfrm>
          <a:prstGeom prst="ellipse">
            <a:avLst/>
          </a:prstGeom>
          <a:solidFill>
            <a:srgbClr val="FF99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圆角矩形 14"/>
          <p:cNvSpPr/>
          <p:nvPr>
            <p:custDataLst>
              <p:tags r:id="rId9"/>
            </p:custDataLst>
          </p:nvPr>
        </p:nvSpPr>
        <p:spPr bwMode="auto">
          <a:xfrm>
            <a:off x="254000" y="6210936"/>
            <a:ext cx="1543050" cy="411480"/>
          </a:xfrm>
          <a:prstGeom prst="roundRect">
            <a:avLst/>
          </a:prstGeom>
          <a:gradFill flip="none" rotWithShape="1">
            <a:gsLst>
              <a:gs pos="0">
                <a:srgbClr val="13548C">
                  <a:shade val="30000"/>
                  <a:satMod val="115000"/>
                </a:srgbClr>
              </a:gs>
              <a:gs pos="50000">
                <a:srgbClr val="13548C">
                  <a:shade val="67500"/>
                  <a:satMod val="115000"/>
                </a:srgbClr>
              </a:gs>
              <a:gs pos="100000">
                <a:srgbClr val="13548C">
                  <a:shade val="100000"/>
                  <a:satMod val="115000"/>
                </a:srgbClr>
              </a:gs>
            </a:gsLst>
            <a:lin ang="16200000" scaled="1"/>
            <a:tileRect/>
          </a:gradFill>
          <a:ln w="381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提交</a:t>
            </a:r>
          </a:p>
        </p:txBody>
      </p:sp>
      <p:sp>
        <p:nvSpPr>
          <p:cNvPr id="22" name="object 2"/>
          <p:cNvSpPr txBox="1">
            <a:spLocks noChangeArrowheads="1"/>
          </p:cNvSpPr>
          <p:nvPr/>
        </p:nvSpPr>
        <p:spPr>
          <a:xfrm>
            <a:off x="254000" y="3509312"/>
            <a:ext cx="8676000" cy="1503864"/>
          </a:xfrm>
          <a:prstGeom prst="rect">
            <a:avLst/>
          </a:prstGeom>
        </p:spPr>
        <p:txBody>
          <a:bodyPr wrap="square" lIns="0" tIns="72000" rIns="0" bIns="0">
            <a:spAutoFit/>
          </a:bodyPr>
          <a:lstStyle>
            <a:lvl1pPr marL="342900" indent="-342900" algn="l" rtl="0" eaLnBrk="1" fontAlgn="base" hangingPunct="1">
              <a:lnSpc>
                <a:spcPct val="120000"/>
              </a:lnSpc>
              <a:spcBef>
                <a:spcPct val="20000"/>
              </a:spcBef>
              <a:spcAft>
                <a:spcPct val="0"/>
              </a:spcAft>
              <a:buClrTx/>
              <a:buFont typeface="Wingdings" pitchFamily="2" charset="2"/>
              <a:buChar char=""/>
              <a:defRPr sz="3000" b="0" spc="0" baseline="0">
                <a:solidFill>
                  <a:schemeClr val="tx1"/>
                </a:solidFill>
                <a:latin typeface="华文中宋" panose="02010600040101010101" pitchFamily="2" charset="-122"/>
                <a:ea typeface="华文中宋" panose="02010600040101010101" pitchFamily="2" charset="-122"/>
                <a:cs typeface="+mn-cs"/>
              </a:defRPr>
            </a:lvl1pPr>
            <a:lvl2pPr marL="742950" indent="-285750" algn="l" rtl="0" eaLnBrk="1" fontAlgn="base" hangingPunct="1">
              <a:lnSpc>
                <a:spcPct val="120000"/>
              </a:lnSpc>
              <a:spcBef>
                <a:spcPct val="20000"/>
              </a:spcBef>
              <a:spcAft>
                <a:spcPct val="0"/>
              </a:spcAft>
              <a:buClrTx/>
              <a:buFont typeface="Wingdings" pitchFamily="2" charset="2"/>
              <a:buChar char="§"/>
              <a:defRPr sz="2600" b="0" spc="0" baseline="0">
                <a:solidFill>
                  <a:schemeClr val="tx1"/>
                </a:solidFill>
                <a:latin typeface="华文中宋" panose="02010600040101010101" pitchFamily="2" charset="-122"/>
                <a:ea typeface="华文中宋" panose="02010600040101010101" pitchFamily="2" charset="-122"/>
              </a:defRPr>
            </a:lvl2pPr>
            <a:lvl3pPr marL="914400" indent="0" algn="l" rtl="0" eaLnBrk="1" fontAlgn="base" hangingPunct="1">
              <a:lnSpc>
                <a:spcPct val="120000"/>
              </a:lnSpc>
              <a:spcBef>
                <a:spcPct val="20000"/>
              </a:spcBef>
              <a:spcAft>
                <a:spcPct val="0"/>
              </a:spcAft>
              <a:buClr>
                <a:srgbClr val="00B0F0"/>
              </a:buClr>
              <a:buNone/>
              <a:defRPr lang="zh-CN" altLang="en-US" sz="2400" b="0" cap="none" spc="0" baseline="0" dirty="0" smtClean="0">
                <a:ln>
                  <a:noFill/>
                </a:ln>
                <a:solidFill>
                  <a:schemeClr val="tx1"/>
                </a:solidFill>
                <a:effectLst/>
                <a:latin typeface="华文中宋" panose="02010600040101010101" pitchFamily="2" charset="-122"/>
                <a:ea typeface="华文中宋" panose="02010600040101010101" pitchFamily="2" charset="-122"/>
              </a:defRPr>
            </a:lvl3pPr>
            <a:lvl4pPr marL="1600200" indent="-228600" algn="l" rtl="0" eaLnBrk="1" fontAlgn="base" hangingPunct="1">
              <a:lnSpc>
                <a:spcPct val="120000"/>
              </a:lnSpc>
              <a:spcBef>
                <a:spcPct val="20000"/>
              </a:spcBef>
              <a:spcAft>
                <a:spcPct val="0"/>
              </a:spcAft>
              <a:buChar char="–"/>
              <a:defRPr sz="2200" b="0" spc="0" baseline="0">
                <a:solidFill>
                  <a:schemeClr val="tx1"/>
                </a:solidFill>
                <a:latin typeface="华文中宋" panose="02010600040101010101" pitchFamily="2" charset="-122"/>
                <a:ea typeface="华文中宋" panose="02010600040101010101" pitchFamily="2" charset="-122"/>
              </a:defRPr>
            </a:lvl4pPr>
            <a:lvl5pPr marL="2057400" indent="-228600" algn="l" rtl="0" eaLnBrk="1" fontAlgn="base" hangingPunct="1">
              <a:lnSpc>
                <a:spcPct val="120000"/>
              </a:lnSpc>
              <a:spcBef>
                <a:spcPct val="20000"/>
              </a:spcBef>
              <a:spcAft>
                <a:spcPct val="0"/>
              </a:spcAft>
              <a:buChar char="»"/>
              <a:defRPr lang="zh-CN" altLang="en-US" sz="2000" b="0" cap="none" spc="0" baseline="0" dirty="0" smtClean="0">
                <a:ln>
                  <a:noFill/>
                </a:ln>
                <a:solidFill>
                  <a:schemeClr val="tx1"/>
                </a:solidFill>
                <a:effectLst/>
                <a:latin typeface="华文中宋" panose="02010600040101010101" pitchFamily="2" charset="-122"/>
                <a:ea typeface="华文中宋" panose="02010600040101010101" pitchFamily="2" charset="-122"/>
              </a:defRPr>
            </a:lvl5pPr>
            <a:lvl6pPr marL="2514600" indent="-228600" algn="l" rtl="0" eaLnBrk="1" fontAlgn="base" hangingPunct="1">
              <a:spcBef>
                <a:spcPct val="20000"/>
              </a:spcBef>
              <a:spcAft>
                <a:spcPct val="0"/>
              </a:spcAft>
              <a:buChar char="»"/>
              <a:defRPr sz="2000">
                <a:solidFill>
                  <a:schemeClr val="tx2"/>
                </a:solidFill>
                <a:latin typeface="Arial" charset="0"/>
              </a:defRPr>
            </a:lvl6pPr>
            <a:lvl7pPr marL="2971800" indent="-228600" algn="l" rtl="0" eaLnBrk="1" fontAlgn="base" hangingPunct="1">
              <a:spcBef>
                <a:spcPct val="20000"/>
              </a:spcBef>
              <a:spcAft>
                <a:spcPct val="0"/>
              </a:spcAft>
              <a:buChar char="»"/>
              <a:defRPr sz="2000">
                <a:solidFill>
                  <a:schemeClr val="tx2"/>
                </a:solidFill>
                <a:latin typeface="Arial" charset="0"/>
              </a:defRPr>
            </a:lvl7pPr>
            <a:lvl8pPr marL="3429000" indent="-228600" algn="l" rtl="0" eaLnBrk="1" fontAlgn="base" hangingPunct="1">
              <a:spcBef>
                <a:spcPct val="20000"/>
              </a:spcBef>
              <a:spcAft>
                <a:spcPct val="0"/>
              </a:spcAft>
              <a:buChar char="»"/>
              <a:defRPr sz="2000">
                <a:solidFill>
                  <a:schemeClr val="tx2"/>
                </a:solidFill>
                <a:latin typeface="Arial" charset="0"/>
              </a:defRPr>
            </a:lvl8pPr>
            <a:lvl9pPr marL="3886200" indent="-228600" algn="l" rtl="0" eaLnBrk="1" fontAlgn="base" hangingPunct="1">
              <a:spcBef>
                <a:spcPct val="20000"/>
              </a:spcBef>
              <a:spcAft>
                <a:spcPct val="0"/>
              </a:spcAft>
              <a:buChar char="»"/>
              <a:defRPr sz="2000">
                <a:solidFill>
                  <a:schemeClr val="tx2"/>
                </a:solidFill>
                <a:latin typeface="Arial" charset="0"/>
              </a:defRPr>
            </a:lvl9pPr>
          </a:lstStyle>
          <a:p>
            <a:pPr marL="0" indent="0" algn="just">
              <a:lnSpc>
                <a:spcPct val="100000"/>
              </a:lnSpc>
              <a:spcBef>
                <a:spcPts val="600"/>
              </a:spcBef>
              <a:buClr>
                <a:srgbClr val="FF9900"/>
              </a:buClr>
              <a:buNone/>
            </a:pP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200">
                <a:latin typeface="Times New Roman" panose="02020603050405020304" pitchFamily="18" charset="0"/>
                <a:ea typeface="微软雅黑" panose="020B0503020204020204" pitchFamily="34" charset="-122"/>
                <a:sym typeface="Times New Roman" panose="02020603050405020304" pitchFamily="18" charset="0"/>
              </a:rPr>
              <a:t>第一</a:t>
            </a:r>
            <a:r>
              <a:rPr lang="zh-CN" altLang="zh-CN" sz="2200" dirty="0">
                <a:latin typeface="Times New Roman" panose="02020603050405020304" pitchFamily="18" charset="0"/>
                <a:ea typeface="微软雅黑" panose="020B0503020204020204" pitchFamily="34" charset="-122"/>
                <a:sym typeface="Times New Roman" panose="02020603050405020304" pitchFamily="18" charset="0"/>
              </a:rPr>
              <a:t>步：按要求取K=2，为了实施均值法聚类，我们</a:t>
            </a:r>
            <a:r>
              <a:rPr lang="zh-CN" altLang="zh-CN" sz="2200">
                <a:latin typeface="Times New Roman" panose="02020603050405020304" pitchFamily="18" charset="0"/>
                <a:ea typeface="微软雅黑" panose="020B0503020204020204" pitchFamily="34" charset="-122"/>
                <a:sym typeface="Times New Roman" panose="02020603050405020304" pitchFamily="18" charset="0"/>
              </a:rPr>
              <a:t>将这些</a:t>
            </a:r>
            <a:r>
              <a:rPr lang="zh-CN" altLang="zh-CN" sz="2200" dirty="0">
                <a:latin typeface="Times New Roman" panose="02020603050405020304" pitchFamily="18" charset="0"/>
                <a:ea typeface="微软雅黑" panose="020B0503020204020204" pitchFamily="34" charset="-122"/>
                <a:sym typeface="Times New Roman" panose="02020603050405020304" pitchFamily="18" charset="0"/>
              </a:rPr>
              <a:t>样品随意分成两类，比如（A、B）和（C、D），然后  计算这两个聚类的中心坐标，见下表所示。</a:t>
            </a:r>
          </a:p>
          <a:p>
            <a:pPr marL="0" indent="0" algn="just">
              <a:lnSpc>
                <a:spcPct val="100000"/>
              </a:lnSpc>
              <a:spcBef>
                <a:spcPts val="600"/>
              </a:spcBef>
              <a:buClr>
                <a:srgbClr val="FF9900"/>
              </a:buClr>
              <a:buNone/>
            </a:pP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200">
                <a:latin typeface="Times New Roman" panose="02020603050405020304" pitchFamily="18" charset="0"/>
                <a:ea typeface="微软雅黑" panose="020B0503020204020204" pitchFamily="34" charset="-122"/>
                <a:sym typeface="Times New Roman" panose="02020603050405020304" pitchFamily="18" charset="0"/>
              </a:rPr>
              <a:t>中心</a:t>
            </a:r>
            <a:r>
              <a:rPr lang="zh-CN" altLang="zh-CN" sz="2200" dirty="0">
                <a:latin typeface="Times New Roman" panose="02020603050405020304" pitchFamily="18" charset="0"/>
                <a:ea typeface="微软雅黑" panose="020B0503020204020204" pitchFamily="34" charset="-122"/>
                <a:sym typeface="Times New Roman" panose="02020603050405020304" pitchFamily="18" charset="0"/>
              </a:rPr>
              <a:t>坐标是通过原始数据计算得来的。</a:t>
            </a:r>
          </a:p>
        </p:txBody>
      </p:sp>
      <p:graphicFrame>
        <p:nvGraphicFramePr>
          <p:cNvPr id="27" name="object 3">
            <a:extLst>
              <a:ext uri="{FF2B5EF4-FFF2-40B4-BE49-F238E27FC236}">
                <a16:creationId xmlns:a16="http://schemas.microsoft.com/office/drawing/2014/main" id="{EAC731AE-B35F-4E3F-8966-6A63ABA70C22}"/>
              </a:ext>
            </a:extLst>
          </p:cNvPr>
          <p:cNvGraphicFramePr>
            <a:graphicFrameLocks noGrp="1"/>
          </p:cNvGraphicFramePr>
          <p:nvPr>
            <p:extLst>
              <p:ext uri="{D42A27DB-BD31-4B8C-83A1-F6EECF244321}">
                <p14:modId xmlns:p14="http://schemas.microsoft.com/office/powerpoint/2010/main" val="3658313363"/>
              </p:ext>
            </p:extLst>
          </p:nvPr>
        </p:nvGraphicFramePr>
        <p:xfrm>
          <a:off x="3669697" y="908395"/>
          <a:ext cx="5225529" cy="2268660"/>
        </p:xfrm>
        <a:graphic>
          <a:graphicData uri="http://schemas.openxmlformats.org/drawingml/2006/table">
            <a:tbl>
              <a:tblPr/>
              <a:tblGrid>
                <a:gridCol w="1649991">
                  <a:extLst>
                    <a:ext uri="{9D8B030D-6E8A-4147-A177-3AD203B41FA5}">
                      <a16:colId xmlns:a16="http://schemas.microsoft.com/office/drawing/2014/main" val="20000"/>
                    </a:ext>
                  </a:extLst>
                </a:gridCol>
                <a:gridCol w="1787769">
                  <a:extLst>
                    <a:ext uri="{9D8B030D-6E8A-4147-A177-3AD203B41FA5}">
                      <a16:colId xmlns:a16="http://schemas.microsoft.com/office/drawing/2014/main" val="20001"/>
                    </a:ext>
                  </a:extLst>
                </a:gridCol>
                <a:gridCol w="1787769">
                  <a:extLst>
                    <a:ext uri="{9D8B030D-6E8A-4147-A177-3AD203B41FA5}">
                      <a16:colId xmlns:a16="http://schemas.microsoft.com/office/drawing/2014/main" val="2927513231"/>
                    </a:ext>
                  </a:extLst>
                </a:gridCol>
              </a:tblGrid>
              <a:tr h="378110">
                <a:tc rowSpan="2">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zh-CN"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样品</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gridSpan="2">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变量</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hMerge="1">
                  <a:txBody>
                    <a:bodyPr/>
                    <a:lstStyle/>
                    <a:p>
                      <a:endParaRPr lang="zh-CN" altLang="en-US"/>
                    </a:p>
                  </a:txBody>
                  <a:tcPr/>
                </a:tc>
                <a:extLst>
                  <a:ext uri="{0D108BD9-81ED-4DB2-BD59-A6C34878D82A}">
                    <a16:rowId xmlns:a16="http://schemas.microsoft.com/office/drawing/2014/main" val="10000"/>
                  </a:ext>
                </a:extLst>
              </a:tr>
              <a:tr h="378110">
                <a:tc vMerge="1">
                  <a:txBody>
                    <a:bodyPr/>
                    <a:lstStyle/>
                    <a:p>
                      <a:endParaRPr lang="zh-CN" altLang="en-US"/>
                    </a:p>
                  </a:txBody>
                  <a:tcPr/>
                </a:tc>
                <a:tc>
                  <a:txBody>
                    <a:bodyPr/>
                    <a:lstStyle/>
                    <a:p>
                      <a:pPr marL="52388" marR="0" lvl="0" indent="0" algn="ctr" defTabSz="914400" rtl="0" eaLnBrk="1" fontAlgn="base" latinLnBrk="0" hangingPunct="1">
                        <a:lnSpc>
                          <a:spcPct val="100000"/>
                        </a:lnSpc>
                        <a:spcBef>
                          <a:spcPts val="0"/>
                        </a:spcBef>
                        <a:spcAft>
                          <a:spcPct val="0"/>
                        </a:spcAft>
                        <a:buClrTx/>
                        <a:buSzTx/>
                        <a:buFontTx/>
                        <a:buNone/>
                        <a:tabLst>
                          <a:tab pos="2593975" algn="l"/>
                        </a:tabLst>
                        <a:defRPr/>
                      </a:pPr>
                      <a:r>
                        <a:rPr kumimoji="0" lang="zh-CN"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X </a:t>
                      </a:r>
                      <a:r>
                        <a:rPr kumimoji="0" lang="en-US"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1</a:t>
                      </a:r>
                      <a:endParaRPr kumimoji="0" lang="zh-CN"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p>
                      <a:pPr marL="52388" marR="0" lvl="0" indent="0" algn="ctr" defTabSz="914400" rtl="0" eaLnBrk="1" fontAlgn="base" latinLnBrk="0" hangingPunct="1">
                        <a:lnSpc>
                          <a:spcPct val="100000"/>
                        </a:lnSpc>
                        <a:spcBef>
                          <a:spcPts val="0"/>
                        </a:spcBef>
                        <a:spcAft>
                          <a:spcPct val="0"/>
                        </a:spcAft>
                        <a:buClrTx/>
                        <a:buSzTx/>
                        <a:buFontTx/>
                        <a:buNone/>
                        <a:tabLst>
                          <a:tab pos="2593975" algn="l"/>
                        </a:tabLst>
                      </a:pPr>
                      <a:r>
                        <a:rPr kumimoji="0" lang="zh-CN"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X </a:t>
                      </a:r>
                      <a:r>
                        <a:rPr kumimoji="0" lang="zh-CN"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1"/>
                  </a:ext>
                </a:extLst>
              </a:tr>
              <a:tr h="378110">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5</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3</a:t>
                      </a:r>
                      <a:endParaRPr kumimoji="0" lang="zh-CN" altLang="zh-CN" sz="1800" b="0" i="0" u="none" strike="noStrike" cap="none" normalizeH="0" baseline="0" dirty="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78110">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B</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-1</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1</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2497755098"/>
                  </a:ext>
                </a:extLst>
              </a:tr>
              <a:tr h="378110">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C</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1</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-2</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2653610205"/>
                  </a:ext>
                </a:extLst>
              </a:tr>
              <a:tr h="378110">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D</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-3</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-2</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4091783122"/>
                  </a:ext>
                </a:extLst>
              </a:tr>
            </a:tbl>
          </a:graphicData>
        </a:graphic>
      </p:graphicFrame>
      <p:graphicFrame>
        <p:nvGraphicFramePr>
          <p:cNvPr id="28" name="object 3">
            <a:extLst>
              <a:ext uri="{FF2B5EF4-FFF2-40B4-BE49-F238E27FC236}">
                <a16:creationId xmlns:a16="http://schemas.microsoft.com/office/drawing/2014/main" id="{1DFE720F-88BA-41F2-B0D8-7BC9DA44AFE4}"/>
              </a:ext>
            </a:extLst>
          </p:cNvPr>
          <p:cNvGraphicFramePr>
            <a:graphicFrameLocks noGrp="1"/>
          </p:cNvGraphicFramePr>
          <p:nvPr>
            <p:extLst>
              <p:ext uri="{D42A27DB-BD31-4B8C-83A1-F6EECF244321}">
                <p14:modId xmlns:p14="http://schemas.microsoft.com/office/powerpoint/2010/main" val="1504719656"/>
              </p:ext>
            </p:extLst>
          </p:nvPr>
        </p:nvGraphicFramePr>
        <p:xfrm>
          <a:off x="3669697" y="5149359"/>
          <a:ext cx="5225529" cy="1512440"/>
        </p:xfrm>
        <a:graphic>
          <a:graphicData uri="http://schemas.openxmlformats.org/drawingml/2006/table">
            <a:tbl>
              <a:tblPr/>
              <a:tblGrid>
                <a:gridCol w="1649991">
                  <a:extLst>
                    <a:ext uri="{9D8B030D-6E8A-4147-A177-3AD203B41FA5}">
                      <a16:colId xmlns:a16="http://schemas.microsoft.com/office/drawing/2014/main" val="20000"/>
                    </a:ext>
                  </a:extLst>
                </a:gridCol>
                <a:gridCol w="1787769">
                  <a:extLst>
                    <a:ext uri="{9D8B030D-6E8A-4147-A177-3AD203B41FA5}">
                      <a16:colId xmlns:a16="http://schemas.microsoft.com/office/drawing/2014/main" val="20001"/>
                    </a:ext>
                  </a:extLst>
                </a:gridCol>
                <a:gridCol w="1787769">
                  <a:extLst>
                    <a:ext uri="{9D8B030D-6E8A-4147-A177-3AD203B41FA5}">
                      <a16:colId xmlns:a16="http://schemas.microsoft.com/office/drawing/2014/main" val="2927513231"/>
                    </a:ext>
                  </a:extLst>
                </a:gridCol>
              </a:tblGrid>
              <a:tr h="378110">
                <a:tc rowSpan="2">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聚类</a:t>
                      </a:r>
                      <a:endParaRPr kumimoji="0" lang="zh-CN"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gridSpan="2">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中心坐标</a:t>
                      </a:r>
                      <a:endParaRPr kumimoji="0" lang="zh-CN"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hMerge="1">
                  <a:txBody>
                    <a:bodyPr/>
                    <a:lstStyle/>
                    <a:p>
                      <a:endParaRPr lang="zh-CN" altLang="en-US"/>
                    </a:p>
                  </a:txBody>
                  <a:tcPr/>
                </a:tc>
                <a:extLst>
                  <a:ext uri="{0D108BD9-81ED-4DB2-BD59-A6C34878D82A}">
                    <a16:rowId xmlns:a16="http://schemas.microsoft.com/office/drawing/2014/main" val="10000"/>
                  </a:ext>
                </a:extLst>
              </a:tr>
              <a:tr h="378110">
                <a:tc vMerge="1">
                  <a:txBody>
                    <a:bodyPr/>
                    <a:lstStyle/>
                    <a:p>
                      <a:endParaRPr lang="zh-CN" altLang="en-US"/>
                    </a:p>
                  </a:txBody>
                  <a:tcPr/>
                </a:tc>
                <a:tc>
                  <a:txBody>
                    <a:bodyPr/>
                    <a:lstStyle/>
                    <a:p>
                      <a:pPr marL="52388" marR="0" lvl="0" indent="0" algn="ctr" defTabSz="914400" rtl="0" eaLnBrk="1" fontAlgn="base" latinLnBrk="0" hangingPunct="1">
                        <a:lnSpc>
                          <a:spcPct val="100000"/>
                        </a:lnSpc>
                        <a:spcBef>
                          <a:spcPts val="0"/>
                        </a:spcBef>
                        <a:spcAft>
                          <a:spcPct val="0"/>
                        </a:spcAft>
                        <a:buClrTx/>
                        <a:buSzTx/>
                        <a:buFontTx/>
                        <a:buNone/>
                        <a:tabLst>
                          <a:tab pos="2593975" algn="l"/>
                        </a:tabLst>
                        <a:defRPr/>
                      </a:pPr>
                      <a:r>
                        <a:rPr kumimoji="0" lang="en-US"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a:t>
                      </a:r>
                      <a:r>
                        <a:rPr kumimoji="0" lang="zh-CN"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X </a:t>
                      </a:r>
                      <a:r>
                        <a:rPr kumimoji="0" lang="en-US"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1</a:t>
                      </a:r>
                      <a:endParaRPr kumimoji="0" lang="zh-CN"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p>
                      <a:pPr marL="52388" marR="0" lvl="0" indent="0" algn="ctr" defTabSz="914400" rtl="0" eaLnBrk="1" fontAlgn="base" latinLnBrk="0" hangingPunct="1">
                        <a:lnSpc>
                          <a:spcPct val="100000"/>
                        </a:lnSpc>
                        <a:spcBef>
                          <a:spcPts val="0"/>
                        </a:spcBef>
                        <a:spcAft>
                          <a:spcPct val="0"/>
                        </a:spcAft>
                        <a:buClrTx/>
                        <a:buSzTx/>
                        <a:buFontTx/>
                        <a:buNone/>
                        <a:tabLst>
                          <a:tab pos="2593975" algn="l"/>
                        </a:tabLst>
                      </a:pPr>
                      <a:r>
                        <a:rPr kumimoji="0" lang="en-US"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a:t>
                      </a:r>
                      <a:r>
                        <a:rPr kumimoji="0" lang="zh-CN"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X </a:t>
                      </a:r>
                      <a:r>
                        <a:rPr kumimoji="0" lang="zh-CN"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1"/>
                  </a:ext>
                </a:extLst>
              </a:tr>
              <a:tr h="378110">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a:t>
                      </a: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B</a:t>
                      </a: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2</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2</a:t>
                      </a:r>
                      <a:endParaRPr kumimoji="0" lang="zh-CN" altLang="zh-CN" sz="1800" b="0" i="0" u="none" strike="noStrike" cap="none" normalizeH="0" baseline="0" dirty="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78110">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C</a:t>
                      </a: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D</a:t>
                      </a: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-1</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-2</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4091783122"/>
                  </a:ext>
                </a:extLst>
              </a:tr>
            </a:tbl>
          </a:graphicData>
        </a:graphic>
      </p:graphicFrame>
      <p:grpSp>
        <p:nvGrpSpPr>
          <p:cNvPr id="20" name="组合 19"/>
          <p:cNvGrpSpPr/>
          <p:nvPr>
            <p:custDataLst>
              <p:tags r:id="rId10"/>
            </p:custDataLst>
          </p:nvPr>
        </p:nvGrpSpPr>
        <p:grpSpPr>
          <a:xfrm>
            <a:off x="0" y="0"/>
            <a:ext cx="9144000" cy="635000"/>
            <a:chOff x="0" y="0"/>
            <a:chExt cx="9144000" cy="635000"/>
          </a:xfrm>
        </p:grpSpPr>
        <p:sp>
          <p:nvSpPr>
            <p:cNvPr id="16" name="TitleBackground"/>
            <p:cNvSpPr/>
            <p:nvPr>
              <p:custDataLst>
                <p:tags r:id="rId12"/>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ColorBlock"/>
            <p:cNvSpPr/>
            <p:nvPr>
              <p:custDataLst>
                <p:tags r:id="rId13"/>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单选题</a:t>
              </a:r>
            </a:p>
          </p:txBody>
        </p:sp>
        <p:sp>
          <p:nvSpPr>
            <p:cNvPr id="19" name="TipText"/>
            <p:cNvSpPr txBox="1"/>
            <p:nvPr>
              <p:custDataLst>
                <p:tags r:id="rId15"/>
              </p:custDataLst>
            </p:nvPr>
          </p:nvSpPr>
          <p:spPr>
            <a:xfrm>
              <a:off x="1510030" y="109220"/>
              <a:ext cx="2286000" cy="508000"/>
            </a:xfrm>
            <a:prstGeom prst="rect">
              <a:avLst/>
            </a:prstGeom>
            <a:noFill/>
          </p:spPr>
          <p:txBody>
            <a:bodyPr vert="horz" wrap="none" rtlCol="0" anchor="ctr" anchorCtr="0">
              <a:noAutofit/>
            </a:bodyPr>
            <a:lstStyle/>
            <a:p>
              <a:r>
                <a:rPr lang="en-US" altLang="zh-CN"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分</a:t>
              </a:r>
            </a:p>
          </p:txBody>
        </p:sp>
      </p:grpSp>
      <p:pic>
        <p:nvPicPr>
          <p:cNvPr id="5" name="图片 4"/>
          <p:cNvPicPr>
            <a:picLocks/>
          </p:cNvPicPr>
          <p:nvPr>
            <p:custDataLst>
              <p:tags r:id="rId11"/>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218657525"/>
      </p:ext>
    </p:extLst>
  </p:cSld>
  <p:clrMapOvr>
    <a:masterClrMapping/>
  </p:clrMapOvr>
  <p:transition spd="med">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3">
            <a:extLst>
              <a:ext uri="{FF2B5EF4-FFF2-40B4-BE49-F238E27FC236}">
                <a16:creationId xmlns:a16="http://schemas.microsoft.com/office/drawing/2014/main" id="{931A5A7A-4D10-48CB-B6E1-0F80EDBB763D}"/>
              </a:ext>
            </a:extLst>
          </p:cNvPr>
          <p:cNvSpPr txBox="1">
            <a:spLocks/>
          </p:cNvSpPr>
          <p:nvPr/>
        </p:nvSpPr>
        <p:spPr bwMode="gray">
          <a:xfrm>
            <a:off x="756001" y="108000"/>
            <a:ext cx="6768328" cy="492443"/>
          </a:xfrm>
          <a:prstGeom prst="rect">
            <a:avLst/>
          </a:prstGeom>
        </p:spPr>
        <p:txBody>
          <a:bodyPr wrap="square">
            <a:spAutoFit/>
          </a:bodyPr>
          <a:lstStyle>
            <a:lvl1pPr fontAlgn="base">
              <a:lnSpc>
                <a:spcPct val="100000"/>
              </a:lnSpc>
              <a:spcBef>
                <a:spcPct val="0"/>
              </a:spcBef>
              <a:spcAft>
                <a:spcPct val="0"/>
              </a:spcAft>
              <a:buNone/>
              <a:defRPr sz="2600" b="1" spc="50">
                <a:solidFill>
                  <a:schemeClr val="bg1"/>
                </a:solidFill>
                <a:latin typeface="Times New Roman" panose="02020603050405020304" pitchFamily="18" charset="0"/>
                <a:ea typeface="微软雅黑" panose="020B0503020204020204" pitchFamily="34" charset="-122"/>
                <a:cs typeface="+mn-ea"/>
              </a:defRPr>
            </a:lvl1pPr>
          </a:lstStyle>
          <a:p>
            <a:r>
              <a:rPr lang="en-US" altLang="zh-CN">
                <a:sym typeface="Times New Roman" panose="02020603050405020304" pitchFamily="18" charset="0"/>
              </a:rPr>
              <a:t>2.1.1 An </a:t>
            </a:r>
            <a:r>
              <a:rPr lang="en-US" altLang="zh-CN" dirty="0">
                <a:sym typeface="Times New Roman" panose="02020603050405020304" pitchFamily="18" charset="0"/>
              </a:rPr>
              <a:t>Example of K-Means Clustering</a:t>
            </a:r>
            <a:endParaRPr lang="zh-CN" altLang="en-US" dirty="0">
              <a:sym typeface="Times New Roman" panose="02020603050405020304" pitchFamily="18" charset="0"/>
            </a:endParaRPr>
          </a:p>
        </p:txBody>
      </p:sp>
      <p:graphicFrame>
        <p:nvGraphicFramePr>
          <p:cNvPr id="11" name="object 3">
            <a:extLst>
              <a:ext uri="{FF2B5EF4-FFF2-40B4-BE49-F238E27FC236}">
                <a16:creationId xmlns:a16="http://schemas.microsoft.com/office/drawing/2014/main" id="{E786219F-8B45-4BCB-836E-7AD21E3806B9}"/>
              </a:ext>
            </a:extLst>
          </p:cNvPr>
          <p:cNvGraphicFramePr>
            <a:graphicFrameLocks noGrp="1"/>
          </p:cNvGraphicFramePr>
          <p:nvPr>
            <p:extLst>
              <p:ext uri="{D42A27DB-BD31-4B8C-83A1-F6EECF244321}">
                <p14:modId xmlns:p14="http://schemas.microsoft.com/office/powerpoint/2010/main" val="1210479308"/>
              </p:ext>
            </p:extLst>
          </p:nvPr>
        </p:nvGraphicFramePr>
        <p:xfrm>
          <a:off x="790207" y="908394"/>
          <a:ext cx="7563586" cy="2440296"/>
        </p:xfrm>
        <a:graphic>
          <a:graphicData uri="http://schemas.openxmlformats.org/drawingml/2006/table">
            <a:tbl>
              <a:tblPr/>
              <a:tblGrid>
                <a:gridCol w="2388246">
                  <a:extLst>
                    <a:ext uri="{9D8B030D-6E8A-4147-A177-3AD203B41FA5}">
                      <a16:colId xmlns:a16="http://schemas.microsoft.com/office/drawing/2014/main" val="20000"/>
                    </a:ext>
                  </a:extLst>
                </a:gridCol>
                <a:gridCol w="2587670">
                  <a:extLst>
                    <a:ext uri="{9D8B030D-6E8A-4147-A177-3AD203B41FA5}">
                      <a16:colId xmlns:a16="http://schemas.microsoft.com/office/drawing/2014/main" val="20001"/>
                    </a:ext>
                  </a:extLst>
                </a:gridCol>
                <a:gridCol w="2587670">
                  <a:extLst>
                    <a:ext uri="{9D8B030D-6E8A-4147-A177-3AD203B41FA5}">
                      <a16:colId xmlns:a16="http://schemas.microsoft.com/office/drawing/2014/main" val="2927513231"/>
                    </a:ext>
                  </a:extLst>
                </a:gridCol>
              </a:tblGrid>
              <a:tr h="406716">
                <a:tc rowSpan="2">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zh-CN"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样品</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gridSpan="2">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变量</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hMerge="1">
                  <a:txBody>
                    <a:bodyPr/>
                    <a:lstStyle/>
                    <a:p>
                      <a:endParaRPr lang="zh-CN" altLang="en-US"/>
                    </a:p>
                  </a:txBody>
                  <a:tcPr/>
                </a:tc>
                <a:extLst>
                  <a:ext uri="{0D108BD9-81ED-4DB2-BD59-A6C34878D82A}">
                    <a16:rowId xmlns:a16="http://schemas.microsoft.com/office/drawing/2014/main" val="10000"/>
                  </a:ext>
                </a:extLst>
              </a:tr>
              <a:tr h="406716">
                <a:tc vMerge="1">
                  <a:txBody>
                    <a:bodyPr/>
                    <a:lstStyle/>
                    <a:p>
                      <a:endParaRPr lang="zh-CN" altLang="en-US"/>
                    </a:p>
                  </a:txBody>
                  <a:tcPr/>
                </a:tc>
                <a:tc>
                  <a:txBody>
                    <a:bodyPr/>
                    <a:lstStyle/>
                    <a:p>
                      <a:pPr marL="52388" marR="0" lvl="0" indent="0" algn="ctr" defTabSz="914400" rtl="0" eaLnBrk="1" fontAlgn="base" latinLnBrk="0" hangingPunct="1">
                        <a:lnSpc>
                          <a:spcPct val="100000"/>
                        </a:lnSpc>
                        <a:spcBef>
                          <a:spcPts val="0"/>
                        </a:spcBef>
                        <a:spcAft>
                          <a:spcPct val="0"/>
                        </a:spcAft>
                        <a:buClrTx/>
                        <a:buSzTx/>
                        <a:buFontTx/>
                        <a:buNone/>
                        <a:tabLst>
                          <a:tab pos="2593975" algn="l"/>
                        </a:tabLst>
                        <a:defRPr/>
                      </a:pPr>
                      <a:r>
                        <a:rPr kumimoji="0" lang="zh-CN"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X </a:t>
                      </a:r>
                      <a:r>
                        <a:rPr kumimoji="0" lang="en-US"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1</a:t>
                      </a:r>
                      <a:endParaRPr kumimoji="0" lang="zh-CN"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p>
                      <a:pPr marL="52388" marR="0" lvl="0" indent="0" algn="ctr" defTabSz="914400" rtl="0" eaLnBrk="1" fontAlgn="base" latinLnBrk="0" hangingPunct="1">
                        <a:lnSpc>
                          <a:spcPct val="100000"/>
                        </a:lnSpc>
                        <a:spcBef>
                          <a:spcPts val="0"/>
                        </a:spcBef>
                        <a:spcAft>
                          <a:spcPct val="0"/>
                        </a:spcAft>
                        <a:buClrTx/>
                        <a:buSzTx/>
                        <a:buFontTx/>
                        <a:buNone/>
                        <a:tabLst>
                          <a:tab pos="2593975" algn="l"/>
                        </a:tabLst>
                      </a:pPr>
                      <a:r>
                        <a:rPr kumimoji="0" lang="zh-CN"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X </a:t>
                      </a:r>
                      <a:r>
                        <a:rPr kumimoji="0" lang="zh-CN"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1"/>
                  </a:ext>
                </a:extLst>
              </a:tr>
              <a:tr h="406716">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5</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3</a:t>
                      </a:r>
                      <a:endParaRPr kumimoji="0" lang="zh-CN" altLang="zh-CN" sz="1800" b="0" i="0" u="none" strike="noStrike" cap="none" normalizeH="0" baseline="0" dirty="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406716">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B</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-1</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1</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2497755098"/>
                  </a:ext>
                </a:extLst>
              </a:tr>
              <a:tr h="406716">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C</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1</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-2</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2653610205"/>
                  </a:ext>
                </a:extLst>
              </a:tr>
              <a:tr h="406716">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D</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-3</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-2</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4091783122"/>
                  </a:ext>
                </a:extLst>
              </a:tr>
            </a:tbl>
          </a:graphicData>
        </a:graphic>
      </p:graphicFrame>
      <p:graphicFrame>
        <p:nvGraphicFramePr>
          <p:cNvPr id="12" name="object 3">
            <a:extLst>
              <a:ext uri="{FF2B5EF4-FFF2-40B4-BE49-F238E27FC236}">
                <a16:creationId xmlns:a16="http://schemas.microsoft.com/office/drawing/2014/main" id="{ADC07FCA-B64F-4FC4-9831-7C88A926C4D9}"/>
              </a:ext>
            </a:extLst>
          </p:cNvPr>
          <p:cNvGraphicFramePr>
            <a:graphicFrameLocks noGrp="1"/>
          </p:cNvGraphicFramePr>
          <p:nvPr>
            <p:extLst>
              <p:ext uri="{D42A27DB-BD31-4B8C-83A1-F6EECF244321}">
                <p14:modId xmlns:p14="http://schemas.microsoft.com/office/powerpoint/2010/main" val="3687127623"/>
              </p:ext>
            </p:extLst>
          </p:nvPr>
        </p:nvGraphicFramePr>
        <p:xfrm>
          <a:off x="790207" y="5149359"/>
          <a:ext cx="7563586" cy="1512440"/>
        </p:xfrm>
        <a:graphic>
          <a:graphicData uri="http://schemas.openxmlformats.org/drawingml/2006/table">
            <a:tbl>
              <a:tblPr/>
              <a:tblGrid>
                <a:gridCol w="2388246">
                  <a:extLst>
                    <a:ext uri="{9D8B030D-6E8A-4147-A177-3AD203B41FA5}">
                      <a16:colId xmlns:a16="http://schemas.microsoft.com/office/drawing/2014/main" val="20000"/>
                    </a:ext>
                  </a:extLst>
                </a:gridCol>
                <a:gridCol w="2587670">
                  <a:extLst>
                    <a:ext uri="{9D8B030D-6E8A-4147-A177-3AD203B41FA5}">
                      <a16:colId xmlns:a16="http://schemas.microsoft.com/office/drawing/2014/main" val="20001"/>
                    </a:ext>
                  </a:extLst>
                </a:gridCol>
                <a:gridCol w="2587670">
                  <a:extLst>
                    <a:ext uri="{9D8B030D-6E8A-4147-A177-3AD203B41FA5}">
                      <a16:colId xmlns:a16="http://schemas.microsoft.com/office/drawing/2014/main" val="2927513231"/>
                    </a:ext>
                  </a:extLst>
                </a:gridCol>
              </a:tblGrid>
              <a:tr h="378110">
                <a:tc rowSpan="2">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聚类</a:t>
                      </a:r>
                      <a:endParaRPr kumimoji="0" lang="zh-CN"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gridSpan="2">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中心坐标</a:t>
                      </a:r>
                      <a:endParaRPr kumimoji="0" lang="zh-CN"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hMerge="1">
                  <a:txBody>
                    <a:bodyPr/>
                    <a:lstStyle/>
                    <a:p>
                      <a:endParaRPr lang="zh-CN" altLang="en-US"/>
                    </a:p>
                  </a:txBody>
                  <a:tcPr/>
                </a:tc>
                <a:extLst>
                  <a:ext uri="{0D108BD9-81ED-4DB2-BD59-A6C34878D82A}">
                    <a16:rowId xmlns:a16="http://schemas.microsoft.com/office/drawing/2014/main" val="10000"/>
                  </a:ext>
                </a:extLst>
              </a:tr>
              <a:tr h="378110">
                <a:tc vMerge="1">
                  <a:txBody>
                    <a:bodyPr/>
                    <a:lstStyle/>
                    <a:p>
                      <a:endParaRPr lang="zh-CN" altLang="en-US"/>
                    </a:p>
                  </a:txBody>
                  <a:tcPr/>
                </a:tc>
                <a:tc>
                  <a:txBody>
                    <a:bodyPr/>
                    <a:lstStyle/>
                    <a:p>
                      <a:pPr marL="52388" marR="0" lvl="0" indent="0" algn="ctr" defTabSz="914400" rtl="0" eaLnBrk="1" fontAlgn="base" latinLnBrk="0" hangingPunct="1">
                        <a:lnSpc>
                          <a:spcPct val="100000"/>
                        </a:lnSpc>
                        <a:spcBef>
                          <a:spcPts val="0"/>
                        </a:spcBef>
                        <a:spcAft>
                          <a:spcPct val="0"/>
                        </a:spcAft>
                        <a:buClrTx/>
                        <a:buSzTx/>
                        <a:buFontTx/>
                        <a:buNone/>
                        <a:tabLst>
                          <a:tab pos="2593975" algn="l"/>
                        </a:tabLst>
                        <a:defRPr/>
                      </a:pPr>
                      <a:r>
                        <a:rPr kumimoji="0" lang="en-US"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a:t>
                      </a:r>
                      <a:r>
                        <a:rPr kumimoji="0" lang="zh-CN"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X </a:t>
                      </a:r>
                      <a:r>
                        <a:rPr kumimoji="0" lang="en-US"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1</a:t>
                      </a:r>
                      <a:endParaRPr kumimoji="0" lang="zh-CN"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p>
                      <a:pPr marL="52388" marR="0" lvl="0" indent="0" algn="ctr" defTabSz="914400" rtl="0" eaLnBrk="1" fontAlgn="base" latinLnBrk="0" hangingPunct="1">
                        <a:lnSpc>
                          <a:spcPct val="100000"/>
                        </a:lnSpc>
                        <a:spcBef>
                          <a:spcPts val="0"/>
                        </a:spcBef>
                        <a:spcAft>
                          <a:spcPct val="0"/>
                        </a:spcAft>
                        <a:buClrTx/>
                        <a:buSzTx/>
                        <a:buFontTx/>
                        <a:buNone/>
                        <a:tabLst>
                          <a:tab pos="2593975" algn="l"/>
                        </a:tabLst>
                      </a:pPr>
                      <a:r>
                        <a:rPr kumimoji="0" lang="en-US"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a:t>
                      </a:r>
                      <a:r>
                        <a:rPr kumimoji="0" lang="zh-CN"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X </a:t>
                      </a:r>
                      <a:r>
                        <a:rPr kumimoji="0" lang="zh-CN"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1"/>
                  </a:ext>
                </a:extLst>
              </a:tr>
              <a:tr h="378110">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a:t>
                      </a: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B</a:t>
                      </a: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2</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2</a:t>
                      </a:r>
                      <a:endParaRPr kumimoji="0" lang="zh-CN" altLang="zh-CN" sz="1800" b="0" i="0" u="none" strike="noStrike" cap="none" normalizeH="0" baseline="0" dirty="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78110">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C</a:t>
                      </a: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D</a:t>
                      </a: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-1</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-2</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4091783122"/>
                  </a:ext>
                </a:extLst>
              </a:tr>
            </a:tbl>
          </a:graphicData>
        </a:graphic>
      </p:graphicFrame>
      <p:sp>
        <p:nvSpPr>
          <p:cNvPr id="13" name="object 2">
            <a:extLst>
              <a:ext uri="{FF2B5EF4-FFF2-40B4-BE49-F238E27FC236}">
                <a16:creationId xmlns:a16="http://schemas.microsoft.com/office/drawing/2014/main" id="{565618C8-42E7-43A6-915F-493F5DAE19EE}"/>
              </a:ext>
            </a:extLst>
          </p:cNvPr>
          <p:cNvSpPr txBox="1">
            <a:spLocks noChangeArrowheads="1"/>
          </p:cNvSpPr>
          <p:nvPr/>
        </p:nvSpPr>
        <p:spPr>
          <a:xfrm>
            <a:off x="254000" y="3509312"/>
            <a:ext cx="8676000" cy="1503864"/>
          </a:xfrm>
          <a:prstGeom prst="rect">
            <a:avLst/>
          </a:prstGeom>
        </p:spPr>
        <p:txBody>
          <a:bodyPr wrap="square" lIns="0" tIns="72000" rIns="0" bIns="0">
            <a:spAutoFit/>
          </a:bodyPr>
          <a:lstStyle>
            <a:lvl1pPr marL="342900" indent="-342900" algn="l" rtl="0" eaLnBrk="1" fontAlgn="base" hangingPunct="1">
              <a:lnSpc>
                <a:spcPct val="120000"/>
              </a:lnSpc>
              <a:spcBef>
                <a:spcPct val="20000"/>
              </a:spcBef>
              <a:spcAft>
                <a:spcPct val="0"/>
              </a:spcAft>
              <a:buClrTx/>
              <a:buFont typeface="Wingdings" pitchFamily="2" charset="2"/>
              <a:buChar char=""/>
              <a:defRPr sz="3000" b="0" spc="0" baseline="0">
                <a:solidFill>
                  <a:schemeClr val="tx1"/>
                </a:solidFill>
                <a:latin typeface="华文中宋" panose="02010600040101010101" pitchFamily="2" charset="-122"/>
                <a:ea typeface="华文中宋" panose="02010600040101010101" pitchFamily="2" charset="-122"/>
                <a:cs typeface="+mn-cs"/>
              </a:defRPr>
            </a:lvl1pPr>
            <a:lvl2pPr marL="742950" indent="-285750" algn="l" rtl="0" eaLnBrk="1" fontAlgn="base" hangingPunct="1">
              <a:lnSpc>
                <a:spcPct val="120000"/>
              </a:lnSpc>
              <a:spcBef>
                <a:spcPct val="20000"/>
              </a:spcBef>
              <a:spcAft>
                <a:spcPct val="0"/>
              </a:spcAft>
              <a:buClrTx/>
              <a:buFont typeface="Wingdings" pitchFamily="2" charset="2"/>
              <a:buChar char="§"/>
              <a:defRPr sz="2600" b="0" spc="0" baseline="0">
                <a:solidFill>
                  <a:schemeClr val="tx1"/>
                </a:solidFill>
                <a:latin typeface="华文中宋" panose="02010600040101010101" pitchFamily="2" charset="-122"/>
                <a:ea typeface="华文中宋" panose="02010600040101010101" pitchFamily="2" charset="-122"/>
              </a:defRPr>
            </a:lvl2pPr>
            <a:lvl3pPr marL="914400" indent="0" algn="l" rtl="0" eaLnBrk="1" fontAlgn="base" hangingPunct="1">
              <a:lnSpc>
                <a:spcPct val="120000"/>
              </a:lnSpc>
              <a:spcBef>
                <a:spcPct val="20000"/>
              </a:spcBef>
              <a:spcAft>
                <a:spcPct val="0"/>
              </a:spcAft>
              <a:buClr>
                <a:srgbClr val="00B0F0"/>
              </a:buClr>
              <a:buNone/>
              <a:defRPr lang="zh-CN" altLang="en-US" sz="2400" b="0" cap="none" spc="0" baseline="0" dirty="0" smtClean="0">
                <a:ln>
                  <a:noFill/>
                </a:ln>
                <a:solidFill>
                  <a:schemeClr val="tx1"/>
                </a:solidFill>
                <a:effectLst/>
                <a:latin typeface="华文中宋" panose="02010600040101010101" pitchFamily="2" charset="-122"/>
                <a:ea typeface="华文中宋" panose="02010600040101010101" pitchFamily="2" charset="-122"/>
              </a:defRPr>
            </a:lvl3pPr>
            <a:lvl4pPr marL="1600200" indent="-228600" algn="l" rtl="0" eaLnBrk="1" fontAlgn="base" hangingPunct="1">
              <a:lnSpc>
                <a:spcPct val="120000"/>
              </a:lnSpc>
              <a:spcBef>
                <a:spcPct val="20000"/>
              </a:spcBef>
              <a:spcAft>
                <a:spcPct val="0"/>
              </a:spcAft>
              <a:buChar char="–"/>
              <a:defRPr sz="2200" b="0" spc="0" baseline="0">
                <a:solidFill>
                  <a:schemeClr val="tx1"/>
                </a:solidFill>
                <a:latin typeface="华文中宋" panose="02010600040101010101" pitchFamily="2" charset="-122"/>
                <a:ea typeface="华文中宋" panose="02010600040101010101" pitchFamily="2" charset="-122"/>
              </a:defRPr>
            </a:lvl4pPr>
            <a:lvl5pPr marL="2057400" indent="-228600" algn="l" rtl="0" eaLnBrk="1" fontAlgn="base" hangingPunct="1">
              <a:lnSpc>
                <a:spcPct val="120000"/>
              </a:lnSpc>
              <a:spcBef>
                <a:spcPct val="20000"/>
              </a:spcBef>
              <a:spcAft>
                <a:spcPct val="0"/>
              </a:spcAft>
              <a:buChar char="»"/>
              <a:defRPr lang="zh-CN" altLang="en-US" sz="2000" b="0" cap="none" spc="0" baseline="0" dirty="0" smtClean="0">
                <a:ln>
                  <a:noFill/>
                </a:ln>
                <a:solidFill>
                  <a:schemeClr val="tx1"/>
                </a:solidFill>
                <a:effectLst/>
                <a:latin typeface="华文中宋" panose="02010600040101010101" pitchFamily="2" charset="-122"/>
                <a:ea typeface="华文中宋" panose="02010600040101010101" pitchFamily="2" charset="-122"/>
              </a:defRPr>
            </a:lvl5pPr>
            <a:lvl6pPr marL="2514600" indent="-228600" algn="l" rtl="0" eaLnBrk="1" fontAlgn="base" hangingPunct="1">
              <a:spcBef>
                <a:spcPct val="20000"/>
              </a:spcBef>
              <a:spcAft>
                <a:spcPct val="0"/>
              </a:spcAft>
              <a:buChar char="»"/>
              <a:defRPr sz="2000">
                <a:solidFill>
                  <a:schemeClr val="tx2"/>
                </a:solidFill>
                <a:latin typeface="Arial" charset="0"/>
              </a:defRPr>
            </a:lvl6pPr>
            <a:lvl7pPr marL="2971800" indent="-228600" algn="l" rtl="0" eaLnBrk="1" fontAlgn="base" hangingPunct="1">
              <a:spcBef>
                <a:spcPct val="20000"/>
              </a:spcBef>
              <a:spcAft>
                <a:spcPct val="0"/>
              </a:spcAft>
              <a:buChar char="»"/>
              <a:defRPr sz="2000">
                <a:solidFill>
                  <a:schemeClr val="tx2"/>
                </a:solidFill>
                <a:latin typeface="Arial" charset="0"/>
              </a:defRPr>
            </a:lvl7pPr>
            <a:lvl8pPr marL="3429000" indent="-228600" algn="l" rtl="0" eaLnBrk="1" fontAlgn="base" hangingPunct="1">
              <a:spcBef>
                <a:spcPct val="20000"/>
              </a:spcBef>
              <a:spcAft>
                <a:spcPct val="0"/>
              </a:spcAft>
              <a:buChar char="»"/>
              <a:defRPr sz="2000">
                <a:solidFill>
                  <a:schemeClr val="tx2"/>
                </a:solidFill>
                <a:latin typeface="Arial" charset="0"/>
              </a:defRPr>
            </a:lvl8pPr>
            <a:lvl9pPr marL="3886200" indent="-228600" algn="l" rtl="0" eaLnBrk="1" fontAlgn="base" hangingPunct="1">
              <a:spcBef>
                <a:spcPct val="20000"/>
              </a:spcBef>
              <a:spcAft>
                <a:spcPct val="0"/>
              </a:spcAft>
              <a:buChar char="»"/>
              <a:defRPr sz="2000">
                <a:solidFill>
                  <a:schemeClr val="tx2"/>
                </a:solidFill>
                <a:latin typeface="Arial" charset="0"/>
              </a:defRPr>
            </a:lvl9pPr>
          </a:lstStyle>
          <a:p>
            <a:pPr marL="0" indent="0" algn="just">
              <a:lnSpc>
                <a:spcPct val="100000"/>
              </a:lnSpc>
              <a:spcBef>
                <a:spcPts val="600"/>
              </a:spcBef>
              <a:buClr>
                <a:srgbClr val="FF9900"/>
              </a:buClr>
              <a:buNone/>
            </a:pP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200">
                <a:latin typeface="Times New Roman" panose="02020603050405020304" pitchFamily="18" charset="0"/>
                <a:ea typeface="微软雅黑" panose="020B0503020204020204" pitchFamily="34" charset="-122"/>
                <a:sym typeface="Times New Roman" panose="02020603050405020304" pitchFamily="18" charset="0"/>
              </a:rPr>
              <a:t>第一</a:t>
            </a:r>
            <a:r>
              <a:rPr lang="zh-CN" altLang="zh-CN" sz="2200" dirty="0">
                <a:latin typeface="Times New Roman" panose="02020603050405020304" pitchFamily="18" charset="0"/>
                <a:ea typeface="微软雅黑" panose="020B0503020204020204" pitchFamily="34" charset="-122"/>
                <a:sym typeface="Times New Roman" panose="02020603050405020304" pitchFamily="18" charset="0"/>
              </a:rPr>
              <a:t>步：按要求取K=2，为了实施均值法聚类，我们</a:t>
            </a:r>
            <a:r>
              <a:rPr lang="zh-CN" altLang="zh-CN" sz="2200">
                <a:latin typeface="Times New Roman" panose="02020603050405020304" pitchFamily="18" charset="0"/>
                <a:ea typeface="微软雅黑" panose="020B0503020204020204" pitchFamily="34" charset="-122"/>
                <a:sym typeface="Times New Roman" panose="02020603050405020304" pitchFamily="18" charset="0"/>
              </a:rPr>
              <a:t>将这些</a:t>
            </a:r>
            <a:r>
              <a:rPr lang="zh-CN" altLang="zh-CN" sz="2200" dirty="0">
                <a:latin typeface="Times New Roman" panose="02020603050405020304" pitchFamily="18" charset="0"/>
                <a:ea typeface="微软雅黑" panose="020B0503020204020204" pitchFamily="34" charset="-122"/>
                <a:sym typeface="Times New Roman" panose="02020603050405020304" pitchFamily="18" charset="0"/>
              </a:rPr>
              <a:t>样品随意分成两类，比如（A、B）和（C、D），然后  计算这两个聚类的中心坐标，见下表所示。</a:t>
            </a:r>
          </a:p>
          <a:p>
            <a:pPr marL="0" indent="0" algn="just">
              <a:lnSpc>
                <a:spcPct val="100000"/>
              </a:lnSpc>
              <a:spcBef>
                <a:spcPts val="600"/>
              </a:spcBef>
              <a:buClr>
                <a:srgbClr val="FF9900"/>
              </a:buClr>
              <a:buNone/>
            </a:pP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200">
                <a:latin typeface="Times New Roman" panose="02020603050405020304" pitchFamily="18" charset="0"/>
                <a:ea typeface="微软雅黑" panose="020B0503020204020204" pitchFamily="34" charset="-122"/>
                <a:sym typeface="Times New Roman" panose="02020603050405020304" pitchFamily="18" charset="0"/>
              </a:rPr>
              <a:t>中心</a:t>
            </a:r>
            <a:r>
              <a:rPr lang="zh-CN" altLang="zh-CN" sz="2200" dirty="0">
                <a:latin typeface="Times New Roman" panose="02020603050405020304" pitchFamily="18" charset="0"/>
                <a:ea typeface="微软雅黑" panose="020B0503020204020204" pitchFamily="34" charset="-122"/>
                <a:sym typeface="Times New Roman" panose="02020603050405020304" pitchFamily="18" charset="0"/>
              </a:rPr>
              <a:t>坐标是通过原始数据计算得来的。</a:t>
            </a:r>
          </a:p>
        </p:txBody>
      </p:sp>
    </p:spTree>
    <p:extLst>
      <p:ext uri="{BB962C8B-B14F-4D97-AF65-F5344CB8AC3E}">
        <p14:creationId xmlns:p14="http://schemas.microsoft.com/office/powerpoint/2010/main" val="328464660"/>
      </p:ext>
    </p:extLst>
  </p:cSld>
  <p:clrMapOvr>
    <a:masterClrMapping/>
  </p:clrMapOvr>
  <p:transition spd="med">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object 2"/>
          <p:cNvSpPr txBox="1">
            <a:spLocks noChangeArrowheads="1"/>
          </p:cNvSpPr>
          <p:nvPr/>
        </p:nvSpPr>
        <p:spPr bwMode="auto">
          <a:xfrm>
            <a:off x="252000" y="756000"/>
            <a:ext cx="8640000" cy="5924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810" rIns="0" bIns="0">
            <a:spAutoFit/>
          </a:bodyPr>
          <a:lstStyle>
            <a:lvl1pPr marL="12700">
              <a:defRPr sz="3200">
                <a:solidFill>
                  <a:schemeClr val="tx1"/>
                </a:solidFill>
                <a:latin typeface="Arial" charset="0"/>
                <a:ea typeface="楷体_GB2312" pitchFamily="49" charset="-122"/>
              </a:defRPr>
            </a:lvl1pPr>
            <a:lvl2pPr>
              <a:defRPr sz="2800">
                <a:solidFill>
                  <a:schemeClr val="tx1"/>
                </a:solidFill>
                <a:latin typeface="Arial" charset="0"/>
                <a:ea typeface="楷体_GB2312" pitchFamily="49" charset="-122"/>
              </a:defRPr>
            </a:lvl2pPr>
            <a:lvl3pPr>
              <a:defRPr sz="2400">
                <a:solidFill>
                  <a:schemeClr val="tx1"/>
                </a:solidFill>
                <a:latin typeface="Arial" charset="0"/>
                <a:ea typeface="楷体_GB2312" pitchFamily="49" charset="-122"/>
              </a:defRPr>
            </a:lvl3pPr>
            <a:lvl4pPr>
              <a:defRPr sz="2000">
                <a:solidFill>
                  <a:schemeClr val="tx1"/>
                </a:solidFill>
                <a:latin typeface="Arial" charset="0"/>
                <a:ea typeface="楷体_GB2312" pitchFamily="49" charset="-122"/>
              </a:defRPr>
            </a:lvl4pPr>
            <a:lvl5pPr>
              <a:defRPr sz="2000">
                <a:solidFill>
                  <a:schemeClr val="tx1"/>
                </a:solidFill>
                <a:latin typeface="Arial" charset="0"/>
                <a:ea typeface="楷体_GB2312" pitchFamily="49" charset="-122"/>
              </a:defRPr>
            </a:lvl5pPr>
            <a:lvl6pPr eaLnBrk="0" hangingPunct="0">
              <a:defRPr sz="2000">
                <a:solidFill>
                  <a:schemeClr val="tx1"/>
                </a:solidFill>
                <a:latin typeface="Arial" charset="0"/>
                <a:ea typeface="楷体_GB2312" pitchFamily="49" charset="-122"/>
              </a:defRPr>
            </a:lvl6pPr>
            <a:lvl7pPr eaLnBrk="0" hangingPunct="0">
              <a:defRPr sz="2000">
                <a:solidFill>
                  <a:schemeClr val="tx1"/>
                </a:solidFill>
                <a:latin typeface="Arial" charset="0"/>
                <a:ea typeface="楷体_GB2312" pitchFamily="49" charset="-122"/>
              </a:defRPr>
            </a:lvl7pPr>
            <a:lvl8pPr eaLnBrk="0" hangingPunct="0">
              <a:defRPr sz="2000">
                <a:solidFill>
                  <a:schemeClr val="tx1"/>
                </a:solidFill>
                <a:latin typeface="Arial" charset="0"/>
                <a:ea typeface="楷体_GB2312" pitchFamily="49" charset="-122"/>
              </a:defRPr>
            </a:lvl8pPr>
            <a:lvl9pPr eaLnBrk="0" hangingPunct="0">
              <a:defRPr sz="2000">
                <a:solidFill>
                  <a:schemeClr val="tx1"/>
                </a:solidFill>
                <a:latin typeface="Arial" charset="0"/>
                <a:ea typeface="楷体_GB2312" pitchFamily="49" charset="-122"/>
              </a:defRPr>
            </a:lvl9pPr>
          </a:lstStyle>
          <a:p>
            <a:pPr marL="0" eaLnBrk="1" hangingPunct="1">
              <a:lnSpc>
                <a:spcPct val="150000"/>
              </a:lnSpc>
              <a:spcBef>
                <a:spcPts val="600"/>
              </a:spcBef>
            </a:pPr>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400">
                <a:latin typeface="Times New Roman" panose="02020603050405020304" pitchFamily="18" charset="0"/>
                <a:ea typeface="微软雅黑" panose="020B0503020204020204" pitchFamily="34" charset="-122"/>
                <a:sym typeface="Times New Roman" panose="02020603050405020304" pitchFamily="18" charset="0"/>
              </a:rPr>
              <a:t>第二步：计算某个样品到各类中心的欧氏平方距离，然后将该样品分配给最近的一类。对于样品有变动的类，重新计算它们的中心坐标，为下一步聚类做准备。先计算A到两个类的平方距离：</a:t>
            </a:r>
          </a:p>
          <a:p>
            <a:pPr marL="0" algn="ctr">
              <a:spcBef>
                <a:spcPts val="600"/>
              </a:spcBef>
            </a:pPr>
            <a:r>
              <a:rPr lang="zh-CN" altLang="zh-CN" sz="2400" i="1">
                <a:latin typeface="Times New Roman" panose="02020603050405020304" charset="0"/>
              </a:rPr>
              <a:t>d </a:t>
            </a:r>
            <a:r>
              <a:rPr lang="zh-CN" altLang="zh-CN" sz="2100" baseline="44000">
                <a:latin typeface="Times New Roman" panose="02020603050405020304" charset="0"/>
              </a:rPr>
              <a:t>2 </a:t>
            </a:r>
            <a:r>
              <a:rPr lang="zh-CN" altLang="zh-CN" sz="2400">
                <a:latin typeface="Times New Roman" panose="02020603050405020304" charset="0"/>
              </a:rPr>
              <a:t>( </a:t>
            </a:r>
            <a:r>
              <a:rPr lang="zh-CN" altLang="zh-CN" sz="2400" i="1">
                <a:latin typeface="Times New Roman" panose="02020603050405020304" charset="0"/>
              </a:rPr>
              <a:t>A</a:t>
            </a:r>
            <a:r>
              <a:rPr lang="zh-CN" altLang="zh-CN" sz="2400">
                <a:latin typeface="Times New Roman" panose="02020603050405020304" charset="0"/>
              </a:rPr>
              <a:t>, ( </a:t>
            </a:r>
            <a:r>
              <a:rPr lang="zh-CN" altLang="zh-CN" sz="2400" i="1">
                <a:latin typeface="Times New Roman" panose="02020603050405020304" charset="0"/>
              </a:rPr>
              <a:t>AB</a:t>
            </a:r>
            <a:r>
              <a:rPr lang="zh-CN" altLang="zh-CN" sz="2400">
                <a:latin typeface="Times New Roman" panose="02020603050405020304" charset="0"/>
              </a:rPr>
              <a:t>)) </a:t>
            </a:r>
            <a:r>
              <a:rPr lang="zh-CN" altLang="zh-CN" sz="2400">
                <a:latin typeface="Symbol" panose="05050102010706020507" pitchFamily="18" charset="2"/>
              </a:rPr>
              <a:t></a:t>
            </a:r>
            <a:r>
              <a:rPr lang="zh-CN" altLang="zh-CN" sz="2400">
                <a:latin typeface="Times New Roman" panose="02020603050405020304" charset="0"/>
              </a:rPr>
              <a:t> (5 </a:t>
            </a:r>
            <a:r>
              <a:rPr lang="zh-CN" altLang="zh-CN" sz="2400">
                <a:latin typeface="Symbol" panose="05050102010706020507" pitchFamily="18" charset="2"/>
              </a:rPr>
              <a:t></a:t>
            </a:r>
            <a:r>
              <a:rPr lang="zh-CN" altLang="zh-CN" sz="2400">
                <a:latin typeface="Times New Roman" panose="02020603050405020304" charset="0"/>
              </a:rPr>
              <a:t> 2)</a:t>
            </a:r>
            <a:r>
              <a:rPr lang="zh-CN" altLang="zh-CN" sz="2100" baseline="44000">
                <a:latin typeface="Times New Roman" panose="02020603050405020304" charset="0"/>
              </a:rPr>
              <a:t>2 </a:t>
            </a:r>
            <a:r>
              <a:rPr lang="zh-CN" altLang="zh-CN" sz="2400">
                <a:latin typeface="Symbol" panose="05050102010706020507" pitchFamily="18" charset="2"/>
              </a:rPr>
              <a:t></a:t>
            </a:r>
            <a:r>
              <a:rPr lang="zh-CN" altLang="zh-CN" sz="2400">
                <a:latin typeface="Times New Roman" panose="02020603050405020304" charset="0"/>
              </a:rPr>
              <a:t> (3 </a:t>
            </a:r>
            <a:r>
              <a:rPr lang="zh-CN" altLang="zh-CN" sz="2400">
                <a:latin typeface="Symbol" panose="05050102010706020507" pitchFamily="18" charset="2"/>
              </a:rPr>
              <a:t></a:t>
            </a:r>
            <a:r>
              <a:rPr lang="zh-CN" altLang="zh-CN" sz="2400">
                <a:latin typeface="Times New Roman" panose="02020603050405020304" charset="0"/>
              </a:rPr>
              <a:t> 2)</a:t>
            </a:r>
            <a:r>
              <a:rPr lang="zh-CN" altLang="zh-CN" sz="2100" baseline="44000">
                <a:latin typeface="Times New Roman" panose="02020603050405020304" charset="0"/>
              </a:rPr>
              <a:t>2  </a:t>
            </a:r>
            <a:r>
              <a:rPr lang="zh-CN" altLang="zh-CN" sz="2400">
                <a:latin typeface="Symbol" panose="05050102010706020507" pitchFamily="18" charset="2"/>
              </a:rPr>
              <a:t></a:t>
            </a:r>
            <a:r>
              <a:rPr lang="zh-CN" altLang="zh-CN" sz="2400">
                <a:latin typeface="Times New Roman" panose="02020603050405020304" charset="0"/>
              </a:rPr>
              <a:t> 10</a:t>
            </a:r>
          </a:p>
          <a:p>
            <a:pPr marL="0" algn="ctr">
              <a:lnSpc>
                <a:spcPct val="150000"/>
              </a:lnSpc>
              <a:spcBef>
                <a:spcPts val="600"/>
              </a:spcBef>
            </a:pPr>
            <a:r>
              <a:rPr lang="zh-CN" altLang="zh-CN" sz="2400" i="1">
                <a:latin typeface="Times New Roman" panose="02020603050405020304" charset="0"/>
              </a:rPr>
              <a:t>d </a:t>
            </a:r>
            <a:r>
              <a:rPr lang="zh-CN" altLang="zh-CN" sz="2100" baseline="44000">
                <a:latin typeface="Times New Roman" panose="02020603050405020304" charset="0"/>
              </a:rPr>
              <a:t>2 </a:t>
            </a:r>
            <a:r>
              <a:rPr lang="zh-CN" altLang="zh-CN" sz="2400">
                <a:latin typeface="Times New Roman" panose="02020603050405020304" charset="0"/>
              </a:rPr>
              <a:t>( </a:t>
            </a:r>
            <a:r>
              <a:rPr lang="zh-CN" altLang="zh-CN" sz="2400" i="1">
                <a:latin typeface="Times New Roman" panose="02020603050405020304" charset="0"/>
              </a:rPr>
              <a:t>A</a:t>
            </a:r>
            <a:r>
              <a:rPr lang="zh-CN" altLang="zh-CN" sz="2400">
                <a:latin typeface="Times New Roman" panose="02020603050405020304" charset="0"/>
              </a:rPr>
              <a:t>,(</a:t>
            </a:r>
            <a:r>
              <a:rPr lang="zh-CN" altLang="zh-CN" sz="2400" i="1">
                <a:latin typeface="Times New Roman" panose="02020603050405020304" charset="0"/>
              </a:rPr>
              <a:t>CD</a:t>
            </a:r>
            <a:r>
              <a:rPr lang="zh-CN" altLang="zh-CN" sz="2400">
                <a:latin typeface="Times New Roman" panose="02020603050405020304" charset="0"/>
              </a:rPr>
              <a:t>)) </a:t>
            </a:r>
            <a:r>
              <a:rPr lang="zh-CN" altLang="zh-CN" sz="2400">
                <a:latin typeface="Symbol" panose="05050102010706020507" pitchFamily="18" charset="2"/>
              </a:rPr>
              <a:t></a:t>
            </a:r>
            <a:r>
              <a:rPr lang="zh-CN" altLang="zh-CN" sz="2400">
                <a:latin typeface="Times New Roman" panose="02020603050405020304" charset="0"/>
              </a:rPr>
              <a:t> (5 </a:t>
            </a:r>
            <a:r>
              <a:rPr lang="zh-CN" altLang="zh-CN" sz="2400">
                <a:latin typeface="Symbol" panose="05050102010706020507" pitchFamily="18" charset="2"/>
              </a:rPr>
              <a:t></a:t>
            </a:r>
            <a:r>
              <a:rPr lang="zh-CN" altLang="zh-CN" sz="2400">
                <a:latin typeface="Times New Roman" panose="02020603050405020304" charset="0"/>
              </a:rPr>
              <a:t> 1)</a:t>
            </a:r>
            <a:r>
              <a:rPr lang="zh-CN" altLang="zh-CN" sz="2100" baseline="44000">
                <a:latin typeface="Times New Roman" panose="02020603050405020304" charset="0"/>
              </a:rPr>
              <a:t>2  </a:t>
            </a:r>
            <a:r>
              <a:rPr lang="zh-CN" altLang="zh-CN" sz="2400">
                <a:latin typeface="Symbol" panose="05050102010706020507" pitchFamily="18" charset="2"/>
              </a:rPr>
              <a:t></a:t>
            </a:r>
            <a:r>
              <a:rPr lang="zh-CN" altLang="zh-CN" sz="2400">
                <a:latin typeface="Times New Roman" panose="02020603050405020304" charset="0"/>
              </a:rPr>
              <a:t> (3 </a:t>
            </a:r>
            <a:r>
              <a:rPr lang="zh-CN" altLang="zh-CN" sz="2400">
                <a:latin typeface="Symbol" panose="05050102010706020507" pitchFamily="18" charset="2"/>
              </a:rPr>
              <a:t></a:t>
            </a:r>
            <a:r>
              <a:rPr lang="zh-CN" altLang="zh-CN" sz="2400">
                <a:latin typeface="Times New Roman" panose="02020603050405020304" charset="0"/>
              </a:rPr>
              <a:t> 2)</a:t>
            </a:r>
            <a:r>
              <a:rPr lang="zh-CN" altLang="zh-CN" sz="2100" baseline="44000">
                <a:latin typeface="Times New Roman" panose="02020603050405020304" charset="0"/>
              </a:rPr>
              <a:t>2  </a:t>
            </a:r>
            <a:r>
              <a:rPr lang="zh-CN" altLang="zh-CN" sz="2400">
                <a:latin typeface="Symbol" panose="05050102010706020507" pitchFamily="18" charset="2"/>
              </a:rPr>
              <a:t></a:t>
            </a:r>
            <a:r>
              <a:rPr lang="zh-CN" altLang="zh-CN" sz="2400">
                <a:latin typeface="Times New Roman" panose="02020603050405020304" charset="0"/>
              </a:rPr>
              <a:t> 61</a:t>
            </a:r>
          </a:p>
          <a:p>
            <a:pPr marL="0" eaLnBrk="1" hangingPunct="1">
              <a:lnSpc>
                <a:spcPct val="150000"/>
              </a:lnSpc>
              <a:spcBef>
                <a:spcPts val="600"/>
              </a:spcBef>
            </a:pPr>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400">
                <a:latin typeface="Times New Roman" panose="02020603050405020304" pitchFamily="18" charset="0"/>
                <a:ea typeface="微软雅黑" panose="020B0503020204020204" pitchFamily="34" charset="-122"/>
                <a:sym typeface="Times New Roman" panose="02020603050405020304" pitchFamily="18" charset="0"/>
              </a:rPr>
              <a:t>由于A到（A、B）的距离小于到（C、D）的距离，因此A不用重新分配。计算B到两类的平方距离：</a:t>
            </a:r>
          </a:p>
          <a:p>
            <a:pPr algn="ctr">
              <a:lnSpc>
                <a:spcPct val="150000"/>
              </a:lnSpc>
              <a:spcBef>
                <a:spcPts val="600"/>
              </a:spcBef>
            </a:pPr>
            <a:r>
              <a:rPr lang="zh-CN" altLang="zh-CN" sz="2500" i="1">
                <a:latin typeface="Times New Roman" panose="02020603050405020304" charset="0"/>
              </a:rPr>
              <a:t>d </a:t>
            </a:r>
            <a:r>
              <a:rPr lang="zh-CN" altLang="zh-CN" sz="2100" baseline="44000">
                <a:latin typeface="Times New Roman" panose="02020603050405020304" charset="0"/>
              </a:rPr>
              <a:t>2 </a:t>
            </a:r>
            <a:r>
              <a:rPr lang="zh-CN" altLang="zh-CN" sz="2500">
                <a:latin typeface="Times New Roman" panose="02020603050405020304" charset="0"/>
              </a:rPr>
              <a:t>(</a:t>
            </a:r>
            <a:r>
              <a:rPr lang="zh-CN" altLang="zh-CN" sz="2500" i="1">
                <a:latin typeface="Times New Roman" panose="02020603050405020304" charset="0"/>
              </a:rPr>
              <a:t>B</a:t>
            </a:r>
            <a:r>
              <a:rPr lang="zh-CN" altLang="zh-CN" sz="2500">
                <a:latin typeface="Times New Roman" panose="02020603050405020304" charset="0"/>
              </a:rPr>
              <a:t>,( </a:t>
            </a:r>
            <a:r>
              <a:rPr lang="zh-CN" altLang="zh-CN" sz="2500" i="1">
                <a:latin typeface="Times New Roman" panose="02020603050405020304" charset="0"/>
              </a:rPr>
              <a:t>AB</a:t>
            </a:r>
            <a:r>
              <a:rPr lang="zh-CN" altLang="zh-CN" sz="2500">
                <a:latin typeface="Times New Roman" panose="02020603050405020304" charset="0"/>
              </a:rPr>
              <a:t>)) </a:t>
            </a:r>
            <a:r>
              <a:rPr lang="zh-CN" altLang="zh-CN" sz="2500">
                <a:latin typeface="Symbol" panose="05050102010706020507" pitchFamily="18" charset="2"/>
              </a:rPr>
              <a:t></a:t>
            </a:r>
            <a:r>
              <a:rPr lang="zh-CN" altLang="zh-CN" sz="2500">
                <a:latin typeface="Times New Roman" panose="02020603050405020304" charset="0"/>
              </a:rPr>
              <a:t> (</a:t>
            </a:r>
            <a:r>
              <a:rPr lang="zh-CN" altLang="zh-CN" sz="2500">
                <a:latin typeface="Symbol" panose="05050102010706020507" pitchFamily="18" charset="2"/>
              </a:rPr>
              <a:t></a:t>
            </a:r>
            <a:r>
              <a:rPr lang="zh-CN" altLang="zh-CN" sz="2500">
                <a:latin typeface="Times New Roman" panose="02020603050405020304" charset="0"/>
              </a:rPr>
              <a:t>1 </a:t>
            </a:r>
            <a:r>
              <a:rPr lang="zh-CN" altLang="zh-CN" sz="2500">
                <a:latin typeface="Symbol" panose="05050102010706020507" pitchFamily="18" charset="2"/>
              </a:rPr>
              <a:t></a:t>
            </a:r>
            <a:r>
              <a:rPr lang="zh-CN" altLang="zh-CN" sz="2500">
                <a:latin typeface="Times New Roman" panose="02020603050405020304" charset="0"/>
              </a:rPr>
              <a:t> 2)</a:t>
            </a:r>
            <a:r>
              <a:rPr lang="zh-CN" altLang="zh-CN" sz="2100" baseline="44000">
                <a:latin typeface="Times New Roman" panose="02020603050405020304" charset="0"/>
              </a:rPr>
              <a:t>2 </a:t>
            </a:r>
            <a:r>
              <a:rPr lang="zh-CN" altLang="zh-CN" sz="2500">
                <a:latin typeface="Symbol" panose="05050102010706020507" pitchFamily="18" charset="2"/>
              </a:rPr>
              <a:t></a:t>
            </a:r>
            <a:r>
              <a:rPr lang="zh-CN" altLang="zh-CN" sz="2500">
                <a:latin typeface="Times New Roman" panose="02020603050405020304" charset="0"/>
              </a:rPr>
              <a:t> (1 </a:t>
            </a:r>
            <a:r>
              <a:rPr lang="zh-CN" altLang="zh-CN" sz="2500">
                <a:latin typeface="Symbol" panose="05050102010706020507" pitchFamily="18" charset="2"/>
              </a:rPr>
              <a:t></a:t>
            </a:r>
            <a:r>
              <a:rPr lang="zh-CN" altLang="zh-CN" sz="2500">
                <a:latin typeface="Times New Roman" panose="02020603050405020304" charset="0"/>
              </a:rPr>
              <a:t> 2)</a:t>
            </a:r>
            <a:r>
              <a:rPr lang="zh-CN" altLang="zh-CN" sz="2100" baseline="44000">
                <a:latin typeface="Times New Roman" panose="02020603050405020304" charset="0"/>
              </a:rPr>
              <a:t>2  </a:t>
            </a:r>
            <a:r>
              <a:rPr lang="zh-CN" altLang="zh-CN" sz="2500">
                <a:latin typeface="Symbol" panose="05050102010706020507" pitchFamily="18" charset="2"/>
              </a:rPr>
              <a:t></a:t>
            </a:r>
            <a:r>
              <a:rPr lang="zh-CN" altLang="zh-CN" sz="2500">
                <a:latin typeface="Times New Roman" panose="02020603050405020304" charset="0"/>
              </a:rPr>
              <a:t> 10</a:t>
            </a:r>
          </a:p>
          <a:p>
            <a:pPr algn="ctr">
              <a:lnSpc>
                <a:spcPct val="150000"/>
              </a:lnSpc>
              <a:spcBef>
                <a:spcPts val="600"/>
              </a:spcBef>
            </a:pPr>
            <a:r>
              <a:rPr lang="zh-CN" altLang="zh-CN" sz="2600" i="1">
                <a:latin typeface="Times New Roman" panose="02020603050405020304" charset="0"/>
              </a:rPr>
              <a:t>d </a:t>
            </a:r>
            <a:r>
              <a:rPr lang="zh-CN" altLang="zh-CN" sz="2200" baseline="43000">
                <a:latin typeface="Times New Roman" panose="02020603050405020304" charset="0"/>
              </a:rPr>
              <a:t>2 </a:t>
            </a:r>
            <a:r>
              <a:rPr lang="zh-CN" altLang="zh-CN" sz="2600">
                <a:latin typeface="Times New Roman" panose="02020603050405020304" charset="0"/>
              </a:rPr>
              <a:t>(</a:t>
            </a:r>
            <a:r>
              <a:rPr lang="zh-CN" altLang="zh-CN" sz="2600" i="1">
                <a:latin typeface="Times New Roman" panose="02020603050405020304" charset="0"/>
              </a:rPr>
              <a:t>B</a:t>
            </a:r>
            <a:r>
              <a:rPr lang="zh-CN" altLang="zh-CN" sz="2600">
                <a:latin typeface="Times New Roman" panose="02020603050405020304" charset="0"/>
              </a:rPr>
              <a:t>,(</a:t>
            </a:r>
            <a:r>
              <a:rPr lang="zh-CN" altLang="zh-CN" sz="2600" i="1">
                <a:latin typeface="Times New Roman" panose="02020603050405020304" charset="0"/>
              </a:rPr>
              <a:t>CD</a:t>
            </a:r>
            <a:r>
              <a:rPr lang="zh-CN" altLang="zh-CN" sz="2600">
                <a:latin typeface="Times New Roman" panose="02020603050405020304" charset="0"/>
              </a:rPr>
              <a:t>)) </a:t>
            </a:r>
            <a:r>
              <a:rPr lang="zh-CN" altLang="zh-CN" sz="2600">
                <a:latin typeface="Symbol" panose="05050102010706020507" pitchFamily="18" charset="2"/>
              </a:rPr>
              <a:t></a:t>
            </a:r>
            <a:r>
              <a:rPr lang="zh-CN" altLang="zh-CN" sz="2600">
                <a:latin typeface="Times New Roman" panose="02020603050405020304" charset="0"/>
              </a:rPr>
              <a:t> (</a:t>
            </a:r>
            <a:r>
              <a:rPr lang="zh-CN" altLang="zh-CN" sz="2600">
                <a:latin typeface="Symbol" panose="05050102010706020507" pitchFamily="18" charset="2"/>
              </a:rPr>
              <a:t></a:t>
            </a:r>
            <a:r>
              <a:rPr lang="zh-CN" altLang="zh-CN" sz="2600">
                <a:latin typeface="Times New Roman" panose="02020603050405020304" charset="0"/>
              </a:rPr>
              <a:t>1 </a:t>
            </a:r>
            <a:r>
              <a:rPr lang="zh-CN" altLang="zh-CN" sz="2600">
                <a:latin typeface="Symbol" panose="05050102010706020507" pitchFamily="18" charset="2"/>
              </a:rPr>
              <a:t></a:t>
            </a:r>
            <a:r>
              <a:rPr lang="zh-CN" altLang="zh-CN" sz="2600">
                <a:latin typeface="Times New Roman" panose="02020603050405020304" charset="0"/>
              </a:rPr>
              <a:t> 1)</a:t>
            </a:r>
            <a:r>
              <a:rPr lang="zh-CN" altLang="zh-CN" sz="2200" baseline="43000">
                <a:latin typeface="Times New Roman" panose="02020603050405020304" charset="0"/>
              </a:rPr>
              <a:t>2  </a:t>
            </a:r>
            <a:r>
              <a:rPr lang="zh-CN" altLang="zh-CN" sz="2600">
                <a:latin typeface="Symbol" panose="05050102010706020507" pitchFamily="18" charset="2"/>
              </a:rPr>
              <a:t></a:t>
            </a:r>
            <a:r>
              <a:rPr lang="zh-CN" altLang="zh-CN" sz="2600">
                <a:latin typeface="Times New Roman" panose="02020603050405020304" charset="0"/>
              </a:rPr>
              <a:t> (1 </a:t>
            </a:r>
            <a:r>
              <a:rPr lang="zh-CN" altLang="zh-CN" sz="2600">
                <a:latin typeface="Symbol" panose="05050102010706020507" pitchFamily="18" charset="2"/>
              </a:rPr>
              <a:t></a:t>
            </a:r>
            <a:r>
              <a:rPr lang="zh-CN" altLang="zh-CN" sz="2600">
                <a:latin typeface="Times New Roman" panose="02020603050405020304" charset="0"/>
              </a:rPr>
              <a:t> 2)</a:t>
            </a:r>
            <a:r>
              <a:rPr lang="zh-CN" altLang="zh-CN" sz="2200" baseline="43000">
                <a:latin typeface="Times New Roman" panose="02020603050405020304" charset="0"/>
              </a:rPr>
              <a:t>2	</a:t>
            </a:r>
            <a:r>
              <a:rPr lang="zh-CN" altLang="zh-CN" sz="2600">
                <a:latin typeface="Symbol" panose="05050102010706020507" pitchFamily="18" charset="2"/>
              </a:rPr>
              <a:t></a:t>
            </a:r>
            <a:r>
              <a:rPr lang="zh-CN" altLang="zh-CN" sz="2600">
                <a:latin typeface="Times New Roman" panose="02020603050405020304" charset="0"/>
              </a:rPr>
              <a:t> 9</a:t>
            </a:r>
          </a:p>
        </p:txBody>
      </p:sp>
      <p:sp>
        <p:nvSpPr>
          <p:cNvPr id="6" name="标题 3">
            <a:extLst>
              <a:ext uri="{FF2B5EF4-FFF2-40B4-BE49-F238E27FC236}">
                <a16:creationId xmlns:a16="http://schemas.microsoft.com/office/drawing/2014/main" id="{6DCBD4D8-40A0-4EFF-B460-8FD0245E12B4}"/>
              </a:ext>
            </a:extLst>
          </p:cNvPr>
          <p:cNvSpPr txBox="1">
            <a:spLocks/>
          </p:cNvSpPr>
          <p:nvPr/>
        </p:nvSpPr>
        <p:spPr bwMode="gray">
          <a:xfrm>
            <a:off x="756001" y="108000"/>
            <a:ext cx="6768328" cy="492443"/>
          </a:xfrm>
          <a:prstGeom prst="rect">
            <a:avLst/>
          </a:prstGeom>
        </p:spPr>
        <p:txBody>
          <a:bodyPr wrap="square">
            <a:spAutoFit/>
          </a:bodyPr>
          <a:lstStyle>
            <a:lvl1pPr fontAlgn="base">
              <a:lnSpc>
                <a:spcPct val="100000"/>
              </a:lnSpc>
              <a:spcBef>
                <a:spcPct val="0"/>
              </a:spcBef>
              <a:spcAft>
                <a:spcPct val="0"/>
              </a:spcAft>
              <a:buNone/>
              <a:defRPr sz="2600" b="1" spc="50">
                <a:solidFill>
                  <a:schemeClr val="bg1"/>
                </a:solidFill>
                <a:latin typeface="Times New Roman" panose="02020603050405020304" pitchFamily="18" charset="0"/>
                <a:ea typeface="微软雅黑" panose="020B0503020204020204" pitchFamily="34" charset="-122"/>
                <a:cs typeface="+mn-ea"/>
              </a:defRPr>
            </a:lvl1pPr>
          </a:lstStyle>
          <a:p>
            <a:r>
              <a:rPr lang="en-US" altLang="zh-CN">
                <a:sym typeface="Times New Roman" panose="02020603050405020304" pitchFamily="18" charset="0"/>
              </a:rPr>
              <a:t>2.1.1 An </a:t>
            </a:r>
            <a:r>
              <a:rPr lang="en-US" altLang="zh-CN" dirty="0">
                <a:sym typeface="Times New Roman" panose="02020603050405020304" pitchFamily="18" charset="0"/>
              </a:rPr>
              <a:t>Example of K-Means Clustering</a:t>
            </a:r>
            <a:endParaRPr lang="zh-CN" altLang="en-US" dirty="0">
              <a:sym typeface="Times New Roman" panose="02020603050405020304" pitchFamily="18" charset="0"/>
            </a:endParaRPr>
          </a:p>
        </p:txBody>
      </p:sp>
    </p:spTree>
    <p:extLst>
      <p:ext uri="{BB962C8B-B14F-4D97-AF65-F5344CB8AC3E}">
        <p14:creationId xmlns:p14="http://schemas.microsoft.com/office/powerpoint/2010/main" val="2152863881"/>
      </p:ext>
    </p:extLst>
  </p:cSld>
  <p:clrMapOvr>
    <a:masterClrMapping/>
  </p:clrMapOvr>
  <p:transition spd="med">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object 2"/>
          <p:cNvSpPr txBox="1">
            <a:spLocks noChangeArrowheads="1"/>
          </p:cNvSpPr>
          <p:nvPr/>
        </p:nvSpPr>
        <p:spPr bwMode="auto">
          <a:xfrm>
            <a:off x="252000" y="756000"/>
            <a:ext cx="8640000" cy="1596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810" rIns="0" bIns="0">
            <a:spAutoFit/>
          </a:bodyPr>
          <a:lstStyle>
            <a:defPPr>
              <a:defRPr lang="zh-CN"/>
            </a:defPPr>
            <a:lvl1pPr>
              <a:lnSpc>
                <a:spcPct val="150000"/>
              </a:lnSpc>
              <a:spcBef>
                <a:spcPts val="600"/>
              </a:spcBef>
              <a:defRPr sz="2400">
                <a:latin typeface="Times New Roman" panose="02020603050405020304" pitchFamily="18" charset="0"/>
                <a:ea typeface="微软雅黑" panose="020B0503020204020204" pitchFamily="34" charset="-122"/>
              </a:defRPr>
            </a:lvl1pPr>
            <a:lvl2pPr>
              <a:defRPr sz="2800">
                <a:latin typeface="Arial" charset="0"/>
                <a:ea typeface="楷体_GB2312" pitchFamily="49" charset="-122"/>
              </a:defRPr>
            </a:lvl2pPr>
            <a:lvl3pPr>
              <a:defRPr sz="2400">
                <a:latin typeface="Arial" charset="0"/>
                <a:ea typeface="楷体_GB2312" pitchFamily="49" charset="-122"/>
              </a:defRPr>
            </a:lvl3pPr>
            <a:lvl4pPr>
              <a:defRPr sz="2000">
                <a:latin typeface="Arial" charset="0"/>
                <a:ea typeface="楷体_GB2312" pitchFamily="49" charset="-122"/>
              </a:defRPr>
            </a:lvl4pPr>
            <a:lvl5pPr>
              <a:defRPr sz="2000">
                <a:latin typeface="Arial" charset="0"/>
                <a:ea typeface="楷体_GB2312" pitchFamily="49" charset="-122"/>
              </a:defRPr>
            </a:lvl5pPr>
            <a:lvl6pPr eaLnBrk="0" hangingPunct="0">
              <a:defRPr sz="2000">
                <a:latin typeface="Arial" charset="0"/>
                <a:ea typeface="楷体_GB2312" pitchFamily="49" charset="-122"/>
              </a:defRPr>
            </a:lvl6pPr>
            <a:lvl7pPr eaLnBrk="0" hangingPunct="0">
              <a:defRPr sz="2000">
                <a:latin typeface="Arial" charset="0"/>
                <a:ea typeface="楷体_GB2312" pitchFamily="49" charset="-122"/>
              </a:defRPr>
            </a:lvl7pPr>
            <a:lvl8pPr eaLnBrk="0" hangingPunct="0">
              <a:defRPr sz="2000">
                <a:latin typeface="Arial" charset="0"/>
                <a:ea typeface="楷体_GB2312" pitchFamily="49" charset="-122"/>
              </a:defRPr>
            </a:lvl8pPr>
            <a:lvl9pPr eaLnBrk="0" hangingPunct="0">
              <a:defRPr sz="2000">
                <a:latin typeface="Arial" charset="0"/>
                <a:ea typeface="楷体_GB2312" pitchFamily="49" charset="-122"/>
              </a:defRPr>
            </a:lvl9pPr>
          </a:lstStyle>
          <a:p>
            <a:r>
              <a:rPr lang="en-US" altLang="zh-CN">
                <a:sym typeface="Times New Roman" panose="02020603050405020304" pitchFamily="18" charset="0"/>
              </a:rPr>
              <a:t>        </a:t>
            </a:r>
            <a:r>
              <a:rPr lang="zh-CN" altLang="zh-CN">
                <a:sym typeface="Times New Roman" panose="02020603050405020304" pitchFamily="18" charset="0"/>
              </a:rPr>
              <a:t>由于B到（A、B）的距离大于到（C、D）的距离，因此B要分配给（C、D）类，得到新的聚类是（A）和（B、C、D）。  更新中心坐标如下表所示。</a:t>
            </a:r>
          </a:p>
        </p:txBody>
      </p:sp>
      <p:sp>
        <p:nvSpPr>
          <p:cNvPr id="40973" name="object 6"/>
          <p:cNvSpPr txBox="1">
            <a:spLocks noChangeArrowheads="1"/>
          </p:cNvSpPr>
          <p:nvPr/>
        </p:nvSpPr>
        <p:spPr bwMode="auto">
          <a:xfrm>
            <a:off x="3491880" y="4887507"/>
            <a:ext cx="2160240" cy="28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2700">
              <a:defRPr sz="3200">
                <a:solidFill>
                  <a:schemeClr val="tx1"/>
                </a:solidFill>
                <a:latin typeface="Arial" charset="0"/>
                <a:ea typeface="楷体_GB2312" pitchFamily="49" charset="-122"/>
              </a:defRPr>
            </a:lvl1pPr>
            <a:lvl2pPr>
              <a:defRPr sz="2800">
                <a:solidFill>
                  <a:schemeClr val="tx1"/>
                </a:solidFill>
                <a:latin typeface="Arial" charset="0"/>
                <a:ea typeface="楷体_GB2312" pitchFamily="49" charset="-122"/>
              </a:defRPr>
            </a:lvl2pPr>
            <a:lvl3pPr>
              <a:defRPr sz="2400">
                <a:solidFill>
                  <a:schemeClr val="tx1"/>
                </a:solidFill>
                <a:latin typeface="Arial" charset="0"/>
                <a:ea typeface="楷体_GB2312" pitchFamily="49" charset="-122"/>
              </a:defRPr>
            </a:lvl3pPr>
            <a:lvl4pPr>
              <a:defRPr sz="2000">
                <a:solidFill>
                  <a:schemeClr val="tx1"/>
                </a:solidFill>
                <a:latin typeface="Arial" charset="0"/>
                <a:ea typeface="楷体_GB2312" pitchFamily="49" charset="-122"/>
              </a:defRPr>
            </a:lvl4pPr>
            <a:lvl5pPr>
              <a:defRPr sz="2000">
                <a:solidFill>
                  <a:schemeClr val="tx1"/>
                </a:solidFill>
                <a:latin typeface="Arial" charset="0"/>
                <a:ea typeface="楷体_GB2312" pitchFamily="49" charset="-122"/>
              </a:defRPr>
            </a:lvl5pPr>
            <a:lvl6pPr eaLnBrk="0" hangingPunct="0">
              <a:defRPr sz="2000">
                <a:solidFill>
                  <a:schemeClr val="tx1"/>
                </a:solidFill>
                <a:latin typeface="Arial" charset="0"/>
                <a:ea typeface="楷体_GB2312" pitchFamily="49" charset="-122"/>
              </a:defRPr>
            </a:lvl6pPr>
            <a:lvl7pPr eaLnBrk="0" hangingPunct="0">
              <a:defRPr sz="2000">
                <a:solidFill>
                  <a:schemeClr val="tx1"/>
                </a:solidFill>
                <a:latin typeface="Arial" charset="0"/>
                <a:ea typeface="楷体_GB2312" pitchFamily="49" charset="-122"/>
              </a:defRPr>
            </a:lvl7pPr>
            <a:lvl8pPr eaLnBrk="0" hangingPunct="0">
              <a:defRPr sz="2000">
                <a:solidFill>
                  <a:schemeClr val="tx1"/>
                </a:solidFill>
                <a:latin typeface="Arial" charset="0"/>
                <a:ea typeface="楷体_GB2312" pitchFamily="49" charset="-122"/>
              </a:defRPr>
            </a:lvl8pPr>
            <a:lvl9pPr eaLnBrk="0" hangingPunct="0">
              <a:defRPr sz="2000">
                <a:solidFill>
                  <a:schemeClr val="tx1"/>
                </a:solidFill>
                <a:latin typeface="Arial" charset="0"/>
                <a:ea typeface="楷体_GB2312" pitchFamily="49" charset="-122"/>
              </a:defRPr>
            </a:lvl9pPr>
          </a:lstStyle>
          <a:p>
            <a:pPr eaLnBrk="1" hangingPunct="1">
              <a:lnSpc>
                <a:spcPts val="2150"/>
              </a:lnSpc>
            </a:pPr>
            <a:r>
              <a:rPr lang="zh-CN" altLang="zh-CN" sz="2000">
                <a:latin typeface="Times New Roman" panose="02020603050405020304" pitchFamily="18" charset="0"/>
                <a:ea typeface="微软雅黑" panose="020B0503020204020204" pitchFamily="34" charset="-122"/>
                <a:sym typeface="Times New Roman" panose="02020603050405020304" pitchFamily="18" charset="0"/>
              </a:rPr>
              <a:t>更新后的中心坐标</a:t>
            </a:r>
          </a:p>
        </p:txBody>
      </p:sp>
      <p:sp>
        <p:nvSpPr>
          <p:cNvPr id="10" name="标题 3">
            <a:extLst>
              <a:ext uri="{FF2B5EF4-FFF2-40B4-BE49-F238E27FC236}">
                <a16:creationId xmlns:a16="http://schemas.microsoft.com/office/drawing/2014/main" id="{3B7BF1D4-9091-4F43-91D0-88EC232DEC5E}"/>
              </a:ext>
            </a:extLst>
          </p:cNvPr>
          <p:cNvSpPr txBox="1">
            <a:spLocks/>
          </p:cNvSpPr>
          <p:nvPr/>
        </p:nvSpPr>
        <p:spPr bwMode="gray">
          <a:xfrm>
            <a:off x="756001" y="108000"/>
            <a:ext cx="6768328" cy="492443"/>
          </a:xfrm>
          <a:prstGeom prst="rect">
            <a:avLst/>
          </a:prstGeom>
        </p:spPr>
        <p:txBody>
          <a:bodyPr wrap="square">
            <a:spAutoFit/>
          </a:bodyPr>
          <a:lstStyle>
            <a:lvl1pPr fontAlgn="base">
              <a:lnSpc>
                <a:spcPct val="100000"/>
              </a:lnSpc>
              <a:spcBef>
                <a:spcPct val="0"/>
              </a:spcBef>
              <a:spcAft>
                <a:spcPct val="0"/>
              </a:spcAft>
              <a:buNone/>
              <a:defRPr sz="2600" b="1" spc="50">
                <a:solidFill>
                  <a:schemeClr val="bg1"/>
                </a:solidFill>
                <a:latin typeface="Times New Roman" panose="02020603050405020304" pitchFamily="18" charset="0"/>
                <a:ea typeface="微软雅黑" panose="020B0503020204020204" pitchFamily="34" charset="-122"/>
                <a:cs typeface="+mn-ea"/>
              </a:defRPr>
            </a:lvl1pPr>
          </a:lstStyle>
          <a:p>
            <a:r>
              <a:rPr lang="en-US" altLang="zh-CN">
                <a:sym typeface="Times New Roman" panose="02020603050405020304" pitchFamily="18" charset="0"/>
              </a:rPr>
              <a:t>2.1.1 An </a:t>
            </a:r>
            <a:r>
              <a:rPr lang="en-US" altLang="zh-CN" dirty="0">
                <a:sym typeface="Times New Roman" panose="02020603050405020304" pitchFamily="18" charset="0"/>
              </a:rPr>
              <a:t>Example of K-Means Clustering</a:t>
            </a:r>
            <a:endParaRPr lang="zh-CN" altLang="en-US" dirty="0">
              <a:sym typeface="Times New Roman" panose="02020603050405020304" pitchFamily="18" charset="0"/>
            </a:endParaRPr>
          </a:p>
        </p:txBody>
      </p:sp>
      <p:graphicFrame>
        <p:nvGraphicFramePr>
          <p:cNvPr id="11" name="object 3">
            <a:extLst>
              <a:ext uri="{FF2B5EF4-FFF2-40B4-BE49-F238E27FC236}">
                <a16:creationId xmlns:a16="http://schemas.microsoft.com/office/drawing/2014/main" id="{C2417A68-9500-4F46-926E-80C12F3C0011}"/>
              </a:ext>
            </a:extLst>
          </p:cNvPr>
          <p:cNvGraphicFramePr>
            <a:graphicFrameLocks noGrp="1"/>
          </p:cNvGraphicFramePr>
          <p:nvPr>
            <p:extLst>
              <p:ext uri="{D42A27DB-BD31-4B8C-83A1-F6EECF244321}">
                <p14:modId xmlns:p14="http://schemas.microsoft.com/office/powerpoint/2010/main" val="1520504223"/>
              </p:ext>
            </p:extLst>
          </p:nvPr>
        </p:nvGraphicFramePr>
        <p:xfrm>
          <a:off x="790207" y="2570807"/>
          <a:ext cx="7563586" cy="2088232"/>
        </p:xfrm>
        <a:graphic>
          <a:graphicData uri="http://schemas.openxmlformats.org/drawingml/2006/table">
            <a:tbl>
              <a:tblPr/>
              <a:tblGrid>
                <a:gridCol w="2388246">
                  <a:extLst>
                    <a:ext uri="{9D8B030D-6E8A-4147-A177-3AD203B41FA5}">
                      <a16:colId xmlns:a16="http://schemas.microsoft.com/office/drawing/2014/main" val="20000"/>
                    </a:ext>
                  </a:extLst>
                </a:gridCol>
                <a:gridCol w="2587670">
                  <a:extLst>
                    <a:ext uri="{9D8B030D-6E8A-4147-A177-3AD203B41FA5}">
                      <a16:colId xmlns:a16="http://schemas.microsoft.com/office/drawing/2014/main" val="20001"/>
                    </a:ext>
                  </a:extLst>
                </a:gridCol>
                <a:gridCol w="2587670">
                  <a:extLst>
                    <a:ext uri="{9D8B030D-6E8A-4147-A177-3AD203B41FA5}">
                      <a16:colId xmlns:a16="http://schemas.microsoft.com/office/drawing/2014/main" val="2927513231"/>
                    </a:ext>
                  </a:extLst>
                </a:gridCol>
              </a:tblGrid>
              <a:tr h="522058">
                <a:tc rowSpan="2">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聚类</a:t>
                      </a:r>
                      <a:endParaRPr kumimoji="0" lang="zh-CN"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gridSpan="2">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中心坐标</a:t>
                      </a:r>
                      <a:endParaRPr kumimoji="0" lang="zh-CN"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hMerge="1">
                  <a:txBody>
                    <a:bodyPr/>
                    <a:lstStyle/>
                    <a:p>
                      <a:endParaRPr lang="zh-CN" altLang="en-US"/>
                    </a:p>
                  </a:txBody>
                  <a:tcPr/>
                </a:tc>
                <a:extLst>
                  <a:ext uri="{0D108BD9-81ED-4DB2-BD59-A6C34878D82A}">
                    <a16:rowId xmlns:a16="http://schemas.microsoft.com/office/drawing/2014/main" val="10000"/>
                  </a:ext>
                </a:extLst>
              </a:tr>
              <a:tr h="522058">
                <a:tc vMerge="1">
                  <a:txBody>
                    <a:bodyPr/>
                    <a:lstStyle/>
                    <a:p>
                      <a:endParaRPr lang="zh-CN" altLang="en-US"/>
                    </a:p>
                  </a:txBody>
                  <a:tcPr/>
                </a:tc>
                <a:tc>
                  <a:txBody>
                    <a:bodyPr/>
                    <a:lstStyle/>
                    <a:p>
                      <a:pPr marL="52388" marR="0" lvl="0" indent="0" algn="ctr" defTabSz="914400" rtl="0" eaLnBrk="1" fontAlgn="base" latinLnBrk="0" hangingPunct="1">
                        <a:lnSpc>
                          <a:spcPct val="100000"/>
                        </a:lnSpc>
                        <a:spcBef>
                          <a:spcPts val="0"/>
                        </a:spcBef>
                        <a:spcAft>
                          <a:spcPct val="0"/>
                        </a:spcAft>
                        <a:buClrTx/>
                        <a:buSzTx/>
                        <a:buFontTx/>
                        <a:buNone/>
                        <a:tabLst>
                          <a:tab pos="2593975" algn="l"/>
                        </a:tabLst>
                        <a:defRPr/>
                      </a:pPr>
                      <a:r>
                        <a:rPr kumimoji="0" lang="en-US"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a:t>
                      </a:r>
                      <a:r>
                        <a:rPr kumimoji="0" lang="zh-CN"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X </a:t>
                      </a:r>
                      <a:r>
                        <a:rPr kumimoji="0" lang="en-US"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1</a:t>
                      </a:r>
                      <a:endParaRPr kumimoji="0" lang="zh-CN"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p>
                      <a:pPr marL="52388" marR="0" lvl="0" indent="0" algn="ctr" defTabSz="914400" rtl="0" eaLnBrk="1" fontAlgn="base" latinLnBrk="0" hangingPunct="1">
                        <a:lnSpc>
                          <a:spcPct val="100000"/>
                        </a:lnSpc>
                        <a:spcBef>
                          <a:spcPts val="0"/>
                        </a:spcBef>
                        <a:spcAft>
                          <a:spcPct val="0"/>
                        </a:spcAft>
                        <a:buClrTx/>
                        <a:buSzTx/>
                        <a:buFontTx/>
                        <a:buNone/>
                        <a:tabLst>
                          <a:tab pos="2593975" algn="l"/>
                        </a:tabLst>
                      </a:pPr>
                      <a:r>
                        <a:rPr kumimoji="0" lang="en-US"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a:t>
                      </a:r>
                      <a:r>
                        <a:rPr kumimoji="0" lang="zh-CN" altLang="zh-CN" sz="1800" b="1" i="1" u="none" strike="noStrike" cap="none" normalizeH="0" baseline="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X </a:t>
                      </a:r>
                      <a:r>
                        <a:rPr kumimoji="0" lang="zh-CN" altLang="zh-CN" sz="1800" b="1" i="0" u="none" strike="noStrike" cap="none" normalizeH="0" baseline="-2400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1"/>
                  </a:ext>
                </a:extLst>
              </a:tr>
              <a:tr h="522058">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a:t>
                      </a: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5</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3</a:t>
                      </a:r>
                      <a:endParaRPr kumimoji="0" lang="zh-CN" altLang="zh-CN" sz="1800" b="0" i="0" u="none" strike="noStrike" cap="none" normalizeH="0" baseline="0" dirty="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522058">
                <a:tc>
                  <a:txBody>
                    <a:bodyPr/>
                    <a:lstStyle/>
                    <a:p>
                      <a:pPr marL="3175" marR="0" lvl="0" indent="0" algn="ctr" defTabSz="914400" rtl="0" eaLnBrk="1" fontAlgn="base" latinLnBrk="0" hangingPunct="1">
                        <a:lnSpc>
                          <a:spcPct val="100000"/>
                        </a:lnSpc>
                        <a:spcBef>
                          <a:spcPts val="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B</a:t>
                      </a: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C</a:t>
                      </a: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D</a:t>
                      </a:r>
                      <a:r>
                        <a:rPr kumimoji="0" lang="zh-CN" altLang="en-US"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rPr>
                        <a:t>）</a:t>
                      </a:r>
                      <a:endParaRPr kumimoji="0" lang="zh-CN" altLang="zh-CN" sz="1800" b="0" i="0" u="none" strike="noStrike" cap="none" normalizeH="0" baseline="0">
                        <a:ln>
                          <a:noFill/>
                        </a:ln>
                        <a:solidFill>
                          <a:schemeClr val="tx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-1</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45720" marR="4572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tab pos="3781425" algn="l"/>
                        </a:tabLst>
                      </a:pPr>
                      <a:r>
                        <a:rPr kumimoji="0" lang="en-US" altLang="zh-CN" sz="1800" b="0" i="0" u="none" strike="noStrike" kern="1200" cap="none" normalizeH="0" baseline="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rPr>
                        <a:t>-1</a:t>
                      </a:r>
                      <a:endParaRPr kumimoji="0" lang="zh-CN" altLang="zh-CN" sz="1800" b="0" i="0" u="none" strike="noStrike" kern="1200" cap="none" normalizeH="0" baseline="0" dirty="0">
                        <a:ln>
                          <a:noFill/>
                        </a:ln>
                        <a:solidFill>
                          <a:schemeClr val="tx1"/>
                        </a:solidFill>
                        <a:effectLst/>
                        <a:latin typeface="Times New Roman"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4091783122"/>
                  </a:ext>
                </a:extLst>
              </a:tr>
            </a:tbl>
          </a:graphicData>
        </a:graphic>
      </p:graphicFrame>
    </p:spTree>
    <p:extLst>
      <p:ext uri="{BB962C8B-B14F-4D97-AF65-F5344CB8AC3E}">
        <p14:creationId xmlns:p14="http://schemas.microsoft.com/office/powerpoint/2010/main" val="1452461175"/>
      </p:ext>
    </p:extLst>
  </p:cSld>
  <p:clrMapOvr>
    <a:masterClrMapping/>
  </p:clrMapOvr>
  <p:transition spd="med">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object 2"/>
          <p:cNvSpPr txBox="1">
            <a:spLocks noChangeArrowheads="1"/>
          </p:cNvSpPr>
          <p:nvPr/>
        </p:nvSpPr>
        <p:spPr bwMode="auto">
          <a:xfrm>
            <a:off x="252000" y="756000"/>
            <a:ext cx="8640000" cy="1042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810" rIns="0" bIns="0">
            <a:spAutoFit/>
          </a:bodyPr>
          <a:lstStyle>
            <a:defPPr>
              <a:defRPr lang="zh-CN"/>
            </a:defPPr>
            <a:lvl1pPr>
              <a:lnSpc>
                <a:spcPct val="150000"/>
              </a:lnSpc>
              <a:spcBef>
                <a:spcPts val="600"/>
              </a:spcBef>
              <a:defRPr sz="2400">
                <a:latin typeface="Times New Roman" panose="02020603050405020304" pitchFamily="18" charset="0"/>
                <a:ea typeface="微软雅黑" panose="020B0503020204020204" pitchFamily="34" charset="-122"/>
              </a:defRPr>
            </a:lvl1pPr>
            <a:lvl2pPr>
              <a:defRPr sz="2800">
                <a:latin typeface="Arial" charset="0"/>
                <a:ea typeface="楷体_GB2312" pitchFamily="49" charset="-122"/>
              </a:defRPr>
            </a:lvl2pPr>
            <a:lvl3pPr>
              <a:defRPr sz="2400">
                <a:latin typeface="Arial" charset="0"/>
                <a:ea typeface="楷体_GB2312" pitchFamily="49" charset="-122"/>
              </a:defRPr>
            </a:lvl3pPr>
            <a:lvl4pPr>
              <a:defRPr sz="2000">
                <a:latin typeface="Arial" charset="0"/>
                <a:ea typeface="楷体_GB2312" pitchFamily="49" charset="-122"/>
              </a:defRPr>
            </a:lvl4pPr>
            <a:lvl5pPr>
              <a:defRPr sz="2000">
                <a:latin typeface="Arial" charset="0"/>
                <a:ea typeface="楷体_GB2312" pitchFamily="49" charset="-122"/>
              </a:defRPr>
            </a:lvl5pPr>
            <a:lvl6pPr eaLnBrk="0" hangingPunct="0">
              <a:defRPr sz="2000">
                <a:latin typeface="Arial" charset="0"/>
                <a:ea typeface="楷体_GB2312" pitchFamily="49" charset="-122"/>
              </a:defRPr>
            </a:lvl6pPr>
            <a:lvl7pPr eaLnBrk="0" hangingPunct="0">
              <a:defRPr sz="2000">
                <a:latin typeface="Arial" charset="0"/>
                <a:ea typeface="楷体_GB2312" pitchFamily="49" charset="-122"/>
              </a:defRPr>
            </a:lvl7pPr>
            <a:lvl8pPr eaLnBrk="0" hangingPunct="0">
              <a:defRPr sz="2000">
                <a:latin typeface="Arial" charset="0"/>
                <a:ea typeface="楷体_GB2312" pitchFamily="49" charset="-122"/>
              </a:defRPr>
            </a:lvl8pPr>
            <a:lvl9pPr eaLnBrk="0" hangingPunct="0">
              <a:defRPr sz="2000">
                <a:latin typeface="Arial" charset="0"/>
                <a:ea typeface="楷体_GB2312" pitchFamily="49" charset="-122"/>
              </a:defRPr>
            </a:lvl9pPr>
          </a:lstStyle>
          <a:p>
            <a:r>
              <a:rPr lang="en-US" altLang="zh-CN">
                <a:sym typeface="Times New Roman" panose="02020603050405020304" pitchFamily="18" charset="0"/>
              </a:rPr>
              <a:t>        </a:t>
            </a:r>
            <a:r>
              <a:rPr lang="zh-CN" altLang="zh-CN">
                <a:sym typeface="Times New Roman" panose="02020603050405020304" pitchFamily="18" charset="0"/>
              </a:rPr>
              <a:t>第三步：再次检查每个样品，以决定是否需要重新分类。计算各样品到各中心的距离平方，结果见下表。</a:t>
            </a:r>
          </a:p>
        </p:txBody>
      </p:sp>
      <p:sp>
        <p:nvSpPr>
          <p:cNvPr id="41986" name="object 3"/>
          <p:cNvSpPr txBox="1">
            <a:spLocks noChangeArrowheads="1"/>
          </p:cNvSpPr>
          <p:nvPr/>
        </p:nvSpPr>
        <p:spPr bwMode="auto">
          <a:xfrm>
            <a:off x="252000" y="4319150"/>
            <a:ext cx="8640000" cy="1596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810" rIns="0" bIns="0">
            <a:spAutoFit/>
          </a:bodyPr>
          <a:lstStyle>
            <a:defPPr>
              <a:defRPr lang="zh-CN"/>
            </a:defPPr>
            <a:lvl1pPr>
              <a:lnSpc>
                <a:spcPct val="150000"/>
              </a:lnSpc>
              <a:spcBef>
                <a:spcPts val="600"/>
              </a:spcBef>
              <a:defRPr sz="2400">
                <a:latin typeface="Times New Roman" panose="02020603050405020304" pitchFamily="18" charset="0"/>
                <a:ea typeface="微软雅黑" panose="020B0503020204020204" pitchFamily="34" charset="-122"/>
              </a:defRPr>
            </a:lvl1pPr>
            <a:lvl2pPr>
              <a:defRPr sz="2800">
                <a:latin typeface="Arial" charset="0"/>
                <a:ea typeface="楷体_GB2312" pitchFamily="49" charset="-122"/>
              </a:defRPr>
            </a:lvl2pPr>
            <a:lvl3pPr>
              <a:defRPr sz="2400">
                <a:latin typeface="Arial" charset="0"/>
                <a:ea typeface="楷体_GB2312" pitchFamily="49" charset="-122"/>
              </a:defRPr>
            </a:lvl3pPr>
            <a:lvl4pPr>
              <a:defRPr sz="2000">
                <a:latin typeface="Arial" charset="0"/>
                <a:ea typeface="楷体_GB2312" pitchFamily="49" charset="-122"/>
              </a:defRPr>
            </a:lvl4pPr>
            <a:lvl5pPr>
              <a:defRPr sz="2000">
                <a:latin typeface="Arial" charset="0"/>
                <a:ea typeface="楷体_GB2312" pitchFamily="49" charset="-122"/>
              </a:defRPr>
            </a:lvl5pPr>
            <a:lvl6pPr eaLnBrk="0" hangingPunct="0">
              <a:defRPr sz="2000">
                <a:latin typeface="Arial" charset="0"/>
                <a:ea typeface="楷体_GB2312" pitchFamily="49" charset="-122"/>
              </a:defRPr>
            </a:lvl6pPr>
            <a:lvl7pPr eaLnBrk="0" hangingPunct="0">
              <a:defRPr sz="2000">
                <a:latin typeface="Arial" charset="0"/>
                <a:ea typeface="楷体_GB2312" pitchFamily="49" charset="-122"/>
              </a:defRPr>
            </a:lvl7pPr>
            <a:lvl8pPr eaLnBrk="0" hangingPunct="0">
              <a:defRPr sz="2000">
                <a:latin typeface="Arial" charset="0"/>
                <a:ea typeface="楷体_GB2312" pitchFamily="49" charset="-122"/>
              </a:defRPr>
            </a:lvl8pPr>
            <a:lvl9pPr eaLnBrk="0" hangingPunct="0">
              <a:defRPr sz="2000">
                <a:latin typeface="Arial" charset="0"/>
                <a:ea typeface="楷体_GB2312" pitchFamily="49" charset="-122"/>
              </a:defRPr>
            </a:lvl9pPr>
          </a:lstStyle>
          <a:p>
            <a:r>
              <a:rPr lang="en-US" altLang="zh-CN">
                <a:sym typeface="Times New Roman" panose="02020603050405020304" pitchFamily="18" charset="0"/>
              </a:rPr>
              <a:t>        </a:t>
            </a:r>
            <a:r>
              <a:rPr lang="zh-CN" altLang="zh-CN">
                <a:sym typeface="Times New Roman" panose="02020603050405020304" pitchFamily="18" charset="0"/>
              </a:rPr>
              <a:t>到现在为止，每个样品都已经分配给距离中心最近的类，因此聚类过程到此结束。最终得到K=2的聚类结果是A独自成  一类，B、C、D聚成一类。</a:t>
            </a:r>
          </a:p>
        </p:txBody>
      </p:sp>
      <p:graphicFrame>
        <p:nvGraphicFramePr>
          <p:cNvPr id="4" name="object 4"/>
          <p:cNvGraphicFramePr>
            <a:graphicFrameLocks noGrp="1"/>
          </p:cNvGraphicFramePr>
          <p:nvPr>
            <p:extLst>
              <p:ext uri="{D42A27DB-BD31-4B8C-83A1-F6EECF244321}">
                <p14:modId xmlns:p14="http://schemas.microsoft.com/office/powerpoint/2010/main" val="3141340073"/>
              </p:ext>
            </p:extLst>
          </p:nvPr>
        </p:nvGraphicFramePr>
        <p:xfrm>
          <a:off x="620826" y="2060848"/>
          <a:ext cx="7902349" cy="1995983"/>
        </p:xfrm>
        <a:graphic>
          <a:graphicData uri="http://schemas.openxmlformats.org/drawingml/2006/table">
            <a:tbl>
              <a:tblPr/>
              <a:tblGrid>
                <a:gridCol w="1952165">
                  <a:extLst>
                    <a:ext uri="{9D8B030D-6E8A-4147-A177-3AD203B41FA5}">
                      <a16:colId xmlns:a16="http://schemas.microsoft.com/office/drawing/2014/main" val="20000"/>
                    </a:ext>
                  </a:extLst>
                </a:gridCol>
                <a:gridCol w="1482010">
                  <a:extLst>
                    <a:ext uri="{9D8B030D-6E8A-4147-A177-3AD203B41FA5}">
                      <a16:colId xmlns:a16="http://schemas.microsoft.com/office/drawing/2014/main" val="20001"/>
                    </a:ext>
                  </a:extLst>
                </a:gridCol>
                <a:gridCol w="1475196">
                  <a:extLst>
                    <a:ext uri="{9D8B030D-6E8A-4147-A177-3AD203B41FA5}">
                      <a16:colId xmlns:a16="http://schemas.microsoft.com/office/drawing/2014/main" val="20002"/>
                    </a:ext>
                  </a:extLst>
                </a:gridCol>
                <a:gridCol w="1473492">
                  <a:extLst>
                    <a:ext uri="{9D8B030D-6E8A-4147-A177-3AD203B41FA5}">
                      <a16:colId xmlns:a16="http://schemas.microsoft.com/office/drawing/2014/main" val="20003"/>
                    </a:ext>
                  </a:extLst>
                </a:gridCol>
                <a:gridCol w="1519486">
                  <a:extLst>
                    <a:ext uri="{9D8B030D-6E8A-4147-A177-3AD203B41FA5}">
                      <a16:colId xmlns:a16="http://schemas.microsoft.com/office/drawing/2014/main" val="20004"/>
                    </a:ext>
                  </a:extLst>
                </a:gridCol>
              </a:tblGrid>
              <a:tr h="534191">
                <a:tc rowSpan="2">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zh-CN" sz="20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聚类</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gridSpan="4">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zh-CN" sz="2000" b="1" i="0" u="none" strike="noStrike" kern="1200" cap="none" normalizeH="0" baseline="0">
                          <a:ln>
                            <a:noFill/>
                          </a:ln>
                          <a:solidFill>
                            <a:schemeClr val="bg1"/>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样品到中心的距离平方</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47408">
                <a:tc vMerge="1">
                  <a:txBody>
                    <a:bodyPr/>
                    <a:lstStyle/>
                    <a:p>
                      <a:endParaRPr lang="zh-CN" altLang="en-US"/>
                    </a:p>
                  </a:txBody>
                  <a:tcPr/>
                </a:tc>
                <a:tc>
                  <a:txBody>
                    <a:bodyPr/>
                    <a:lstStyle/>
                    <a:p>
                      <a:pPr marL="0" marR="0" lvl="0" indent="0" algn="ctr" defTabSz="914400" rtl="0" eaLnBrk="1" fontAlgn="base" latinLnBrk="0" hangingPunct="1">
                        <a:lnSpc>
                          <a:spcPts val="2713"/>
                        </a:lnSpc>
                        <a:spcBef>
                          <a:spcPct val="0"/>
                        </a:spcBef>
                        <a:spcAft>
                          <a:spcPct val="0"/>
                        </a:spcAft>
                        <a:buClrTx/>
                        <a:buSzTx/>
                        <a:buFontTx/>
                        <a:buNone/>
                        <a:tabLst/>
                      </a:pPr>
                      <a:r>
                        <a:rPr kumimoji="0" lang="zh-CN" altLang="zh-CN" sz="2000" b="1" i="0" u="none" strike="noStrike" cap="none" normalizeH="0" baseline="0" dirty="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A</a:t>
                      </a:r>
                      <a:r>
                        <a:rPr kumimoji="0" lang="en-US" altLang="zh-CN" sz="2000" b="1" i="0" u="none" strike="noStrike" cap="none" normalizeH="0" baseline="0" dirty="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rPr>
                        <a:t> </a:t>
                      </a:r>
                      <a:endParaRPr kumimoji="0" lang="zh-CN" altLang="zh-CN" sz="2000" b="0" i="0" u="none" strike="noStrike" cap="none" normalizeH="0" baseline="0" dirty="0">
                        <a:ln>
                          <a:noFill/>
                        </a:ln>
                        <a:solidFill>
                          <a:schemeClr val="bg1"/>
                        </a:solidFill>
                        <a:effectLst/>
                        <a:latin typeface="Times New Roman"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zh-CN" sz="2000" b="1" i="0" u="none" strike="noStrike" kern="1200" cap="none" normalizeH="0" baseline="0" dirty="0">
                          <a:ln>
                            <a:noFill/>
                          </a:ln>
                          <a:solidFill>
                            <a:schemeClr val="bg1"/>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B</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zh-CN" sz="2000" b="1" i="0" u="none" strike="noStrike" kern="1200" cap="none" normalizeH="0" baseline="0">
                          <a:ln>
                            <a:noFill/>
                          </a:ln>
                          <a:solidFill>
                            <a:schemeClr val="bg1"/>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C</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zh-CN" altLang="zh-CN" sz="2000" b="1" i="0" u="none" strike="noStrike" kern="1200" cap="none" normalizeH="0" baseline="0">
                          <a:ln>
                            <a:noFill/>
                          </a:ln>
                          <a:solidFill>
                            <a:schemeClr val="bg1"/>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D</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1"/>
                  </a:ext>
                </a:extLst>
              </a:tr>
              <a:tr h="495621">
                <a:tc>
                  <a:txBody>
                    <a:bodyPr/>
                    <a:lstStyle/>
                    <a:p>
                      <a:pPr marL="0" marR="0" lvl="0" indent="0" algn="ctr" defTabSz="914400" rtl="0" eaLnBrk="1" fontAlgn="base" latinLnBrk="0" hangingPunct="1">
                        <a:lnSpc>
                          <a:spcPts val="2888"/>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mn-lt"/>
                          <a:ea typeface="微软雅黑" panose="020B0503020204020204" pitchFamily="34" charset="-122"/>
                          <a:sym typeface="Times New Roman" panose="02020603050405020304" pitchFamily="18" charset="0"/>
                        </a:rPr>
                        <a:t>（A）</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ts val="2713"/>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mn-lt"/>
                          <a:ea typeface="微软雅黑" panose="020B0503020204020204" pitchFamily="34" charset="-122"/>
                          <a:sym typeface="Times New Roman" panose="02020603050405020304" pitchFamily="18" charset="0"/>
                        </a:rPr>
                        <a:t>0</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12700" marR="0" lvl="0" indent="0" algn="ctr" defTabSz="914400" rtl="0" eaLnBrk="1" fontAlgn="base" latinLnBrk="0" hangingPunct="1">
                        <a:lnSpc>
                          <a:spcPts val="2713"/>
                        </a:lnSpc>
                        <a:spcBef>
                          <a:spcPct val="0"/>
                        </a:spcBef>
                        <a:spcAft>
                          <a:spcPct val="0"/>
                        </a:spcAft>
                        <a:buClrTx/>
                        <a:buSzTx/>
                        <a:buFontTx/>
                        <a:buNone/>
                        <a:tabLst/>
                      </a:pPr>
                      <a:r>
                        <a:rPr kumimoji="0" lang="zh-CN" altLang="zh-CN" sz="2000" b="0" i="0" u="none" strike="noStrike" cap="none" normalizeH="0" baseline="0">
                          <a:ln>
                            <a:noFill/>
                          </a:ln>
                          <a:solidFill>
                            <a:schemeClr val="tx1"/>
                          </a:solidFill>
                          <a:effectLst/>
                          <a:latin typeface="+mn-lt"/>
                          <a:ea typeface="微软雅黑" panose="020B0503020204020204" pitchFamily="34" charset="-122"/>
                          <a:sym typeface="Times New Roman" panose="02020603050405020304" pitchFamily="18" charset="0"/>
                        </a:rPr>
                        <a:t>40</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ts val="2713"/>
                        </a:lnSpc>
                        <a:spcBef>
                          <a:spcPct val="0"/>
                        </a:spcBef>
                        <a:spcAft>
                          <a:spcPct val="0"/>
                        </a:spcAft>
                        <a:buClrTx/>
                        <a:buSzTx/>
                        <a:buFontTx/>
                        <a:buNone/>
                        <a:tabLst/>
                      </a:pPr>
                      <a:r>
                        <a:rPr kumimoji="0" lang="zh-CN" altLang="zh-CN" sz="2000" b="0" i="0" u="none" strike="noStrike" cap="none" normalizeH="0" baseline="0">
                          <a:ln>
                            <a:noFill/>
                          </a:ln>
                          <a:solidFill>
                            <a:schemeClr val="tx1"/>
                          </a:solidFill>
                          <a:effectLst/>
                          <a:latin typeface="+mn-lt"/>
                          <a:ea typeface="微软雅黑" panose="020B0503020204020204" pitchFamily="34" charset="-122"/>
                          <a:sym typeface="Times New Roman" panose="02020603050405020304" pitchFamily="18" charset="0"/>
                        </a:rPr>
                        <a:t>41</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ts val="2713"/>
                        </a:lnSpc>
                        <a:spcBef>
                          <a:spcPct val="0"/>
                        </a:spcBef>
                        <a:spcAft>
                          <a:spcPct val="0"/>
                        </a:spcAft>
                        <a:buClrTx/>
                        <a:buSzTx/>
                        <a:buFontTx/>
                        <a:buNone/>
                        <a:tabLst/>
                      </a:pPr>
                      <a:r>
                        <a:rPr kumimoji="0" lang="zh-CN" altLang="zh-CN" sz="2000" b="0" i="0" u="none" strike="noStrike" cap="none" normalizeH="0" baseline="0">
                          <a:ln>
                            <a:noFill/>
                          </a:ln>
                          <a:solidFill>
                            <a:schemeClr val="tx1"/>
                          </a:solidFill>
                          <a:effectLst/>
                          <a:latin typeface="+mn-lt"/>
                          <a:ea typeface="微软雅黑" panose="020B0503020204020204" pitchFamily="34" charset="-122"/>
                          <a:sym typeface="Times New Roman" panose="02020603050405020304" pitchFamily="18" charset="0"/>
                        </a:rPr>
                        <a:t>89</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518763">
                <a:tc>
                  <a:txBody>
                    <a:bodyPr/>
                    <a:lstStyle/>
                    <a:p>
                      <a:pPr marL="182563" marR="0" lvl="0" indent="0" algn="ctr" defTabSz="914400" rtl="0" eaLnBrk="1" fontAlgn="base" latinLnBrk="0" hangingPunct="1">
                        <a:lnSpc>
                          <a:spcPts val="2913"/>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mn-lt"/>
                          <a:ea typeface="微软雅黑" panose="020B0503020204020204" pitchFamily="34" charset="-122"/>
                          <a:sym typeface="Times New Roman" panose="02020603050405020304" pitchFamily="18" charset="0"/>
                        </a:rPr>
                        <a:t>（B、C、D）</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ts val="275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mn-lt"/>
                          <a:ea typeface="微软雅黑" panose="020B0503020204020204" pitchFamily="34" charset="-122"/>
                          <a:sym typeface="Times New Roman" panose="02020603050405020304" pitchFamily="18" charset="0"/>
                        </a:rPr>
                        <a:t>52</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12700" marR="0" lvl="0" indent="0" algn="ctr" defTabSz="914400" rtl="0" eaLnBrk="1" fontAlgn="base" latinLnBrk="0" hangingPunct="1">
                        <a:lnSpc>
                          <a:spcPts val="2750"/>
                        </a:lnSpc>
                        <a:spcBef>
                          <a:spcPct val="0"/>
                        </a:spcBef>
                        <a:spcAft>
                          <a:spcPct val="0"/>
                        </a:spcAft>
                        <a:buClrTx/>
                        <a:buSzTx/>
                        <a:buFontTx/>
                        <a:buNone/>
                        <a:tabLst/>
                      </a:pPr>
                      <a:r>
                        <a:rPr kumimoji="0" lang="zh-CN" altLang="zh-CN" sz="2000" b="0" i="0" u="none" strike="noStrike" cap="none" normalizeH="0" baseline="0">
                          <a:ln>
                            <a:noFill/>
                          </a:ln>
                          <a:solidFill>
                            <a:schemeClr val="tx1"/>
                          </a:solidFill>
                          <a:effectLst/>
                          <a:latin typeface="+mn-lt"/>
                          <a:ea typeface="微软雅黑" panose="020B0503020204020204" pitchFamily="34" charset="-122"/>
                          <a:sym typeface="Times New Roman" panose="02020603050405020304" pitchFamily="18" charset="0"/>
                        </a:rPr>
                        <a:t>4</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ts val="2750"/>
                        </a:lnSpc>
                        <a:spcBef>
                          <a:spcPct val="0"/>
                        </a:spcBef>
                        <a:spcAft>
                          <a:spcPct val="0"/>
                        </a:spcAft>
                        <a:buClrTx/>
                        <a:buSzTx/>
                        <a:buFontTx/>
                        <a:buNone/>
                        <a:tabLst/>
                      </a:pPr>
                      <a:r>
                        <a:rPr kumimoji="0" lang="zh-CN" altLang="zh-CN" sz="2000" b="0" i="0" u="none" strike="noStrike" cap="none" normalizeH="0" baseline="0">
                          <a:ln>
                            <a:noFill/>
                          </a:ln>
                          <a:solidFill>
                            <a:schemeClr val="tx1"/>
                          </a:solidFill>
                          <a:effectLst/>
                          <a:latin typeface="+mn-lt"/>
                          <a:ea typeface="微软雅黑" panose="020B0503020204020204" pitchFamily="34" charset="-122"/>
                          <a:sym typeface="Times New Roman" panose="02020603050405020304" pitchFamily="18" charset="0"/>
                        </a:rPr>
                        <a:t>5</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ts val="275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mn-lt"/>
                          <a:ea typeface="微软雅黑" panose="020B0503020204020204" pitchFamily="34" charset="-122"/>
                          <a:sym typeface="Times New Roman" panose="02020603050405020304" pitchFamily="18" charset="0"/>
                        </a:rPr>
                        <a:t>5</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3"/>
                  </a:ext>
                </a:extLst>
              </a:tr>
            </a:tbl>
          </a:graphicData>
        </a:graphic>
      </p:graphicFrame>
      <p:sp>
        <p:nvSpPr>
          <p:cNvPr id="8" name="标题 3">
            <a:extLst>
              <a:ext uri="{FF2B5EF4-FFF2-40B4-BE49-F238E27FC236}">
                <a16:creationId xmlns:a16="http://schemas.microsoft.com/office/drawing/2014/main" id="{E9B1DCE6-7135-465B-B9EA-1D6D9BD60A1E}"/>
              </a:ext>
            </a:extLst>
          </p:cNvPr>
          <p:cNvSpPr txBox="1">
            <a:spLocks/>
          </p:cNvSpPr>
          <p:nvPr/>
        </p:nvSpPr>
        <p:spPr bwMode="gray">
          <a:xfrm>
            <a:off x="756001" y="108000"/>
            <a:ext cx="6768328" cy="492443"/>
          </a:xfrm>
          <a:prstGeom prst="rect">
            <a:avLst/>
          </a:prstGeom>
        </p:spPr>
        <p:txBody>
          <a:bodyPr wrap="square">
            <a:spAutoFit/>
          </a:bodyPr>
          <a:lstStyle>
            <a:lvl1pPr fontAlgn="base">
              <a:lnSpc>
                <a:spcPct val="100000"/>
              </a:lnSpc>
              <a:spcBef>
                <a:spcPct val="0"/>
              </a:spcBef>
              <a:spcAft>
                <a:spcPct val="0"/>
              </a:spcAft>
              <a:buNone/>
              <a:defRPr sz="2600" b="1" spc="50">
                <a:solidFill>
                  <a:schemeClr val="bg1"/>
                </a:solidFill>
                <a:latin typeface="Times New Roman" panose="02020603050405020304" pitchFamily="18" charset="0"/>
                <a:ea typeface="微软雅黑" panose="020B0503020204020204" pitchFamily="34" charset="-122"/>
                <a:cs typeface="+mn-ea"/>
              </a:defRPr>
            </a:lvl1pPr>
          </a:lstStyle>
          <a:p>
            <a:r>
              <a:rPr lang="en-US" altLang="zh-CN">
                <a:sym typeface="Times New Roman" panose="02020603050405020304" pitchFamily="18" charset="0"/>
              </a:rPr>
              <a:t>2.1.1 An </a:t>
            </a:r>
            <a:r>
              <a:rPr lang="en-US" altLang="zh-CN" dirty="0">
                <a:sym typeface="Times New Roman" panose="02020603050405020304" pitchFamily="18" charset="0"/>
              </a:rPr>
              <a:t>Example of K-Means Clustering</a:t>
            </a:r>
            <a:endParaRPr lang="zh-CN" altLang="en-US" dirty="0">
              <a:sym typeface="Times New Roman" panose="02020603050405020304" pitchFamily="18" charset="0"/>
            </a:endParaRPr>
          </a:p>
        </p:txBody>
      </p:sp>
    </p:spTree>
    <p:extLst>
      <p:ext uri="{BB962C8B-B14F-4D97-AF65-F5344CB8AC3E}">
        <p14:creationId xmlns:p14="http://schemas.microsoft.com/office/powerpoint/2010/main" val="106101307"/>
      </p:ext>
    </p:extLst>
  </p:cSld>
  <p:clrMapOvr>
    <a:masterClrMapping/>
  </p:clrMapOvr>
  <p:transition spd="med">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算法效率分析</a:t>
            </a:r>
          </a:p>
        </p:txBody>
      </p:sp>
      <p:sp>
        <p:nvSpPr>
          <p:cNvPr id="21508" name="Rectangle 3"/>
          <p:cNvSpPr>
            <a:spLocks noGrp="1" noChangeArrowheads="1"/>
          </p:cNvSpPr>
          <p:nvPr>
            <p:ph type="body" idx="4294967295"/>
          </p:nvPr>
        </p:nvSpPr>
        <p:spPr>
          <a:xfrm>
            <a:off x="251520" y="756000"/>
            <a:ext cx="8229600" cy="3735574"/>
          </a:xfrm>
          <a:prstGeom prst="rect">
            <a:avLst/>
          </a:prstGeom>
          <a:noFill/>
        </p:spPr>
        <p:txBody>
          <a:bodyPr wrap="square">
            <a:spAutoFit/>
          </a:body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算法的计算复杂度为</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O(nkt)</a:t>
            </a: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其中</a:t>
            </a:r>
          </a:p>
          <a:p>
            <a:pPr marL="457200" lvl="1" indent="0" algn="just" fontAlgn="base">
              <a:lnSpc>
                <a:spcPct val="150000"/>
              </a:lnSpc>
              <a:spcBef>
                <a:spcPts val="600"/>
              </a:spcBef>
              <a:spcAft>
                <a:spcPct val="0"/>
              </a:spcAft>
              <a:buClr>
                <a:srgbClr val="FF6600"/>
              </a:buClr>
              <a:buSzPct val="80000"/>
              <a:buNone/>
            </a:pPr>
            <a:r>
              <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a:latin typeface="Times New Roman" panose="02020603050405020304" pitchFamily="18" charset="0"/>
                <a:ea typeface="微软雅黑" panose="020B0503020204020204" pitchFamily="34" charset="-122"/>
                <a:cs typeface="+mn-ea"/>
                <a:sym typeface="Times New Roman" panose="02020603050405020304" pitchFamily="18" charset="0"/>
              </a:rPr>
              <a:t>n</a:t>
            </a:r>
            <a:r>
              <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rPr>
              <a:t>为数据集中对象的数目</a:t>
            </a:r>
          </a:p>
          <a:p>
            <a:pPr marL="457200" lvl="1" indent="0" algn="just" fontAlgn="base">
              <a:lnSpc>
                <a:spcPct val="150000"/>
              </a:lnSpc>
              <a:spcBef>
                <a:spcPts val="600"/>
              </a:spcBef>
              <a:spcAft>
                <a:spcPct val="0"/>
              </a:spcAft>
              <a:buClr>
                <a:srgbClr val="FF6600"/>
              </a:buClr>
              <a:buSzPct val="80000"/>
              <a:buNone/>
            </a:pPr>
            <a:r>
              <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rPr>
              <a:t>为期望得到的簇的数目</a:t>
            </a:r>
          </a:p>
          <a:p>
            <a:pPr marL="457200" lvl="1" indent="0" algn="just" fontAlgn="base">
              <a:lnSpc>
                <a:spcPct val="150000"/>
              </a:lnSpc>
              <a:spcBef>
                <a:spcPts val="600"/>
              </a:spcBef>
              <a:spcAft>
                <a:spcPct val="0"/>
              </a:spcAft>
              <a:buClr>
                <a:srgbClr val="FF6600"/>
              </a:buClr>
              <a:buSzPct val="80000"/>
              <a:buNone/>
            </a:pPr>
            <a:r>
              <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a:latin typeface="Times New Roman" panose="02020603050405020304" pitchFamily="18" charset="0"/>
                <a:ea typeface="微软雅黑" panose="020B0503020204020204" pitchFamily="34" charset="-122"/>
                <a:cs typeface="+mn-ea"/>
                <a:sym typeface="Times New Roman" panose="02020603050405020304" pitchFamily="18" charset="0"/>
              </a:rPr>
              <a:t>t</a:t>
            </a:r>
            <a:r>
              <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rPr>
              <a:t>为迭代的次数</a:t>
            </a: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在处理大数据库时也是相对有效的</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可扩展性</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3525854157"/>
      </p:ext>
    </p:extLst>
  </p:cSld>
  <p:clrMapOvr>
    <a:masterClrMapping/>
  </p:clrMapOvr>
  <p:transition spd="med">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优缺点</a:t>
            </a:r>
          </a:p>
        </p:txBody>
      </p:sp>
      <p:sp>
        <p:nvSpPr>
          <p:cNvPr id="22532" name="Rectangle 3"/>
          <p:cNvSpPr>
            <a:spLocks noGrp="1" noChangeArrowheads="1"/>
          </p:cNvSpPr>
          <p:nvPr>
            <p:ph type="body" idx="4294967295"/>
          </p:nvPr>
        </p:nvSpPr>
        <p:spPr>
          <a:xfrm>
            <a:off x="252000" y="756000"/>
            <a:ext cx="8640000" cy="6110134"/>
          </a:xfrm>
          <a:prstGeom prst="rect">
            <a:avLst/>
          </a:prstGeom>
          <a:noFill/>
        </p:spPr>
        <p:txBody>
          <a:bodyPr wrap="square">
            <a:spAutoFit/>
          </a:bodyPr>
          <a:lstStyle/>
          <a:p>
            <a:pPr marL="360000"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优点</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聚类</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时间快</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当结果簇是密集的，而簇与簇之间区别明显时，效果较好</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相对可扩展和有效，能对大数据集进行高效划分</a:t>
            </a:r>
          </a:p>
          <a:p>
            <a:pPr marL="360000"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缺点</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用户必须事先指定聚类簇的个数</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常常终止于局部最优</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只适用于数值</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属性聚类</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计算均值</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有意义</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对噪声和异常数据也很敏感</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不同的初始值，结果可能不同</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不适合发现非凸面形状的簇</a:t>
            </a:r>
          </a:p>
        </p:txBody>
      </p:sp>
    </p:spTree>
    <p:extLst>
      <p:ext uri="{BB962C8B-B14F-4D97-AF65-F5344CB8AC3E}">
        <p14:creationId xmlns:p14="http://schemas.microsoft.com/office/powerpoint/2010/main" val="482872226"/>
      </p:ext>
    </p:extLst>
  </p:cSld>
  <p:clrMapOvr>
    <a:masterClrMapping/>
  </p:clrMapOvr>
  <p:transition spd="med">
    <p:split orient="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252000" y="756000"/>
            <a:ext cx="8229600" cy="461665"/>
          </a:xfrm>
          <a:prstGeom prst="rect">
            <a:avLst/>
          </a:prstGeom>
        </p:spPr>
        <p:txBody>
          <a:bodyPr>
            <a:spAutoFit/>
          </a:bodyPr>
          <a:lstStyle/>
          <a:p>
            <a:pPr marL="0" indent="0">
              <a:lnSpc>
                <a:spcPct val="100000"/>
              </a:lnSpc>
              <a:buNone/>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1. </a:t>
            </a:r>
            <a:r>
              <a:rPr lang="en-US" altLang="zh-CN" sz="2400" b="1" dirty="0" err="1">
                <a:latin typeface="Times New Roman" panose="02020603050405020304" pitchFamily="18" charset="0"/>
                <a:ea typeface="微软雅黑" panose="020B0503020204020204" pitchFamily="34" charset="-122"/>
                <a:sym typeface="Times New Roman" panose="02020603050405020304" pitchFamily="18" charset="0"/>
              </a:rPr>
              <a:t>KMeans</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中初始簇规模估计正确</a:t>
            </a:r>
          </a:p>
        </p:txBody>
      </p:sp>
      <p:sp>
        <p:nvSpPr>
          <p:cNvPr id="4" name="标题 3"/>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的问题</a:t>
            </a:r>
          </a:p>
        </p:txBody>
      </p:sp>
      <p:pic>
        <p:nvPicPr>
          <p:cNvPr id="8" name="图片 7"/>
          <p:cNvPicPr>
            <a:picLocks noChangeAspect="1"/>
          </p:cNvPicPr>
          <p:nvPr/>
        </p:nvPicPr>
        <p:blipFill>
          <a:blip r:embed="rId2"/>
          <a:stretch>
            <a:fillRect/>
          </a:stretch>
        </p:blipFill>
        <p:spPr>
          <a:xfrm>
            <a:off x="612000" y="4607601"/>
            <a:ext cx="7920000" cy="2161468"/>
          </a:xfrm>
          <a:prstGeom prst="rect">
            <a:avLst/>
          </a:prstGeom>
        </p:spPr>
      </p:pic>
      <p:pic>
        <p:nvPicPr>
          <p:cNvPr id="9" name="图片 8"/>
          <p:cNvPicPr>
            <a:picLocks noChangeAspect="1"/>
          </p:cNvPicPr>
          <p:nvPr/>
        </p:nvPicPr>
        <p:blipFill>
          <a:blip r:embed="rId3"/>
          <a:stretch>
            <a:fillRect/>
          </a:stretch>
        </p:blipFill>
        <p:spPr>
          <a:xfrm>
            <a:off x="1917954" y="1270237"/>
            <a:ext cx="5308092" cy="3284792"/>
          </a:xfrm>
          <a:prstGeom prst="rect">
            <a:avLst/>
          </a:prstGeom>
        </p:spPr>
      </p:pic>
    </p:spTree>
    <p:extLst>
      <p:ext uri="{BB962C8B-B14F-4D97-AF65-F5344CB8AC3E}">
        <p14:creationId xmlns:p14="http://schemas.microsoft.com/office/powerpoint/2010/main" val="2742614665"/>
      </p:ext>
    </p:extLst>
  </p:cSld>
  <p:clrMapOvr>
    <a:masterClrMapping/>
  </p:clrMapOvr>
  <p:transition spd="med">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251520" y="756000"/>
            <a:ext cx="8229600" cy="461665"/>
          </a:xfrm>
          <a:prstGeom prst="rect">
            <a:avLst/>
          </a:prstGeom>
        </p:spPr>
        <p:txBody>
          <a:bodyPr>
            <a:spAutoFit/>
          </a:bodyPr>
          <a:lstStyle/>
          <a:p>
            <a:pPr marL="0" indent="0">
              <a:lnSpc>
                <a:spcPct val="100000"/>
              </a:lnSpc>
              <a:buNone/>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400" b="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1" dirty="0" err="1">
                <a:latin typeface="Times New Roman" panose="02020603050405020304" pitchFamily="18" charset="0"/>
                <a:ea typeface="微软雅黑" panose="020B0503020204020204" pitchFamily="34" charset="-122"/>
                <a:sym typeface="Times New Roman" panose="02020603050405020304" pitchFamily="18" charset="0"/>
              </a:rPr>
              <a:t>KMeans</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中初始簇规模估计错误</a:t>
            </a:r>
          </a:p>
        </p:txBody>
      </p:sp>
      <p:pic>
        <p:nvPicPr>
          <p:cNvPr id="5" name="图片 4"/>
          <p:cNvPicPr>
            <a:picLocks noChangeAspect="1"/>
          </p:cNvPicPr>
          <p:nvPr/>
        </p:nvPicPr>
        <p:blipFill>
          <a:blip r:embed="rId2"/>
          <a:stretch>
            <a:fillRect/>
          </a:stretch>
        </p:blipFill>
        <p:spPr>
          <a:xfrm>
            <a:off x="612000" y="4608000"/>
            <a:ext cx="7920000" cy="2112000"/>
          </a:xfrm>
          <a:prstGeom prst="rect">
            <a:avLst/>
          </a:prstGeom>
        </p:spPr>
      </p:pic>
      <p:pic>
        <p:nvPicPr>
          <p:cNvPr id="7" name="图片 6"/>
          <p:cNvPicPr>
            <a:picLocks noChangeAspect="1"/>
          </p:cNvPicPr>
          <p:nvPr/>
        </p:nvPicPr>
        <p:blipFill>
          <a:blip r:embed="rId3"/>
          <a:stretch>
            <a:fillRect/>
          </a:stretch>
        </p:blipFill>
        <p:spPr>
          <a:xfrm>
            <a:off x="615696" y="1373220"/>
            <a:ext cx="7912608" cy="3084576"/>
          </a:xfrm>
          <a:prstGeom prst="rect">
            <a:avLst/>
          </a:prstGeom>
        </p:spPr>
      </p:pic>
      <p:sp>
        <p:nvSpPr>
          <p:cNvPr id="8" name="标题 3">
            <a:extLst>
              <a:ext uri="{FF2B5EF4-FFF2-40B4-BE49-F238E27FC236}">
                <a16:creationId xmlns:a16="http://schemas.microsoft.com/office/drawing/2014/main" id="{5A15A04D-7548-4EE3-8905-DF63E7601A71}"/>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的问题</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3902545645"/>
      </p:ext>
    </p:extLst>
  </p:cSld>
  <p:clrMapOvr>
    <a:masterClrMapping/>
  </p:clrMapOvr>
  <p:transition spd="med">
    <p:split orient="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252000" y="756000"/>
            <a:ext cx="8229600" cy="461665"/>
          </a:xfrm>
          <a:prstGeom prst="rect">
            <a:avLst/>
          </a:prstGeom>
        </p:spPr>
        <p:txBody>
          <a:bodyPr>
            <a:spAutoFit/>
          </a:bodyPr>
          <a:lstStyle/>
          <a:p>
            <a:pPr marL="0" indent="0">
              <a:lnSpc>
                <a:spcPct val="100000"/>
              </a:lnSpc>
              <a:buNone/>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3.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数据分布形状对分簇结果的影响</a:t>
            </a:r>
          </a:p>
        </p:txBody>
      </p:sp>
      <p:pic>
        <p:nvPicPr>
          <p:cNvPr id="9" name="图片 8"/>
          <p:cNvPicPr>
            <a:picLocks noChangeAspect="1"/>
          </p:cNvPicPr>
          <p:nvPr/>
        </p:nvPicPr>
        <p:blipFill>
          <a:blip r:embed="rId2"/>
          <a:stretch>
            <a:fillRect/>
          </a:stretch>
        </p:blipFill>
        <p:spPr>
          <a:xfrm>
            <a:off x="612000" y="4608000"/>
            <a:ext cx="7920000" cy="2085492"/>
          </a:xfrm>
          <a:prstGeom prst="rect">
            <a:avLst/>
          </a:prstGeom>
        </p:spPr>
      </p:pic>
      <p:pic>
        <p:nvPicPr>
          <p:cNvPr id="10" name="图片 9"/>
          <p:cNvPicPr>
            <a:picLocks noChangeAspect="1"/>
          </p:cNvPicPr>
          <p:nvPr/>
        </p:nvPicPr>
        <p:blipFill>
          <a:blip r:embed="rId3"/>
          <a:stretch>
            <a:fillRect/>
          </a:stretch>
        </p:blipFill>
        <p:spPr>
          <a:xfrm>
            <a:off x="448056" y="1373211"/>
            <a:ext cx="8247888" cy="2952369"/>
          </a:xfrm>
          <a:prstGeom prst="rect">
            <a:avLst/>
          </a:prstGeom>
        </p:spPr>
      </p:pic>
      <p:sp>
        <p:nvSpPr>
          <p:cNvPr id="7" name="标题 3">
            <a:extLst>
              <a:ext uri="{FF2B5EF4-FFF2-40B4-BE49-F238E27FC236}">
                <a16:creationId xmlns:a16="http://schemas.microsoft.com/office/drawing/2014/main" id="{9A454220-BF7A-459E-B13C-FF55E6114C5D}"/>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的问题</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858445667"/>
      </p:ext>
    </p:extLst>
  </p:cSld>
  <p:clrMapOvr>
    <a:masterClrMapping/>
  </p:clrMapOvr>
  <p:transition spd="med">
    <p:split orient="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252000" y="755654"/>
            <a:ext cx="8229600" cy="461665"/>
          </a:xfrm>
          <a:prstGeom prst="rect">
            <a:avLst/>
          </a:prstGeom>
        </p:spPr>
        <p:txBody>
          <a:bodyPr>
            <a:spAutoFit/>
          </a:bodyPr>
          <a:lstStyle/>
          <a:p>
            <a:pPr marL="0" indent="0">
              <a:lnSpc>
                <a:spcPct val="100000"/>
              </a:lnSpc>
              <a:buNone/>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4.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数据分散程度对分簇结果的影响</a:t>
            </a:r>
          </a:p>
        </p:txBody>
      </p:sp>
      <p:pic>
        <p:nvPicPr>
          <p:cNvPr id="11" name="图片 10"/>
          <p:cNvPicPr>
            <a:picLocks noChangeAspect="1"/>
          </p:cNvPicPr>
          <p:nvPr/>
        </p:nvPicPr>
        <p:blipFill>
          <a:blip r:embed="rId2"/>
          <a:stretch>
            <a:fillRect/>
          </a:stretch>
        </p:blipFill>
        <p:spPr>
          <a:xfrm>
            <a:off x="612000" y="4608000"/>
            <a:ext cx="7920000" cy="2189599"/>
          </a:xfrm>
          <a:prstGeom prst="rect">
            <a:avLst/>
          </a:prstGeom>
        </p:spPr>
      </p:pic>
      <p:pic>
        <p:nvPicPr>
          <p:cNvPr id="12" name="图片 11"/>
          <p:cNvPicPr>
            <a:picLocks noChangeAspect="1"/>
          </p:cNvPicPr>
          <p:nvPr/>
        </p:nvPicPr>
        <p:blipFill>
          <a:blip r:embed="rId3"/>
          <a:stretch>
            <a:fillRect/>
          </a:stretch>
        </p:blipFill>
        <p:spPr>
          <a:xfrm>
            <a:off x="324000" y="1372530"/>
            <a:ext cx="8496000" cy="2812223"/>
          </a:xfrm>
          <a:prstGeom prst="rect">
            <a:avLst/>
          </a:prstGeom>
        </p:spPr>
      </p:pic>
      <p:sp>
        <p:nvSpPr>
          <p:cNvPr id="7" name="标题 3">
            <a:extLst>
              <a:ext uri="{FF2B5EF4-FFF2-40B4-BE49-F238E27FC236}">
                <a16:creationId xmlns:a16="http://schemas.microsoft.com/office/drawing/2014/main" id="{3C2E9831-7202-425A-A63D-F813F2002A07}"/>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的问题</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1868109880"/>
      </p:ext>
    </p:extLst>
  </p:cSld>
  <p:clrMapOvr>
    <a:masterClrMapping/>
  </p:clrMapOvr>
  <p:transition spd="med">
    <p:split orient="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251520" y="756000"/>
            <a:ext cx="8229600" cy="461665"/>
          </a:xfrm>
          <a:prstGeom prst="rect">
            <a:avLst/>
          </a:prstGeom>
        </p:spPr>
        <p:txBody>
          <a:bodyPr>
            <a:spAutoFit/>
          </a:bodyPr>
          <a:lstStyle/>
          <a:p>
            <a:pPr marL="0" indent="0">
              <a:lnSpc>
                <a:spcPct val="100000"/>
              </a:lnSpc>
              <a:buNone/>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5.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随机初始种子的影响</a:t>
            </a:r>
          </a:p>
        </p:txBody>
      </p:sp>
      <p:pic>
        <p:nvPicPr>
          <p:cNvPr id="6" name="图片 5"/>
          <p:cNvPicPr>
            <a:picLocks noChangeAspect="1"/>
          </p:cNvPicPr>
          <p:nvPr/>
        </p:nvPicPr>
        <p:blipFill>
          <a:blip r:embed="rId2"/>
          <a:stretch>
            <a:fillRect/>
          </a:stretch>
        </p:blipFill>
        <p:spPr>
          <a:xfrm>
            <a:off x="931800" y="1373222"/>
            <a:ext cx="7280401" cy="5152122"/>
          </a:xfrm>
          <a:prstGeom prst="rect">
            <a:avLst/>
          </a:prstGeom>
        </p:spPr>
      </p:pic>
      <p:sp>
        <p:nvSpPr>
          <p:cNvPr id="7" name="标题 3">
            <a:extLst>
              <a:ext uri="{FF2B5EF4-FFF2-40B4-BE49-F238E27FC236}">
                <a16:creationId xmlns:a16="http://schemas.microsoft.com/office/drawing/2014/main" id="{F678194C-0264-48C7-BCCA-077C93066321}"/>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的问题</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1612857614"/>
      </p:ext>
    </p:extLst>
  </p:cSld>
  <p:clrMapOvr>
    <a:masterClrMapping/>
  </p:clrMapOvr>
  <p:transition spd="med">
    <p:split orient="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251520" y="756000"/>
            <a:ext cx="8229600" cy="461665"/>
          </a:xfrm>
          <a:prstGeom prst="rect">
            <a:avLst/>
          </a:prstGeom>
        </p:spPr>
        <p:txBody>
          <a:bodyPr>
            <a:spAutoFit/>
          </a:bodyPr>
          <a:lstStyle/>
          <a:p>
            <a:pPr marL="0" indent="0">
              <a:lnSpc>
                <a:spcPct val="100000"/>
              </a:lnSpc>
              <a:buNone/>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5.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随机初始种子的影响</a:t>
            </a:r>
          </a:p>
        </p:txBody>
      </p:sp>
      <p:pic>
        <p:nvPicPr>
          <p:cNvPr id="6" name="图片 5"/>
          <p:cNvPicPr>
            <a:picLocks noChangeAspect="1"/>
          </p:cNvPicPr>
          <p:nvPr/>
        </p:nvPicPr>
        <p:blipFill>
          <a:blip r:embed="rId2"/>
          <a:stretch>
            <a:fillRect/>
          </a:stretch>
        </p:blipFill>
        <p:spPr>
          <a:xfrm>
            <a:off x="931800" y="1373222"/>
            <a:ext cx="7280401" cy="5152122"/>
          </a:xfrm>
          <a:prstGeom prst="rect">
            <a:avLst/>
          </a:prstGeom>
        </p:spPr>
      </p:pic>
      <p:sp>
        <p:nvSpPr>
          <p:cNvPr id="7" name="标题 3">
            <a:extLst>
              <a:ext uri="{FF2B5EF4-FFF2-40B4-BE49-F238E27FC236}">
                <a16:creationId xmlns:a16="http://schemas.microsoft.com/office/drawing/2014/main" id="{F678194C-0264-48C7-BCCA-077C93066321}"/>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的问题</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5" name="图片 4">
            <a:extLst>
              <a:ext uri="{FF2B5EF4-FFF2-40B4-BE49-F238E27FC236}">
                <a16:creationId xmlns:a16="http://schemas.microsoft.com/office/drawing/2014/main" id="{D069D8B7-0871-47A4-A261-519EEE673691}"/>
              </a:ext>
            </a:extLst>
          </p:cNvPr>
          <p:cNvPicPr>
            <a:picLocks noChangeAspect="1"/>
          </p:cNvPicPr>
          <p:nvPr/>
        </p:nvPicPr>
        <p:blipFill>
          <a:blip r:embed="rId3"/>
          <a:stretch>
            <a:fillRect/>
          </a:stretch>
        </p:blipFill>
        <p:spPr>
          <a:xfrm>
            <a:off x="75230" y="2060848"/>
            <a:ext cx="9031720" cy="3528392"/>
          </a:xfrm>
          <a:prstGeom prst="rect">
            <a:avLst/>
          </a:prstGeom>
        </p:spPr>
      </p:pic>
    </p:spTree>
    <p:extLst>
      <p:ext uri="{BB962C8B-B14F-4D97-AF65-F5344CB8AC3E}">
        <p14:creationId xmlns:p14="http://schemas.microsoft.com/office/powerpoint/2010/main" val="4291229212"/>
      </p:ext>
    </p:extLst>
  </p:cSld>
  <p:clrMapOvr>
    <a:masterClrMapping/>
  </p:clrMapOvr>
  <p:transition spd="med">
    <p:split orient="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86347B6-F4CA-4EE8-8340-4DDA33DE9584}"/>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2.1.1 KMeans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优缺点</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6" name="Rectangle 3">
            <a:extLst>
              <a:ext uri="{FF2B5EF4-FFF2-40B4-BE49-F238E27FC236}">
                <a16:creationId xmlns:a16="http://schemas.microsoft.com/office/drawing/2014/main" id="{EB16F707-0897-4F76-9374-C064E2092C96}"/>
              </a:ext>
            </a:extLst>
          </p:cNvPr>
          <p:cNvSpPr txBox="1">
            <a:spLocks noChangeArrowheads="1"/>
          </p:cNvSpPr>
          <p:nvPr/>
        </p:nvSpPr>
        <p:spPr>
          <a:xfrm>
            <a:off x="252000" y="756000"/>
            <a:ext cx="8640000" cy="6110134"/>
          </a:xfrm>
          <a:prstGeom prst="rect">
            <a:avLst/>
          </a:prstGeom>
          <a:no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优点</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聚类时间快</a:t>
            </a:r>
            <a:endPar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当结果簇是密集的，而簇与簇之间区别明显时，效果较好</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相对可扩展和有效，能对大数据集进行高效划分</a:t>
            </a:r>
          </a:p>
          <a:p>
            <a:pPr marL="360000"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缺点</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用户必须事先指定聚类簇的个数</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常常终止于局部最优</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只适用于数值属性聚类</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计算均值有意义</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对噪声和异常数据也很敏感</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不同的初始值，结果可能不同</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不适合发现非凸面形状的簇</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2090984535"/>
      </p:ext>
    </p:extLst>
  </p:cSld>
  <p:clrMapOvr>
    <a:masterClrMapping/>
  </p:clrMapOvr>
  <p:transition spd="med">
    <p:split orient="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2000" y="756000"/>
            <a:ext cx="8640000" cy="3788345"/>
          </a:xfrm>
          <a:prstGeom prst="rect">
            <a:avLst/>
          </a:prstGeom>
          <a:noFill/>
        </p:spPr>
        <p:txBody>
          <a:bodyPr wrap="square">
            <a:spAutoFit/>
          </a:bodyPr>
          <a:lstStyle>
            <a:defPPr>
              <a:defRPr lang="zh-CN"/>
            </a:defPPr>
            <a:lvl1pPr marL="360000" indent="-360000" algn="just" fontAlgn="base">
              <a:lnSpc>
                <a:spcPct val="135000"/>
              </a:lnSpc>
              <a:spcBef>
                <a:spcPts val="600"/>
              </a:spcBef>
              <a:spcAft>
                <a:spcPct val="0"/>
              </a:spcAft>
              <a:buClr>
                <a:srgbClr val="FF6600"/>
              </a:buClr>
              <a:buSzPct val="80000"/>
              <a:buFont typeface="Wingdings" panose="05000000000000000000" pitchFamily="2" charset="2"/>
              <a:buChar char="l"/>
              <a:defRPr sz="2400">
                <a:latin typeface="Times New Roman" panose="02020603050405020304" pitchFamily="18" charset="0"/>
                <a:ea typeface="微软雅黑" panose="020B0503020204020204" pitchFamily="34" charset="-122"/>
                <a:cs typeface="+mn-ea"/>
              </a:defRPr>
            </a:lvl1pPr>
            <a:lvl2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defRPr sz="2200">
                <a:latin typeface="Times New Roman" panose="02020603050405020304" pitchFamily="18" charset="0"/>
                <a:ea typeface="微软雅黑" panose="020B0503020204020204" pitchFamily="34" charset="-122"/>
                <a:cs typeface="+mn-ea"/>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dirty="0">
                <a:sym typeface="Times New Roman" panose="02020603050405020304" pitchFamily="18" charset="0"/>
              </a:rPr>
              <a:t>Most of the variants of the k-means which differ in</a:t>
            </a:r>
          </a:p>
          <a:p>
            <a:pPr lvl="1"/>
            <a:r>
              <a:rPr dirty="0">
                <a:sym typeface="Times New Roman" panose="02020603050405020304" pitchFamily="18" charset="0"/>
              </a:rPr>
              <a:t>Selection of the initial k means（初始k均值选择）</a:t>
            </a:r>
          </a:p>
          <a:p>
            <a:pPr lvl="1"/>
            <a:r>
              <a:rPr dirty="0">
                <a:sym typeface="Times New Roman" panose="02020603050405020304" pitchFamily="18" charset="0"/>
              </a:rPr>
              <a:t>Dissimilarity calculations（相异度计算）</a:t>
            </a:r>
          </a:p>
          <a:p>
            <a:pPr lvl="1"/>
            <a:r>
              <a:rPr dirty="0">
                <a:sym typeface="Times New Roman" panose="02020603050405020304" pitchFamily="18" charset="0"/>
              </a:rPr>
              <a:t>Strategies to calculate cluster means（计算均值方法）</a:t>
            </a:r>
          </a:p>
          <a:p>
            <a:r>
              <a:rPr dirty="0">
                <a:sym typeface="Times New Roman" panose="02020603050405020304" pitchFamily="18" charset="0"/>
              </a:rPr>
              <a:t>Handling categorical data: k-modes</a:t>
            </a:r>
          </a:p>
          <a:p>
            <a:pPr lvl="1"/>
            <a:r>
              <a:rPr dirty="0">
                <a:sym typeface="Times New Roman" panose="02020603050405020304" pitchFamily="18" charset="0"/>
              </a:rPr>
              <a:t>Replacing means of clusters with modes</a:t>
            </a:r>
          </a:p>
          <a:p>
            <a:pPr lvl="1"/>
            <a:r>
              <a:rPr dirty="0">
                <a:sym typeface="Times New Roman" panose="02020603050405020304" pitchFamily="18" charset="0"/>
              </a:rPr>
              <a:t>Using new dissimilarity measures to deal with </a:t>
            </a:r>
            <a:r>
              <a:rPr>
                <a:sym typeface="Times New Roman" panose="02020603050405020304" pitchFamily="18" charset="0"/>
              </a:rPr>
              <a:t>categorical objects</a:t>
            </a:r>
            <a:endParaRPr lang="en-US" altLang="zh-CN">
              <a:sym typeface="Times New Roman" panose="02020603050405020304" pitchFamily="18" charset="0"/>
            </a:endParaRPr>
          </a:p>
        </p:txBody>
      </p:sp>
      <p:grpSp>
        <p:nvGrpSpPr>
          <p:cNvPr id="2" name="组合 1">
            <a:extLst>
              <a:ext uri="{FF2B5EF4-FFF2-40B4-BE49-F238E27FC236}">
                <a16:creationId xmlns:a16="http://schemas.microsoft.com/office/drawing/2014/main" id="{5B25830E-5301-4B22-ACBA-DCD9233C1A84}"/>
              </a:ext>
            </a:extLst>
          </p:cNvPr>
          <p:cNvGrpSpPr/>
          <p:nvPr/>
        </p:nvGrpSpPr>
        <p:grpSpPr>
          <a:xfrm>
            <a:off x="2626965" y="4723508"/>
            <a:ext cx="3890071" cy="1988840"/>
            <a:chOff x="6551917" y="3432997"/>
            <a:chExt cx="2228722" cy="1139458"/>
          </a:xfrm>
        </p:grpSpPr>
        <p:sp>
          <p:nvSpPr>
            <p:cNvPr id="4" name="object 4"/>
            <p:cNvSpPr/>
            <p:nvPr/>
          </p:nvSpPr>
          <p:spPr>
            <a:xfrm>
              <a:off x="6737639" y="3558432"/>
              <a:ext cx="119380" cy="119380"/>
            </a:xfrm>
            <a:custGeom>
              <a:avLst/>
              <a:gdLst/>
              <a:ahLst/>
              <a:cxnLst/>
              <a:rect l="l" t="t" r="r" b="b"/>
              <a:pathLst>
                <a:path w="119379" h="119379">
                  <a:moveTo>
                    <a:pt x="59384" y="0"/>
                  </a:moveTo>
                  <a:lnTo>
                    <a:pt x="36270" y="4681"/>
                  </a:lnTo>
                  <a:lnTo>
                    <a:pt x="17394" y="17449"/>
                  </a:lnTo>
                  <a:lnTo>
                    <a:pt x="4667" y="36385"/>
                  </a:lnTo>
                  <a:lnTo>
                    <a:pt x="0" y="59573"/>
                  </a:lnTo>
                  <a:lnTo>
                    <a:pt x="4667" y="82761"/>
                  </a:lnTo>
                  <a:lnTo>
                    <a:pt x="17394" y="101697"/>
                  </a:lnTo>
                  <a:lnTo>
                    <a:pt x="36270" y="114464"/>
                  </a:lnTo>
                  <a:lnTo>
                    <a:pt x="59384" y="119146"/>
                  </a:lnTo>
                  <a:lnTo>
                    <a:pt x="82496" y="114464"/>
                  </a:lnTo>
                  <a:lnTo>
                    <a:pt x="101368" y="101697"/>
                  </a:lnTo>
                  <a:lnTo>
                    <a:pt x="114092" y="82761"/>
                  </a:lnTo>
                  <a:lnTo>
                    <a:pt x="118757" y="59573"/>
                  </a:lnTo>
                  <a:lnTo>
                    <a:pt x="114092" y="36385"/>
                  </a:lnTo>
                  <a:lnTo>
                    <a:pt x="101368" y="17449"/>
                  </a:lnTo>
                  <a:lnTo>
                    <a:pt x="82496" y="4681"/>
                  </a:lnTo>
                  <a:lnTo>
                    <a:pt x="59384" y="0"/>
                  </a:lnTo>
                  <a:close/>
                </a:path>
              </a:pathLst>
            </a:custGeom>
            <a:solidFill>
              <a:srgbClr val="C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object 5"/>
            <p:cNvSpPr/>
            <p:nvPr/>
          </p:nvSpPr>
          <p:spPr>
            <a:xfrm>
              <a:off x="6737639" y="3558432"/>
              <a:ext cx="119380" cy="119380"/>
            </a:xfrm>
            <a:custGeom>
              <a:avLst/>
              <a:gdLst/>
              <a:ahLst/>
              <a:cxnLst/>
              <a:rect l="l" t="t" r="r" b="b"/>
              <a:pathLst>
                <a:path w="119379" h="119379">
                  <a:moveTo>
                    <a:pt x="118757" y="59573"/>
                  </a:moveTo>
                  <a:lnTo>
                    <a:pt x="114092" y="82761"/>
                  </a:lnTo>
                  <a:lnTo>
                    <a:pt x="101368" y="101697"/>
                  </a:lnTo>
                  <a:lnTo>
                    <a:pt x="82496" y="114464"/>
                  </a:lnTo>
                  <a:lnTo>
                    <a:pt x="59384" y="119146"/>
                  </a:lnTo>
                  <a:lnTo>
                    <a:pt x="36270" y="114464"/>
                  </a:lnTo>
                  <a:lnTo>
                    <a:pt x="17394" y="101697"/>
                  </a:lnTo>
                  <a:lnTo>
                    <a:pt x="4667" y="82761"/>
                  </a:lnTo>
                  <a:lnTo>
                    <a:pt x="0" y="59573"/>
                  </a:lnTo>
                  <a:lnTo>
                    <a:pt x="4667" y="36385"/>
                  </a:lnTo>
                  <a:lnTo>
                    <a:pt x="17394" y="17449"/>
                  </a:lnTo>
                  <a:lnTo>
                    <a:pt x="36270" y="4681"/>
                  </a:lnTo>
                  <a:lnTo>
                    <a:pt x="59384" y="0"/>
                  </a:lnTo>
                  <a:lnTo>
                    <a:pt x="82496" y="4681"/>
                  </a:lnTo>
                  <a:lnTo>
                    <a:pt x="101368" y="17449"/>
                  </a:lnTo>
                  <a:lnTo>
                    <a:pt x="114092" y="36385"/>
                  </a:lnTo>
                  <a:lnTo>
                    <a:pt x="118757" y="59573"/>
                  </a:lnTo>
                  <a:close/>
                </a:path>
              </a:pathLst>
            </a:custGeom>
            <a:ln w="7597">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object 6"/>
            <p:cNvSpPr/>
            <p:nvPr/>
          </p:nvSpPr>
          <p:spPr>
            <a:xfrm>
              <a:off x="8513991" y="3560961"/>
              <a:ext cx="119380" cy="119380"/>
            </a:xfrm>
            <a:custGeom>
              <a:avLst/>
              <a:gdLst/>
              <a:ahLst/>
              <a:cxnLst/>
              <a:rect l="l" t="t" r="r" b="b"/>
              <a:pathLst>
                <a:path w="119379" h="119379">
                  <a:moveTo>
                    <a:pt x="59405" y="0"/>
                  </a:moveTo>
                  <a:lnTo>
                    <a:pt x="36283" y="4681"/>
                  </a:lnTo>
                  <a:lnTo>
                    <a:pt x="17400" y="17449"/>
                  </a:lnTo>
                  <a:lnTo>
                    <a:pt x="4668" y="36385"/>
                  </a:lnTo>
                  <a:lnTo>
                    <a:pt x="0" y="59573"/>
                  </a:lnTo>
                  <a:lnTo>
                    <a:pt x="4668" y="82765"/>
                  </a:lnTo>
                  <a:lnTo>
                    <a:pt x="17400" y="101701"/>
                  </a:lnTo>
                  <a:lnTo>
                    <a:pt x="36283" y="114466"/>
                  </a:lnTo>
                  <a:lnTo>
                    <a:pt x="59405" y="119146"/>
                  </a:lnTo>
                  <a:lnTo>
                    <a:pt x="82526" y="114466"/>
                  </a:lnTo>
                  <a:lnTo>
                    <a:pt x="101409" y="101701"/>
                  </a:lnTo>
                  <a:lnTo>
                    <a:pt x="114141" y="82765"/>
                  </a:lnTo>
                  <a:lnTo>
                    <a:pt x="118810" y="59573"/>
                  </a:lnTo>
                  <a:lnTo>
                    <a:pt x="114141" y="36385"/>
                  </a:lnTo>
                  <a:lnTo>
                    <a:pt x="101409" y="17449"/>
                  </a:lnTo>
                  <a:lnTo>
                    <a:pt x="82526" y="4681"/>
                  </a:lnTo>
                  <a:lnTo>
                    <a:pt x="59405" y="0"/>
                  </a:lnTo>
                  <a:close/>
                </a:path>
              </a:pathLst>
            </a:custGeom>
            <a:solidFill>
              <a:srgbClr val="C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object 7"/>
            <p:cNvSpPr/>
            <p:nvPr/>
          </p:nvSpPr>
          <p:spPr>
            <a:xfrm>
              <a:off x="8513991" y="3560961"/>
              <a:ext cx="119380" cy="119380"/>
            </a:xfrm>
            <a:custGeom>
              <a:avLst/>
              <a:gdLst/>
              <a:ahLst/>
              <a:cxnLst/>
              <a:rect l="l" t="t" r="r" b="b"/>
              <a:pathLst>
                <a:path w="119379" h="119379">
                  <a:moveTo>
                    <a:pt x="118810" y="59573"/>
                  </a:moveTo>
                  <a:lnTo>
                    <a:pt x="114141" y="82765"/>
                  </a:lnTo>
                  <a:lnTo>
                    <a:pt x="101409" y="101701"/>
                  </a:lnTo>
                  <a:lnTo>
                    <a:pt x="82526" y="114466"/>
                  </a:lnTo>
                  <a:lnTo>
                    <a:pt x="59405" y="119146"/>
                  </a:lnTo>
                  <a:lnTo>
                    <a:pt x="36283" y="114466"/>
                  </a:lnTo>
                  <a:lnTo>
                    <a:pt x="17400" y="101701"/>
                  </a:lnTo>
                  <a:lnTo>
                    <a:pt x="4668" y="82765"/>
                  </a:lnTo>
                  <a:lnTo>
                    <a:pt x="0" y="59573"/>
                  </a:lnTo>
                  <a:lnTo>
                    <a:pt x="4668" y="36385"/>
                  </a:lnTo>
                  <a:lnTo>
                    <a:pt x="17400" y="17449"/>
                  </a:lnTo>
                  <a:lnTo>
                    <a:pt x="36283" y="4681"/>
                  </a:lnTo>
                  <a:lnTo>
                    <a:pt x="59405" y="0"/>
                  </a:lnTo>
                  <a:lnTo>
                    <a:pt x="82526" y="4681"/>
                  </a:lnTo>
                  <a:lnTo>
                    <a:pt x="101409" y="17449"/>
                  </a:lnTo>
                  <a:lnTo>
                    <a:pt x="114141" y="36385"/>
                  </a:lnTo>
                  <a:lnTo>
                    <a:pt x="118810" y="59573"/>
                  </a:lnTo>
                  <a:close/>
                </a:path>
              </a:pathLst>
            </a:custGeom>
            <a:ln w="7597">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object 8"/>
            <p:cNvSpPr/>
            <p:nvPr/>
          </p:nvSpPr>
          <p:spPr>
            <a:xfrm>
              <a:off x="8513991" y="4321476"/>
              <a:ext cx="119380" cy="119380"/>
            </a:xfrm>
            <a:custGeom>
              <a:avLst/>
              <a:gdLst/>
              <a:ahLst/>
              <a:cxnLst/>
              <a:rect l="l" t="t" r="r" b="b"/>
              <a:pathLst>
                <a:path w="119379" h="119379">
                  <a:moveTo>
                    <a:pt x="59405" y="0"/>
                  </a:moveTo>
                  <a:lnTo>
                    <a:pt x="36283" y="4681"/>
                  </a:lnTo>
                  <a:lnTo>
                    <a:pt x="17400" y="17449"/>
                  </a:lnTo>
                  <a:lnTo>
                    <a:pt x="4668" y="36385"/>
                  </a:lnTo>
                  <a:lnTo>
                    <a:pt x="0" y="59573"/>
                  </a:lnTo>
                  <a:lnTo>
                    <a:pt x="4668" y="82765"/>
                  </a:lnTo>
                  <a:lnTo>
                    <a:pt x="17400" y="101701"/>
                  </a:lnTo>
                  <a:lnTo>
                    <a:pt x="36283" y="114466"/>
                  </a:lnTo>
                  <a:lnTo>
                    <a:pt x="59405" y="119146"/>
                  </a:lnTo>
                  <a:lnTo>
                    <a:pt x="82526" y="114466"/>
                  </a:lnTo>
                  <a:lnTo>
                    <a:pt x="101409" y="101701"/>
                  </a:lnTo>
                  <a:lnTo>
                    <a:pt x="114141" y="82765"/>
                  </a:lnTo>
                  <a:lnTo>
                    <a:pt x="118810" y="59573"/>
                  </a:lnTo>
                  <a:lnTo>
                    <a:pt x="114141" y="36385"/>
                  </a:lnTo>
                  <a:lnTo>
                    <a:pt x="101409" y="17449"/>
                  </a:lnTo>
                  <a:lnTo>
                    <a:pt x="82526" y="4681"/>
                  </a:lnTo>
                  <a:lnTo>
                    <a:pt x="59405" y="0"/>
                  </a:lnTo>
                  <a:close/>
                </a:path>
              </a:pathLst>
            </a:custGeom>
            <a:solidFill>
              <a:srgbClr val="C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object 9"/>
            <p:cNvSpPr/>
            <p:nvPr/>
          </p:nvSpPr>
          <p:spPr>
            <a:xfrm>
              <a:off x="8513991" y="4321476"/>
              <a:ext cx="119380" cy="119380"/>
            </a:xfrm>
            <a:custGeom>
              <a:avLst/>
              <a:gdLst/>
              <a:ahLst/>
              <a:cxnLst/>
              <a:rect l="l" t="t" r="r" b="b"/>
              <a:pathLst>
                <a:path w="119379" h="119379">
                  <a:moveTo>
                    <a:pt x="118810" y="59573"/>
                  </a:moveTo>
                  <a:lnTo>
                    <a:pt x="114141" y="82765"/>
                  </a:lnTo>
                  <a:lnTo>
                    <a:pt x="101409" y="101701"/>
                  </a:lnTo>
                  <a:lnTo>
                    <a:pt x="82526" y="114466"/>
                  </a:lnTo>
                  <a:lnTo>
                    <a:pt x="59405" y="119146"/>
                  </a:lnTo>
                  <a:lnTo>
                    <a:pt x="36283" y="114466"/>
                  </a:lnTo>
                  <a:lnTo>
                    <a:pt x="17400" y="101701"/>
                  </a:lnTo>
                  <a:lnTo>
                    <a:pt x="4668" y="82765"/>
                  </a:lnTo>
                  <a:lnTo>
                    <a:pt x="0" y="59573"/>
                  </a:lnTo>
                  <a:lnTo>
                    <a:pt x="4668" y="36385"/>
                  </a:lnTo>
                  <a:lnTo>
                    <a:pt x="17400" y="17449"/>
                  </a:lnTo>
                  <a:lnTo>
                    <a:pt x="36283" y="4681"/>
                  </a:lnTo>
                  <a:lnTo>
                    <a:pt x="59405" y="0"/>
                  </a:lnTo>
                  <a:lnTo>
                    <a:pt x="82526" y="4681"/>
                  </a:lnTo>
                  <a:lnTo>
                    <a:pt x="101409" y="17449"/>
                  </a:lnTo>
                  <a:lnTo>
                    <a:pt x="114141" y="36385"/>
                  </a:lnTo>
                  <a:lnTo>
                    <a:pt x="118810" y="59573"/>
                  </a:lnTo>
                  <a:close/>
                </a:path>
              </a:pathLst>
            </a:custGeom>
            <a:ln w="7597">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object 10"/>
            <p:cNvSpPr/>
            <p:nvPr/>
          </p:nvSpPr>
          <p:spPr>
            <a:xfrm>
              <a:off x="6740163" y="4313870"/>
              <a:ext cx="119380" cy="119380"/>
            </a:xfrm>
            <a:custGeom>
              <a:avLst/>
              <a:gdLst/>
              <a:ahLst/>
              <a:cxnLst/>
              <a:rect l="l" t="t" r="r" b="b"/>
              <a:pathLst>
                <a:path w="119379" h="119379">
                  <a:moveTo>
                    <a:pt x="59384" y="0"/>
                  </a:moveTo>
                  <a:lnTo>
                    <a:pt x="36270" y="4681"/>
                  </a:lnTo>
                  <a:lnTo>
                    <a:pt x="17394" y="17449"/>
                  </a:lnTo>
                  <a:lnTo>
                    <a:pt x="4667" y="36385"/>
                  </a:lnTo>
                  <a:lnTo>
                    <a:pt x="0" y="59573"/>
                  </a:lnTo>
                  <a:lnTo>
                    <a:pt x="4667" y="82767"/>
                  </a:lnTo>
                  <a:lnTo>
                    <a:pt x="17394" y="101706"/>
                  </a:lnTo>
                  <a:lnTo>
                    <a:pt x="36270" y="114475"/>
                  </a:lnTo>
                  <a:lnTo>
                    <a:pt x="59384" y="119157"/>
                  </a:lnTo>
                  <a:lnTo>
                    <a:pt x="82497" y="114475"/>
                  </a:lnTo>
                  <a:lnTo>
                    <a:pt x="101373" y="101706"/>
                  </a:lnTo>
                  <a:lnTo>
                    <a:pt x="114101" y="82767"/>
                  </a:lnTo>
                  <a:lnTo>
                    <a:pt x="118768" y="59573"/>
                  </a:lnTo>
                  <a:lnTo>
                    <a:pt x="114101" y="36385"/>
                  </a:lnTo>
                  <a:lnTo>
                    <a:pt x="101373" y="17449"/>
                  </a:lnTo>
                  <a:lnTo>
                    <a:pt x="82497" y="4681"/>
                  </a:lnTo>
                  <a:lnTo>
                    <a:pt x="59384" y="0"/>
                  </a:lnTo>
                  <a:close/>
                </a:path>
              </a:pathLst>
            </a:custGeom>
            <a:solidFill>
              <a:srgbClr val="C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object 11"/>
            <p:cNvSpPr/>
            <p:nvPr/>
          </p:nvSpPr>
          <p:spPr>
            <a:xfrm>
              <a:off x="6740163" y="4313870"/>
              <a:ext cx="119380" cy="119380"/>
            </a:xfrm>
            <a:custGeom>
              <a:avLst/>
              <a:gdLst/>
              <a:ahLst/>
              <a:cxnLst/>
              <a:rect l="l" t="t" r="r" b="b"/>
              <a:pathLst>
                <a:path w="119379" h="119379">
                  <a:moveTo>
                    <a:pt x="118768" y="59573"/>
                  </a:moveTo>
                  <a:lnTo>
                    <a:pt x="114101" y="82767"/>
                  </a:lnTo>
                  <a:lnTo>
                    <a:pt x="101373" y="101706"/>
                  </a:lnTo>
                  <a:lnTo>
                    <a:pt x="82497" y="114475"/>
                  </a:lnTo>
                  <a:lnTo>
                    <a:pt x="59384" y="119157"/>
                  </a:lnTo>
                  <a:lnTo>
                    <a:pt x="36270" y="114475"/>
                  </a:lnTo>
                  <a:lnTo>
                    <a:pt x="17394" y="101706"/>
                  </a:lnTo>
                  <a:lnTo>
                    <a:pt x="4667" y="82767"/>
                  </a:lnTo>
                  <a:lnTo>
                    <a:pt x="0" y="59573"/>
                  </a:lnTo>
                  <a:lnTo>
                    <a:pt x="4667" y="36385"/>
                  </a:lnTo>
                  <a:lnTo>
                    <a:pt x="17394" y="17449"/>
                  </a:lnTo>
                  <a:lnTo>
                    <a:pt x="36270" y="4681"/>
                  </a:lnTo>
                  <a:lnTo>
                    <a:pt x="59384" y="0"/>
                  </a:lnTo>
                  <a:lnTo>
                    <a:pt x="82497" y="4681"/>
                  </a:lnTo>
                  <a:lnTo>
                    <a:pt x="101373" y="17449"/>
                  </a:lnTo>
                  <a:lnTo>
                    <a:pt x="114101" y="36385"/>
                  </a:lnTo>
                  <a:lnTo>
                    <a:pt x="118768" y="59573"/>
                  </a:lnTo>
                  <a:close/>
                </a:path>
              </a:pathLst>
            </a:custGeom>
            <a:ln w="7597">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object 12"/>
            <p:cNvSpPr/>
            <p:nvPr/>
          </p:nvSpPr>
          <p:spPr>
            <a:xfrm>
              <a:off x="6612560" y="3432997"/>
              <a:ext cx="2146935" cy="374015"/>
            </a:xfrm>
            <a:custGeom>
              <a:avLst/>
              <a:gdLst/>
              <a:ahLst/>
              <a:cxnLst/>
              <a:rect l="l" t="t" r="r" b="b"/>
              <a:pathLst>
                <a:path w="2146934" h="374014">
                  <a:moveTo>
                    <a:pt x="2146515" y="186905"/>
                  </a:moveTo>
                  <a:lnTo>
                    <a:pt x="2122808" y="226170"/>
                  </a:lnTo>
                  <a:lnTo>
                    <a:pt x="2082175" y="250816"/>
                  </a:lnTo>
                  <a:lnTo>
                    <a:pt x="2023373" y="273942"/>
                  </a:lnTo>
                  <a:lnTo>
                    <a:pt x="1947856" y="295294"/>
                  </a:lnTo>
                  <a:lnTo>
                    <a:pt x="1904284" y="305227"/>
                  </a:lnTo>
                  <a:lnTo>
                    <a:pt x="1857077" y="314621"/>
                  </a:lnTo>
                  <a:lnTo>
                    <a:pt x="1806417" y="323445"/>
                  </a:lnTo>
                  <a:lnTo>
                    <a:pt x="1752487" y="331668"/>
                  </a:lnTo>
                  <a:lnTo>
                    <a:pt x="1695467" y="339258"/>
                  </a:lnTo>
                  <a:lnTo>
                    <a:pt x="1635540" y="346183"/>
                  </a:lnTo>
                  <a:lnTo>
                    <a:pt x="1572886" y="352412"/>
                  </a:lnTo>
                  <a:lnTo>
                    <a:pt x="1507687" y="357913"/>
                  </a:lnTo>
                  <a:lnTo>
                    <a:pt x="1440126" y="362655"/>
                  </a:lnTo>
                  <a:lnTo>
                    <a:pt x="1370383" y="366605"/>
                  </a:lnTo>
                  <a:lnTo>
                    <a:pt x="1298640" y="369733"/>
                  </a:lnTo>
                  <a:lnTo>
                    <a:pt x="1225078" y="372006"/>
                  </a:lnTo>
                  <a:lnTo>
                    <a:pt x="1149880" y="373393"/>
                  </a:lnTo>
                  <a:lnTo>
                    <a:pt x="1073227" y="373862"/>
                  </a:lnTo>
                  <a:lnTo>
                    <a:pt x="996584" y="373393"/>
                  </a:lnTo>
                  <a:lnTo>
                    <a:pt x="921395" y="372006"/>
                  </a:lnTo>
                  <a:lnTo>
                    <a:pt x="847842" y="369733"/>
                  </a:lnTo>
                  <a:lnTo>
                    <a:pt x="776106" y="366605"/>
                  </a:lnTo>
                  <a:lnTo>
                    <a:pt x="706369" y="362655"/>
                  </a:lnTo>
                  <a:lnTo>
                    <a:pt x="638813" y="357913"/>
                  </a:lnTo>
                  <a:lnTo>
                    <a:pt x="573619" y="352412"/>
                  </a:lnTo>
                  <a:lnTo>
                    <a:pt x="510968" y="346183"/>
                  </a:lnTo>
                  <a:lnTo>
                    <a:pt x="451044" y="339258"/>
                  </a:lnTo>
                  <a:lnTo>
                    <a:pt x="394026" y="331668"/>
                  </a:lnTo>
                  <a:lnTo>
                    <a:pt x="340098" y="323445"/>
                  </a:lnTo>
                  <a:lnTo>
                    <a:pt x="289440" y="314621"/>
                  </a:lnTo>
                  <a:lnTo>
                    <a:pt x="242234" y="305227"/>
                  </a:lnTo>
                  <a:lnTo>
                    <a:pt x="198661" y="295294"/>
                  </a:lnTo>
                  <a:lnTo>
                    <a:pt x="158904" y="284855"/>
                  </a:lnTo>
                  <a:lnTo>
                    <a:pt x="91563" y="262585"/>
                  </a:lnTo>
                  <a:lnTo>
                    <a:pt x="41663" y="238667"/>
                  </a:lnTo>
                  <a:lnTo>
                    <a:pt x="10658" y="213356"/>
                  </a:lnTo>
                  <a:lnTo>
                    <a:pt x="0" y="186905"/>
                  </a:lnTo>
                  <a:lnTo>
                    <a:pt x="2694" y="173552"/>
                  </a:lnTo>
                  <a:lnTo>
                    <a:pt x="41663" y="135146"/>
                  </a:lnTo>
                  <a:lnTo>
                    <a:pt x="91563" y="111234"/>
                  </a:lnTo>
                  <a:lnTo>
                    <a:pt x="158904" y="88969"/>
                  </a:lnTo>
                  <a:lnTo>
                    <a:pt x="198661" y="78533"/>
                  </a:lnTo>
                  <a:lnTo>
                    <a:pt x="242234" y="68604"/>
                  </a:lnTo>
                  <a:lnTo>
                    <a:pt x="289440" y="59213"/>
                  </a:lnTo>
                  <a:lnTo>
                    <a:pt x="340098" y="50392"/>
                  </a:lnTo>
                  <a:lnTo>
                    <a:pt x="394026" y="42173"/>
                  </a:lnTo>
                  <a:lnTo>
                    <a:pt x="451044" y="34586"/>
                  </a:lnTo>
                  <a:lnTo>
                    <a:pt x="510968" y="27664"/>
                  </a:lnTo>
                  <a:lnTo>
                    <a:pt x="573619" y="21438"/>
                  </a:lnTo>
                  <a:lnTo>
                    <a:pt x="638813" y="15940"/>
                  </a:lnTo>
                  <a:lnTo>
                    <a:pt x="706369" y="11201"/>
                  </a:lnTo>
                  <a:lnTo>
                    <a:pt x="776106" y="7252"/>
                  </a:lnTo>
                  <a:lnTo>
                    <a:pt x="847842" y="4127"/>
                  </a:lnTo>
                  <a:lnTo>
                    <a:pt x="921395" y="1855"/>
                  </a:lnTo>
                  <a:lnTo>
                    <a:pt x="996584" y="469"/>
                  </a:lnTo>
                  <a:lnTo>
                    <a:pt x="1073227" y="0"/>
                  </a:lnTo>
                  <a:lnTo>
                    <a:pt x="1149880" y="469"/>
                  </a:lnTo>
                  <a:lnTo>
                    <a:pt x="1225078" y="1855"/>
                  </a:lnTo>
                  <a:lnTo>
                    <a:pt x="1298640" y="4127"/>
                  </a:lnTo>
                  <a:lnTo>
                    <a:pt x="1370383" y="7252"/>
                  </a:lnTo>
                  <a:lnTo>
                    <a:pt x="1440126" y="11201"/>
                  </a:lnTo>
                  <a:lnTo>
                    <a:pt x="1507687" y="15940"/>
                  </a:lnTo>
                  <a:lnTo>
                    <a:pt x="1572886" y="21438"/>
                  </a:lnTo>
                  <a:lnTo>
                    <a:pt x="1635540" y="27664"/>
                  </a:lnTo>
                  <a:lnTo>
                    <a:pt x="1695467" y="34586"/>
                  </a:lnTo>
                  <a:lnTo>
                    <a:pt x="1752487" y="42173"/>
                  </a:lnTo>
                  <a:lnTo>
                    <a:pt x="1806417" y="50392"/>
                  </a:lnTo>
                  <a:lnTo>
                    <a:pt x="1857077" y="59213"/>
                  </a:lnTo>
                  <a:lnTo>
                    <a:pt x="1904284" y="68604"/>
                  </a:lnTo>
                  <a:lnTo>
                    <a:pt x="1947856" y="78533"/>
                  </a:lnTo>
                  <a:lnTo>
                    <a:pt x="1987613" y="88969"/>
                  </a:lnTo>
                  <a:lnTo>
                    <a:pt x="2054954" y="111234"/>
                  </a:lnTo>
                  <a:lnTo>
                    <a:pt x="2104853" y="135146"/>
                  </a:lnTo>
                  <a:lnTo>
                    <a:pt x="2135858" y="160454"/>
                  </a:lnTo>
                  <a:lnTo>
                    <a:pt x="2146515" y="186905"/>
                  </a:lnTo>
                  <a:close/>
                </a:path>
              </a:pathLst>
            </a:custGeom>
            <a:ln w="760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object 13"/>
            <p:cNvSpPr/>
            <p:nvPr/>
          </p:nvSpPr>
          <p:spPr>
            <a:xfrm>
              <a:off x="6551917" y="4193459"/>
              <a:ext cx="2146935" cy="374015"/>
            </a:xfrm>
            <a:custGeom>
              <a:avLst/>
              <a:gdLst/>
              <a:ahLst/>
              <a:cxnLst/>
              <a:rect l="l" t="t" r="r" b="b"/>
              <a:pathLst>
                <a:path w="2146934" h="374014">
                  <a:moveTo>
                    <a:pt x="2146598" y="186957"/>
                  </a:moveTo>
                  <a:lnTo>
                    <a:pt x="2122886" y="226222"/>
                  </a:lnTo>
                  <a:lnTo>
                    <a:pt x="2082245" y="250868"/>
                  </a:lnTo>
                  <a:lnTo>
                    <a:pt x="2023435" y="273994"/>
                  </a:lnTo>
                  <a:lnTo>
                    <a:pt x="1947909" y="295348"/>
                  </a:lnTo>
                  <a:lnTo>
                    <a:pt x="1904332" y="305280"/>
                  </a:lnTo>
                  <a:lnTo>
                    <a:pt x="1857122" y="314675"/>
                  </a:lnTo>
                  <a:lnTo>
                    <a:pt x="1806459" y="323500"/>
                  </a:lnTo>
                  <a:lnTo>
                    <a:pt x="1752526" y="331723"/>
                  </a:lnTo>
                  <a:lnTo>
                    <a:pt x="1695504" y="339313"/>
                  </a:lnTo>
                  <a:lnTo>
                    <a:pt x="1635575" y="346239"/>
                  </a:lnTo>
                  <a:lnTo>
                    <a:pt x="1572922" y="352468"/>
                  </a:lnTo>
                  <a:lnTo>
                    <a:pt x="1507725" y="357970"/>
                  </a:lnTo>
                  <a:lnTo>
                    <a:pt x="1440166" y="362712"/>
                  </a:lnTo>
                  <a:lnTo>
                    <a:pt x="1370428" y="366662"/>
                  </a:lnTo>
                  <a:lnTo>
                    <a:pt x="1298691" y="369790"/>
                  </a:lnTo>
                  <a:lnTo>
                    <a:pt x="1225138" y="372063"/>
                  </a:lnTo>
                  <a:lnTo>
                    <a:pt x="1149950" y="373451"/>
                  </a:lnTo>
                  <a:lnTo>
                    <a:pt x="1073309" y="373920"/>
                  </a:lnTo>
                  <a:lnTo>
                    <a:pt x="996656" y="373451"/>
                  </a:lnTo>
                  <a:lnTo>
                    <a:pt x="921457" y="372063"/>
                  </a:lnTo>
                  <a:lnTo>
                    <a:pt x="847895" y="369790"/>
                  </a:lnTo>
                  <a:lnTo>
                    <a:pt x="776152" y="366662"/>
                  </a:lnTo>
                  <a:lnTo>
                    <a:pt x="706408" y="362712"/>
                  </a:lnTo>
                  <a:lnTo>
                    <a:pt x="638845" y="357970"/>
                  </a:lnTo>
                  <a:lnTo>
                    <a:pt x="573646" y="352468"/>
                  </a:lnTo>
                  <a:lnTo>
                    <a:pt x="510990" y="346239"/>
                  </a:lnTo>
                  <a:lnTo>
                    <a:pt x="451062" y="339313"/>
                  </a:lnTo>
                  <a:lnTo>
                    <a:pt x="394041" y="331723"/>
                  </a:lnTo>
                  <a:lnTo>
                    <a:pt x="340109" y="323500"/>
                  </a:lnTo>
                  <a:lnTo>
                    <a:pt x="289448" y="314675"/>
                  </a:lnTo>
                  <a:lnTo>
                    <a:pt x="242240" y="305280"/>
                  </a:lnTo>
                  <a:lnTo>
                    <a:pt x="198666" y="295348"/>
                  </a:lnTo>
                  <a:lnTo>
                    <a:pt x="158907" y="284908"/>
                  </a:lnTo>
                  <a:lnTo>
                    <a:pt x="91564" y="262637"/>
                  </a:lnTo>
                  <a:lnTo>
                    <a:pt x="41663" y="238719"/>
                  </a:lnTo>
                  <a:lnTo>
                    <a:pt x="10658" y="213409"/>
                  </a:lnTo>
                  <a:lnTo>
                    <a:pt x="0" y="186957"/>
                  </a:lnTo>
                  <a:lnTo>
                    <a:pt x="2694" y="173606"/>
                  </a:lnTo>
                  <a:lnTo>
                    <a:pt x="41663" y="135199"/>
                  </a:lnTo>
                  <a:lnTo>
                    <a:pt x="91564" y="111282"/>
                  </a:lnTo>
                  <a:lnTo>
                    <a:pt x="158907" y="89011"/>
                  </a:lnTo>
                  <a:lnTo>
                    <a:pt x="198666" y="78572"/>
                  </a:lnTo>
                  <a:lnTo>
                    <a:pt x="242240" y="68640"/>
                  </a:lnTo>
                  <a:lnTo>
                    <a:pt x="289448" y="59245"/>
                  </a:lnTo>
                  <a:lnTo>
                    <a:pt x="340109" y="50421"/>
                  </a:lnTo>
                  <a:lnTo>
                    <a:pt x="394041" y="42197"/>
                  </a:lnTo>
                  <a:lnTo>
                    <a:pt x="451062" y="34607"/>
                  </a:lnTo>
                  <a:lnTo>
                    <a:pt x="510990" y="27681"/>
                  </a:lnTo>
                  <a:lnTo>
                    <a:pt x="573646" y="21452"/>
                  </a:lnTo>
                  <a:lnTo>
                    <a:pt x="638845" y="15950"/>
                  </a:lnTo>
                  <a:lnTo>
                    <a:pt x="706408" y="11208"/>
                  </a:lnTo>
                  <a:lnTo>
                    <a:pt x="776152" y="7257"/>
                  </a:lnTo>
                  <a:lnTo>
                    <a:pt x="847895" y="4130"/>
                  </a:lnTo>
                  <a:lnTo>
                    <a:pt x="921457" y="1856"/>
                  </a:lnTo>
                  <a:lnTo>
                    <a:pt x="996656" y="469"/>
                  </a:lnTo>
                  <a:lnTo>
                    <a:pt x="1073309" y="0"/>
                  </a:lnTo>
                  <a:lnTo>
                    <a:pt x="1149950" y="469"/>
                  </a:lnTo>
                  <a:lnTo>
                    <a:pt x="1225138" y="1856"/>
                  </a:lnTo>
                  <a:lnTo>
                    <a:pt x="1298691" y="4130"/>
                  </a:lnTo>
                  <a:lnTo>
                    <a:pt x="1370428" y="7257"/>
                  </a:lnTo>
                  <a:lnTo>
                    <a:pt x="1440166" y="11208"/>
                  </a:lnTo>
                  <a:lnTo>
                    <a:pt x="1507725" y="15950"/>
                  </a:lnTo>
                  <a:lnTo>
                    <a:pt x="1572922" y="21452"/>
                  </a:lnTo>
                  <a:lnTo>
                    <a:pt x="1635575" y="27681"/>
                  </a:lnTo>
                  <a:lnTo>
                    <a:pt x="1695504" y="34607"/>
                  </a:lnTo>
                  <a:lnTo>
                    <a:pt x="1752526" y="42197"/>
                  </a:lnTo>
                  <a:lnTo>
                    <a:pt x="1806459" y="50421"/>
                  </a:lnTo>
                  <a:lnTo>
                    <a:pt x="1857122" y="59245"/>
                  </a:lnTo>
                  <a:lnTo>
                    <a:pt x="1904332" y="68640"/>
                  </a:lnTo>
                  <a:lnTo>
                    <a:pt x="1947909" y="78572"/>
                  </a:lnTo>
                  <a:lnTo>
                    <a:pt x="1987671" y="89011"/>
                  </a:lnTo>
                  <a:lnTo>
                    <a:pt x="2055021" y="111282"/>
                  </a:lnTo>
                  <a:lnTo>
                    <a:pt x="2104928" y="135199"/>
                  </a:lnTo>
                  <a:lnTo>
                    <a:pt x="2135938" y="160508"/>
                  </a:lnTo>
                  <a:lnTo>
                    <a:pt x="2146598" y="186957"/>
                  </a:lnTo>
                  <a:close/>
                </a:path>
              </a:pathLst>
            </a:custGeom>
            <a:ln w="760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object 14"/>
            <p:cNvSpPr/>
            <p:nvPr/>
          </p:nvSpPr>
          <p:spPr>
            <a:xfrm>
              <a:off x="7656769" y="3545085"/>
              <a:ext cx="93980" cy="93980"/>
            </a:xfrm>
            <a:custGeom>
              <a:avLst/>
              <a:gdLst/>
              <a:ahLst/>
              <a:cxnLst/>
              <a:rect l="l" t="t" r="r" b="b"/>
              <a:pathLst>
                <a:path w="93979" h="93979">
                  <a:moveTo>
                    <a:pt x="18715" y="0"/>
                  </a:moveTo>
                  <a:lnTo>
                    <a:pt x="10303" y="0"/>
                  </a:lnTo>
                  <a:lnTo>
                    <a:pt x="0" y="10397"/>
                  </a:lnTo>
                  <a:lnTo>
                    <a:pt x="0" y="18825"/>
                  </a:lnTo>
                  <a:lnTo>
                    <a:pt x="74755" y="93863"/>
                  </a:lnTo>
                  <a:lnTo>
                    <a:pt x="83167" y="93863"/>
                  </a:lnTo>
                  <a:lnTo>
                    <a:pt x="88319" y="88669"/>
                  </a:lnTo>
                  <a:lnTo>
                    <a:pt x="93576" y="83465"/>
                  </a:lnTo>
                  <a:lnTo>
                    <a:pt x="93576" y="75038"/>
                  </a:lnTo>
                  <a:lnTo>
                    <a:pt x="88319" y="69844"/>
                  </a:lnTo>
                  <a:lnTo>
                    <a:pt x="18715" y="0"/>
                  </a:lnTo>
                  <a:close/>
                </a:path>
              </a:pathLst>
            </a:custGeom>
            <a:solidFill>
              <a:srgbClr val="0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object 15"/>
            <p:cNvSpPr/>
            <p:nvPr/>
          </p:nvSpPr>
          <p:spPr>
            <a:xfrm>
              <a:off x="7656769" y="3545085"/>
              <a:ext cx="93980" cy="93980"/>
            </a:xfrm>
            <a:custGeom>
              <a:avLst/>
              <a:gdLst/>
              <a:ahLst/>
              <a:cxnLst/>
              <a:rect l="l" t="t" r="r" b="b"/>
              <a:pathLst>
                <a:path w="93979" h="93979">
                  <a:moveTo>
                    <a:pt x="83167" y="0"/>
                  </a:moveTo>
                  <a:lnTo>
                    <a:pt x="74755" y="0"/>
                  </a:lnTo>
                  <a:lnTo>
                    <a:pt x="0" y="75038"/>
                  </a:lnTo>
                  <a:lnTo>
                    <a:pt x="0" y="83465"/>
                  </a:lnTo>
                  <a:lnTo>
                    <a:pt x="10303" y="93863"/>
                  </a:lnTo>
                  <a:lnTo>
                    <a:pt x="18715" y="93863"/>
                  </a:lnTo>
                  <a:lnTo>
                    <a:pt x="88319" y="24018"/>
                  </a:lnTo>
                  <a:lnTo>
                    <a:pt x="93576" y="18825"/>
                  </a:lnTo>
                  <a:lnTo>
                    <a:pt x="93576" y="10397"/>
                  </a:lnTo>
                  <a:lnTo>
                    <a:pt x="88319" y="5204"/>
                  </a:lnTo>
                  <a:lnTo>
                    <a:pt x="83167" y="0"/>
                  </a:lnTo>
                  <a:close/>
                </a:path>
              </a:pathLst>
            </a:custGeom>
            <a:solidFill>
              <a:srgbClr val="0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object 16"/>
            <p:cNvSpPr/>
            <p:nvPr/>
          </p:nvSpPr>
          <p:spPr>
            <a:xfrm>
              <a:off x="7641628" y="4336024"/>
              <a:ext cx="93980" cy="93980"/>
            </a:xfrm>
            <a:custGeom>
              <a:avLst/>
              <a:gdLst/>
              <a:ahLst/>
              <a:cxnLst/>
              <a:rect l="l" t="t" r="r" b="b"/>
              <a:pathLst>
                <a:path w="93979" h="93979">
                  <a:moveTo>
                    <a:pt x="18715" y="0"/>
                  </a:moveTo>
                  <a:lnTo>
                    <a:pt x="10303" y="0"/>
                  </a:lnTo>
                  <a:lnTo>
                    <a:pt x="0" y="10397"/>
                  </a:lnTo>
                  <a:lnTo>
                    <a:pt x="0" y="18825"/>
                  </a:lnTo>
                  <a:lnTo>
                    <a:pt x="74755" y="93863"/>
                  </a:lnTo>
                  <a:lnTo>
                    <a:pt x="83167" y="93863"/>
                  </a:lnTo>
                  <a:lnTo>
                    <a:pt x="93471" y="83465"/>
                  </a:lnTo>
                  <a:lnTo>
                    <a:pt x="93471" y="75038"/>
                  </a:lnTo>
                  <a:lnTo>
                    <a:pt x="18715" y="0"/>
                  </a:lnTo>
                  <a:close/>
                </a:path>
              </a:pathLst>
            </a:custGeom>
            <a:solidFill>
              <a:srgbClr val="0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object 17"/>
            <p:cNvSpPr/>
            <p:nvPr/>
          </p:nvSpPr>
          <p:spPr>
            <a:xfrm>
              <a:off x="7641628" y="4336024"/>
              <a:ext cx="93980" cy="93980"/>
            </a:xfrm>
            <a:custGeom>
              <a:avLst/>
              <a:gdLst/>
              <a:ahLst/>
              <a:cxnLst/>
              <a:rect l="l" t="t" r="r" b="b"/>
              <a:pathLst>
                <a:path w="93979" h="93979">
                  <a:moveTo>
                    <a:pt x="83167" y="0"/>
                  </a:moveTo>
                  <a:lnTo>
                    <a:pt x="74755" y="0"/>
                  </a:lnTo>
                  <a:lnTo>
                    <a:pt x="0" y="75038"/>
                  </a:lnTo>
                  <a:lnTo>
                    <a:pt x="0" y="83465"/>
                  </a:lnTo>
                  <a:lnTo>
                    <a:pt x="10303" y="93863"/>
                  </a:lnTo>
                  <a:lnTo>
                    <a:pt x="18715" y="93863"/>
                  </a:lnTo>
                  <a:lnTo>
                    <a:pt x="93471" y="18825"/>
                  </a:lnTo>
                  <a:lnTo>
                    <a:pt x="93471" y="10397"/>
                  </a:lnTo>
                  <a:lnTo>
                    <a:pt x="83167" y="0"/>
                  </a:lnTo>
                  <a:close/>
                </a:path>
              </a:pathLst>
            </a:custGeom>
            <a:solidFill>
              <a:srgbClr val="0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object 18"/>
            <p:cNvSpPr/>
            <p:nvPr/>
          </p:nvSpPr>
          <p:spPr>
            <a:xfrm>
              <a:off x="6786909" y="3435525"/>
              <a:ext cx="15240" cy="1270"/>
            </a:xfrm>
            <a:custGeom>
              <a:avLst/>
              <a:gdLst/>
              <a:ahLst/>
              <a:cxnLst/>
              <a:rect l="l" t="t" r="r" b="b"/>
              <a:pathLst>
                <a:path w="15240" h="1270">
                  <a:moveTo>
                    <a:pt x="15161" y="0"/>
                  </a:moveTo>
                  <a:lnTo>
                    <a:pt x="0" y="1264"/>
                  </a:lnTo>
                </a:path>
              </a:pathLst>
            </a:custGeom>
            <a:ln w="7605">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object 19"/>
            <p:cNvSpPr/>
            <p:nvPr/>
          </p:nvSpPr>
          <p:spPr>
            <a:xfrm>
              <a:off x="6741424" y="3440582"/>
              <a:ext cx="15240" cy="3810"/>
            </a:xfrm>
            <a:custGeom>
              <a:avLst/>
              <a:gdLst/>
              <a:ahLst/>
              <a:cxnLst/>
              <a:rect l="l" t="t" r="r" b="b"/>
              <a:pathLst>
                <a:path w="15240" h="3810">
                  <a:moveTo>
                    <a:pt x="15161" y="0"/>
                  </a:moveTo>
                  <a:lnTo>
                    <a:pt x="0" y="3792"/>
                  </a:lnTo>
                </a:path>
              </a:pathLst>
            </a:custGeom>
            <a:ln w="760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object 20"/>
            <p:cNvSpPr/>
            <p:nvPr/>
          </p:nvSpPr>
          <p:spPr>
            <a:xfrm>
              <a:off x="6698474" y="3455752"/>
              <a:ext cx="13970" cy="6350"/>
            </a:xfrm>
            <a:custGeom>
              <a:avLst/>
              <a:gdLst/>
              <a:ahLst/>
              <a:cxnLst/>
              <a:rect l="l" t="t" r="r" b="b"/>
              <a:pathLst>
                <a:path w="13970" h="6350">
                  <a:moveTo>
                    <a:pt x="13899" y="0"/>
                  </a:moveTo>
                  <a:lnTo>
                    <a:pt x="3785" y="5056"/>
                  </a:lnTo>
                  <a:lnTo>
                    <a:pt x="0" y="6320"/>
                  </a:lnTo>
                </a:path>
              </a:pathLst>
            </a:custGeom>
            <a:ln w="7602">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object 21"/>
            <p:cNvSpPr/>
            <p:nvPr/>
          </p:nvSpPr>
          <p:spPr>
            <a:xfrm>
              <a:off x="6661832" y="3479876"/>
              <a:ext cx="11430" cy="10160"/>
            </a:xfrm>
            <a:custGeom>
              <a:avLst/>
              <a:gdLst/>
              <a:ahLst/>
              <a:cxnLst/>
              <a:rect l="l" t="t" r="r" b="b"/>
              <a:pathLst>
                <a:path w="11429" h="10160">
                  <a:moveTo>
                    <a:pt x="11376" y="0"/>
                  </a:moveTo>
                  <a:lnTo>
                    <a:pt x="10104" y="2528"/>
                  </a:lnTo>
                  <a:lnTo>
                    <a:pt x="3795" y="7584"/>
                  </a:lnTo>
                  <a:lnTo>
                    <a:pt x="0" y="10113"/>
                  </a:lnTo>
                </a:path>
              </a:pathLst>
            </a:custGeom>
            <a:ln w="7598">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object 22"/>
            <p:cNvSpPr/>
            <p:nvPr/>
          </p:nvSpPr>
          <p:spPr>
            <a:xfrm>
              <a:off x="6631513" y="3514113"/>
              <a:ext cx="10160" cy="11430"/>
            </a:xfrm>
            <a:custGeom>
              <a:avLst/>
              <a:gdLst/>
              <a:ahLst/>
              <a:cxnLst/>
              <a:rect l="l" t="t" r="r" b="b"/>
              <a:pathLst>
                <a:path w="10159" h="11429">
                  <a:moveTo>
                    <a:pt x="10107" y="0"/>
                  </a:moveTo>
                  <a:lnTo>
                    <a:pt x="6316" y="5025"/>
                  </a:lnTo>
                  <a:lnTo>
                    <a:pt x="2526" y="10092"/>
                  </a:lnTo>
                  <a:lnTo>
                    <a:pt x="0" y="11356"/>
                  </a:lnTo>
                </a:path>
              </a:pathLst>
            </a:custGeom>
            <a:ln w="7596">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object 23"/>
            <p:cNvSpPr/>
            <p:nvPr/>
          </p:nvSpPr>
          <p:spPr>
            <a:xfrm>
              <a:off x="6611297" y="3552091"/>
              <a:ext cx="6350" cy="13970"/>
            </a:xfrm>
            <a:custGeom>
              <a:avLst/>
              <a:gdLst/>
              <a:ahLst/>
              <a:cxnLst/>
              <a:rect l="l" t="t" r="r" b="b"/>
              <a:pathLst>
                <a:path w="6350" h="13970">
                  <a:moveTo>
                    <a:pt x="6317" y="0"/>
                  </a:moveTo>
                  <a:lnTo>
                    <a:pt x="5054" y="3802"/>
                  </a:lnTo>
                  <a:lnTo>
                    <a:pt x="2527" y="8870"/>
                  </a:lnTo>
                  <a:lnTo>
                    <a:pt x="0" y="13947"/>
                  </a:lnTo>
                </a:path>
              </a:pathLst>
            </a:custGeom>
            <a:ln w="7592">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object 24"/>
            <p:cNvSpPr/>
            <p:nvPr/>
          </p:nvSpPr>
          <p:spPr>
            <a:xfrm>
              <a:off x="6599927" y="3593924"/>
              <a:ext cx="2540" cy="15240"/>
            </a:xfrm>
            <a:custGeom>
              <a:avLst/>
              <a:gdLst/>
              <a:ahLst/>
              <a:cxnLst/>
              <a:rect l="l" t="t" r="r" b="b"/>
              <a:pathLst>
                <a:path w="2540" h="15239">
                  <a:moveTo>
                    <a:pt x="2526" y="0"/>
                  </a:moveTo>
                  <a:lnTo>
                    <a:pt x="2526" y="3802"/>
                  </a:lnTo>
                  <a:lnTo>
                    <a:pt x="1262" y="8870"/>
                  </a:ln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object 25"/>
            <p:cNvSpPr/>
            <p:nvPr/>
          </p:nvSpPr>
          <p:spPr>
            <a:xfrm>
              <a:off x="6597400" y="3638285"/>
              <a:ext cx="0" cy="15240"/>
            </a:xfrm>
            <a:custGeom>
              <a:avLst/>
              <a:gdLst/>
              <a:ahLst/>
              <a:cxnLst/>
              <a:rect l="l" t="t" r="r" b="b"/>
              <a:pathLst>
                <a:path h="15239">
                  <a:moveTo>
                    <a:pt x="-3795" y="7605"/>
                  </a:moveTo>
                  <a:lnTo>
                    <a:pt x="3795" y="7605"/>
                  </a:lnTo>
                </a:path>
              </a:pathLst>
            </a:custGeom>
            <a:ln w="15211">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object 26"/>
            <p:cNvSpPr/>
            <p:nvPr/>
          </p:nvSpPr>
          <p:spPr>
            <a:xfrm>
              <a:off x="6597400" y="3683910"/>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 name="object 27"/>
            <p:cNvSpPr/>
            <p:nvPr/>
          </p:nvSpPr>
          <p:spPr>
            <a:xfrm>
              <a:off x="6597400" y="3729546"/>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object 28"/>
            <p:cNvSpPr/>
            <p:nvPr/>
          </p:nvSpPr>
          <p:spPr>
            <a:xfrm>
              <a:off x="6597400" y="3775172"/>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object 29"/>
            <p:cNvSpPr/>
            <p:nvPr/>
          </p:nvSpPr>
          <p:spPr>
            <a:xfrm>
              <a:off x="6597400" y="3820808"/>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object 30"/>
            <p:cNvSpPr/>
            <p:nvPr/>
          </p:nvSpPr>
          <p:spPr>
            <a:xfrm>
              <a:off x="6597400" y="3866444"/>
              <a:ext cx="0" cy="15240"/>
            </a:xfrm>
            <a:custGeom>
              <a:avLst/>
              <a:gdLst/>
              <a:ahLst/>
              <a:cxnLst/>
              <a:rect l="l" t="t" r="r" b="b"/>
              <a:pathLst>
                <a:path h="15239">
                  <a:moveTo>
                    <a:pt x="0" y="0"/>
                  </a:moveTo>
                  <a:lnTo>
                    <a:pt x="0" y="1520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 name="object 31"/>
            <p:cNvSpPr/>
            <p:nvPr/>
          </p:nvSpPr>
          <p:spPr>
            <a:xfrm>
              <a:off x="6597400" y="3912069"/>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object 32"/>
            <p:cNvSpPr/>
            <p:nvPr/>
          </p:nvSpPr>
          <p:spPr>
            <a:xfrm>
              <a:off x="6597400" y="3957705"/>
              <a:ext cx="0" cy="15240"/>
            </a:xfrm>
            <a:custGeom>
              <a:avLst/>
              <a:gdLst/>
              <a:ahLst/>
              <a:cxnLst/>
              <a:rect l="l" t="t" r="r" b="b"/>
              <a:pathLst>
                <a:path h="15239">
                  <a:moveTo>
                    <a:pt x="0" y="0"/>
                  </a:moveTo>
                  <a:lnTo>
                    <a:pt x="0" y="1520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object 33"/>
            <p:cNvSpPr/>
            <p:nvPr/>
          </p:nvSpPr>
          <p:spPr>
            <a:xfrm>
              <a:off x="6597400" y="4003330"/>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 name="object 34"/>
            <p:cNvSpPr/>
            <p:nvPr/>
          </p:nvSpPr>
          <p:spPr>
            <a:xfrm>
              <a:off x="6597400" y="4048966"/>
              <a:ext cx="0" cy="15240"/>
            </a:xfrm>
            <a:custGeom>
              <a:avLst/>
              <a:gdLst/>
              <a:ahLst/>
              <a:cxnLst/>
              <a:rect l="l" t="t" r="r" b="b"/>
              <a:pathLst>
                <a:path h="15239">
                  <a:moveTo>
                    <a:pt x="0" y="0"/>
                  </a:moveTo>
                  <a:lnTo>
                    <a:pt x="0" y="1520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object 35"/>
            <p:cNvSpPr/>
            <p:nvPr/>
          </p:nvSpPr>
          <p:spPr>
            <a:xfrm>
              <a:off x="6597400" y="4094592"/>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object 36"/>
            <p:cNvSpPr/>
            <p:nvPr/>
          </p:nvSpPr>
          <p:spPr>
            <a:xfrm>
              <a:off x="6597400" y="4140228"/>
              <a:ext cx="0" cy="15240"/>
            </a:xfrm>
            <a:custGeom>
              <a:avLst/>
              <a:gdLst/>
              <a:ahLst/>
              <a:cxnLst/>
              <a:rect l="l" t="t" r="r" b="b"/>
              <a:pathLst>
                <a:path h="15239">
                  <a:moveTo>
                    <a:pt x="0" y="0"/>
                  </a:moveTo>
                  <a:lnTo>
                    <a:pt x="0" y="1520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object 37"/>
            <p:cNvSpPr/>
            <p:nvPr/>
          </p:nvSpPr>
          <p:spPr>
            <a:xfrm>
              <a:off x="6597400" y="4185853"/>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8" name="object 38"/>
            <p:cNvSpPr/>
            <p:nvPr/>
          </p:nvSpPr>
          <p:spPr>
            <a:xfrm>
              <a:off x="6597400" y="4231489"/>
              <a:ext cx="0" cy="15240"/>
            </a:xfrm>
            <a:custGeom>
              <a:avLst/>
              <a:gdLst/>
              <a:ahLst/>
              <a:cxnLst/>
              <a:rect l="l" t="t" r="r" b="b"/>
              <a:pathLst>
                <a:path h="15239">
                  <a:moveTo>
                    <a:pt x="0" y="0"/>
                  </a:moveTo>
                  <a:lnTo>
                    <a:pt x="0" y="1520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9" name="object 39"/>
            <p:cNvSpPr/>
            <p:nvPr/>
          </p:nvSpPr>
          <p:spPr>
            <a:xfrm>
              <a:off x="6597400" y="4277114"/>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object 40"/>
            <p:cNvSpPr/>
            <p:nvPr/>
          </p:nvSpPr>
          <p:spPr>
            <a:xfrm>
              <a:off x="6597400" y="4322750"/>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object 41"/>
            <p:cNvSpPr/>
            <p:nvPr/>
          </p:nvSpPr>
          <p:spPr>
            <a:xfrm>
              <a:off x="6597400" y="4367112"/>
              <a:ext cx="1270" cy="15240"/>
            </a:xfrm>
            <a:custGeom>
              <a:avLst/>
              <a:gdLst/>
              <a:ahLst/>
              <a:cxnLst/>
              <a:rect l="l" t="t" r="r" b="b"/>
              <a:pathLst>
                <a:path w="1270" h="15239">
                  <a:moveTo>
                    <a:pt x="0" y="0"/>
                  </a:moveTo>
                  <a:lnTo>
                    <a:pt x="1262" y="5067"/>
                  </a:lnTo>
                  <a:lnTo>
                    <a:pt x="1262" y="10134"/>
                  </a:lnTo>
                  <a:lnTo>
                    <a:pt x="1262"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object 42"/>
            <p:cNvSpPr/>
            <p:nvPr/>
          </p:nvSpPr>
          <p:spPr>
            <a:xfrm>
              <a:off x="6602453" y="4411473"/>
              <a:ext cx="3810" cy="13970"/>
            </a:xfrm>
            <a:custGeom>
              <a:avLst/>
              <a:gdLst/>
              <a:ahLst/>
              <a:cxnLst/>
              <a:rect l="l" t="t" r="r" b="b"/>
              <a:pathLst>
                <a:path w="3809" h="13970">
                  <a:moveTo>
                    <a:pt x="0" y="0"/>
                  </a:moveTo>
                  <a:lnTo>
                    <a:pt x="0" y="0"/>
                  </a:lnTo>
                  <a:lnTo>
                    <a:pt x="1263" y="2538"/>
                  </a:lnTo>
                  <a:lnTo>
                    <a:pt x="2526" y="7605"/>
                  </a:lnTo>
                  <a:lnTo>
                    <a:pt x="3790" y="12673"/>
                  </a:lnTo>
                  <a:lnTo>
                    <a:pt x="3790" y="13947"/>
                  </a:lnTo>
                </a:path>
              </a:pathLst>
            </a:custGeom>
            <a:ln w="7591">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 name="object 43"/>
            <p:cNvSpPr/>
            <p:nvPr/>
          </p:nvSpPr>
          <p:spPr>
            <a:xfrm>
              <a:off x="6617615" y="4453306"/>
              <a:ext cx="6350" cy="12700"/>
            </a:xfrm>
            <a:custGeom>
              <a:avLst/>
              <a:gdLst/>
              <a:ahLst/>
              <a:cxnLst/>
              <a:rect l="l" t="t" r="r" b="b"/>
              <a:pathLst>
                <a:path w="6350" h="12700">
                  <a:moveTo>
                    <a:pt x="0" y="0"/>
                  </a:moveTo>
                  <a:lnTo>
                    <a:pt x="0" y="0"/>
                  </a:lnTo>
                  <a:lnTo>
                    <a:pt x="1262" y="2528"/>
                  </a:lnTo>
                  <a:lnTo>
                    <a:pt x="3790" y="7605"/>
                  </a:lnTo>
                  <a:lnTo>
                    <a:pt x="6316" y="12673"/>
                  </a:lnTo>
                </a:path>
              </a:pathLst>
            </a:custGeom>
            <a:ln w="7593">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4" name="object 44"/>
            <p:cNvSpPr/>
            <p:nvPr/>
          </p:nvSpPr>
          <p:spPr>
            <a:xfrm>
              <a:off x="6640356" y="4490060"/>
              <a:ext cx="7620" cy="11430"/>
            </a:xfrm>
            <a:custGeom>
              <a:avLst/>
              <a:gdLst/>
              <a:ahLst/>
              <a:cxnLst/>
              <a:rect l="l" t="t" r="r" b="b"/>
              <a:pathLst>
                <a:path w="7620" h="11429">
                  <a:moveTo>
                    <a:pt x="0" y="0"/>
                  </a:moveTo>
                  <a:lnTo>
                    <a:pt x="1263" y="2535"/>
                  </a:lnTo>
                  <a:lnTo>
                    <a:pt x="5054" y="7605"/>
                  </a:lnTo>
                  <a:lnTo>
                    <a:pt x="7580" y="11407"/>
                  </a:lnTo>
                </a:path>
              </a:pathLst>
            </a:custGeom>
            <a:ln w="759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5" name="object 45"/>
            <p:cNvSpPr/>
            <p:nvPr/>
          </p:nvSpPr>
          <p:spPr>
            <a:xfrm>
              <a:off x="6669413" y="4521748"/>
              <a:ext cx="11430" cy="8890"/>
            </a:xfrm>
            <a:custGeom>
              <a:avLst/>
              <a:gdLst/>
              <a:ahLst/>
              <a:cxnLst/>
              <a:rect l="l" t="t" r="r" b="b"/>
              <a:pathLst>
                <a:path w="11429" h="8889">
                  <a:moveTo>
                    <a:pt x="0" y="0"/>
                  </a:moveTo>
                  <a:lnTo>
                    <a:pt x="2523" y="2535"/>
                  </a:lnTo>
                  <a:lnTo>
                    <a:pt x="8842" y="7605"/>
                  </a:lnTo>
                  <a:lnTo>
                    <a:pt x="11376" y="8873"/>
                  </a:lnTo>
                </a:path>
              </a:pathLst>
            </a:custGeom>
            <a:ln w="7599">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 name="object 46"/>
            <p:cNvSpPr/>
            <p:nvPr/>
          </p:nvSpPr>
          <p:spPr>
            <a:xfrm>
              <a:off x="6704793" y="4547099"/>
              <a:ext cx="12700" cy="6350"/>
            </a:xfrm>
            <a:custGeom>
              <a:avLst/>
              <a:gdLst/>
              <a:ahLst/>
              <a:cxnLst/>
              <a:rect l="l" t="t" r="r" b="b"/>
              <a:pathLst>
                <a:path w="12700" h="6350">
                  <a:moveTo>
                    <a:pt x="0" y="0"/>
                  </a:moveTo>
                  <a:lnTo>
                    <a:pt x="7580" y="3802"/>
                  </a:lnTo>
                  <a:lnTo>
                    <a:pt x="12627" y="6337"/>
                  </a:lnTo>
                </a:path>
              </a:pathLst>
            </a:custGeom>
            <a:ln w="7602">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7" name="object 47"/>
            <p:cNvSpPr/>
            <p:nvPr/>
          </p:nvSpPr>
          <p:spPr>
            <a:xfrm>
              <a:off x="6745220" y="4562309"/>
              <a:ext cx="13970" cy="3810"/>
            </a:xfrm>
            <a:custGeom>
              <a:avLst/>
              <a:gdLst/>
              <a:ahLst/>
              <a:cxnLst/>
              <a:rect l="l" t="t" r="r" b="b"/>
              <a:pathLst>
                <a:path w="13970" h="3810">
                  <a:moveTo>
                    <a:pt x="0" y="0"/>
                  </a:moveTo>
                  <a:lnTo>
                    <a:pt x="11365" y="3802"/>
                  </a:lnTo>
                  <a:lnTo>
                    <a:pt x="13899" y="3802"/>
                  </a:lnTo>
                </a:path>
              </a:pathLst>
            </a:custGeom>
            <a:ln w="760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8" name="object 48"/>
            <p:cNvSpPr/>
            <p:nvPr/>
          </p:nvSpPr>
          <p:spPr>
            <a:xfrm>
              <a:off x="6789442" y="4569915"/>
              <a:ext cx="13970" cy="2540"/>
            </a:xfrm>
            <a:custGeom>
              <a:avLst/>
              <a:gdLst/>
              <a:ahLst/>
              <a:cxnLst/>
              <a:rect l="l" t="t" r="r" b="b"/>
              <a:pathLst>
                <a:path w="13970" h="2539">
                  <a:moveTo>
                    <a:pt x="0" y="0"/>
                  </a:moveTo>
                  <a:lnTo>
                    <a:pt x="12627" y="2535"/>
                  </a:lnTo>
                  <a:lnTo>
                    <a:pt x="13889" y="1267"/>
                  </a:lnTo>
                </a:path>
              </a:pathLst>
            </a:custGeom>
            <a:ln w="760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9" name="object 49"/>
            <p:cNvSpPr/>
            <p:nvPr/>
          </p:nvSpPr>
          <p:spPr>
            <a:xfrm>
              <a:off x="6833655" y="4566112"/>
              <a:ext cx="13970" cy="2540"/>
            </a:xfrm>
            <a:custGeom>
              <a:avLst/>
              <a:gdLst/>
              <a:ahLst/>
              <a:cxnLst/>
              <a:rect l="l" t="t" r="r" b="b"/>
              <a:pathLst>
                <a:path w="13970" h="2539">
                  <a:moveTo>
                    <a:pt x="0" y="2535"/>
                  </a:moveTo>
                  <a:lnTo>
                    <a:pt x="13899" y="1267"/>
                  </a:lnTo>
                  <a:lnTo>
                    <a:pt x="13899" y="0"/>
                  </a:lnTo>
                </a:path>
              </a:pathLst>
            </a:custGeom>
            <a:ln w="760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0" name="object 50"/>
            <p:cNvSpPr/>
            <p:nvPr/>
          </p:nvSpPr>
          <p:spPr>
            <a:xfrm>
              <a:off x="6876616" y="4552169"/>
              <a:ext cx="13970" cy="6350"/>
            </a:xfrm>
            <a:custGeom>
              <a:avLst/>
              <a:gdLst/>
              <a:ahLst/>
              <a:cxnLst/>
              <a:rect l="l" t="t" r="r" b="b"/>
              <a:pathLst>
                <a:path w="13970" h="6350">
                  <a:moveTo>
                    <a:pt x="0" y="6337"/>
                  </a:moveTo>
                  <a:lnTo>
                    <a:pt x="3785" y="5070"/>
                  </a:lnTo>
                  <a:lnTo>
                    <a:pt x="13899" y="0"/>
                  </a:lnTo>
                </a:path>
              </a:pathLst>
            </a:custGeom>
            <a:ln w="7602">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1" name="object 51"/>
            <p:cNvSpPr/>
            <p:nvPr/>
          </p:nvSpPr>
          <p:spPr>
            <a:xfrm>
              <a:off x="6915781" y="4528086"/>
              <a:ext cx="11430" cy="8890"/>
            </a:xfrm>
            <a:custGeom>
              <a:avLst/>
              <a:gdLst/>
              <a:ahLst/>
              <a:cxnLst/>
              <a:rect l="l" t="t" r="r" b="b"/>
              <a:pathLst>
                <a:path w="11429" h="8889">
                  <a:moveTo>
                    <a:pt x="0" y="8873"/>
                  </a:moveTo>
                  <a:lnTo>
                    <a:pt x="2523" y="7605"/>
                  </a:lnTo>
                  <a:lnTo>
                    <a:pt x="10104" y="2535"/>
                  </a:lnTo>
                  <a:lnTo>
                    <a:pt x="11365" y="0"/>
                  </a:lnTo>
                </a:path>
              </a:pathLst>
            </a:custGeom>
            <a:ln w="7599">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2" name="object 52"/>
            <p:cNvSpPr/>
            <p:nvPr/>
          </p:nvSpPr>
          <p:spPr>
            <a:xfrm>
              <a:off x="6949889" y="4496398"/>
              <a:ext cx="10160" cy="11430"/>
            </a:xfrm>
            <a:custGeom>
              <a:avLst/>
              <a:gdLst/>
              <a:ahLst/>
              <a:cxnLst/>
              <a:rect l="l" t="t" r="r" b="b"/>
              <a:pathLst>
                <a:path w="10159" h="11429">
                  <a:moveTo>
                    <a:pt x="0" y="11407"/>
                  </a:moveTo>
                  <a:lnTo>
                    <a:pt x="3795" y="7605"/>
                  </a:lnTo>
                  <a:lnTo>
                    <a:pt x="8852" y="2535"/>
                  </a:lnTo>
                  <a:lnTo>
                    <a:pt x="10114" y="0"/>
                  </a:lnTo>
                </a:path>
              </a:pathLst>
            </a:custGeom>
            <a:ln w="7596">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3" name="object 53"/>
            <p:cNvSpPr/>
            <p:nvPr/>
          </p:nvSpPr>
          <p:spPr>
            <a:xfrm>
              <a:off x="6977689" y="4457109"/>
              <a:ext cx="7620" cy="13970"/>
            </a:xfrm>
            <a:custGeom>
              <a:avLst/>
              <a:gdLst/>
              <a:ahLst/>
              <a:cxnLst/>
              <a:rect l="l" t="t" r="r" b="b"/>
              <a:pathLst>
                <a:path w="7620" h="13970">
                  <a:moveTo>
                    <a:pt x="0" y="13938"/>
                  </a:moveTo>
                  <a:lnTo>
                    <a:pt x="2523" y="10136"/>
                  </a:lnTo>
                  <a:lnTo>
                    <a:pt x="5057" y="5067"/>
                  </a:lnTo>
                  <a:lnTo>
                    <a:pt x="7580" y="0"/>
                  </a:lnTo>
                </a:path>
              </a:pathLst>
            </a:custGeom>
            <a:ln w="7593">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4" name="object 54"/>
            <p:cNvSpPr/>
            <p:nvPr/>
          </p:nvSpPr>
          <p:spPr>
            <a:xfrm>
              <a:off x="6996635" y="4414012"/>
              <a:ext cx="3810" cy="15240"/>
            </a:xfrm>
            <a:custGeom>
              <a:avLst/>
              <a:gdLst/>
              <a:ahLst/>
              <a:cxnLst/>
              <a:rect l="l" t="t" r="r" b="b"/>
              <a:pathLst>
                <a:path w="3809" h="15239">
                  <a:moveTo>
                    <a:pt x="0" y="15211"/>
                  </a:moveTo>
                  <a:lnTo>
                    <a:pt x="0" y="15211"/>
                  </a:lnTo>
                  <a:lnTo>
                    <a:pt x="1272" y="11408"/>
                  </a:lnTo>
                  <a:lnTo>
                    <a:pt x="2533" y="6331"/>
                  </a:lnTo>
                  <a:lnTo>
                    <a:pt x="3795" y="1264"/>
                  </a:lnTo>
                  <a:lnTo>
                    <a:pt x="3795" y="0"/>
                  </a:lnTo>
                </a:path>
              </a:pathLst>
            </a:custGeom>
            <a:ln w="7591">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5" name="object 55"/>
            <p:cNvSpPr/>
            <p:nvPr/>
          </p:nvSpPr>
          <p:spPr>
            <a:xfrm>
              <a:off x="7005488" y="4368376"/>
              <a:ext cx="0" cy="15240"/>
            </a:xfrm>
            <a:custGeom>
              <a:avLst/>
              <a:gdLst/>
              <a:ahLst/>
              <a:cxnLst/>
              <a:rect l="l" t="t" r="r" b="b"/>
              <a:pathLst>
                <a:path h="15239">
                  <a:moveTo>
                    <a:pt x="-3795" y="7605"/>
                  </a:moveTo>
                  <a:lnTo>
                    <a:pt x="3795" y="7605"/>
                  </a:lnTo>
                </a:path>
              </a:pathLst>
            </a:custGeom>
            <a:ln w="15211">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 name="object 56"/>
            <p:cNvSpPr/>
            <p:nvPr/>
          </p:nvSpPr>
          <p:spPr>
            <a:xfrm>
              <a:off x="7006750" y="4322750"/>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7" name="object 57"/>
            <p:cNvSpPr/>
            <p:nvPr/>
          </p:nvSpPr>
          <p:spPr>
            <a:xfrm>
              <a:off x="7006750" y="4277114"/>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8" name="object 58"/>
            <p:cNvSpPr/>
            <p:nvPr/>
          </p:nvSpPr>
          <p:spPr>
            <a:xfrm>
              <a:off x="7006750" y="4231489"/>
              <a:ext cx="0" cy="15240"/>
            </a:xfrm>
            <a:custGeom>
              <a:avLst/>
              <a:gdLst/>
              <a:ahLst/>
              <a:cxnLst/>
              <a:rect l="l" t="t" r="r" b="b"/>
              <a:pathLst>
                <a:path h="15239">
                  <a:moveTo>
                    <a:pt x="0" y="1520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9" name="object 59"/>
            <p:cNvSpPr/>
            <p:nvPr/>
          </p:nvSpPr>
          <p:spPr>
            <a:xfrm>
              <a:off x="7006750" y="4185853"/>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0" name="object 60"/>
            <p:cNvSpPr/>
            <p:nvPr/>
          </p:nvSpPr>
          <p:spPr>
            <a:xfrm>
              <a:off x="7006750" y="4140228"/>
              <a:ext cx="0" cy="15240"/>
            </a:xfrm>
            <a:custGeom>
              <a:avLst/>
              <a:gdLst/>
              <a:ahLst/>
              <a:cxnLst/>
              <a:rect l="l" t="t" r="r" b="b"/>
              <a:pathLst>
                <a:path h="15239">
                  <a:moveTo>
                    <a:pt x="0" y="1520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1" name="object 61"/>
            <p:cNvSpPr/>
            <p:nvPr/>
          </p:nvSpPr>
          <p:spPr>
            <a:xfrm>
              <a:off x="7006750" y="4094592"/>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2" name="object 62"/>
            <p:cNvSpPr/>
            <p:nvPr/>
          </p:nvSpPr>
          <p:spPr>
            <a:xfrm>
              <a:off x="7006750" y="4048966"/>
              <a:ext cx="0" cy="15240"/>
            </a:xfrm>
            <a:custGeom>
              <a:avLst/>
              <a:gdLst/>
              <a:ahLst/>
              <a:cxnLst/>
              <a:rect l="l" t="t" r="r" b="b"/>
              <a:pathLst>
                <a:path h="15239">
                  <a:moveTo>
                    <a:pt x="0" y="1520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3" name="object 63"/>
            <p:cNvSpPr/>
            <p:nvPr/>
          </p:nvSpPr>
          <p:spPr>
            <a:xfrm>
              <a:off x="7006750" y="4003330"/>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4" name="object 64"/>
            <p:cNvSpPr/>
            <p:nvPr/>
          </p:nvSpPr>
          <p:spPr>
            <a:xfrm>
              <a:off x="7006750" y="3957705"/>
              <a:ext cx="0" cy="15240"/>
            </a:xfrm>
            <a:custGeom>
              <a:avLst/>
              <a:gdLst/>
              <a:ahLst/>
              <a:cxnLst/>
              <a:rect l="l" t="t" r="r" b="b"/>
              <a:pathLst>
                <a:path h="15239">
                  <a:moveTo>
                    <a:pt x="0" y="1520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5" name="object 65"/>
            <p:cNvSpPr/>
            <p:nvPr/>
          </p:nvSpPr>
          <p:spPr>
            <a:xfrm>
              <a:off x="7006750" y="3912069"/>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6" name="object 66"/>
            <p:cNvSpPr/>
            <p:nvPr/>
          </p:nvSpPr>
          <p:spPr>
            <a:xfrm>
              <a:off x="7006750" y="3866444"/>
              <a:ext cx="0" cy="15240"/>
            </a:xfrm>
            <a:custGeom>
              <a:avLst/>
              <a:gdLst/>
              <a:ahLst/>
              <a:cxnLst/>
              <a:rect l="l" t="t" r="r" b="b"/>
              <a:pathLst>
                <a:path h="15239">
                  <a:moveTo>
                    <a:pt x="0" y="1520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7" name="object 67"/>
            <p:cNvSpPr/>
            <p:nvPr/>
          </p:nvSpPr>
          <p:spPr>
            <a:xfrm>
              <a:off x="7006750" y="3820808"/>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8" name="object 68"/>
            <p:cNvSpPr/>
            <p:nvPr/>
          </p:nvSpPr>
          <p:spPr>
            <a:xfrm>
              <a:off x="7006750" y="3775172"/>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9" name="object 69"/>
            <p:cNvSpPr/>
            <p:nvPr/>
          </p:nvSpPr>
          <p:spPr>
            <a:xfrm>
              <a:off x="7006750" y="3729546"/>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0" name="object 70"/>
            <p:cNvSpPr/>
            <p:nvPr/>
          </p:nvSpPr>
          <p:spPr>
            <a:xfrm>
              <a:off x="7006750" y="3683910"/>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1" name="object 71"/>
            <p:cNvSpPr/>
            <p:nvPr/>
          </p:nvSpPr>
          <p:spPr>
            <a:xfrm>
              <a:off x="7005488" y="3638285"/>
              <a:ext cx="1270" cy="15240"/>
            </a:xfrm>
            <a:custGeom>
              <a:avLst/>
              <a:gdLst/>
              <a:ahLst/>
              <a:cxnLst/>
              <a:rect l="l" t="t" r="r" b="b"/>
              <a:pathLst>
                <a:path w="1270" h="15239">
                  <a:moveTo>
                    <a:pt x="1261" y="15211"/>
                  </a:moveTo>
                  <a:lnTo>
                    <a:pt x="1261" y="2538"/>
                  </a:ln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 name="object 72"/>
            <p:cNvSpPr/>
            <p:nvPr/>
          </p:nvSpPr>
          <p:spPr>
            <a:xfrm>
              <a:off x="6999169" y="3592649"/>
              <a:ext cx="3810" cy="15240"/>
            </a:xfrm>
            <a:custGeom>
              <a:avLst/>
              <a:gdLst/>
              <a:ahLst/>
              <a:cxnLst/>
              <a:rect l="l" t="t" r="r" b="b"/>
              <a:pathLst>
                <a:path w="3809" h="15239">
                  <a:moveTo>
                    <a:pt x="3785" y="15211"/>
                  </a:moveTo>
                  <a:lnTo>
                    <a:pt x="3785" y="11408"/>
                  </a:lnTo>
                  <a:lnTo>
                    <a:pt x="2523" y="6341"/>
                  </a:lnTo>
                  <a:lnTo>
                    <a:pt x="1261" y="1274"/>
                  </a:lnTo>
                  <a:lnTo>
                    <a:pt x="0" y="0"/>
                  </a:lnTo>
                </a:path>
              </a:pathLst>
            </a:custGeom>
            <a:ln w="7591">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3" name="object 73"/>
            <p:cNvSpPr/>
            <p:nvPr/>
          </p:nvSpPr>
          <p:spPr>
            <a:xfrm>
              <a:off x="6984008" y="3549562"/>
              <a:ext cx="6350" cy="13970"/>
            </a:xfrm>
            <a:custGeom>
              <a:avLst/>
              <a:gdLst/>
              <a:ahLst/>
              <a:cxnLst/>
              <a:rect l="l" t="t" r="r" b="b"/>
              <a:pathLst>
                <a:path w="6350" h="13970">
                  <a:moveTo>
                    <a:pt x="6319" y="13937"/>
                  </a:moveTo>
                  <a:lnTo>
                    <a:pt x="6319" y="12673"/>
                  </a:lnTo>
                  <a:lnTo>
                    <a:pt x="3785" y="7595"/>
                  </a:lnTo>
                  <a:lnTo>
                    <a:pt x="1261" y="2528"/>
                  </a:lnTo>
                  <a:lnTo>
                    <a:pt x="0" y="0"/>
                  </a:lnTo>
                </a:path>
              </a:pathLst>
            </a:custGeom>
            <a:ln w="7592">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4" name="object 74"/>
            <p:cNvSpPr/>
            <p:nvPr/>
          </p:nvSpPr>
          <p:spPr>
            <a:xfrm>
              <a:off x="6958742" y="3510215"/>
              <a:ext cx="8890" cy="13335"/>
            </a:xfrm>
            <a:custGeom>
              <a:avLst/>
              <a:gdLst/>
              <a:ahLst/>
              <a:cxnLst/>
              <a:rect l="l" t="t" r="r" b="b"/>
              <a:pathLst>
                <a:path w="8890" h="13335">
                  <a:moveTo>
                    <a:pt x="8842" y="12725"/>
                  </a:moveTo>
                  <a:lnTo>
                    <a:pt x="7580" y="10186"/>
                  </a:lnTo>
                  <a:lnTo>
                    <a:pt x="3785" y="5161"/>
                  </a:lnTo>
                  <a:lnTo>
                    <a:pt x="0" y="0"/>
                  </a:lnTo>
                </a:path>
              </a:pathLst>
            </a:custGeom>
            <a:ln w="7595">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5" name="object 75"/>
            <p:cNvSpPr/>
            <p:nvPr/>
          </p:nvSpPr>
          <p:spPr>
            <a:xfrm>
              <a:off x="6924624" y="3477348"/>
              <a:ext cx="12700" cy="10160"/>
            </a:xfrm>
            <a:custGeom>
              <a:avLst/>
              <a:gdLst/>
              <a:ahLst/>
              <a:cxnLst/>
              <a:rect l="l" t="t" r="r" b="b"/>
              <a:pathLst>
                <a:path w="12700" h="10160">
                  <a:moveTo>
                    <a:pt x="12638" y="10113"/>
                  </a:moveTo>
                  <a:lnTo>
                    <a:pt x="7580" y="6320"/>
                  </a:lnTo>
                  <a:lnTo>
                    <a:pt x="1261" y="1264"/>
                  </a:lnTo>
                  <a:lnTo>
                    <a:pt x="0" y="0"/>
                  </a:lnTo>
                </a:path>
              </a:pathLst>
            </a:custGeom>
            <a:ln w="7599">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6" name="object 76"/>
            <p:cNvSpPr/>
            <p:nvPr/>
          </p:nvSpPr>
          <p:spPr>
            <a:xfrm>
              <a:off x="6882935" y="3453223"/>
              <a:ext cx="15240" cy="6350"/>
            </a:xfrm>
            <a:custGeom>
              <a:avLst/>
              <a:gdLst/>
              <a:ahLst/>
              <a:cxnLst/>
              <a:rect l="l" t="t" r="r" b="b"/>
              <a:pathLst>
                <a:path w="15240" h="6350">
                  <a:moveTo>
                    <a:pt x="15161" y="6320"/>
                  </a:moveTo>
                  <a:lnTo>
                    <a:pt x="8842" y="3792"/>
                  </a:lnTo>
                  <a:lnTo>
                    <a:pt x="0" y="0"/>
                  </a:lnTo>
                </a:path>
              </a:pathLst>
            </a:custGeom>
            <a:ln w="7602">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 name="object 77"/>
            <p:cNvSpPr/>
            <p:nvPr/>
          </p:nvSpPr>
          <p:spPr>
            <a:xfrm>
              <a:off x="6838712" y="3440582"/>
              <a:ext cx="15240" cy="2540"/>
            </a:xfrm>
            <a:custGeom>
              <a:avLst/>
              <a:gdLst/>
              <a:ahLst/>
              <a:cxnLst/>
              <a:rect l="l" t="t" r="r" b="b"/>
              <a:pathLst>
                <a:path w="15240" h="2539">
                  <a:moveTo>
                    <a:pt x="15161" y="2528"/>
                  </a:moveTo>
                  <a:lnTo>
                    <a:pt x="8842" y="1264"/>
                  </a:lnTo>
                  <a:lnTo>
                    <a:pt x="0" y="0"/>
                  </a:lnTo>
                </a:path>
              </a:pathLst>
            </a:custGeom>
            <a:ln w="760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8" name="object 78"/>
            <p:cNvSpPr/>
            <p:nvPr/>
          </p:nvSpPr>
          <p:spPr>
            <a:xfrm>
              <a:off x="8560779" y="3435525"/>
              <a:ext cx="15240" cy="1270"/>
            </a:xfrm>
            <a:custGeom>
              <a:avLst/>
              <a:gdLst/>
              <a:ahLst/>
              <a:cxnLst/>
              <a:rect l="l" t="t" r="r" b="b"/>
              <a:pathLst>
                <a:path w="15240" h="1270">
                  <a:moveTo>
                    <a:pt x="15140" y="0"/>
                  </a:moveTo>
                  <a:lnTo>
                    <a:pt x="0" y="1264"/>
                  </a:lnTo>
                </a:path>
              </a:pathLst>
            </a:custGeom>
            <a:ln w="7605">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9" name="object 79"/>
            <p:cNvSpPr/>
            <p:nvPr/>
          </p:nvSpPr>
          <p:spPr>
            <a:xfrm>
              <a:off x="8515253" y="3440582"/>
              <a:ext cx="15240" cy="3810"/>
            </a:xfrm>
            <a:custGeom>
              <a:avLst/>
              <a:gdLst/>
              <a:ahLst/>
              <a:cxnLst/>
              <a:rect l="l" t="t" r="r" b="b"/>
              <a:pathLst>
                <a:path w="15240" h="3810">
                  <a:moveTo>
                    <a:pt x="15140" y="0"/>
                  </a:moveTo>
                  <a:lnTo>
                    <a:pt x="0" y="3792"/>
                  </a:lnTo>
                </a:path>
              </a:pathLst>
            </a:custGeom>
            <a:ln w="760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0" name="object 80"/>
            <p:cNvSpPr/>
            <p:nvPr/>
          </p:nvSpPr>
          <p:spPr>
            <a:xfrm>
              <a:off x="8472354" y="3455752"/>
              <a:ext cx="13970" cy="6350"/>
            </a:xfrm>
            <a:custGeom>
              <a:avLst/>
              <a:gdLst/>
              <a:ahLst/>
              <a:cxnLst/>
              <a:rect l="l" t="t" r="r" b="b"/>
              <a:pathLst>
                <a:path w="13970" h="6350">
                  <a:moveTo>
                    <a:pt x="13878" y="0"/>
                  </a:moveTo>
                  <a:lnTo>
                    <a:pt x="3785" y="5056"/>
                  </a:lnTo>
                  <a:lnTo>
                    <a:pt x="0" y="6320"/>
                  </a:lnTo>
                </a:path>
              </a:pathLst>
            </a:custGeom>
            <a:ln w="7602">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1" name="object 81"/>
            <p:cNvSpPr/>
            <p:nvPr/>
          </p:nvSpPr>
          <p:spPr>
            <a:xfrm>
              <a:off x="8435660" y="3479876"/>
              <a:ext cx="11430" cy="10160"/>
            </a:xfrm>
            <a:custGeom>
              <a:avLst/>
              <a:gdLst/>
              <a:ahLst/>
              <a:cxnLst/>
              <a:rect l="l" t="t" r="r" b="b"/>
              <a:pathLst>
                <a:path w="11429" h="10160">
                  <a:moveTo>
                    <a:pt x="11355" y="0"/>
                  </a:moveTo>
                  <a:lnTo>
                    <a:pt x="10093" y="2528"/>
                  </a:lnTo>
                  <a:lnTo>
                    <a:pt x="3785" y="7584"/>
                  </a:lnTo>
                  <a:lnTo>
                    <a:pt x="0" y="10113"/>
                  </a:lnTo>
                </a:path>
              </a:pathLst>
            </a:custGeom>
            <a:ln w="7598">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2" name="object 82"/>
            <p:cNvSpPr/>
            <p:nvPr/>
          </p:nvSpPr>
          <p:spPr>
            <a:xfrm>
              <a:off x="8405379" y="3514113"/>
              <a:ext cx="10160" cy="11430"/>
            </a:xfrm>
            <a:custGeom>
              <a:avLst/>
              <a:gdLst/>
              <a:ahLst/>
              <a:cxnLst/>
              <a:rect l="l" t="t" r="r" b="b"/>
              <a:pathLst>
                <a:path w="10159" h="11429">
                  <a:moveTo>
                    <a:pt x="10093" y="0"/>
                  </a:moveTo>
                  <a:lnTo>
                    <a:pt x="6308" y="5025"/>
                  </a:lnTo>
                  <a:lnTo>
                    <a:pt x="2523" y="10092"/>
                  </a:lnTo>
                  <a:lnTo>
                    <a:pt x="0" y="11356"/>
                  </a:lnTo>
                </a:path>
              </a:pathLst>
            </a:custGeom>
            <a:ln w="7596">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3" name="object 83"/>
            <p:cNvSpPr/>
            <p:nvPr/>
          </p:nvSpPr>
          <p:spPr>
            <a:xfrm>
              <a:off x="8385087" y="3552091"/>
              <a:ext cx="6985" cy="13970"/>
            </a:xfrm>
            <a:custGeom>
              <a:avLst/>
              <a:gdLst/>
              <a:ahLst/>
              <a:cxnLst/>
              <a:rect l="l" t="t" r="r" b="b"/>
              <a:pathLst>
                <a:path w="6984" h="13970">
                  <a:moveTo>
                    <a:pt x="6413" y="0"/>
                  </a:moveTo>
                  <a:lnTo>
                    <a:pt x="5151" y="3802"/>
                  </a:lnTo>
                  <a:lnTo>
                    <a:pt x="2628" y="8870"/>
                  </a:lnTo>
                  <a:lnTo>
                    <a:pt x="0" y="13947"/>
                  </a:lnTo>
                </a:path>
              </a:pathLst>
            </a:custGeom>
            <a:ln w="7592">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4" name="object 84"/>
            <p:cNvSpPr/>
            <p:nvPr/>
          </p:nvSpPr>
          <p:spPr>
            <a:xfrm>
              <a:off x="8373731" y="3593924"/>
              <a:ext cx="2540" cy="15240"/>
            </a:xfrm>
            <a:custGeom>
              <a:avLst/>
              <a:gdLst/>
              <a:ahLst/>
              <a:cxnLst/>
              <a:rect l="l" t="t" r="r" b="b"/>
              <a:pathLst>
                <a:path w="2540" h="15239">
                  <a:moveTo>
                    <a:pt x="2523" y="0"/>
                  </a:moveTo>
                  <a:lnTo>
                    <a:pt x="2523" y="3802"/>
                  </a:lnTo>
                  <a:lnTo>
                    <a:pt x="1261" y="8870"/>
                  </a:ln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5" name="object 85"/>
            <p:cNvSpPr/>
            <p:nvPr/>
          </p:nvSpPr>
          <p:spPr>
            <a:xfrm>
              <a:off x="8371208" y="3638285"/>
              <a:ext cx="0" cy="15240"/>
            </a:xfrm>
            <a:custGeom>
              <a:avLst/>
              <a:gdLst/>
              <a:ahLst/>
              <a:cxnLst/>
              <a:rect l="l" t="t" r="r" b="b"/>
              <a:pathLst>
                <a:path h="15239">
                  <a:moveTo>
                    <a:pt x="-3795" y="7605"/>
                  </a:moveTo>
                  <a:lnTo>
                    <a:pt x="3795" y="7605"/>
                  </a:lnTo>
                </a:path>
              </a:pathLst>
            </a:custGeom>
            <a:ln w="15211">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6" name="object 86"/>
            <p:cNvSpPr/>
            <p:nvPr/>
          </p:nvSpPr>
          <p:spPr>
            <a:xfrm>
              <a:off x="8371208" y="3683910"/>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7" name="object 87"/>
            <p:cNvSpPr/>
            <p:nvPr/>
          </p:nvSpPr>
          <p:spPr>
            <a:xfrm>
              <a:off x="8371208" y="3729546"/>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8" name="object 88"/>
            <p:cNvSpPr/>
            <p:nvPr/>
          </p:nvSpPr>
          <p:spPr>
            <a:xfrm>
              <a:off x="8371208" y="3775172"/>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9" name="object 89"/>
            <p:cNvSpPr/>
            <p:nvPr/>
          </p:nvSpPr>
          <p:spPr>
            <a:xfrm>
              <a:off x="8371208" y="3820808"/>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0" name="object 90"/>
            <p:cNvSpPr/>
            <p:nvPr/>
          </p:nvSpPr>
          <p:spPr>
            <a:xfrm>
              <a:off x="8371208" y="3866444"/>
              <a:ext cx="0" cy="15240"/>
            </a:xfrm>
            <a:custGeom>
              <a:avLst/>
              <a:gdLst/>
              <a:ahLst/>
              <a:cxnLst/>
              <a:rect l="l" t="t" r="r" b="b"/>
              <a:pathLst>
                <a:path h="15239">
                  <a:moveTo>
                    <a:pt x="0" y="0"/>
                  </a:moveTo>
                  <a:lnTo>
                    <a:pt x="0" y="1520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1" name="object 91"/>
            <p:cNvSpPr/>
            <p:nvPr/>
          </p:nvSpPr>
          <p:spPr>
            <a:xfrm>
              <a:off x="8371208" y="3912069"/>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2" name="object 92"/>
            <p:cNvSpPr/>
            <p:nvPr/>
          </p:nvSpPr>
          <p:spPr>
            <a:xfrm>
              <a:off x="8371208" y="3957705"/>
              <a:ext cx="0" cy="15240"/>
            </a:xfrm>
            <a:custGeom>
              <a:avLst/>
              <a:gdLst/>
              <a:ahLst/>
              <a:cxnLst/>
              <a:rect l="l" t="t" r="r" b="b"/>
              <a:pathLst>
                <a:path h="15239">
                  <a:moveTo>
                    <a:pt x="0" y="0"/>
                  </a:moveTo>
                  <a:lnTo>
                    <a:pt x="0" y="1520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3" name="object 93"/>
            <p:cNvSpPr/>
            <p:nvPr/>
          </p:nvSpPr>
          <p:spPr>
            <a:xfrm>
              <a:off x="8371208" y="4003330"/>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4" name="object 94"/>
            <p:cNvSpPr/>
            <p:nvPr/>
          </p:nvSpPr>
          <p:spPr>
            <a:xfrm>
              <a:off x="8371208" y="4048966"/>
              <a:ext cx="0" cy="15240"/>
            </a:xfrm>
            <a:custGeom>
              <a:avLst/>
              <a:gdLst/>
              <a:ahLst/>
              <a:cxnLst/>
              <a:rect l="l" t="t" r="r" b="b"/>
              <a:pathLst>
                <a:path h="15239">
                  <a:moveTo>
                    <a:pt x="0" y="0"/>
                  </a:moveTo>
                  <a:lnTo>
                    <a:pt x="0" y="1520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 name="object 95"/>
            <p:cNvSpPr/>
            <p:nvPr/>
          </p:nvSpPr>
          <p:spPr>
            <a:xfrm>
              <a:off x="8371208" y="4094592"/>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6" name="object 96"/>
            <p:cNvSpPr/>
            <p:nvPr/>
          </p:nvSpPr>
          <p:spPr>
            <a:xfrm>
              <a:off x="8371208" y="4140228"/>
              <a:ext cx="0" cy="15240"/>
            </a:xfrm>
            <a:custGeom>
              <a:avLst/>
              <a:gdLst/>
              <a:ahLst/>
              <a:cxnLst/>
              <a:rect l="l" t="t" r="r" b="b"/>
              <a:pathLst>
                <a:path h="15239">
                  <a:moveTo>
                    <a:pt x="0" y="0"/>
                  </a:moveTo>
                  <a:lnTo>
                    <a:pt x="0" y="1520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7" name="object 97"/>
            <p:cNvSpPr/>
            <p:nvPr/>
          </p:nvSpPr>
          <p:spPr>
            <a:xfrm>
              <a:off x="8371208" y="4185853"/>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8" name="object 98"/>
            <p:cNvSpPr/>
            <p:nvPr/>
          </p:nvSpPr>
          <p:spPr>
            <a:xfrm>
              <a:off x="8371208" y="4231489"/>
              <a:ext cx="0" cy="15240"/>
            </a:xfrm>
            <a:custGeom>
              <a:avLst/>
              <a:gdLst/>
              <a:ahLst/>
              <a:cxnLst/>
              <a:rect l="l" t="t" r="r" b="b"/>
              <a:pathLst>
                <a:path h="15239">
                  <a:moveTo>
                    <a:pt x="0" y="0"/>
                  </a:moveTo>
                  <a:lnTo>
                    <a:pt x="0" y="1520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9" name="object 99"/>
            <p:cNvSpPr/>
            <p:nvPr/>
          </p:nvSpPr>
          <p:spPr>
            <a:xfrm>
              <a:off x="8371208" y="4277114"/>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0" name="object 100"/>
            <p:cNvSpPr/>
            <p:nvPr/>
          </p:nvSpPr>
          <p:spPr>
            <a:xfrm>
              <a:off x="8371208" y="4322750"/>
              <a:ext cx="0" cy="15240"/>
            </a:xfrm>
            <a:custGeom>
              <a:avLst/>
              <a:gdLst/>
              <a:ahLst/>
              <a:cxnLst/>
              <a:rect l="l" t="t" r="r" b="b"/>
              <a:pathLst>
                <a:path h="15239">
                  <a:moveTo>
                    <a:pt x="0" y="0"/>
                  </a:moveTo>
                  <a:lnTo>
                    <a:pt x="0"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1" name="object 101"/>
            <p:cNvSpPr/>
            <p:nvPr/>
          </p:nvSpPr>
          <p:spPr>
            <a:xfrm>
              <a:off x="8371208" y="4367112"/>
              <a:ext cx="1270" cy="15240"/>
            </a:xfrm>
            <a:custGeom>
              <a:avLst/>
              <a:gdLst/>
              <a:ahLst/>
              <a:cxnLst/>
              <a:rect l="l" t="t" r="r" b="b"/>
              <a:pathLst>
                <a:path w="1270" h="15239">
                  <a:moveTo>
                    <a:pt x="0" y="0"/>
                  </a:moveTo>
                  <a:lnTo>
                    <a:pt x="1261" y="5067"/>
                  </a:lnTo>
                  <a:lnTo>
                    <a:pt x="1261" y="10134"/>
                  </a:lnTo>
                  <a:lnTo>
                    <a:pt x="1261" y="15211"/>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2" name="object 102"/>
            <p:cNvSpPr/>
            <p:nvPr/>
          </p:nvSpPr>
          <p:spPr>
            <a:xfrm>
              <a:off x="8376255" y="4411473"/>
              <a:ext cx="3810" cy="13970"/>
            </a:xfrm>
            <a:custGeom>
              <a:avLst/>
              <a:gdLst/>
              <a:ahLst/>
              <a:cxnLst/>
              <a:rect l="l" t="t" r="r" b="b"/>
              <a:pathLst>
                <a:path w="3809" h="13970">
                  <a:moveTo>
                    <a:pt x="0" y="0"/>
                  </a:moveTo>
                  <a:lnTo>
                    <a:pt x="0" y="0"/>
                  </a:lnTo>
                  <a:lnTo>
                    <a:pt x="1261" y="2538"/>
                  </a:lnTo>
                  <a:lnTo>
                    <a:pt x="2523" y="7605"/>
                  </a:lnTo>
                  <a:lnTo>
                    <a:pt x="3785" y="12673"/>
                  </a:lnTo>
                  <a:lnTo>
                    <a:pt x="3785" y="13947"/>
                  </a:lnTo>
                </a:path>
              </a:pathLst>
            </a:custGeom>
            <a:ln w="7591">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3" name="object 103"/>
            <p:cNvSpPr/>
            <p:nvPr/>
          </p:nvSpPr>
          <p:spPr>
            <a:xfrm>
              <a:off x="8391500" y="4453306"/>
              <a:ext cx="6350" cy="12700"/>
            </a:xfrm>
            <a:custGeom>
              <a:avLst/>
              <a:gdLst/>
              <a:ahLst/>
              <a:cxnLst/>
              <a:rect l="l" t="t" r="r" b="b"/>
              <a:pathLst>
                <a:path w="6350" h="12700">
                  <a:moveTo>
                    <a:pt x="0" y="0"/>
                  </a:moveTo>
                  <a:lnTo>
                    <a:pt x="0" y="0"/>
                  </a:lnTo>
                  <a:lnTo>
                    <a:pt x="1261" y="2528"/>
                  </a:lnTo>
                  <a:lnTo>
                    <a:pt x="3785" y="7605"/>
                  </a:lnTo>
                  <a:lnTo>
                    <a:pt x="6308" y="12673"/>
                  </a:lnTo>
                </a:path>
              </a:pathLst>
            </a:custGeom>
            <a:ln w="7593">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4" name="object 104"/>
            <p:cNvSpPr/>
            <p:nvPr/>
          </p:nvSpPr>
          <p:spPr>
            <a:xfrm>
              <a:off x="8414211" y="4490060"/>
              <a:ext cx="7620" cy="11430"/>
            </a:xfrm>
            <a:custGeom>
              <a:avLst/>
              <a:gdLst/>
              <a:ahLst/>
              <a:cxnLst/>
              <a:rect l="l" t="t" r="r" b="b"/>
              <a:pathLst>
                <a:path w="7620" h="11429">
                  <a:moveTo>
                    <a:pt x="0" y="0"/>
                  </a:moveTo>
                  <a:lnTo>
                    <a:pt x="1261" y="2535"/>
                  </a:lnTo>
                  <a:lnTo>
                    <a:pt x="5046" y="7605"/>
                  </a:lnTo>
                  <a:lnTo>
                    <a:pt x="7570" y="11407"/>
                  </a:lnTo>
                </a:path>
              </a:pathLst>
            </a:custGeom>
            <a:ln w="759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5" name="object 105"/>
            <p:cNvSpPr/>
            <p:nvPr/>
          </p:nvSpPr>
          <p:spPr>
            <a:xfrm>
              <a:off x="8443230" y="4521748"/>
              <a:ext cx="11430" cy="8890"/>
            </a:xfrm>
            <a:custGeom>
              <a:avLst/>
              <a:gdLst/>
              <a:ahLst/>
              <a:cxnLst/>
              <a:rect l="l" t="t" r="r" b="b"/>
              <a:pathLst>
                <a:path w="11429" h="8889">
                  <a:moveTo>
                    <a:pt x="0" y="0"/>
                  </a:moveTo>
                  <a:lnTo>
                    <a:pt x="2523" y="2535"/>
                  </a:lnTo>
                  <a:lnTo>
                    <a:pt x="8831" y="7605"/>
                  </a:lnTo>
                  <a:lnTo>
                    <a:pt x="11355" y="8873"/>
                  </a:lnTo>
                </a:path>
              </a:pathLst>
            </a:custGeom>
            <a:ln w="7599">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6" name="object 106"/>
            <p:cNvSpPr/>
            <p:nvPr/>
          </p:nvSpPr>
          <p:spPr>
            <a:xfrm>
              <a:off x="8478663" y="4547099"/>
              <a:ext cx="12700" cy="6350"/>
            </a:xfrm>
            <a:custGeom>
              <a:avLst/>
              <a:gdLst/>
              <a:ahLst/>
              <a:cxnLst/>
              <a:rect l="l" t="t" r="r" b="b"/>
              <a:pathLst>
                <a:path w="12700" h="6350">
                  <a:moveTo>
                    <a:pt x="0" y="0"/>
                  </a:moveTo>
                  <a:lnTo>
                    <a:pt x="7570" y="3802"/>
                  </a:lnTo>
                  <a:lnTo>
                    <a:pt x="12617" y="6337"/>
                  </a:lnTo>
                </a:path>
              </a:pathLst>
            </a:custGeom>
            <a:ln w="7602">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7" name="object 107"/>
            <p:cNvSpPr/>
            <p:nvPr/>
          </p:nvSpPr>
          <p:spPr>
            <a:xfrm>
              <a:off x="8519038" y="4562309"/>
              <a:ext cx="13970" cy="3810"/>
            </a:xfrm>
            <a:custGeom>
              <a:avLst/>
              <a:gdLst/>
              <a:ahLst/>
              <a:cxnLst/>
              <a:rect l="l" t="t" r="r" b="b"/>
              <a:pathLst>
                <a:path w="13970" h="3810">
                  <a:moveTo>
                    <a:pt x="0" y="0"/>
                  </a:moveTo>
                  <a:lnTo>
                    <a:pt x="11355" y="3802"/>
                  </a:lnTo>
                  <a:lnTo>
                    <a:pt x="13878" y="3802"/>
                  </a:lnTo>
                </a:path>
              </a:pathLst>
            </a:custGeom>
            <a:ln w="760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8" name="object 108"/>
            <p:cNvSpPr/>
            <p:nvPr/>
          </p:nvSpPr>
          <p:spPr>
            <a:xfrm>
              <a:off x="8563302" y="4569915"/>
              <a:ext cx="13970" cy="2540"/>
            </a:xfrm>
            <a:custGeom>
              <a:avLst/>
              <a:gdLst/>
              <a:ahLst/>
              <a:cxnLst/>
              <a:rect l="l" t="t" r="r" b="b"/>
              <a:pathLst>
                <a:path w="13970" h="2539">
                  <a:moveTo>
                    <a:pt x="0" y="0"/>
                  </a:moveTo>
                  <a:lnTo>
                    <a:pt x="12617" y="2535"/>
                  </a:lnTo>
                  <a:lnTo>
                    <a:pt x="13878" y="1267"/>
                  </a:lnTo>
                </a:path>
              </a:pathLst>
            </a:custGeom>
            <a:ln w="760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9" name="object 109"/>
            <p:cNvSpPr/>
            <p:nvPr/>
          </p:nvSpPr>
          <p:spPr>
            <a:xfrm>
              <a:off x="8607462" y="4566112"/>
              <a:ext cx="14604" cy="2540"/>
            </a:xfrm>
            <a:custGeom>
              <a:avLst/>
              <a:gdLst/>
              <a:ahLst/>
              <a:cxnLst/>
              <a:rect l="l" t="t" r="r" b="b"/>
              <a:pathLst>
                <a:path w="14604" h="2539">
                  <a:moveTo>
                    <a:pt x="0" y="2535"/>
                  </a:moveTo>
                  <a:lnTo>
                    <a:pt x="13983" y="1267"/>
                  </a:lnTo>
                  <a:lnTo>
                    <a:pt x="13983" y="0"/>
                  </a:lnTo>
                </a:path>
              </a:pathLst>
            </a:custGeom>
            <a:ln w="760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0" name="object 110"/>
            <p:cNvSpPr/>
            <p:nvPr/>
          </p:nvSpPr>
          <p:spPr>
            <a:xfrm>
              <a:off x="8650465" y="4552169"/>
              <a:ext cx="13970" cy="6350"/>
            </a:xfrm>
            <a:custGeom>
              <a:avLst/>
              <a:gdLst/>
              <a:ahLst/>
              <a:cxnLst/>
              <a:rect l="l" t="t" r="r" b="b"/>
              <a:pathLst>
                <a:path w="13970" h="6350">
                  <a:moveTo>
                    <a:pt x="0" y="6337"/>
                  </a:moveTo>
                  <a:lnTo>
                    <a:pt x="3785" y="5070"/>
                  </a:lnTo>
                  <a:lnTo>
                    <a:pt x="13878" y="0"/>
                  </a:lnTo>
                </a:path>
              </a:pathLst>
            </a:custGeom>
            <a:ln w="7602">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1" name="object 111"/>
            <p:cNvSpPr/>
            <p:nvPr/>
          </p:nvSpPr>
          <p:spPr>
            <a:xfrm>
              <a:off x="8689578" y="4528086"/>
              <a:ext cx="12065" cy="8890"/>
            </a:xfrm>
            <a:custGeom>
              <a:avLst/>
              <a:gdLst/>
              <a:ahLst/>
              <a:cxnLst/>
              <a:rect l="l" t="t" r="r" b="b"/>
              <a:pathLst>
                <a:path w="12065" h="8889">
                  <a:moveTo>
                    <a:pt x="0" y="8873"/>
                  </a:moveTo>
                  <a:lnTo>
                    <a:pt x="2523" y="7605"/>
                  </a:lnTo>
                  <a:lnTo>
                    <a:pt x="10198" y="2535"/>
                  </a:lnTo>
                  <a:lnTo>
                    <a:pt x="11460" y="0"/>
                  </a:lnTo>
                </a:path>
              </a:pathLst>
            </a:custGeom>
            <a:ln w="7599">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2" name="object 112"/>
            <p:cNvSpPr/>
            <p:nvPr/>
          </p:nvSpPr>
          <p:spPr>
            <a:xfrm>
              <a:off x="8723748" y="4496398"/>
              <a:ext cx="10160" cy="11430"/>
            </a:xfrm>
            <a:custGeom>
              <a:avLst/>
              <a:gdLst/>
              <a:ahLst/>
              <a:cxnLst/>
              <a:rect l="l" t="t" r="r" b="b"/>
              <a:pathLst>
                <a:path w="10159" h="11429">
                  <a:moveTo>
                    <a:pt x="0" y="11407"/>
                  </a:moveTo>
                  <a:lnTo>
                    <a:pt x="3785" y="7605"/>
                  </a:lnTo>
                  <a:lnTo>
                    <a:pt x="8831" y="2535"/>
                  </a:lnTo>
                  <a:lnTo>
                    <a:pt x="10093" y="0"/>
                  </a:lnTo>
                </a:path>
              </a:pathLst>
            </a:custGeom>
            <a:ln w="7596">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3" name="object 113"/>
            <p:cNvSpPr/>
            <p:nvPr/>
          </p:nvSpPr>
          <p:spPr>
            <a:xfrm>
              <a:off x="8751506" y="4457109"/>
              <a:ext cx="7620" cy="13970"/>
            </a:xfrm>
            <a:custGeom>
              <a:avLst/>
              <a:gdLst/>
              <a:ahLst/>
              <a:cxnLst/>
              <a:rect l="l" t="t" r="r" b="b"/>
              <a:pathLst>
                <a:path w="7620" h="13970">
                  <a:moveTo>
                    <a:pt x="0" y="13938"/>
                  </a:moveTo>
                  <a:lnTo>
                    <a:pt x="2523" y="10136"/>
                  </a:lnTo>
                  <a:lnTo>
                    <a:pt x="5046" y="5067"/>
                  </a:lnTo>
                  <a:lnTo>
                    <a:pt x="7570" y="0"/>
                  </a:lnTo>
                </a:path>
              </a:pathLst>
            </a:custGeom>
            <a:ln w="7593">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4" name="object 114"/>
            <p:cNvSpPr/>
            <p:nvPr/>
          </p:nvSpPr>
          <p:spPr>
            <a:xfrm>
              <a:off x="8770432" y="4414012"/>
              <a:ext cx="4445" cy="15240"/>
            </a:xfrm>
            <a:custGeom>
              <a:avLst/>
              <a:gdLst/>
              <a:ahLst/>
              <a:cxnLst/>
              <a:rect l="l" t="t" r="r" b="b"/>
              <a:pathLst>
                <a:path w="4445" h="15239">
                  <a:moveTo>
                    <a:pt x="0" y="15211"/>
                  </a:moveTo>
                  <a:lnTo>
                    <a:pt x="0" y="15211"/>
                  </a:lnTo>
                  <a:lnTo>
                    <a:pt x="1261" y="11408"/>
                  </a:lnTo>
                  <a:lnTo>
                    <a:pt x="2523" y="6331"/>
                  </a:lnTo>
                  <a:lnTo>
                    <a:pt x="3890" y="1264"/>
                  </a:lnTo>
                  <a:lnTo>
                    <a:pt x="3890" y="0"/>
                  </a:lnTo>
                </a:path>
              </a:pathLst>
            </a:custGeom>
            <a:ln w="7591">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5" name="object 115"/>
            <p:cNvSpPr/>
            <p:nvPr/>
          </p:nvSpPr>
          <p:spPr>
            <a:xfrm>
              <a:off x="8779369" y="4368376"/>
              <a:ext cx="0" cy="15240"/>
            </a:xfrm>
            <a:custGeom>
              <a:avLst/>
              <a:gdLst/>
              <a:ahLst/>
              <a:cxnLst/>
              <a:rect l="l" t="t" r="r" b="b"/>
              <a:pathLst>
                <a:path h="15239">
                  <a:moveTo>
                    <a:pt x="-3795" y="7605"/>
                  </a:moveTo>
                  <a:lnTo>
                    <a:pt x="3795" y="7605"/>
                  </a:lnTo>
                </a:path>
              </a:pathLst>
            </a:custGeom>
            <a:ln w="15211">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6" name="object 116"/>
            <p:cNvSpPr/>
            <p:nvPr/>
          </p:nvSpPr>
          <p:spPr>
            <a:xfrm>
              <a:off x="8780630" y="4322750"/>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7" name="object 117"/>
            <p:cNvSpPr/>
            <p:nvPr/>
          </p:nvSpPr>
          <p:spPr>
            <a:xfrm>
              <a:off x="8780630" y="4277114"/>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8" name="object 118"/>
            <p:cNvSpPr/>
            <p:nvPr/>
          </p:nvSpPr>
          <p:spPr>
            <a:xfrm>
              <a:off x="8780630" y="4231489"/>
              <a:ext cx="0" cy="15240"/>
            </a:xfrm>
            <a:custGeom>
              <a:avLst/>
              <a:gdLst/>
              <a:ahLst/>
              <a:cxnLst/>
              <a:rect l="l" t="t" r="r" b="b"/>
              <a:pathLst>
                <a:path h="15239">
                  <a:moveTo>
                    <a:pt x="0" y="1520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9" name="object 119"/>
            <p:cNvSpPr/>
            <p:nvPr/>
          </p:nvSpPr>
          <p:spPr>
            <a:xfrm>
              <a:off x="8780630" y="4185853"/>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0" name="object 120"/>
            <p:cNvSpPr/>
            <p:nvPr/>
          </p:nvSpPr>
          <p:spPr>
            <a:xfrm>
              <a:off x="8780630" y="4140228"/>
              <a:ext cx="0" cy="15240"/>
            </a:xfrm>
            <a:custGeom>
              <a:avLst/>
              <a:gdLst/>
              <a:ahLst/>
              <a:cxnLst/>
              <a:rect l="l" t="t" r="r" b="b"/>
              <a:pathLst>
                <a:path h="15239">
                  <a:moveTo>
                    <a:pt x="0" y="1520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1" name="object 121"/>
            <p:cNvSpPr/>
            <p:nvPr/>
          </p:nvSpPr>
          <p:spPr>
            <a:xfrm>
              <a:off x="8780630" y="4094592"/>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2" name="object 122"/>
            <p:cNvSpPr/>
            <p:nvPr/>
          </p:nvSpPr>
          <p:spPr>
            <a:xfrm>
              <a:off x="8780630" y="4048966"/>
              <a:ext cx="0" cy="15240"/>
            </a:xfrm>
            <a:custGeom>
              <a:avLst/>
              <a:gdLst/>
              <a:ahLst/>
              <a:cxnLst/>
              <a:rect l="l" t="t" r="r" b="b"/>
              <a:pathLst>
                <a:path h="15239">
                  <a:moveTo>
                    <a:pt x="0" y="1520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3" name="object 123"/>
            <p:cNvSpPr/>
            <p:nvPr/>
          </p:nvSpPr>
          <p:spPr>
            <a:xfrm>
              <a:off x="8780630" y="4003330"/>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4" name="object 124"/>
            <p:cNvSpPr/>
            <p:nvPr/>
          </p:nvSpPr>
          <p:spPr>
            <a:xfrm>
              <a:off x="8780630" y="3957705"/>
              <a:ext cx="0" cy="15240"/>
            </a:xfrm>
            <a:custGeom>
              <a:avLst/>
              <a:gdLst/>
              <a:ahLst/>
              <a:cxnLst/>
              <a:rect l="l" t="t" r="r" b="b"/>
              <a:pathLst>
                <a:path h="15239">
                  <a:moveTo>
                    <a:pt x="0" y="1520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5" name="object 125"/>
            <p:cNvSpPr/>
            <p:nvPr/>
          </p:nvSpPr>
          <p:spPr>
            <a:xfrm>
              <a:off x="8780630" y="3912069"/>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6" name="object 126"/>
            <p:cNvSpPr/>
            <p:nvPr/>
          </p:nvSpPr>
          <p:spPr>
            <a:xfrm>
              <a:off x="8780630" y="3866444"/>
              <a:ext cx="0" cy="15240"/>
            </a:xfrm>
            <a:custGeom>
              <a:avLst/>
              <a:gdLst/>
              <a:ahLst/>
              <a:cxnLst/>
              <a:rect l="l" t="t" r="r" b="b"/>
              <a:pathLst>
                <a:path h="15239">
                  <a:moveTo>
                    <a:pt x="0" y="1520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7" name="object 127"/>
            <p:cNvSpPr/>
            <p:nvPr/>
          </p:nvSpPr>
          <p:spPr>
            <a:xfrm>
              <a:off x="8780630" y="3820808"/>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8" name="object 128"/>
            <p:cNvSpPr/>
            <p:nvPr/>
          </p:nvSpPr>
          <p:spPr>
            <a:xfrm>
              <a:off x="8780630" y="3775172"/>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9" name="object 129"/>
            <p:cNvSpPr/>
            <p:nvPr/>
          </p:nvSpPr>
          <p:spPr>
            <a:xfrm>
              <a:off x="8780630" y="3729546"/>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0" name="object 130"/>
            <p:cNvSpPr/>
            <p:nvPr/>
          </p:nvSpPr>
          <p:spPr>
            <a:xfrm>
              <a:off x="8780630" y="3683910"/>
              <a:ext cx="0" cy="15240"/>
            </a:xfrm>
            <a:custGeom>
              <a:avLst/>
              <a:gdLst/>
              <a:ahLst/>
              <a:cxnLst/>
              <a:rect l="l" t="t" r="r" b="b"/>
              <a:pathLst>
                <a:path h="15239">
                  <a:moveTo>
                    <a:pt x="0" y="15211"/>
                  </a:move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1" name="object 131"/>
            <p:cNvSpPr/>
            <p:nvPr/>
          </p:nvSpPr>
          <p:spPr>
            <a:xfrm>
              <a:off x="8779369" y="3638285"/>
              <a:ext cx="1270" cy="15240"/>
            </a:xfrm>
            <a:custGeom>
              <a:avLst/>
              <a:gdLst/>
              <a:ahLst/>
              <a:cxnLst/>
              <a:rect l="l" t="t" r="r" b="b"/>
              <a:pathLst>
                <a:path w="1270" h="15239">
                  <a:moveTo>
                    <a:pt x="1261" y="15211"/>
                  </a:moveTo>
                  <a:lnTo>
                    <a:pt x="1261" y="2538"/>
                  </a:lnTo>
                  <a:lnTo>
                    <a:pt x="0" y="0"/>
                  </a:lnTo>
                </a:path>
              </a:pathLst>
            </a:custGeom>
            <a:ln w="7590">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2" name="object 132"/>
            <p:cNvSpPr/>
            <p:nvPr/>
          </p:nvSpPr>
          <p:spPr>
            <a:xfrm>
              <a:off x="8772955" y="3592649"/>
              <a:ext cx="4445" cy="15240"/>
            </a:xfrm>
            <a:custGeom>
              <a:avLst/>
              <a:gdLst/>
              <a:ahLst/>
              <a:cxnLst/>
              <a:rect l="l" t="t" r="r" b="b"/>
              <a:pathLst>
                <a:path w="4445" h="15239">
                  <a:moveTo>
                    <a:pt x="3890" y="15211"/>
                  </a:moveTo>
                  <a:lnTo>
                    <a:pt x="3890" y="11408"/>
                  </a:lnTo>
                  <a:lnTo>
                    <a:pt x="2628" y="6341"/>
                  </a:lnTo>
                  <a:lnTo>
                    <a:pt x="1366" y="1274"/>
                  </a:lnTo>
                  <a:lnTo>
                    <a:pt x="0" y="0"/>
                  </a:lnTo>
                </a:path>
              </a:pathLst>
            </a:custGeom>
            <a:ln w="7591">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3" name="object 133"/>
            <p:cNvSpPr/>
            <p:nvPr/>
          </p:nvSpPr>
          <p:spPr>
            <a:xfrm>
              <a:off x="8757815" y="3549562"/>
              <a:ext cx="6350" cy="13970"/>
            </a:xfrm>
            <a:custGeom>
              <a:avLst/>
              <a:gdLst/>
              <a:ahLst/>
              <a:cxnLst/>
              <a:rect l="l" t="t" r="r" b="b"/>
              <a:pathLst>
                <a:path w="6350" h="13970">
                  <a:moveTo>
                    <a:pt x="6308" y="13937"/>
                  </a:moveTo>
                  <a:lnTo>
                    <a:pt x="6308" y="12673"/>
                  </a:lnTo>
                  <a:lnTo>
                    <a:pt x="3785" y="7595"/>
                  </a:lnTo>
                  <a:lnTo>
                    <a:pt x="1261" y="2528"/>
                  </a:lnTo>
                  <a:lnTo>
                    <a:pt x="0" y="0"/>
                  </a:lnTo>
                </a:path>
              </a:pathLst>
            </a:custGeom>
            <a:ln w="7592">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4" name="object 134"/>
            <p:cNvSpPr/>
            <p:nvPr/>
          </p:nvSpPr>
          <p:spPr>
            <a:xfrm>
              <a:off x="8732580" y="3510215"/>
              <a:ext cx="8890" cy="13335"/>
            </a:xfrm>
            <a:custGeom>
              <a:avLst/>
              <a:gdLst/>
              <a:ahLst/>
              <a:cxnLst/>
              <a:rect l="l" t="t" r="r" b="b"/>
              <a:pathLst>
                <a:path w="8890" h="13335">
                  <a:moveTo>
                    <a:pt x="8831" y="12725"/>
                  </a:moveTo>
                  <a:lnTo>
                    <a:pt x="7570" y="10186"/>
                  </a:lnTo>
                  <a:lnTo>
                    <a:pt x="3785" y="5161"/>
                  </a:lnTo>
                  <a:lnTo>
                    <a:pt x="0" y="0"/>
                  </a:lnTo>
                </a:path>
              </a:pathLst>
            </a:custGeom>
            <a:ln w="7595">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5" name="object 135"/>
            <p:cNvSpPr/>
            <p:nvPr/>
          </p:nvSpPr>
          <p:spPr>
            <a:xfrm>
              <a:off x="8698514" y="3477348"/>
              <a:ext cx="12700" cy="10160"/>
            </a:xfrm>
            <a:custGeom>
              <a:avLst/>
              <a:gdLst/>
              <a:ahLst/>
              <a:cxnLst/>
              <a:rect l="l" t="t" r="r" b="b"/>
              <a:pathLst>
                <a:path w="12700" h="10160">
                  <a:moveTo>
                    <a:pt x="12617" y="10113"/>
                  </a:moveTo>
                  <a:lnTo>
                    <a:pt x="7570" y="6320"/>
                  </a:lnTo>
                  <a:lnTo>
                    <a:pt x="1261" y="1264"/>
                  </a:lnTo>
                  <a:lnTo>
                    <a:pt x="0" y="0"/>
                  </a:lnTo>
                </a:path>
              </a:pathLst>
            </a:custGeom>
            <a:ln w="7599">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6" name="object 136"/>
            <p:cNvSpPr/>
            <p:nvPr/>
          </p:nvSpPr>
          <p:spPr>
            <a:xfrm>
              <a:off x="8656773" y="3453223"/>
              <a:ext cx="15240" cy="6350"/>
            </a:xfrm>
            <a:custGeom>
              <a:avLst/>
              <a:gdLst/>
              <a:ahLst/>
              <a:cxnLst/>
              <a:rect l="l" t="t" r="r" b="b"/>
              <a:pathLst>
                <a:path w="15240" h="6350">
                  <a:moveTo>
                    <a:pt x="15140" y="6320"/>
                  </a:moveTo>
                  <a:lnTo>
                    <a:pt x="8831" y="3792"/>
                  </a:lnTo>
                  <a:lnTo>
                    <a:pt x="0" y="0"/>
                  </a:lnTo>
                </a:path>
              </a:pathLst>
            </a:custGeom>
            <a:ln w="7602">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7" name="object 137"/>
            <p:cNvSpPr/>
            <p:nvPr/>
          </p:nvSpPr>
          <p:spPr>
            <a:xfrm>
              <a:off x="8612509" y="3440582"/>
              <a:ext cx="15240" cy="2540"/>
            </a:xfrm>
            <a:custGeom>
              <a:avLst/>
              <a:gdLst/>
              <a:ahLst/>
              <a:cxnLst/>
              <a:rect l="l" t="t" r="r" b="b"/>
              <a:pathLst>
                <a:path w="15240" h="2539">
                  <a:moveTo>
                    <a:pt x="15245" y="2528"/>
                  </a:moveTo>
                  <a:lnTo>
                    <a:pt x="8937" y="1264"/>
                  </a:lnTo>
                  <a:lnTo>
                    <a:pt x="0" y="0"/>
                  </a:lnTo>
                </a:path>
              </a:pathLst>
            </a:custGeom>
            <a:ln w="7604">
              <a:solidFill>
                <a:srgbClr val="000000"/>
              </a:solidFill>
            </a:ln>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8" name="object 138"/>
            <p:cNvSpPr/>
            <p:nvPr/>
          </p:nvSpPr>
          <p:spPr>
            <a:xfrm>
              <a:off x="8522192" y="3926617"/>
              <a:ext cx="39370" cy="39370"/>
            </a:xfrm>
            <a:custGeom>
              <a:avLst/>
              <a:gdLst/>
              <a:ahLst/>
              <a:cxnLst/>
              <a:rect l="l" t="t" r="r" b="b"/>
              <a:pathLst>
                <a:path w="39370" h="39370">
                  <a:moveTo>
                    <a:pt x="18715" y="0"/>
                  </a:moveTo>
                  <a:lnTo>
                    <a:pt x="10303" y="0"/>
                  </a:lnTo>
                  <a:lnTo>
                    <a:pt x="0" y="10387"/>
                  </a:lnTo>
                  <a:lnTo>
                    <a:pt x="0" y="18814"/>
                  </a:lnTo>
                  <a:lnTo>
                    <a:pt x="15245" y="34153"/>
                  </a:lnTo>
                  <a:lnTo>
                    <a:pt x="20502" y="39357"/>
                  </a:lnTo>
                  <a:lnTo>
                    <a:pt x="28914" y="39357"/>
                  </a:lnTo>
                  <a:lnTo>
                    <a:pt x="39217" y="28959"/>
                  </a:lnTo>
                  <a:lnTo>
                    <a:pt x="39217" y="20531"/>
                  </a:lnTo>
                  <a:lnTo>
                    <a:pt x="23972" y="5193"/>
                  </a:lnTo>
                  <a:lnTo>
                    <a:pt x="18715" y="0"/>
                  </a:lnTo>
                  <a:close/>
                </a:path>
              </a:pathLst>
            </a:custGeom>
            <a:solidFill>
              <a:srgbClr val="0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9" name="object 139"/>
            <p:cNvSpPr/>
            <p:nvPr/>
          </p:nvSpPr>
          <p:spPr>
            <a:xfrm>
              <a:off x="8580335" y="3984916"/>
              <a:ext cx="35560" cy="35560"/>
            </a:xfrm>
            <a:custGeom>
              <a:avLst/>
              <a:gdLst/>
              <a:ahLst/>
              <a:cxnLst/>
              <a:rect l="l" t="t" r="r" b="b"/>
              <a:pathLst>
                <a:path w="35559" h="35560">
                  <a:moveTo>
                    <a:pt x="18715" y="0"/>
                  </a:moveTo>
                  <a:lnTo>
                    <a:pt x="10303" y="0"/>
                  </a:lnTo>
                  <a:lnTo>
                    <a:pt x="0" y="10397"/>
                  </a:lnTo>
                  <a:lnTo>
                    <a:pt x="0" y="18825"/>
                  </a:lnTo>
                  <a:lnTo>
                    <a:pt x="16612" y="35554"/>
                  </a:lnTo>
                  <a:lnTo>
                    <a:pt x="25023" y="35554"/>
                  </a:lnTo>
                  <a:lnTo>
                    <a:pt x="30175" y="30360"/>
                  </a:lnTo>
                  <a:lnTo>
                    <a:pt x="35432" y="25167"/>
                  </a:lnTo>
                  <a:lnTo>
                    <a:pt x="35432" y="16739"/>
                  </a:lnTo>
                  <a:lnTo>
                    <a:pt x="30175" y="11535"/>
                  </a:lnTo>
                  <a:lnTo>
                    <a:pt x="18715" y="0"/>
                  </a:lnTo>
                  <a:close/>
                </a:path>
              </a:pathLst>
            </a:custGeom>
            <a:solidFill>
              <a:srgbClr val="0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0" name="object 140"/>
            <p:cNvSpPr/>
            <p:nvPr/>
          </p:nvSpPr>
          <p:spPr>
            <a:xfrm>
              <a:off x="8521982" y="3979628"/>
              <a:ext cx="40005" cy="41275"/>
            </a:xfrm>
            <a:custGeom>
              <a:avLst/>
              <a:gdLst/>
              <a:ahLst/>
              <a:cxnLst/>
              <a:rect l="l" t="t" r="r" b="b"/>
              <a:pathLst>
                <a:path w="40004" h="41275">
                  <a:moveTo>
                    <a:pt x="28178" y="0"/>
                  </a:moveTo>
                  <a:lnTo>
                    <a:pt x="19871" y="495"/>
                  </a:lnTo>
                  <a:lnTo>
                    <a:pt x="14930" y="5983"/>
                  </a:lnTo>
                  <a:lnTo>
                    <a:pt x="0" y="22891"/>
                  </a:lnTo>
                  <a:lnTo>
                    <a:pt x="525" y="31298"/>
                  </a:lnTo>
                  <a:lnTo>
                    <a:pt x="11460" y="41063"/>
                  </a:lnTo>
                  <a:lnTo>
                    <a:pt x="19766" y="40568"/>
                  </a:lnTo>
                  <a:lnTo>
                    <a:pt x="24708" y="35080"/>
                  </a:lnTo>
                  <a:lnTo>
                    <a:pt x="39638" y="18182"/>
                  </a:lnTo>
                  <a:lnTo>
                    <a:pt x="39112" y="9765"/>
                  </a:lnTo>
                  <a:lnTo>
                    <a:pt x="28178" y="0"/>
                  </a:lnTo>
                  <a:close/>
                </a:path>
              </a:pathLst>
            </a:custGeom>
            <a:solidFill>
              <a:srgbClr val="0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1" name="object 141"/>
            <p:cNvSpPr/>
            <p:nvPr/>
          </p:nvSpPr>
          <p:spPr>
            <a:xfrm>
              <a:off x="8579915" y="3926238"/>
              <a:ext cx="36195" cy="35560"/>
            </a:xfrm>
            <a:custGeom>
              <a:avLst/>
              <a:gdLst/>
              <a:ahLst/>
              <a:cxnLst/>
              <a:rect l="l" t="t" r="r" b="b"/>
              <a:pathLst>
                <a:path w="36195" h="35560">
                  <a:moveTo>
                    <a:pt x="18715" y="0"/>
                  </a:moveTo>
                  <a:lnTo>
                    <a:pt x="12932" y="4593"/>
                  </a:lnTo>
                  <a:lnTo>
                    <a:pt x="946" y="14253"/>
                  </a:lnTo>
                  <a:lnTo>
                    <a:pt x="0" y="22628"/>
                  </a:lnTo>
                  <a:lnTo>
                    <a:pt x="4626" y="28369"/>
                  </a:lnTo>
                  <a:lnTo>
                    <a:pt x="9147" y="34111"/>
                  </a:lnTo>
                  <a:lnTo>
                    <a:pt x="17558" y="35038"/>
                  </a:lnTo>
                  <a:lnTo>
                    <a:pt x="35222" y="20784"/>
                  </a:lnTo>
                  <a:lnTo>
                    <a:pt x="36168" y="12409"/>
                  </a:lnTo>
                  <a:lnTo>
                    <a:pt x="31647" y="6668"/>
                  </a:lnTo>
                  <a:lnTo>
                    <a:pt x="27021" y="927"/>
                  </a:lnTo>
                  <a:lnTo>
                    <a:pt x="18715" y="0"/>
                  </a:lnTo>
                  <a:close/>
                </a:path>
              </a:pathLst>
            </a:custGeom>
            <a:solidFill>
              <a:srgbClr val="0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2" name="object 142"/>
            <p:cNvSpPr/>
            <p:nvPr/>
          </p:nvSpPr>
          <p:spPr>
            <a:xfrm>
              <a:off x="6755924" y="3911405"/>
              <a:ext cx="39370" cy="39370"/>
            </a:xfrm>
            <a:custGeom>
              <a:avLst/>
              <a:gdLst/>
              <a:ahLst/>
              <a:cxnLst/>
              <a:rect l="l" t="t" r="r" b="b"/>
              <a:pathLst>
                <a:path w="39370" h="39370">
                  <a:moveTo>
                    <a:pt x="18767" y="0"/>
                  </a:moveTo>
                  <a:lnTo>
                    <a:pt x="10366" y="0"/>
                  </a:lnTo>
                  <a:lnTo>
                    <a:pt x="0" y="10397"/>
                  </a:lnTo>
                  <a:lnTo>
                    <a:pt x="0" y="18814"/>
                  </a:lnTo>
                  <a:lnTo>
                    <a:pt x="20471" y="39357"/>
                  </a:lnTo>
                  <a:lnTo>
                    <a:pt x="28871" y="39357"/>
                  </a:lnTo>
                  <a:lnTo>
                    <a:pt x="39228" y="28959"/>
                  </a:lnTo>
                  <a:lnTo>
                    <a:pt x="39228" y="20531"/>
                  </a:lnTo>
                  <a:lnTo>
                    <a:pt x="18767" y="0"/>
                  </a:lnTo>
                  <a:close/>
                </a:path>
              </a:pathLst>
            </a:custGeom>
            <a:solidFill>
              <a:srgbClr val="0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3" name="object 143"/>
            <p:cNvSpPr/>
            <p:nvPr/>
          </p:nvSpPr>
          <p:spPr>
            <a:xfrm>
              <a:off x="6814046" y="3969704"/>
              <a:ext cx="35560" cy="35560"/>
            </a:xfrm>
            <a:custGeom>
              <a:avLst/>
              <a:gdLst/>
              <a:ahLst/>
              <a:cxnLst/>
              <a:rect l="l" t="t" r="r" b="b"/>
              <a:pathLst>
                <a:path w="35559" h="35560">
                  <a:moveTo>
                    <a:pt x="18757" y="0"/>
                  </a:moveTo>
                  <a:lnTo>
                    <a:pt x="10356" y="0"/>
                  </a:lnTo>
                  <a:lnTo>
                    <a:pt x="0" y="10397"/>
                  </a:lnTo>
                  <a:lnTo>
                    <a:pt x="0" y="18825"/>
                  </a:lnTo>
                  <a:lnTo>
                    <a:pt x="16675" y="35554"/>
                  </a:lnTo>
                  <a:lnTo>
                    <a:pt x="25076" y="35554"/>
                  </a:lnTo>
                  <a:lnTo>
                    <a:pt x="35432" y="25167"/>
                  </a:lnTo>
                  <a:lnTo>
                    <a:pt x="35432" y="16739"/>
                  </a:lnTo>
                  <a:lnTo>
                    <a:pt x="18757" y="0"/>
                  </a:lnTo>
                  <a:close/>
                </a:path>
              </a:pathLst>
            </a:custGeom>
            <a:solidFill>
              <a:srgbClr val="0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4" name="object 144"/>
            <p:cNvSpPr/>
            <p:nvPr/>
          </p:nvSpPr>
          <p:spPr>
            <a:xfrm>
              <a:off x="6755703" y="3964416"/>
              <a:ext cx="40005" cy="41275"/>
            </a:xfrm>
            <a:custGeom>
              <a:avLst/>
              <a:gdLst/>
              <a:ahLst/>
              <a:cxnLst/>
              <a:rect l="l" t="t" r="r" b="b"/>
              <a:pathLst>
                <a:path w="40004" h="41275">
                  <a:moveTo>
                    <a:pt x="28230" y="0"/>
                  </a:moveTo>
                  <a:lnTo>
                    <a:pt x="19840" y="495"/>
                  </a:lnTo>
                  <a:lnTo>
                    <a:pt x="0" y="22891"/>
                  </a:lnTo>
                  <a:lnTo>
                    <a:pt x="494" y="31298"/>
                  </a:lnTo>
                  <a:lnTo>
                    <a:pt x="11449" y="41074"/>
                  </a:lnTo>
                  <a:lnTo>
                    <a:pt x="19829" y="40579"/>
                  </a:lnTo>
                  <a:lnTo>
                    <a:pt x="39670" y="18182"/>
                  </a:lnTo>
                  <a:lnTo>
                    <a:pt x="39186" y="9765"/>
                  </a:lnTo>
                  <a:lnTo>
                    <a:pt x="28230" y="0"/>
                  </a:lnTo>
                  <a:close/>
                </a:path>
              </a:pathLst>
            </a:custGeom>
            <a:solidFill>
              <a:srgbClr val="0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5" name="object 145"/>
            <p:cNvSpPr/>
            <p:nvPr/>
          </p:nvSpPr>
          <p:spPr>
            <a:xfrm>
              <a:off x="6813667" y="3911026"/>
              <a:ext cx="36195" cy="35560"/>
            </a:xfrm>
            <a:custGeom>
              <a:avLst/>
              <a:gdLst/>
              <a:ahLst/>
              <a:cxnLst/>
              <a:rect l="l" t="t" r="r" b="b"/>
              <a:pathLst>
                <a:path w="36195" h="35560">
                  <a:moveTo>
                    <a:pt x="18683" y="0"/>
                  </a:moveTo>
                  <a:lnTo>
                    <a:pt x="925" y="14253"/>
                  </a:lnTo>
                  <a:lnTo>
                    <a:pt x="0" y="22628"/>
                  </a:lnTo>
                  <a:lnTo>
                    <a:pt x="9157" y="34111"/>
                  </a:lnTo>
                  <a:lnTo>
                    <a:pt x="17506" y="35038"/>
                  </a:lnTo>
                  <a:lnTo>
                    <a:pt x="35264" y="20784"/>
                  </a:lnTo>
                  <a:lnTo>
                    <a:pt x="36189" y="12409"/>
                  </a:lnTo>
                  <a:lnTo>
                    <a:pt x="27031" y="927"/>
                  </a:lnTo>
                  <a:lnTo>
                    <a:pt x="18683" y="0"/>
                  </a:lnTo>
                  <a:close/>
                </a:path>
              </a:pathLst>
            </a:custGeom>
            <a:solidFill>
              <a:srgbClr val="000000"/>
            </a:solid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49"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2.1.2 k-modes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 </a:t>
            </a: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解决</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数据敏感的问题</a:t>
            </a:r>
          </a:p>
        </p:txBody>
      </p:sp>
    </p:spTree>
    <p:extLst>
      <p:ext uri="{BB962C8B-B14F-4D97-AF65-F5344CB8AC3E}">
        <p14:creationId xmlns:p14="http://schemas.microsoft.com/office/powerpoint/2010/main" val="1973843050"/>
      </p:ext>
    </p:extLst>
  </p:cSld>
  <p:clrMapOvr>
    <a:masterClrMapping/>
  </p:clrMapOvr>
  <p:transition spd="med">
    <p:split orient="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252000" y="764704"/>
            <a:ext cx="8640000" cy="3111814"/>
          </a:xfrm>
          <a:prstGeom prst="rect">
            <a:avLst/>
          </a:prstGeom>
          <a:noFill/>
        </p:spPr>
        <p:txBody>
          <a:bodyPr wrap="square">
            <a:spAutoFit/>
          </a:bodyPr>
          <a:lstStyle/>
          <a:p>
            <a:pPr marL="360000"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基本原理</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35000"/>
              </a:lnSpc>
              <a:spcBef>
                <a:spcPts val="600"/>
              </a:spcBef>
              <a:spcAft>
                <a:spcPct val="0"/>
              </a:spcAft>
              <a:buSzPct val="100000"/>
              <a:buFont typeface="+mj-ea"/>
              <a:buAutoNum type="circleNumDbPlain"/>
            </a:pP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从</a:t>
            </a:r>
            <a:r>
              <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rPr>
              <a:t>输入的数据点集合中随机选择一个点作为第一个</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聚类中心</a:t>
            </a:r>
            <a:endPar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35000"/>
              </a:lnSpc>
              <a:spcBef>
                <a:spcPts val="600"/>
              </a:spcBef>
              <a:spcAft>
                <a:spcPct val="0"/>
              </a:spcAft>
              <a:buSzPct val="100000"/>
              <a:buFont typeface="+mj-ea"/>
              <a:buAutoNum type="circleNumDbPlain"/>
            </a:pP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对于</a:t>
            </a:r>
            <a:r>
              <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rPr>
              <a:t>数据集中的每一</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个点</a:t>
            </a:r>
            <a:r>
              <a:rPr lang="en-US" altLang="zh-CN" sz="2100" dirty="0">
                <a:latin typeface="Times New Roman" panose="02020603050405020304" pitchFamily="18" charset="0"/>
                <a:ea typeface="微软雅黑" panose="020B0503020204020204" pitchFamily="34" charset="-122"/>
                <a:cs typeface="+mn-ea"/>
                <a:sym typeface="Times New Roman" panose="02020603050405020304" pitchFamily="18" charset="0"/>
              </a:rPr>
              <a:t>X</a:t>
            </a:r>
            <a:r>
              <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rPr>
              <a:t>，计算其与聚类中心</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的距离</a:t>
            </a:r>
            <a:r>
              <a:rPr lang="en-US" altLang="zh-CN" sz="210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100">
                <a:latin typeface="Times New Roman" panose="02020603050405020304" pitchFamily="18" charset="0"/>
                <a:ea typeface="微软雅黑" panose="020B0503020204020204" pitchFamily="34" charset="-122"/>
                <a:cs typeface="+mn-ea"/>
                <a:sym typeface="Times New Roman" panose="02020603050405020304" pitchFamily="18" charset="0"/>
              </a:rPr>
              <a:t>X</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35000"/>
              </a:lnSpc>
              <a:spcBef>
                <a:spcPts val="600"/>
              </a:spcBef>
              <a:spcAft>
                <a:spcPct val="0"/>
              </a:spcAft>
              <a:buSzPct val="100000"/>
              <a:buFont typeface="+mj-ea"/>
              <a:buAutoNum type="circleNumDbPlain"/>
            </a:pPr>
            <a:r>
              <a:rPr lang="zh-CN" altLang="en-US" sz="21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选择一个</a:t>
            </a:r>
            <a:r>
              <a:rPr lang="en-US" altLang="zh-CN" sz="21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1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1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X</a:t>
            </a:r>
            <a:r>
              <a:rPr lang="zh-CN" altLang="en-US" sz="21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）最大的点作为新的</a:t>
            </a:r>
            <a:r>
              <a:rPr lang="zh-CN" altLang="en-US" sz="21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聚类中心</a:t>
            </a:r>
            <a:endParaRPr lang="zh-CN" altLang="en-US" sz="21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35000"/>
              </a:lnSpc>
              <a:spcBef>
                <a:spcPts val="600"/>
              </a:spcBef>
              <a:spcAft>
                <a:spcPct val="0"/>
              </a:spcAft>
              <a:buSzPct val="100000"/>
              <a:buFont typeface="+mj-ea"/>
              <a:buAutoNum type="circleNumDbPlain"/>
            </a:pP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重复</a:t>
            </a:r>
            <a:r>
              <a:rPr lang="en-US" altLang="zh-CN" sz="2100">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100" dirty="0">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步直到</a:t>
            </a:r>
            <a:r>
              <a:rPr lang="en-US" altLang="zh-CN" sz="21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rPr>
              <a:t>个聚类中心</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被选出</a:t>
            </a:r>
            <a:endPar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35000"/>
              </a:lnSpc>
              <a:spcBef>
                <a:spcPts val="600"/>
              </a:spcBef>
              <a:spcAft>
                <a:spcPct val="0"/>
              </a:spcAft>
              <a:buSzPct val="100000"/>
              <a:buFont typeface="+mj-ea"/>
              <a:buAutoNum type="circleNumDbPlain"/>
            </a:pP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利用</a:t>
            </a:r>
            <a:r>
              <a:rPr lang="en-US" altLang="zh-CN" sz="21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rPr>
              <a:t>个初始聚类</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中心运行</a:t>
            </a:r>
            <a:r>
              <a:rPr lang="en-US" altLang="zh-CN" sz="2100" dirty="0">
                <a:latin typeface="Times New Roman" panose="02020603050405020304" pitchFamily="18" charset="0"/>
                <a:ea typeface="微软雅黑" panose="020B0503020204020204" pitchFamily="34" charset="-122"/>
                <a:cs typeface="+mn-ea"/>
                <a:sym typeface="Times New Roman" panose="02020603050405020304" pitchFamily="18" charset="0"/>
              </a:rPr>
              <a:t>K-Means</a:t>
            </a:r>
            <a:endPar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标题 3"/>
          <p:cNvSpPr>
            <a:spLocks noGrp="1"/>
          </p:cNvSpPr>
          <p:nvPr>
            <p:ph type="title" idx="4294967295"/>
          </p:nvPr>
        </p:nvSpPr>
        <p:spPr>
          <a:xfrm>
            <a:off x="755576" y="108000"/>
            <a:ext cx="7300913"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2.1.3 KMeans++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 </a:t>
            </a: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解决</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初始点选择问题</a:t>
            </a:r>
          </a:p>
        </p:txBody>
      </p:sp>
      <p:pic>
        <p:nvPicPr>
          <p:cNvPr id="2560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7744" y="4005065"/>
            <a:ext cx="4271986" cy="2282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2845197"/>
      </p:ext>
    </p:extLst>
  </p:cSld>
  <p:clrMapOvr>
    <a:masterClrMapping/>
  </p:clrMapOvr>
  <p:transition spd="med">
    <p:split orient="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252000" y="764704"/>
            <a:ext cx="8640000" cy="3111814"/>
          </a:xfrm>
          <a:prstGeom prst="rect">
            <a:avLst/>
          </a:prstGeom>
          <a:noFill/>
        </p:spPr>
        <p:txBody>
          <a:bodyPr wrap="square">
            <a:spAutoFit/>
          </a:bodyPr>
          <a:lstStyle/>
          <a:p>
            <a:pPr marL="360000"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基本原理</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35000"/>
              </a:lnSpc>
              <a:spcBef>
                <a:spcPts val="600"/>
              </a:spcBef>
              <a:spcAft>
                <a:spcPct val="0"/>
              </a:spcAft>
              <a:buSzPct val="100000"/>
              <a:buFont typeface="+mj-ea"/>
              <a:buAutoNum type="circleNumDbPlain"/>
            </a:pP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从</a:t>
            </a:r>
            <a:r>
              <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rPr>
              <a:t>输入的数据点集合中随机选择一个点作为第一个</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聚类中心</a:t>
            </a:r>
            <a:endPar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35000"/>
              </a:lnSpc>
              <a:spcBef>
                <a:spcPts val="600"/>
              </a:spcBef>
              <a:spcAft>
                <a:spcPct val="0"/>
              </a:spcAft>
              <a:buSzPct val="100000"/>
              <a:buFont typeface="+mj-ea"/>
              <a:buAutoNum type="circleNumDbPlain"/>
            </a:pP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对于</a:t>
            </a:r>
            <a:r>
              <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rPr>
              <a:t>数据集中的每一</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个点</a:t>
            </a:r>
            <a:r>
              <a:rPr lang="en-US" altLang="zh-CN" sz="2100" dirty="0">
                <a:latin typeface="Times New Roman" panose="02020603050405020304" pitchFamily="18" charset="0"/>
                <a:ea typeface="微软雅黑" panose="020B0503020204020204" pitchFamily="34" charset="-122"/>
                <a:cs typeface="+mn-ea"/>
                <a:sym typeface="Times New Roman" panose="02020603050405020304" pitchFamily="18" charset="0"/>
              </a:rPr>
              <a:t>X</a:t>
            </a:r>
            <a:r>
              <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rPr>
              <a:t>，计算其与聚类中心</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的距离</a:t>
            </a:r>
            <a:r>
              <a:rPr lang="en-US" altLang="zh-CN" sz="210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100">
                <a:latin typeface="Times New Roman" panose="02020603050405020304" pitchFamily="18" charset="0"/>
                <a:ea typeface="微软雅黑" panose="020B0503020204020204" pitchFamily="34" charset="-122"/>
                <a:cs typeface="+mn-ea"/>
                <a:sym typeface="Times New Roman" panose="02020603050405020304" pitchFamily="18" charset="0"/>
              </a:rPr>
              <a:t>X</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35000"/>
              </a:lnSpc>
              <a:spcBef>
                <a:spcPts val="600"/>
              </a:spcBef>
              <a:spcAft>
                <a:spcPct val="0"/>
              </a:spcAft>
              <a:buSzPct val="100000"/>
              <a:buFont typeface="+mj-ea"/>
              <a:buAutoNum type="circleNumDbPlain"/>
            </a:pPr>
            <a:r>
              <a:rPr lang="zh-CN" altLang="en-US" sz="21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选择一个</a:t>
            </a:r>
            <a:r>
              <a:rPr lang="en-US" altLang="zh-CN" sz="21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1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1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X</a:t>
            </a:r>
            <a:r>
              <a:rPr lang="zh-CN" altLang="en-US" sz="21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）最大的点作为新的</a:t>
            </a:r>
            <a:r>
              <a:rPr lang="zh-CN" altLang="en-US" sz="21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聚类中心</a:t>
            </a:r>
            <a:endParaRPr lang="zh-CN" altLang="en-US" sz="21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35000"/>
              </a:lnSpc>
              <a:spcBef>
                <a:spcPts val="600"/>
              </a:spcBef>
              <a:spcAft>
                <a:spcPct val="0"/>
              </a:spcAft>
              <a:buSzPct val="100000"/>
              <a:buFont typeface="+mj-ea"/>
              <a:buAutoNum type="circleNumDbPlain"/>
            </a:pP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重复</a:t>
            </a:r>
            <a:r>
              <a:rPr lang="en-US" altLang="zh-CN" sz="2100">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100" dirty="0">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步直到</a:t>
            </a:r>
            <a:r>
              <a:rPr lang="en-US" altLang="zh-CN" sz="21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rPr>
              <a:t>个聚类中心</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被选出</a:t>
            </a:r>
            <a:endPar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35000"/>
              </a:lnSpc>
              <a:spcBef>
                <a:spcPts val="600"/>
              </a:spcBef>
              <a:spcAft>
                <a:spcPct val="0"/>
              </a:spcAft>
              <a:buSzPct val="100000"/>
              <a:buFont typeface="+mj-ea"/>
              <a:buAutoNum type="circleNumDbPlain"/>
            </a:pP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利用</a:t>
            </a:r>
            <a:r>
              <a:rPr lang="en-US" altLang="zh-CN" sz="21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rPr>
              <a:t>个初始聚类</a:t>
            </a:r>
            <a:r>
              <a:rPr lang="zh-CN" altLang="en-US" sz="2100">
                <a:latin typeface="Times New Roman" panose="02020603050405020304" pitchFamily="18" charset="0"/>
                <a:ea typeface="微软雅黑" panose="020B0503020204020204" pitchFamily="34" charset="-122"/>
                <a:cs typeface="+mn-ea"/>
                <a:sym typeface="Times New Roman" panose="02020603050405020304" pitchFamily="18" charset="0"/>
              </a:rPr>
              <a:t>中心运行</a:t>
            </a:r>
            <a:r>
              <a:rPr lang="en-US" altLang="zh-CN" sz="2100" dirty="0">
                <a:latin typeface="Times New Roman" panose="02020603050405020304" pitchFamily="18" charset="0"/>
                <a:ea typeface="微软雅黑" panose="020B0503020204020204" pitchFamily="34" charset="-122"/>
                <a:cs typeface="+mn-ea"/>
                <a:sym typeface="Times New Roman" panose="02020603050405020304" pitchFamily="18" charset="0"/>
              </a:rPr>
              <a:t>K-Means</a:t>
            </a:r>
            <a:endParaRPr lang="zh-CN" altLang="en-US" sz="21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标题 3"/>
          <p:cNvSpPr>
            <a:spLocks noGrp="1"/>
          </p:cNvSpPr>
          <p:nvPr>
            <p:ph type="title" idx="4294967295"/>
          </p:nvPr>
        </p:nvSpPr>
        <p:spPr>
          <a:xfrm>
            <a:off x="755576" y="108000"/>
            <a:ext cx="7300913"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2.1.3 KMeans++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 </a:t>
            </a: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解决</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初始点选择问题</a:t>
            </a:r>
          </a:p>
        </p:txBody>
      </p:sp>
      <p:pic>
        <p:nvPicPr>
          <p:cNvPr id="2560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7744" y="4005065"/>
            <a:ext cx="4271986" cy="2282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D45C3F18-B95B-4F57-A85D-1ED42DE3E0CB}"/>
              </a:ext>
            </a:extLst>
          </p:cNvPr>
          <p:cNvSpPr txBox="1"/>
          <p:nvPr/>
        </p:nvSpPr>
        <p:spPr>
          <a:xfrm>
            <a:off x="1187624" y="6351711"/>
            <a:ext cx="6768752" cy="461665"/>
          </a:xfrm>
          <a:prstGeom prst="rect">
            <a:avLst/>
          </a:prstGeom>
          <a:noFill/>
        </p:spPr>
        <p:txBody>
          <a:bodyPr wrap="square" rtlCol="0">
            <a:spAutoFit/>
          </a:bodyPr>
          <a:lstStyle/>
          <a:p>
            <a:pPr algn="ct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尽可能选择距离远的点来作为初始种子节点</a:t>
            </a:r>
          </a:p>
        </p:txBody>
      </p:sp>
    </p:spTree>
    <p:extLst>
      <p:ext uri="{BB962C8B-B14F-4D97-AF65-F5344CB8AC3E}">
        <p14:creationId xmlns:p14="http://schemas.microsoft.com/office/powerpoint/2010/main" val="152467532"/>
      </p:ext>
    </p:extLst>
  </p:cSld>
  <p:clrMapOvr>
    <a:masterClrMapping/>
  </p:clrMapOvr>
  <p:transition spd="med">
    <p:split orient="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3">
            <a:extLst>
              <a:ext uri="{FF2B5EF4-FFF2-40B4-BE49-F238E27FC236}">
                <a16:creationId xmlns:a16="http://schemas.microsoft.com/office/drawing/2014/main" id="{44BD808A-38D1-46DC-AFD8-46761E2108BD}"/>
              </a:ext>
            </a:extLst>
          </p:cNvPr>
          <p:cNvSpPr txBox="1">
            <a:spLocks/>
          </p:cNvSpPr>
          <p:nvPr/>
        </p:nvSpPr>
        <p:spPr>
          <a:xfrm>
            <a:off x="755576" y="108000"/>
            <a:ext cx="7300913"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2.1.3 KMeans++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 </a:t>
            </a: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解决初始点选择问题</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9" name="内容占位符 1">
            <a:extLst>
              <a:ext uri="{FF2B5EF4-FFF2-40B4-BE49-F238E27FC236}">
                <a16:creationId xmlns:a16="http://schemas.microsoft.com/office/drawing/2014/main" id="{F150277F-A1EA-43C9-A1B2-8E973BF3B5AB}"/>
              </a:ext>
            </a:extLst>
          </p:cNvPr>
          <p:cNvSpPr txBox="1">
            <a:spLocks/>
          </p:cNvSpPr>
          <p:nvPr/>
        </p:nvSpPr>
        <p:spPr>
          <a:xfrm>
            <a:off x="251520" y="756000"/>
            <a:ext cx="8229600" cy="461665"/>
          </a:xfrm>
          <a:prstGeom prst="rect">
            <a:avLst/>
          </a:prstGeom>
        </p:spPr>
        <p:txBody>
          <a:bodyP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altLang="zh-CN" sz="2400" b="1">
                <a:latin typeface="Times New Roman" panose="02020603050405020304" pitchFamily="18" charset="0"/>
                <a:ea typeface="微软雅黑" panose="020B0503020204020204" pitchFamily="34" charset="-122"/>
                <a:sym typeface="Times New Roman" panose="02020603050405020304" pitchFamily="18" charset="0"/>
              </a:rPr>
              <a:t>5. </a:t>
            </a:r>
            <a:r>
              <a:rPr lang="zh-CN" altLang="en-US" sz="2400" b="1">
                <a:latin typeface="Times New Roman" panose="02020603050405020304" pitchFamily="18" charset="0"/>
                <a:ea typeface="微软雅黑" panose="020B0503020204020204" pitchFamily="34" charset="-122"/>
                <a:sym typeface="Times New Roman" panose="02020603050405020304" pitchFamily="18" charset="0"/>
              </a:rPr>
              <a:t>随机初始种子的影响</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10" name="图片 9">
            <a:extLst>
              <a:ext uri="{FF2B5EF4-FFF2-40B4-BE49-F238E27FC236}">
                <a16:creationId xmlns:a16="http://schemas.microsoft.com/office/drawing/2014/main" id="{C1136684-2C87-43C6-B7B1-D7393158E0E9}"/>
              </a:ext>
            </a:extLst>
          </p:cNvPr>
          <p:cNvPicPr>
            <a:picLocks noChangeAspect="1"/>
          </p:cNvPicPr>
          <p:nvPr/>
        </p:nvPicPr>
        <p:blipFill>
          <a:blip r:embed="rId2"/>
          <a:stretch>
            <a:fillRect/>
          </a:stretch>
        </p:blipFill>
        <p:spPr>
          <a:xfrm>
            <a:off x="931800" y="1373222"/>
            <a:ext cx="7280401" cy="5152122"/>
          </a:xfrm>
          <a:prstGeom prst="rect">
            <a:avLst/>
          </a:prstGeom>
        </p:spPr>
      </p:pic>
      <p:pic>
        <p:nvPicPr>
          <p:cNvPr id="11" name="图片 10">
            <a:extLst>
              <a:ext uri="{FF2B5EF4-FFF2-40B4-BE49-F238E27FC236}">
                <a16:creationId xmlns:a16="http://schemas.microsoft.com/office/drawing/2014/main" id="{3CF38A44-7199-4923-A49F-F8F9F906CD92}"/>
              </a:ext>
            </a:extLst>
          </p:cNvPr>
          <p:cNvPicPr>
            <a:picLocks noChangeAspect="1"/>
          </p:cNvPicPr>
          <p:nvPr/>
        </p:nvPicPr>
        <p:blipFill>
          <a:blip r:embed="rId3"/>
          <a:stretch>
            <a:fillRect/>
          </a:stretch>
        </p:blipFill>
        <p:spPr>
          <a:xfrm>
            <a:off x="75230" y="2060848"/>
            <a:ext cx="9031720" cy="3528392"/>
          </a:xfrm>
          <a:prstGeom prst="rect">
            <a:avLst/>
          </a:prstGeom>
        </p:spPr>
      </p:pic>
    </p:spTree>
    <p:extLst>
      <p:ext uri="{BB962C8B-B14F-4D97-AF65-F5344CB8AC3E}">
        <p14:creationId xmlns:p14="http://schemas.microsoft.com/office/powerpoint/2010/main" val="2138897005"/>
      </p:ext>
    </p:extLst>
  </p:cSld>
  <p:clrMapOvr>
    <a:masterClrMapping/>
  </p:clrMapOvr>
  <p:transition spd="med">
    <p:split orient="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3">
            <a:extLst>
              <a:ext uri="{FF2B5EF4-FFF2-40B4-BE49-F238E27FC236}">
                <a16:creationId xmlns:a16="http://schemas.microsoft.com/office/drawing/2014/main" id="{44BD808A-38D1-46DC-AFD8-46761E2108BD}"/>
              </a:ext>
            </a:extLst>
          </p:cNvPr>
          <p:cNvSpPr txBox="1">
            <a:spLocks/>
          </p:cNvSpPr>
          <p:nvPr/>
        </p:nvSpPr>
        <p:spPr>
          <a:xfrm>
            <a:off x="755576" y="108000"/>
            <a:ext cx="7300913"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2.1.3 KMeans++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 </a:t>
            </a: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解决初始点选择问题</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9" name="内容占位符 1">
            <a:extLst>
              <a:ext uri="{FF2B5EF4-FFF2-40B4-BE49-F238E27FC236}">
                <a16:creationId xmlns:a16="http://schemas.microsoft.com/office/drawing/2014/main" id="{F150277F-A1EA-43C9-A1B2-8E973BF3B5AB}"/>
              </a:ext>
            </a:extLst>
          </p:cNvPr>
          <p:cNvSpPr txBox="1">
            <a:spLocks/>
          </p:cNvSpPr>
          <p:nvPr/>
        </p:nvSpPr>
        <p:spPr>
          <a:xfrm>
            <a:off x="251520" y="756000"/>
            <a:ext cx="8229600" cy="461665"/>
          </a:xfrm>
          <a:prstGeom prst="rect">
            <a:avLst/>
          </a:prstGeom>
        </p:spPr>
        <p:txBody>
          <a:bodyP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altLang="zh-CN" sz="2400" b="1">
                <a:latin typeface="Times New Roman" panose="02020603050405020304" pitchFamily="18" charset="0"/>
                <a:ea typeface="微软雅黑" panose="020B0503020204020204" pitchFamily="34" charset="-122"/>
                <a:sym typeface="Times New Roman" panose="02020603050405020304" pitchFamily="18" charset="0"/>
              </a:rPr>
              <a:t>5. </a:t>
            </a:r>
            <a:r>
              <a:rPr lang="zh-CN" altLang="en-US" sz="2400" b="1">
                <a:latin typeface="Times New Roman" panose="02020603050405020304" pitchFamily="18" charset="0"/>
                <a:ea typeface="微软雅黑" panose="020B0503020204020204" pitchFamily="34" charset="-122"/>
                <a:sym typeface="Times New Roman" panose="02020603050405020304" pitchFamily="18" charset="0"/>
              </a:rPr>
              <a:t>随机初始种子的影响</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10" name="图片 9">
            <a:extLst>
              <a:ext uri="{FF2B5EF4-FFF2-40B4-BE49-F238E27FC236}">
                <a16:creationId xmlns:a16="http://schemas.microsoft.com/office/drawing/2014/main" id="{C1136684-2C87-43C6-B7B1-D7393158E0E9}"/>
              </a:ext>
            </a:extLst>
          </p:cNvPr>
          <p:cNvPicPr>
            <a:picLocks noChangeAspect="1"/>
          </p:cNvPicPr>
          <p:nvPr/>
        </p:nvPicPr>
        <p:blipFill>
          <a:blip r:embed="rId2"/>
          <a:stretch>
            <a:fillRect/>
          </a:stretch>
        </p:blipFill>
        <p:spPr>
          <a:xfrm>
            <a:off x="931800" y="1373222"/>
            <a:ext cx="7280401" cy="5152122"/>
          </a:xfrm>
          <a:prstGeom prst="rect">
            <a:avLst/>
          </a:prstGeom>
        </p:spPr>
      </p:pic>
      <p:pic>
        <p:nvPicPr>
          <p:cNvPr id="11" name="图片 10">
            <a:extLst>
              <a:ext uri="{FF2B5EF4-FFF2-40B4-BE49-F238E27FC236}">
                <a16:creationId xmlns:a16="http://schemas.microsoft.com/office/drawing/2014/main" id="{3CF38A44-7199-4923-A49F-F8F9F906CD92}"/>
              </a:ext>
            </a:extLst>
          </p:cNvPr>
          <p:cNvPicPr>
            <a:picLocks noChangeAspect="1"/>
          </p:cNvPicPr>
          <p:nvPr/>
        </p:nvPicPr>
        <p:blipFill>
          <a:blip r:embed="rId3"/>
          <a:stretch>
            <a:fillRect/>
          </a:stretch>
        </p:blipFill>
        <p:spPr>
          <a:xfrm>
            <a:off x="75230" y="2060848"/>
            <a:ext cx="9031720" cy="3528392"/>
          </a:xfrm>
          <a:prstGeom prst="rect">
            <a:avLst/>
          </a:prstGeom>
        </p:spPr>
      </p:pic>
      <p:pic>
        <p:nvPicPr>
          <p:cNvPr id="6" name="图片 5">
            <a:extLst>
              <a:ext uri="{FF2B5EF4-FFF2-40B4-BE49-F238E27FC236}">
                <a16:creationId xmlns:a16="http://schemas.microsoft.com/office/drawing/2014/main" id="{373B4C63-1114-49EF-B0B3-5A01B75FBD4F}"/>
              </a:ext>
            </a:extLst>
          </p:cNvPr>
          <p:cNvPicPr>
            <a:picLocks noChangeAspect="1"/>
          </p:cNvPicPr>
          <p:nvPr/>
        </p:nvPicPr>
        <p:blipFill>
          <a:blip r:embed="rId4"/>
          <a:stretch>
            <a:fillRect/>
          </a:stretch>
        </p:blipFill>
        <p:spPr>
          <a:xfrm>
            <a:off x="75230" y="1980732"/>
            <a:ext cx="9031720" cy="4616620"/>
          </a:xfrm>
          <a:prstGeom prst="rect">
            <a:avLst/>
          </a:prstGeom>
        </p:spPr>
      </p:pic>
    </p:spTree>
    <p:extLst>
      <p:ext uri="{BB962C8B-B14F-4D97-AF65-F5344CB8AC3E}">
        <p14:creationId xmlns:p14="http://schemas.microsoft.com/office/powerpoint/2010/main" val="278745949"/>
      </p:ext>
    </p:extLst>
  </p:cSld>
  <p:clrMapOvr>
    <a:masterClrMapping/>
  </p:clrMapOvr>
  <p:transition spd="med">
    <p:split orient="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custDataLst>
              <p:tags r:id="rId1"/>
            </p:custDataLst>
          </p:nvPr>
        </p:nvSpPr>
        <p:spPr>
          <a:xfrm>
            <a:off x="540000" y="756000"/>
            <a:ext cx="7315200" cy="580865"/>
          </a:xfrm>
          <a:prstGeom prst="rect">
            <a:avLst/>
          </a:prstGeom>
          <a:noFill/>
        </p:spPr>
        <p:txBody>
          <a:bodyPr vert="horz" wrap="square" rtlCol="0" anchor="ctr" anchorCtr="0">
            <a:spAutoFit/>
          </a:bodyPr>
          <a:lstStyle/>
          <a:p>
            <a:pPr>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一维空间的</a:t>
            </a:r>
            <a:r>
              <a:rPr lang="en-US" altLang="zh-CN"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7</a:t>
            </a:r>
            <a:r>
              <a:rPr lang="zh-CN" altLang="en-US"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个点  </a:t>
            </a:r>
            <a:r>
              <a:rPr lang="en-US" altLang="zh-CN"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2   3   8   9   10   25</a:t>
            </a:r>
            <a:endParaRPr lang="zh-CN" altLang="en-US"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矩形 16"/>
          <p:cNvSpPr/>
          <p:nvPr/>
        </p:nvSpPr>
        <p:spPr bwMode="auto">
          <a:xfrm>
            <a:off x="5406859" y="850430"/>
            <a:ext cx="504000" cy="504000"/>
          </a:xfrm>
          <a:prstGeom prst="rect">
            <a:avLst/>
          </a:prstGeom>
          <a:noFill/>
          <a:ln w="19050" cap="flat" cmpd="sng" algn="ctr">
            <a:solidFill>
              <a:srgbClr val="FF67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extBox 17"/>
          <p:cNvSpPr txBox="1"/>
          <p:nvPr/>
        </p:nvSpPr>
        <p:spPr>
          <a:xfrm>
            <a:off x="6029870" y="902375"/>
            <a:ext cx="1008112" cy="400110"/>
          </a:xfrm>
          <a:prstGeom prst="rect">
            <a:avLst/>
          </a:prstGeom>
          <a:noFill/>
        </p:spPr>
        <p:txBody>
          <a:bodyPr wrap="square" rtlCol="0">
            <a:spAutoFit/>
          </a:bodyPr>
          <a:lstStyle/>
          <a:p>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离群点</a:t>
            </a:r>
          </a:p>
        </p:txBody>
      </p:sp>
      <p:sp>
        <p:nvSpPr>
          <p:cNvPr id="20" name="标题 1">
            <a:extLst>
              <a:ext uri="{FF2B5EF4-FFF2-40B4-BE49-F238E27FC236}">
                <a16:creationId xmlns:a16="http://schemas.microsoft.com/office/drawing/2014/main" id="{444630EE-6F6F-4EFF-B6BE-AA75FC9BE2A9}"/>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中心点方法解决对离群点敏感问题</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2777335507"/>
      </p:ext>
    </p:extLst>
  </p:cSld>
  <p:clrMapOvr>
    <a:masterClrMapping/>
  </p:clrMapOvr>
  <p:transition spd="med">
    <p:split orient="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custDataLst>
              <p:tags r:id="rId1"/>
            </p:custDataLst>
          </p:nvPr>
        </p:nvSpPr>
        <p:spPr>
          <a:xfrm>
            <a:off x="540000" y="756000"/>
            <a:ext cx="7315200" cy="580865"/>
          </a:xfrm>
          <a:prstGeom prst="rect">
            <a:avLst/>
          </a:prstGeom>
          <a:noFill/>
        </p:spPr>
        <p:txBody>
          <a:bodyPr vert="horz" wrap="square" rtlCol="0" anchor="ctr" anchorCtr="0">
            <a:spAutoFit/>
          </a:bodyPr>
          <a:lstStyle/>
          <a:p>
            <a:pPr>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一维空间的</a:t>
            </a:r>
            <a:r>
              <a:rPr lang="en-US" altLang="zh-CN"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7</a:t>
            </a:r>
            <a:r>
              <a:rPr lang="zh-CN" altLang="en-US"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个点  </a:t>
            </a:r>
            <a:r>
              <a:rPr lang="en-US" altLang="zh-CN"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2   3   8   9   10   25</a:t>
            </a:r>
            <a:endParaRPr lang="zh-CN" altLang="en-US"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矩形 16"/>
          <p:cNvSpPr/>
          <p:nvPr/>
        </p:nvSpPr>
        <p:spPr bwMode="auto">
          <a:xfrm>
            <a:off x="5406859" y="850430"/>
            <a:ext cx="504000" cy="504000"/>
          </a:xfrm>
          <a:prstGeom prst="rect">
            <a:avLst/>
          </a:prstGeom>
          <a:noFill/>
          <a:ln w="19050" cap="flat" cmpd="sng" algn="ctr">
            <a:solidFill>
              <a:srgbClr val="FF67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extBox 17"/>
          <p:cNvSpPr txBox="1"/>
          <p:nvPr/>
        </p:nvSpPr>
        <p:spPr>
          <a:xfrm>
            <a:off x="6029870" y="902375"/>
            <a:ext cx="1008112" cy="400110"/>
          </a:xfrm>
          <a:prstGeom prst="rect">
            <a:avLst/>
          </a:prstGeom>
          <a:noFill/>
        </p:spPr>
        <p:txBody>
          <a:bodyPr wrap="square" rtlCol="0">
            <a:spAutoFit/>
          </a:bodyPr>
          <a:lstStyle/>
          <a:p>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离群点</a:t>
            </a:r>
          </a:p>
        </p:txBody>
      </p:sp>
      <p:sp>
        <p:nvSpPr>
          <p:cNvPr id="3" name="TextBox 2"/>
          <p:cNvSpPr txBox="1"/>
          <p:nvPr/>
        </p:nvSpPr>
        <p:spPr>
          <a:xfrm>
            <a:off x="540000" y="1484784"/>
            <a:ext cx="7704408" cy="580865"/>
          </a:xfrm>
          <a:prstGeom prst="rect">
            <a:avLst/>
          </a:prstGeom>
          <a:noFill/>
        </p:spPr>
        <p:txBody>
          <a:bodyPr wrap="square" rtlCol="0">
            <a:spAutoFit/>
          </a:bodyPr>
          <a:lstStyle/>
          <a:p>
            <a:pPr>
              <a:lnSpc>
                <a:spcPct val="150000"/>
              </a:lnSpc>
            </a:pP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设置</a:t>
            </a:r>
            <a:r>
              <a:rPr lang="en-US" altLang="zh-CN"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k=2</a:t>
            </a: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，直觉应该</a:t>
            </a:r>
            <a:r>
              <a:rPr lang="zh-CN" altLang="en-US" sz="24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划分为 </a:t>
            </a:r>
            <a:r>
              <a:rPr lang="en-US" altLang="zh-CN" sz="24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(1,2,3) (8,9,10,25) </a:t>
            </a:r>
            <a:r>
              <a:rPr lang="zh-CN" altLang="en-US" sz="24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两</a:t>
            </a: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个类别</a:t>
            </a:r>
          </a:p>
        </p:txBody>
      </p:sp>
      <p:sp>
        <p:nvSpPr>
          <p:cNvPr id="20" name="标题 1">
            <a:extLst>
              <a:ext uri="{FF2B5EF4-FFF2-40B4-BE49-F238E27FC236}">
                <a16:creationId xmlns:a16="http://schemas.microsoft.com/office/drawing/2014/main" id="{444630EE-6F6F-4EFF-B6BE-AA75FC9BE2A9}"/>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中心点方法解决对离群点敏感问题</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819385083"/>
      </p:ext>
    </p:extLst>
  </p:cSld>
  <p:clrMapOvr>
    <a:masterClrMapping/>
  </p:clrMapOvr>
  <p:transition spd="med">
    <p:split orient="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custDataLst>
              <p:tags r:id="rId1"/>
            </p:custDataLst>
          </p:nvPr>
        </p:nvSpPr>
        <p:spPr>
          <a:xfrm>
            <a:off x="540000" y="756000"/>
            <a:ext cx="7315200" cy="580865"/>
          </a:xfrm>
          <a:prstGeom prst="rect">
            <a:avLst/>
          </a:prstGeom>
          <a:noFill/>
        </p:spPr>
        <p:txBody>
          <a:bodyPr vert="horz" wrap="square" rtlCol="0" anchor="ctr" anchorCtr="0">
            <a:spAutoFit/>
          </a:bodyPr>
          <a:lstStyle/>
          <a:p>
            <a:pPr>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一维空间的</a:t>
            </a:r>
            <a:r>
              <a:rPr lang="en-US" altLang="zh-CN"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7</a:t>
            </a:r>
            <a:r>
              <a:rPr lang="zh-CN" altLang="en-US"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个点  </a:t>
            </a:r>
            <a:r>
              <a:rPr lang="en-US" altLang="zh-CN"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2   3   8   9   10   25</a:t>
            </a:r>
            <a:endParaRPr lang="zh-CN" altLang="en-US"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矩形 16"/>
          <p:cNvSpPr/>
          <p:nvPr/>
        </p:nvSpPr>
        <p:spPr bwMode="auto">
          <a:xfrm>
            <a:off x="5406859" y="850430"/>
            <a:ext cx="504000" cy="504000"/>
          </a:xfrm>
          <a:prstGeom prst="rect">
            <a:avLst/>
          </a:prstGeom>
          <a:noFill/>
          <a:ln w="19050" cap="flat" cmpd="sng" algn="ctr">
            <a:solidFill>
              <a:srgbClr val="FF67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extBox 17"/>
          <p:cNvSpPr txBox="1"/>
          <p:nvPr/>
        </p:nvSpPr>
        <p:spPr>
          <a:xfrm>
            <a:off x="6029870" y="902375"/>
            <a:ext cx="1008112" cy="400110"/>
          </a:xfrm>
          <a:prstGeom prst="rect">
            <a:avLst/>
          </a:prstGeom>
          <a:noFill/>
        </p:spPr>
        <p:txBody>
          <a:bodyPr wrap="square" rtlCol="0">
            <a:spAutoFit/>
          </a:bodyPr>
          <a:lstStyle/>
          <a:p>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离群点</a:t>
            </a:r>
          </a:p>
        </p:txBody>
      </p:sp>
      <p:sp>
        <p:nvSpPr>
          <p:cNvPr id="3" name="TextBox 2"/>
          <p:cNvSpPr txBox="1"/>
          <p:nvPr/>
        </p:nvSpPr>
        <p:spPr>
          <a:xfrm>
            <a:off x="540000" y="1484784"/>
            <a:ext cx="7704408" cy="580865"/>
          </a:xfrm>
          <a:prstGeom prst="rect">
            <a:avLst/>
          </a:prstGeom>
          <a:noFill/>
        </p:spPr>
        <p:txBody>
          <a:bodyPr wrap="square" rtlCol="0">
            <a:spAutoFit/>
          </a:bodyPr>
          <a:lstStyle/>
          <a:p>
            <a:pPr>
              <a:lnSpc>
                <a:spcPct val="150000"/>
              </a:lnSpc>
            </a:pP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设置</a:t>
            </a:r>
            <a:r>
              <a:rPr lang="en-US" altLang="zh-CN"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k=2</a:t>
            </a: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，直觉应该</a:t>
            </a:r>
            <a:r>
              <a:rPr lang="zh-CN" altLang="en-US" sz="24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划分为 </a:t>
            </a:r>
            <a:r>
              <a:rPr lang="en-US" altLang="zh-CN" sz="24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(1,2,3) (8,9,10,25) </a:t>
            </a:r>
            <a:r>
              <a:rPr lang="zh-CN" altLang="en-US" sz="24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两</a:t>
            </a: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个类别</a:t>
            </a:r>
          </a:p>
        </p:txBody>
      </p:sp>
      <p:sp>
        <p:nvSpPr>
          <p:cNvPr id="14" name="TextBox 13"/>
          <p:cNvSpPr txBox="1"/>
          <p:nvPr/>
        </p:nvSpPr>
        <p:spPr>
          <a:xfrm>
            <a:off x="540000" y="2261639"/>
            <a:ext cx="6638208" cy="580865"/>
          </a:xfrm>
          <a:prstGeom prst="rect">
            <a:avLst/>
          </a:prstGeom>
          <a:noFill/>
        </p:spPr>
        <p:txBody>
          <a:bodyPr wrap="square" rtlCol="0">
            <a:spAutoFit/>
          </a:bodyPr>
          <a:lstStyle>
            <a:defPPr>
              <a:defRPr lang="zh-CN"/>
            </a:defPPr>
            <a:lvl1pPr>
              <a:lnSpc>
                <a:spcPct val="150000"/>
              </a:lnSpc>
              <a:defRPr sz="2400" b="1">
                <a:solidFill>
                  <a:srgbClr val="FF6700"/>
                </a:solidFill>
                <a:latin typeface="Times New Roman" panose="02020603050405020304" pitchFamily="18" charset="0"/>
                <a:ea typeface="微软雅黑" panose="020B0503020204020204" pitchFamily="34" charset="-122"/>
              </a:defRPr>
            </a:lvl1pPr>
          </a:lstStyle>
          <a:p>
            <a:r>
              <a:rPr lang="zh-CN" altLang="en-US" dirty="0">
                <a:sym typeface="Times New Roman" panose="02020603050405020304" pitchFamily="18" charset="0"/>
              </a:rPr>
              <a:t>划分方法聚类质量评价准则：</a:t>
            </a:r>
            <a:r>
              <a:rPr lang="zh-CN" altLang="en-US">
                <a:sym typeface="Times New Roman" panose="02020603050405020304" pitchFamily="18" charset="0"/>
              </a:rPr>
              <a:t>最小化</a:t>
            </a:r>
            <a:r>
              <a:rPr lang="en-US" altLang="zh-CN" dirty="0">
                <a:sym typeface="Times New Roman" panose="02020603050405020304" pitchFamily="18" charset="0"/>
              </a:rPr>
              <a:t>E</a:t>
            </a:r>
            <a:r>
              <a:rPr lang="zh-CN" altLang="en-US" dirty="0">
                <a:sym typeface="Times New Roman" panose="02020603050405020304" pitchFamily="18" charset="0"/>
              </a:rPr>
              <a:t>值</a:t>
            </a:r>
          </a:p>
        </p:txBody>
      </p:sp>
      <p:sp>
        <p:nvSpPr>
          <p:cNvPr id="20" name="标题 1">
            <a:extLst>
              <a:ext uri="{FF2B5EF4-FFF2-40B4-BE49-F238E27FC236}">
                <a16:creationId xmlns:a16="http://schemas.microsoft.com/office/drawing/2014/main" id="{444630EE-6F6F-4EFF-B6BE-AA75FC9BE2A9}"/>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中心点方法解决对离群点敏感问题</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21" name="组合 20">
            <a:extLst>
              <a:ext uri="{FF2B5EF4-FFF2-40B4-BE49-F238E27FC236}">
                <a16:creationId xmlns:a16="http://schemas.microsoft.com/office/drawing/2014/main" id="{E4FD255B-A192-456C-95C8-D8FED5058298}"/>
              </a:ext>
            </a:extLst>
          </p:cNvPr>
          <p:cNvGrpSpPr/>
          <p:nvPr/>
        </p:nvGrpSpPr>
        <p:grpSpPr>
          <a:xfrm>
            <a:off x="3115491" y="3054596"/>
            <a:ext cx="2764155" cy="461645"/>
            <a:chOff x="6590" y="5400"/>
            <a:chExt cx="4353" cy="727"/>
          </a:xfrm>
        </p:grpSpPr>
        <p:sp>
          <p:nvSpPr>
            <p:cNvPr id="22" name="object 4">
              <a:extLst>
                <a:ext uri="{FF2B5EF4-FFF2-40B4-BE49-F238E27FC236}">
                  <a16:creationId xmlns:a16="http://schemas.microsoft.com/office/drawing/2014/main" id="{81AC36A9-0985-474B-BE65-5791A03BA2DA}"/>
                </a:ext>
              </a:extLst>
            </p:cNvPr>
            <p:cNvSpPr txBox="1"/>
            <p:nvPr/>
          </p:nvSpPr>
          <p:spPr>
            <a:xfrm>
              <a:off x="10760" y="5400"/>
              <a:ext cx="183"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spc="30" dirty="0">
                  <a:latin typeface="Times New Roman" panose="02020603050405020304"/>
                  <a:cs typeface="Times New Roman" panose="02020603050405020304"/>
                </a:rPr>
                <a:t>2</a:t>
              </a:r>
              <a:endParaRPr sz="1350">
                <a:latin typeface="Times New Roman" panose="02020603050405020304"/>
                <a:cs typeface="Times New Roman" panose="02020603050405020304"/>
              </a:endParaRPr>
            </a:p>
          </p:txBody>
        </p:sp>
        <p:sp>
          <p:nvSpPr>
            <p:cNvPr id="23" name="object 5">
              <a:extLst>
                <a:ext uri="{FF2B5EF4-FFF2-40B4-BE49-F238E27FC236}">
                  <a16:creationId xmlns:a16="http://schemas.microsoft.com/office/drawing/2014/main" id="{221BD68A-40AF-4C15-A036-2F3006656A98}"/>
                </a:ext>
              </a:extLst>
            </p:cNvPr>
            <p:cNvSpPr txBox="1"/>
            <p:nvPr/>
          </p:nvSpPr>
          <p:spPr>
            <a:xfrm>
              <a:off x="10290" y="5730"/>
              <a:ext cx="120"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i="1" spc="15" dirty="0">
                  <a:latin typeface="Times New Roman" panose="02020603050405020304"/>
                  <a:cs typeface="Times New Roman" panose="02020603050405020304"/>
                </a:rPr>
                <a:t>i</a:t>
              </a:r>
              <a:endParaRPr sz="1350">
                <a:latin typeface="Times New Roman" panose="02020603050405020304"/>
                <a:cs typeface="Times New Roman" panose="02020603050405020304"/>
              </a:endParaRPr>
            </a:p>
          </p:txBody>
        </p:sp>
        <p:sp>
          <p:nvSpPr>
            <p:cNvPr id="24" name="object 6">
              <a:extLst>
                <a:ext uri="{FF2B5EF4-FFF2-40B4-BE49-F238E27FC236}">
                  <a16:creationId xmlns:a16="http://schemas.microsoft.com/office/drawing/2014/main" id="{6A173CC4-F54E-4D75-8362-C4227AB03C72}"/>
                </a:ext>
              </a:extLst>
            </p:cNvPr>
            <p:cNvSpPr txBox="1"/>
            <p:nvPr/>
          </p:nvSpPr>
          <p:spPr>
            <a:xfrm>
              <a:off x="7670" y="5400"/>
              <a:ext cx="168"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i="1" spc="30" dirty="0">
                  <a:latin typeface="Times New Roman" panose="02020603050405020304"/>
                  <a:cs typeface="Times New Roman" panose="02020603050405020304"/>
                </a:rPr>
                <a:t>k</a:t>
              </a:r>
              <a:endParaRPr sz="1350">
                <a:latin typeface="Times New Roman" panose="02020603050405020304"/>
                <a:cs typeface="Times New Roman" panose="02020603050405020304"/>
              </a:endParaRPr>
            </a:p>
          </p:txBody>
        </p:sp>
        <p:sp>
          <p:nvSpPr>
            <p:cNvPr id="25" name="object 7">
              <a:extLst>
                <a:ext uri="{FF2B5EF4-FFF2-40B4-BE49-F238E27FC236}">
                  <a16:creationId xmlns:a16="http://schemas.microsoft.com/office/drawing/2014/main" id="{6B96FC24-3C5C-4255-9852-86B349DC4CFC}"/>
                </a:ext>
              </a:extLst>
            </p:cNvPr>
            <p:cNvSpPr txBox="1"/>
            <p:nvPr/>
          </p:nvSpPr>
          <p:spPr>
            <a:xfrm>
              <a:off x="8997" y="5412"/>
              <a:ext cx="1785" cy="583"/>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2350" spc="45" dirty="0">
                  <a:latin typeface="Times New Roman" panose="02020603050405020304"/>
                  <a:cs typeface="Times New Roman" panose="02020603050405020304"/>
                </a:rPr>
                <a:t>(</a:t>
              </a:r>
              <a:r>
                <a:rPr sz="2350" i="1" spc="45" dirty="0">
                  <a:latin typeface="Times New Roman" panose="02020603050405020304"/>
                  <a:cs typeface="Times New Roman" panose="02020603050405020304"/>
                </a:rPr>
                <a:t>d</a:t>
              </a:r>
              <a:r>
                <a:rPr sz="2350" i="1" spc="-395" dirty="0">
                  <a:latin typeface="Times New Roman" panose="02020603050405020304"/>
                  <a:cs typeface="Times New Roman" panose="02020603050405020304"/>
                </a:rPr>
                <a:t> </a:t>
              </a:r>
              <a:r>
                <a:rPr sz="2350" spc="25" dirty="0">
                  <a:latin typeface="Times New Roman" panose="02020603050405020304"/>
                  <a:cs typeface="Times New Roman" panose="02020603050405020304"/>
                </a:rPr>
                <a:t>(</a:t>
              </a:r>
              <a:r>
                <a:rPr sz="2350" spc="-285" dirty="0">
                  <a:latin typeface="Times New Roman" panose="02020603050405020304"/>
                  <a:cs typeface="Times New Roman" panose="02020603050405020304"/>
                </a:rPr>
                <a:t> </a:t>
              </a:r>
              <a:r>
                <a:rPr sz="2350" i="1" spc="25" dirty="0">
                  <a:latin typeface="Times New Roman" panose="02020603050405020304"/>
                  <a:cs typeface="Times New Roman" panose="02020603050405020304"/>
                </a:rPr>
                <a:t>p</a:t>
              </a:r>
              <a:r>
                <a:rPr sz="2350" spc="25" dirty="0">
                  <a:latin typeface="Times New Roman" panose="02020603050405020304"/>
                  <a:cs typeface="Times New Roman" panose="02020603050405020304"/>
                </a:rPr>
                <a:t>,</a:t>
              </a:r>
              <a:r>
                <a:rPr sz="2350" spc="-375" dirty="0">
                  <a:latin typeface="Times New Roman" panose="02020603050405020304"/>
                  <a:cs typeface="Times New Roman" panose="02020603050405020304"/>
                </a:rPr>
                <a:t> </a:t>
              </a:r>
              <a:r>
                <a:rPr sz="2350" i="1" spc="35" dirty="0">
                  <a:latin typeface="Times New Roman" panose="02020603050405020304"/>
                  <a:cs typeface="Times New Roman" panose="02020603050405020304"/>
                </a:rPr>
                <a:t>c</a:t>
              </a:r>
              <a:r>
                <a:rPr sz="2350" i="1" spc="-10" dirty="0">
                  <a:latin typeface="Times New Roman" panose="02020603050405020304"/>
                  <a:cs typeface="Times New Roman" panose="02020603050405020304"/>
                </a:rPr>
                <a:t> </a:t>
              </a:r>
              <a:r>
                <a:rPr sz="2350" dirty="0">
                  <a:latin typeface="Times New Roman" panose="02020603050405020304"/>
                  <a:cs typeface="Times New Roman" panose="02020603050405020304"/>
                </a:rPr>
                <a:t>))</a:t>
              </a:r>
            </a:p>
          </p:txBody>
        </p:sp>
        <p:sp>
          <p:nvSpPr>
            <p:cNvPr id="26" name="object 8">
              <a:extLst>
                <a:ext uri="{FF2B5EF4-FFF2-40B4-BE49-F238E27FC236}">
                  <a16:creationId xmlns:a16="http://schemas.microsoft.com/office/drawing/2014/main" id="{E7709B7C-134B-418F-BFE0-F0CB4F330CAD}"/>
                </a:ext>
              </a:extLst>
            </p:cNvPr>
            <p:cNvSpPr txBox="1"/>
            <p:nvPr/>
          </p:nvSpPr>
          <p:spPr>
            <a:xfrm>
              <a:off x="8850" y="5877"/>
              <a:ext cx="98" cy="250"/>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950" i="1" spc="15" dirty="0">
                  <a:latin typeface="Times New Roman" panose="02020603050405020304"/>
                  <a:cs typeface="Times New Roman" panose="02020603050405020304"/>
                </a:rPr>
                <a:t>i</a:t>
              </a:r>
              <a:endParaRPr sz="950">
                <a:latin typeface="Times New Roman" panose="02020603050405020304"/>
                <a:cs typeface="Times New Roman" panose="02020603050405020304"/>
              </a:endParaRPr>
            </a:p>
          </p:txBody>
        </p:sp>
        <p:sp>
          <p:nvSpPr>
            <p:cNvPr id="27" name="object 9">
              <a:extLst>
                <a:ext uri="{FF2B5EF4-FFF2-40B4-BE49-F238E27FC236}">
                  <a16:creationId xmlns:a16="http://schemas.microsoft.com/office/drawing/2014/main" id="{7503FB53-0969-4A4D-9F57-6535063340B1}"/>
                </a:ext>
              </a:extLst>
            </p:cNvPr>
            <p:cNvSpPr txBox="1"/>
            <p:nvPr/>
          </p:nvSpPr>
          <p:spPr>
            <a:xfrm>
              <a:off x="7662" y="5730"/>
              <a:ext cx="1232"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tabLst>
                  <a:tab pos="458470" algn="l"/>
                </a:tabLst>
                <a:defRPr/>
              </a:pPr>
              <a:r>
                <a:rPr sz="1350" i="1" spc="105" dirty="0">
                  <a:latin typeface="Times New Roman" panose="02020603050405020304"/>
                  <a:cs typeface="Times New Roman" panose="02020603050405020304"/>
                </a:rPr>
                <a:t>i</a:t>
              </a:r>
              <a:r>
                <a:rPr sz="1350" spc="-70" dirty="0">
                  <a:latin typeface="Symbol" panose="05050102010706020507"/>
                  <a:cs typeface="Symbol" panose="05050102010706020507"/>
                </a:rPr>
                <a:t></a:t>
              </a:r>
              <a:r>
                <a:rPr sz="1350" spc="30" dirty="0">
                  <a:latin typeface="Times New Roman" panose="02020603050405020304"/>
                  <a:cs typeface="Times New Roman" panose="02020603050405020304"/>
                </a:rPr>
                <a:t>1</a:t>
              </a:r>
              <a:r>
                <a:rPr sz="1350" dirty="0">
                  <a:latin typeface="Times New Roman" panose="02020603050405020304"/>
                  <a:cs typeface="Times New Roman" panose="02020603050405020304"/>
                </a:rPr>
                <a:t>	</a:t>
              </a:r>
              <a:r>
                <a:rPr sz="1350" i="1" spc="-50" dirty="0">
                  <a:latin typeface="Times New Roman" panose="02020603050405020304"/>
                  <a:cs typeface="Times New Roman" panose="02020603050405020304"/>
                </a:rPr>
                <a:t>p</a:t>
              </a:r>
              <a:r>
                <a:rPr sz="1350" spc="-95" dirty="0">
                  <a:latin typeface="Symbol" panose="05050102010706020507"/>
                  <a:cs typeface="Symbol" panose="05050102010706020507"/>
                </a:rPr>
                <a:t></a:t>
              </a:r>
              <a:r>
                <a:rPr sz="1350" i="1" spc="45" dirty="0">
                  <a:latin typeface="Times New Roman" panose="02020603050405020304"/>
                  <a:cs typeface="Times New Roman" panose="02020603050405020304"/>
                </a:rPr>
                <a:t>C</a:t>
              </a:r>
              <a:endParaRPr sz="1350">
                <a:latin typeface="Times New Roman" panose="02020603050405020304"/>
                <a:cs typeface="Times New Roman" panose="02020603050405020304"/>
              </a:endParaRPr>
            </a:p>
          </p:txBody>
        </p:sp>
        <p:sp>
          <p:nvSpPr>
            <p:cNvPr id="28" name="object 10">
              <a:extLst>
                <a:ext uri="{FF2B5EF4-FFF2-40B4-BE49-F238E27FC236}">
                  <a16:creationId xmlns:a16="http://schemas.microsoft.com/office/drawing/2014/main" id="{A7F53302-BD9E-44E8-912F-D4E3326A7DC3}"/>
                </a:ext>
              </a:extLst>
            </p:cNvPr>
            <p:cNvSpPr txBox="1"/>
            <p:nvPr/>
          </p:nvSpPr>
          <p:spPr>
            <a:xfrm>
              <a:off x="6590" y="5412"/>
              <a:ext cx="1765" cy="583"/>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tabLst>
                  <a:tab pos="924560" algn="l"/>
                </a:tabLst>
                <a:defRPr/>
              </a:pPr>
              <a:r>
                <a:rPr sz="2350" i="1" spc="50" dirty="0">
                  <a:latin typeface="Times New Roman" panose="02020603050405020304"/>
                  <a:cs typeface="Times New Roman" panose="02020603050405020304"/>
                </a:rPr>
                <a:t>E</a:t>
              </a:r>
              <a:r>
                <a:rPr sz="2350" i="1" spc="10" dirty="0">
                  <a:latin typeface="Times New Roman" panose="02020603050405020304"/>
                  <a:cs typeface="Times New Roman" panose="02020603050405020304"/>
                </a:rPr>
                <a:t> </a:t>
              </a:r>
              <a:r>
                <a:rPr sz="2350" spc="45" dirty="0">
                  <a:latin typeface="Symbol" panose="05050102010706020507"/>
                  <a:cs typeface="Symbol" panose="05050102010706020507"/>
                </a:rPr>
                <a:t></a:t>
              </a:r>
              <a:r>
                <a:rPr sz="2350" spc="-135" dirty="0">
                  <a:latin typeface="Times New Roman" panose="02020603050405020304"/>
                  <a:cs typeface="Times New Roman" panose="02020603050405020304"/>
                </a:rPr>
                <a:t> </a:t>
              </a:r>
              <a:r>
                <a:rPr sz="2350" spc="45" dirty="0">
                  <a:latin typeface="Symbol" panose="05050102010706020507"/>
                  <a:cs typeface="Symbol" panose="05050102010706020507"/>
                </a:rPr>
                <a:t></a:t>
              </a:r>
              <a:r>
                <a:rPr sz="2350" dirty="0">
                  <a:latin typeface="Times New Roman" panose="02020603050405020304"/>
                  <a:cs typeface="Times New Roman" panose="02020603050405020304"/>
                </a:rPr>
                <a:t>	</a:t>
              </a:r>
              <a:r>
                <a:rPr sz="2350" spc="45" dirty="0">
                  <a:latin typeface="Symbol" panose="05050102010706020507"/>
                  <a:cs typeface="Symbol" panose="05050102010706020507"/>
                </a:rPr>
                <a:t></a:t>
              </a:r>
              <a:endParaRPr sz="2350" dirty="0">
                <a:latin typeface="Symbol" panose="05050102010706020507"/>
                <a:cs typeface="Symbol" panose="05050102010706020507"/>
              </a:endParaRPr>
            </a:p>
          </p:txBody>
        </p:sp>
      </p:grpSp>
    </p:spTree>
    <p:extLst>
      <p:ext uri="{BB962C8B-B14F-4D97-AF65-F5344CB8AC3E}">
        <p14:creationId xmlns:p14="http://schemas.microsoft.com/office/powerpoint/2010/main" val="3374906255"/>
      </p:ext>
    </p:extLst>
  </p:cSld>
  <p:clrMapOvr>
    <a:masterClrMapping/>
  </p:clrMapOvr>
  <p:transition spd="med">
    <p:split orient="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custDataLst>
              <p:tags r:id="rId2"/>
            </p:custDataLst>
          </p:nvPr>
        </p:nvSpPr>
        <p:spPr>
          <a:xfrm>
            <a:off x="476250" y="1005912"/>
            <a:ext cx="8102600" cy="1631315"/>
          </a:xfrm>
          <a:prstGeom prst="rect">
            <a:avLst/>
          </a:prstGeom>
          <a:noFill/>
        </p:spPr>
        <p:txBody>
          <a:bodyPr vert="horz" wrap="square" rtlCol="0" anchor="ctr" anchorCtr="0">
            <a:noAutofit/>
          </a:bodyPr>
          <a:lstStyle/>
          <a:p>
            <a:pPr>
              <a:lnSpc>
                <a:spcPct val="150000"/>
              </a:lnSpc>
            </a:pP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一维空间的</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7</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个点</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2 3 8 9 10 25</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，根据划分方法聚类质量评价准则，设置</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k</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为</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时，</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(1,2,3)(8,9,10,25)</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聚类的</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值为：</a:t>
            </a:r>
            <a:r>
              <a:rPr lang="zh-CN" altLang="en-US" sz="2600" dirty="0">
                <a:solidFill>
                  <a:srgbClr val="639EF4"/>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填空</a:t>
            </a:r>
            <a:r>
              <a:rPr lang="en-US" altLang="zh-CN" sz="2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1] </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(1,2,3,8)(9,10,25)</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的</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值为：</a:t>
            </a:r>
            <a:r>
              <a:rPr lang="zh-CN" altLang="en-US" sz="2600" dirty="0">
                <a:solidFill>
                  <a:srgbClr val="639EF4"/>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填空</a:t>
            </a:r>
            <a:r>
              <a:rPr lang="en-US" altLang="zh-CN" sz="2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2] </a:t>
            </a:r>
          </a:p>
        </p:txBody>
      </p:sp>
      <p:sp>
        <p:nvSpPr>
          <p:cNvPr id="13" name="矩形 12"/>
          <p:cNvSpPr/>
          <p:nvPr>
            <p:custDataLst>
              <p:tags r:id="rId3"/>
            </p:custDataLst>
          </p:nvPr>
        </p:nvSpPr>
        <p:spPr bwMode="auto">
          <a:xfrm>
            <a:off x="0" y="6428740"/>
            <a:ext cx="9144000" cy="365760"/>
          </a:xfrm>
          <a:prstGeom prst="rect">
            <a:avLst/>
          </a:prstGeom>
          <a:solidFill>
            <a:srgbClr val="FBFAE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kumimoji="0" lang="zh-CN" altLang="en-US" sz="1200" b="0" i="0" u="none" strike="noStrike" cap="none" normalizeH="0" baseline="0">
                <a:ln>
                  <a:noFill/>
                </a:ln>
                <a:solidFill>
                  <a:srgbClr val="F84F41"/>
                </a:solidFill>
                <a:effectLst/>
                <a:latin typeface="Times New Roman" panose="02020603050405020304" pitchFamily="18" charset="0"/>
                <a:ea typeface="微软雅黑" panose="020B0503020204020204" pitchFamily="34" charset="-122"/>
                <a:sym typeface="Times New Roman" panose="02020603050405020304" pitchFamily="18" charset="0"/>
              </a:rPr>
              <a:t>正常使用填空题需</a:t>
            </a:r>
            <a:r>
              <a:rPr kumimoji="0" lang="en-US" altLang="zh-CN" sz="1200" b="0" i="0" u="none" strike="noStrike" cap="none" normalizeH="0" baseline="0">
                <a:ln>
                  <a:noFill/>
                </a:ln>
                <a:solidFill>
                  <a:srgbClr val="F84F41"/>
                </a:solidFill>
                <a:effectLst/>
                <a:latin typeface="Times New Roman" panose="02020603050405020304" pitchFamily="18" charset="0"/>
                <a:ea typeface="微软雅黑" panose="020B0503020204020204" pitchFamily="34" charset="-122"/>
                <a:sym typeface="Times New Roman" panose="02020603050405020304" pitchFamily="18" charset="0"/>
              </a:rPr>
              <a:t>3.0</a:t>
            </a:r>
            <a:r>
              <a:rPr kumimoji="0" lang="zh-CN" altLang="en-US" sz="1200" b="0" i="0" u="none" strike="noStrike" cap="none" normalizeH="0" baseline="0">
                <a:ln>
                  <a:noFill/>
                </a:ln>
                <a:solidFill>
                  <a:srgbClr val="F84F41"/>
                </a:solidFill>
                <a:effectLst/>
                <a:latin typeface="Times New Roman" panose="02020603050405020304" pitchFamily="18" charset="0"/>
                <a:ea typeface="微软雅黑" panose="020B0503020204020204" pitchFamily="34" charset="-122"/>
                <a:sym typeface="Times New Roman" panose="02020603050405020304" pitchFamily="18" charset="0"/>
              </a:rPr>
              <a:t>以上版本雨课堂</a:t>
            </a:r>
          </a:p>
        </p:txBody>
      </p:sp>
      <p:sp>
        <p:nvSpPr>
          <p:cNvPr id="22" name="TextBox 21"/>
          <p:cNvSpPr txBox="1"/>
          <p:nvPr/>
        </p:nvSpPr>
        <p:spPr>
          <a:xfrm>
            <a:off x="526988" y="3220630"/>
            <a:ext cx="5845212" cy="461665"/>
          </a:xfrm>
          <a:prstGeom prst="rect">
            <a:avLst/>
          </a:prstGeom>
          <a:noFill/>
        </p:spPr>
        <p:txBody>
          <a:bodyPr wrap="square" rtlCol="0">
            <a:spAutoFit/>
          </a:bodyPr>
          <a:lstStyle/>
          <a:p>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划分方法聚类质量评价准则：最小化</a:t>
            </a:r>
            <a:r>
              <a:rPr lang="en-US" altLang="zh-CN"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值</a:t>
            </a:r>
          </a:p>
        </p:txBody>
      </p:sp>
      <p:sp>
        <p:nvSpPr>
          <p:cNvPr id="23" name="圆角矩形 14">
            <a:extLst>
              <a:ext uri="{FF2B5EF4-FFF2-40B4-BE49-F238E27FC236}">
                <a16:creationId xmlns:a16="http://schemas.microsoft.com/office/drawing/2014/main" id="{0EDC3100-1F0E-4190-BBED-4FCA90D93232}"/>
              </a:ext>
            </a:extLst>
          </p:cNvPr>
          <p:cNvSpPr/>
          <p:nvPr>
            <p:custDataLst>
              <p:tags r:id="rId4"/>
            </p:custDataLst>
          </p:nvPr>
        </p:nvSpPr>
        <p:spPr bwMode="auto">
          <a:xfrm>
            <a:off x="6172200" y="5844245"/>
            <a:ext cx="1543050" cy="411480"/>
          </a:xfrm>
          <a:prstGeom prst="roundRect">
            <a:avLst/>
          </a:prstGeom>
          <a:gradFill flip="none" rotWithShape="1">
            <a:gsLst>
              <a:gs pos="0">
                <a:srgbClr val="13548C">
                  <a:shade val="30000"/>
                  <a:satMod val="115000"/>
                </a:srgbClr>
              </a:gs>
              <a:gs pos="50000">
                <a:srgbClr val="13548C">
                  <a:shade val="67500"/>
                  <a:satMod val="115000"/>
                </a:srgbClr>
              </a:gs>
              <a:gs pos="100000">
                <a:srgbClr val="13548C">
                  <a:shade val="100000"/>
                  <a:satMod val="115000"/>
                </a:srgbClr>
              </a:gs>
            </a:gsLst>
            <a:lin ang="16200000" scaled="1"/>
            <a:tileRect/>
          </a:gradFill>
          <a:ln w="381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提交</a:t>
            </a:r>
          </a:p>
        </p:txBody>
      </p:sp>
      <p:grpSp>
        <p:nvGrpSpPr>
          <p:cNvPr id="24" name="组合 23">
            <a:extLst>
              <a:ext uri="{FF2B5EF4-FFF2-40B4-BE49-F238E27FC236}">
                <a16:creationId xmlns:a16="http://schemas.microsoft.com/office/drawing/2014/main" id="{C64A20F7-011B-4E4B-A3BD-57567A38BADE}"/>
              </a:ext>
            </a:extLst>
          </p:cNvPr>
          <p:cNvGrpSpPr/>
          <p:nvPr/>
        </p:nvGrpSpPr>
        <p:grpSpPr>
          <a:xfrm>
            <a:off x="3190240" y="4009913"/>
            <a:ext cx="2764155" cy="461645"/>
            <a:chOff x="7270" y="6742"/>
            <a:chExt cx="4353" cy="727"/>
          </a:xfrm>
        </p:grpSpPr>
        <p:sp>
          <p:nvSpPr>
            <p:cNvPr id="25" name="object 4">
              <a:extLst>
                <a:ext uri="{FF2B5EF4-FFF2-40B4-BE49-F238E27FC236}">
                  <a16:creationId xmlns:a16="http://schemas.microsoft.com/office/drawing/2014/main" id="{62E42B6D-AAD4-49F5-BC22-0B1EECC1E42B}"/>
                </a:ext>
              </a:extLst>
            </p:cNvPr>
            <p:cNvSpPr txBox="1"/>
            <p:nvPr/>
          </p:nvSpPr>
          <p:spPr>
            <a:xfrm>
              <a:off x="11440" y="6742"/>
              <a:ext cx="183"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spc="30" dirty="0">
                  <a:latin typeface="Times New Roman" panose="02020603050405020304"/>
                  <a:cs typeface="Times New Roman" panose="02020603050405020304"/>
                </a:rPr>
                <a:t>2</a:t>
              </a:r>
              <a:endParaRPr sz="1350">
                <a:latin typeface="Times New Roman" panose="02020603050405020304"/>
                <a:cs typeface="Times New Roman" panose="02020603050405020304"/>
              </a:endParaRPr>
            </a:p>
          </p:txBody>
        </p:sp>
        <p:sp>
          <p:nvSpPr>
            <p:cNvPr id="26" name="object 5">
              <a:extLst>
                <a:ext uri="{FF2B5EF4-FFF2-40B4-BE49-F238E27FC236}">
                  <a16:creationId xmlns:a16="http://schemas.microsoft.com/office/drawing/2014/main" id="{ABEB26A8-8838-4213-A6F3-E2A7930BA52C}"/>
                </a:ext>
              </a:extLst>
            </p:cNvPr>
            <p:cNvSpPr txBox="1"/>
            <p:nvPr/>
          </p:nvSpPr>
          <p:spPr>
            <a:xfrm>
              <a:off x="10970" y="7072"/>
              <a:ext cx="120"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i="1" spc="15" dirty="0">
                  <a:latin typeface="Times New Roman" panose="02020603050405020304"/>
                  <a:cs typeface="Times New Roman" panose="02020603050405020304"/>
                </a:rPr>
                <a:t>i</a:t>
              </a:r>
              <a:endParaRPr sz="1350">
                <a:latin typeface="Times New Roman" panose="02020603050405020304"/>
                <a:cs typeface="Times New Roman" panose="02020603050405020304"/>
              </a:endParaRPr>
            </a:p>
          </p:txBody>
        </p:sp>
        <p:sp>
          <p:nvSpPr>
            <p:cNvPr id="27" name="object 6">
              <a:extLst>
                <a:ext uri="{FF2B5EF4-FFF2-40B4-BE49-F238E27FC236}">
                  <a16:creationId xmlns:a16="http://schemas.microsoft.com/office/drawing/2014/main" id="{10BE4F5F-A613-48AA-BC9E-4B8767BE824C}"/>
                </a:ext>
              </a:extLst>
            </p:cNvPr>
            <p:cNvSpPr txBox="1"/>
            <p:nvPr/>
          </p:nvSpPr>
          <p:spPr>
            <a:xfrm>
              <a:off x="8350" y="6742"/>
              <a:ext cx="168"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i="1" spc="30" dirty="0">
                  <a:latin typeface="Times New Roman" panose="02020603050405020304"/>
                  <a:cs typeface="Times New Roman" panose="02020603050405020304"/>
                </a:rPr>
                <a:t>k</a:t>
              </a:r>
              <a:endParaRPr sz="1350">
                <a:latin typeface="Times New Roman" panose="02020603050405020304"/>
                <a:cs typeface="Times New Roman" panose="02020603050405020304"/>
              </a:endParaRPr>
            </a:p>
          </p:txBody>
        </p:sp>
        <p:sp>
          <p:nvSpPr>
            <p:cNvPr id="28" name="object 7">
              <a:extLst>
                <a:ext uri="{FF2B5EF4-FFF2-40B4-BE49-F238E27FC236}">
                  <a16:creationId xmlns:a16="http://schemas.microsoft.com/office/drawing/2014/main" id="{58FE37A0-A2E7-45CC-9729-60333C5A2EC6}"/>
                </a:ext>
              </a:extLst>
            </p:cNvPr>
            <p:cNvSpPr txBox="1"/>
            <p:nvPr/>
          </p:nvSpPr>
          <p:spPr>
            <a:xfrm>
              <a:off x="9678" y="6754"/>
              <a:ext cx="1785" cy="583"/>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2350" spc="45" dirty="0">
                  <a:latin typeface="Times New Roman" panose="02020603050405020304"/>
                  <a:cs typeface="Times New Roman" panose="02020603050405020304"/>
                </a:rPr>
                <a:t>(</a:t>
              </a:r>
              <a:r>
                <a:rPr sz="2350" i="1" spc="45" dirty="0">
                  <a:latin typeface="Times New Roman" panose="02020603050405020304"/>
                  <a:cs typeface="Times New Roman" panose="02020603050405020304"/>
                </a:rPr>
                <a:t>d</a:t>
              </a:r>
              <a:r>
                <a:rPr sz="2350" i="1" spc="-395" dirty="0">
                  <a:latin typeface="Times New Roman" panose="02020603050405020304"/>
                  <a:cs typeface="Times New Roman" panose="02020603050405020304"/>
                </a:rPr>
                <a:t> </a:t>
              </a:r>
              <a:r>
                <a:rPr sz="2350" spc="25" dirty="0">
                  <a:latin typeface="Times New Roman" panose="02020603050405020304"/>
                  <a:cs typeface="Times New Roman" panose="02020603050405020304"/>
                </a:rPr>
                <a:t>(</a:t>
              </a:r>
              <a:r>
                <a:rPr sz="2350" spc="-285" dirty="0">
                  <a:latin typeface="Times New Roman" panose="02020603050405020304"/>
                  <a:cs typeface="Times New Roman" panose="02020603050405020304"/>
                </a:rPr>
                <a:t> </a:t>
              </a:r>
              <a:r>
                <a:rPr sz="2350" i="1" spc="25" dirty="0">
                  <a:latin typeface="Times New Roman" panose="02020603050405020304"/>
                  <a:cs typeface="Times New Roman" panose="02020603050405020304"/>
                </a:rPr>
                <a:t>p</a:t>
              </a:r>
              <a:r>
                <a:rPr sz="2350" spc="25" dirty="0">
                  <a:latin typeface="Times New Roman" panose="02020603050405020304"/>
                  <a:cs typeface="Times New Roman" panose="02020603050405020304"/>
                </a:rPr>
                <a:t>,</a:t>
              </a:r>
              <a:r>
                <a:rPr sz="2350" spc="-375" dirty="0">
                  <a:latin typeface="Times New Roman" panose="02020603050405020304"/>
                  <a:cs typeface="Times New Roman" panose="02020603050405020304"/>
                </a:rPr>
                <a:t> </a:t>
              </a:r>
              <a:r>
                <a:rPr sz="2350" i="1" spc="35" dirty="0">
                  <a:latin typeface="Times New Roman" panose="02020603050405020304"/>
                  <a:cs typeface="Times New Roman" panose="02020603050405020304"/>
                </a:rPr>
                <a:t>c</a:t>
              </a:r>
              <a:r>
                <a:rPr sz="2350" i="1" spc="-10" dirty="0">
                  <a:latin typeface="Times New Roman" panose="02020603050405020304"/>
                  <a:cs typeface="Times New Roman" panose="02020603050405020304"/>
                </a:rPr>
                <a:t> </a:t>
              </a:r>
              <a:r>
                <a:rPr sz="2350" dirty="0">
                  <a:latin typeface="Times New Roman" panose="02020603050405020304"/>
                  <a:cs typeface="Times New Roman" panose="02020603050405020304"/>
                </a:rPr>
                <a:t>))</a:t>
              </a:r>
            </a:p>
          </p:txBody>
        </p:sp>
        <p:sp>
          <p:nvSpPr>
            <p:cNvPr id="29" name="object 8">
              <a:extLst>
                <a:ext uri="{FF2B5EF4-FFF2-40B4-BE49-F238E27FC236}">
                  <a16:creationId xmlns:a16="http://schemas.microsoft.com/office/drawing/2014/main" id="{C65E2CA9-732E-4E34-80C3-6BBC7B07594A}"/>
                </a:ext>
              </a:extLst>
            </p:cNvPr>
            <p:cNvSpPr txBox="1"/>
            <p:nvPr/>
          </p:nvSpPr>
          <p:spPr>
            <a:xfrm>
              <a:off x="9530" y="7219"/>
              <a:ext cx="98" cy="250"/>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950" i="1" spc="15" dirty="0">
                  <a:latin typeface="Times New Roman" panose="02020603050405020304"/>
                  <a:cs typeface="Times New Roman" panose="02020603050405020304"/>
                </a:rPr>
                <a:t>i</a:t>
              </a:r>
              <a:endParaRPr sz="950">
                <a:latin typeface="Times New Roman" panose="02020603050405020304"/>
                <a:cs typeface="Times New Roman" panose="02020603050405020304"/>
              </a:endParaRPr>
            </a:p>
          </p:txBody>
        </p:sp>
        <p:sp>
          <p:nvSpPr>
            <p:cNvPr id="30" name="object 9">
              <a:extLst>
                <a:ext uri="{FF2B5EF4-FFF2-40B4-BE49-F238E27FC236}">
                  <a16:creationId xmlns:a16="http://schemas.microsoft.com/office/drawing/2014/main" id="{A2F794E4-4D72-4E85-8B9A-DE33EC5AF5D4}"/>
                </a:ext>
              </a:extLst>
            </p:cNvPr>
            <p:cNvSpPr txBox="1"/>
            <p:nvPr/>
          </p:nvSpPr>
          <p:spPr>
            <a:xfrm>
              <a:off x="8343" y="7072"/>
              <a:ext cx="1232"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tabLst>
                  <a:tab pos="458470" algn="l"/>
                </a:tabLst>
                <a:defRPr/>
              </a:pPr>
              <a:r>
                <a:rPr sz="1350" i="1" spc="105" dirty="0">
                  <a:latin typeface="Times New Roman" panose="02020603050405020304"/>
                  <a:cs typeface="Times New Roman" panose="02020603050405020304"/>
                </a:rPr>
                <a:t>i</a:t>
              </a:r>
              <a:r>
                <a:rPr sz="1350" spc="-70" dirty="0">
                  <a:latin typeface="Symbol" panose="05050102010706020507"/>
                  <a:cs typeface="Symbol" panose="05050102010706020507"/>
                </a:rPr>
                <a:t></a:t>
              </a:r>
              <a:r>
                <a:rPr sz="1350" spc="30" dirty="0">
                  <a:latin typeface="Times New Roman" panose="02020603050405020304"/>
                  <a:cs typeface="Times New Roman" panose="02020603050405020304"/>
                </a:rPr>
                <a:t>1</a:t>
              </a:r>
              <a:r>
                <a:rPr sz="1350" dirty="0">
                  <a:latin typeface="Times New Roman" panose="02020603050405020304"/>
                  <a:cs typeface="Times New Roman" panose="02020603050405020304"/>
                </a:rPr>
                <a:t>	</a:t>
              </a:r>
              <a:r>
                <a:rPr sz="1350" i="1" spc="-50" dirty="0">
                  <a:latin typeface="Times New Roman" panose="02020603050405020304"/>
                  <a:cs typeface="Times New Roman" panose="02020603050405020304"/>
                </a:rPr>
                <a:t>p</a:t>
              </a:r>
              <a:r>
                <a:rPr sz="1350" spc="-95" dirty="0">
                  <a:latin typeface="Symbol" panose="05050102010706020507"/>
                  <a:cs typeface="Symbol" panose="05050102010706020507"/>
                </a:rPr>
                <a:t></a:t>
              </a:r>
              <a:r>
                <a:rPr sz="1350" i="1" spc="45" dirty="0">
                  <a:latin typeface="Times New Roman" panose="02020603050405020304"/>
                  <a:cs typeface="Times New Roman" panose="02020603050405020304"/>
                </a:rPr>
                <a:t>C</a:t>
              </a:r>
              <a:endParaRPr sz="1350">
                <a:latin typeface="Times New Roman" panose="02020603050405020304"/>
                <a:cs typeface="Times New Roman" panose="02020603050405020304"/>
              </a:endParaRPr>
            </a:p>
          </p:txBody>
        </p:sp>
        <p:sp>
          <p:nvSpPr>
            <p:cNvPr id="31" name="object 10">
              <a:extLst>
                <a:ext uri="{FF2B5EF4-FFF2-40B4-BE49-F238E27FC236}">
                  <a16:creationId xmlns:a16="http://schemas.microsoft.com/office/drawing/2014/main" id="{BE823722-63B6-4382-98C4-773A4E457E40}"/>
                </a:ext>
              </a:extLst>
            </p:cNvPr>
            <p:cNvSpPr txBox="1"/>
            <p:nvPr/>
          </p:nvSpPr>
          <p:spPr>
            <a:xfrm>
              <a:off x="7270" y="6754"/>
              <a:ext cx="1765" cy="583"/>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tabLst>
                  <a:tab pos="924560" algn="l"/>
                </a:tabLst>
                <a:defRPr/>
              </a:pPr>
              <a:r>
                <a:rPr sz="2350" i="1" spc="50" dirty="0">
                  <a:latin typeface="Times New Roman" panose="02020603050405020304"/>
                  <a:cs typeface="Times New Roman" panose="02020603050405020304"/>
                </a:rPr>
                <a:t>E</a:t>
              </a:r>
              <a:r>
                <a:rPr sz="2350" i="1" spc="10" dirty="0">
                  <a:latin typeface="Times New Roman" panose="02020603050405020304"/>
                  <a:cs typeface="Times New Roman" panose="02020603050405020304"/>
                </a:rPr>
                <a:t> </a:t>
              </a:r>
              <a:r>
                <a:rPr sz="2350" spc="45" dirty="0">
                  <a:latin typeface="Symbol" panose="05050102010706020507"/>
                  <a:cs typeface="Symbol" panose="05050102010706020507"/>
                </a:rPr>
                <a:t></a:t>
              </a:r>
              <a:r>
                <a:rPr sz="2350" spc="-135" dirty="0">
                  <a:latin typeface="Times New Roman" panose="02020603050405020304"/>
                  <a:cs typeface="Times New Roman" panose="02020603050405020304"/>
                </a:rPr>
                <a:t> </a:t>
              </a:r>
              <a:r>
                <a:rPr sz="2350" spc="45" dirty="0">
                  <a:latin typeface="Symbol" panose="05050102010706020507"/>
                  <a:cs typeface="Symbol" panose="05050102010706020507"/>
                </a:rPr>
                <a:t></a:t>
              </a:r>
              <a:r>
                <a:rPr sz="2350" dirty="0">
                  <a:latin typeface="Times New Roman" panose="02020603050405020304"/>
                  <a:cs typeface="Times New Roman" panose="02020603050405020304"/>
                </a:rPr>
                <a:t>	</a:t>
              </a:r>
              <a:r>
                <a:rPr sz="2350" spc="45" dirty="0">
                  <a:latin typeface="Symbol" panose="05050102010706020507"/>
                  <a:cs typeface="Symbol" panose="05050102010706020507"/>
                </a:rPr>
                <a:t></a:t>
              </a:r>
              <a:endParaRPr sz="2350" dirty="0">
                <a:latin typeface="Symbol" panose="05050102010706020507"/>
                <a:cs typeface="Symbol" panose="05050102010706020507"/>
              </a:endParaRPr>
            </a:p>
          </p:txBody>
        </p:sp>
      </p:grpSp>
      <p:grpSp>
        <p:nvGrpSpPr>
          <p:cNvPr id="12" name="组合 11"/>
          <p:cNvGrpSpPr/>
          <p:nvPr>
            <p:custDataLst>
              <p:tags r:id="rId5"/>
            </p:custDataLst>
          </p:nvPr>
        </p:nvGrpSpPr>
        <p:grpSpPr>
          <a:xfrm>
            <a:off x="0" y="0"/>
            <a:ext cx="9144000" cy="635000"/>
            <a:chOff x="0" y="0"/>
            <a:chExt cx="9144000" cy="635000"/>
          </a:xfrm>
        </p:grpSpPr>
        <p:sp>
          <p:nvSpPr>
            <p:cNvPr id="8" name="TitleBackground"/>
            <p:cNvSpPr/>
            <p:nvPr>
              <p:custDataLst>
                <p:tags r:id="rId7"/>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ColorBlock"/>
            <p:cNvSpPr/>
            <p:nvPr>
              <p:custDataLst>
                <p:tags r:id="rId8"/>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填空题</a:t>
              </a:r>
            </a:p>
          </p:txBody>
        </p:sp>
        <p:sp>
          <p:nvSpPr>
            <p:cNvPr id="11" name="TipText"/>
            <p:cNvSpPr txBox="1"/>
            <p:nvPr>
              <p:custDataLst>
                <p:tags r:id="rId10"/>
              </p:custDataLst>
            </p:nvPr>
          </p:nvSpPr>
          <p:spPr>
            <a:xfrm>
              <a:off x="1510030" y="109220"/>
              <a:ext cx="2286000" cy="508000"/>
            </a:xfrm>
            <a:prstGeom prst="rect">
              <a:avLst/>
            </a:prstGeom>
            <a:noFill/>
          </p:spPr>
          <p:txBody>
            <a:bodyPr vert="horz" wrap="none" rtlCol="0" anchor="ctr" anchorCtr="0">
              <a:noAutofit/>
            </a:bodyPr>
            <a:lstStyle/>
            <a:p>
              <a:r>
                <a:rPr lang="en-US" altLang="zh-CN"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分</a:t>
              </a:r>
            </a:p>
          </p:txBody>
        </p:sp>
      </p:grpSp>
      <p:pic>
        <p:nvPicPr>
          <p:cNvPr id="5" name="图片 4"/>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371048189"/>
      </p:ext>
    </p:extLst>
  </p:cSld>
  <p:clrMapOvr>
    <a:masterClrMapping/>
  </p:clrMapOvr>
  <p:transition spd="med">
    <p:split orient="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custDataLst>
              <p:tags r:id="rId2"/>
            </p:custDataLst>
          </p:nvPr>
        </p:nvSpPr>
        <p:spPr>
          <a:xfrm>
            <a:off x="520700" y="869358"/>
            <a:ext cx="8102600" cy="1660664"/>
          </a:xfrm>
          <a:prstGeom prst="rect">
            <a:avLst/>
          </a:prstGeom>
          <a:noFill/>
        </p:spPr>
        <p:txBody>
          <a:bodyPr vert="horz" wrap="square" rtlCol="0" anchor="ctr" anchorCtr="0">
            <a:noAutofit/>
          </a:bodyPr>
          <a:lstStyle/>
          <a:p>
            <a:pPr>
              <a:lnSpc>
                <a:spcPct val="150000"/>
              </a:lnSpc>
            </a:pP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一维空间的</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7</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个点</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2 3 8 9 10 25</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，根据划分方法聚类质量评价准则，设置</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k</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为</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时，将划分为如下哪</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个类别</a:t>
            </a: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(1,2,3)(8,9,10,25)</a:t>
            </a:r>
            <a:endPar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(1,2,3,8)(9,10,25)</a:t>
            </a:r>
            <a:endPar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椭圆 10"/>
          <p:cNvSpPr>
            <a:spLocks noChangeAspect="1"/>
          </p:cNvSpPr>
          <p:nvPr>
            <p:custDataLst>
              <p:tags r:id="rId5"/>
            </p:custDataLst>
          </p:nvPr>
        </p:nvSpPr>
        <p:spPr bwMode="auto">
          <a:xfrm>
            <a:off x="1114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A</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椭圆 11"/>
          <p:cNvSpPr>
            <a:spLocks noChangeAspect="1"/>
          </p:cNvSpPr>
          <p:nvPr>
            <p:custDataLst>
              <p:tags r:id="rId6"/>
            </p:custDataLst>
          </p:nvPr>
        </p:nvSpPr>
        <p:spPr bwMode="auto">
          <a:xfrm>
            <a:off x="1114425" y="3707606"/>
            <a:ext cx="514350" cy="514350"/>
          </a:xfrm>
          <a:prstGeom prst="ellipse">
            <a:avLst/>
          </a:prstGeom>
          <a:solidFill>
            <a:srgbClr val="FF99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B</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圆角矩形 14"/>
          <p:cNvSpPr/>
          <p:nvPr>
            <p:custDataLst>
              <p:tags r:id="rId7"/>
            </p:custDataLst>
          </p:nvPr>
        </p:nvSpPr>
        <p:spPr bwMode="auto">
          <a:xfrm>
            <a:off x="6172200" y="5988642"/>
            <a:ext cx="1543050" cy="411480"/>
          </a:xfrm>
          <a:prstGeom prst="roundRect">
            <a:avLst/>
          </a:prstGeom>
          <a:gradFill flip="none" rotWithShape="1">
            <a:gsLst>
              <a:gs pos="0">
                <a:srgbClr val="13548C">
                  <a:shade val="30000"/>
                  <a:satMod val="115000"/>
                </a:srgbClr>
              </a:gs>
              <a:gs pos="50000">
                <a:srgbClr val="13548C">
                  <a:shade val="67500"/>
                  <a:satMod val="115000"/>
                </a:srgbClr>
              </a:gs>
              <a:gs pos="100000">
                <a:srgbClr val="13548C">
                  <a:shade val="100000"/>
                  <a:satMod val="115000"/>
                </a:srgbClr>
              </a:gs>
            </a:gsLst>
            <a:lin ang="16200000" scaled="1"/>
            <a:tileRect/>
          </a:gradFill>
          <a:ln w="381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提交</a:t>
            </a:r>
          </a:p>
        </p:txBody>
      </p:sp>
      <p:sp>
        <p:nvSpPr>
          <p:cNvPr id="29" name="TextBox 28"/>
          <p:cNvSpPr txBox="1"/>
          <p:nvPr/>
        </p:nvSpPr>
        <p:spPr>
          <a:xfrm>
            <a:off x="577985" y="4509120"/>
            <a:ext cx="6010239" cy="461665"/>
          </a:xfrm>
          <a:prstGeom prst="rect">
            <a:avLst/>
          </a:prstGeom>
          <a:noFill/>
        </p:spPr>
        <p:txBody>
          <a:bodyPr wrap="square" rtlCol="0">
            <a:spAutoFit/>
          </a:bodyPr>
          <a:lstStyle/>
          <a:p>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划分方法聚类质量评价准则：最小化</a:t>
            </a:r>
            <a:r>
              <a:rPr lang="en-US" altLang="zh-CN"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值</a:t>
            </a:r>
          </a:p>
        </p:txBody>
      </p:sp>
      <p:grpSp>
        <p:nvGrpSpPr>
          <p:cNvPr id="30" name="组合 29">
            <a:extLst>
              <a:ext uri="{FF2B5EF4-FFF2-40B4-BE49-F238E27FC236}">
                <a16:creationId xmlns:a16="http://schemas.microsoft.com/office/drawing/2014/main" id="{17461534-8A42-44D5-8E85-2909ED89E641}"/>
              </a:ext>
            </a:extLst>
          </p:cNvPr>
          <p:cNvGrpSpPr/>
          <p:nvPr/>
        </p:nvGrpSpPr>
        <p:grpSpPr>
          <a:xfrm>
            <a:off x="3059832" y="5236535"/>
            <a:ext cx="2764155" cy="461645"/>
            <a:chOff x="7270" y="8122"/>
            <a:chExt cx="4353" cy="727"/>
          </a:xfrm>
        </p:grpSpPr>
        <p:sp>
          <p:nvSpPr>
            <p:cNvPr id="31" name="object 4">
              <a:extLst>
                <a:ext uri="{FF2B5EF4-FFF2-40B4-BE49-F238E27FC236}">
                  <a16:creationId xmlns:a16="http://schemas.microsoft.com/office/drawing/2014/main" id="{FE391D91-F84C-4D3A-9C4B-1C6294589B4D}"/>
                </a:ext>
              </a:extLst>
            </p:cNvPr>
            <p:cNvSpPr txBox="1"/>
            <p:nvPr/>
          </p:nvSpPr>
          <p:spPr>
            <a:xfrm>
              <a:off x="11440" y="8122"/>
              <a:ext cx="183"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spc="30" dirty="0">
                  <a:latin typeface="Times New Roman" panose="02020603050405020304"/>
                  <a:cs typeface="Times New Roman" panose="02020603050405020304"/>
                </a:rPr>
                <a:t>2</a:t>
              </a:r>
              <a:endParaRPr sz="1350">
                <a:latin typeface="Times New Roman" panose="02020603050405020304"/>
                <a:cs typeface="Times New Roman" panose="02020603050405020304"/>
              </a:endParaRPr>
            </a:p>
          </p:txBody>
        </p:sp>
        <p:sp>
          <p:nvSpPr>
            <p:cNvPr id="32" name="object 5">
              <a:extLst>
                <a:ext uri="{FF2B5EF4-FFF2-40B4-BE49-F238E27FC236}">
                  <a16:creationId xmlns:a16="http://schemas.microsoft.com/office/drawing/2014/main" id="{D141A0BA-6BF1-4314-8BED-C14BA54AF987}"/>
                </a:ext>
              </a:extLst>
            </p:cNvPr>
            <p:cNvSpPr txBox="1"/>
            <p:nvPr/>
          </p:nvSpPr>
          <p:spPr>
            <a:xfrm>
              <a:off x="10970" y="8452"/>
              <a:ext cx="120"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i="1" spc="15" dirty="0">
                  <a:latin typeface="Times New Roman" panose="02020603050405020304"/>
                  <a:cs typeface="Times New Roman" panose="02020603050405020304"/>
                </a:rPr>
                <a:t>i</a:t>
              </a:r>
              <a:endParaRPr sz="1350">
                <a:latin typeface="Times New Roman" panose="02020603050405020304"/>
                <a:cs typeface="Times New Roman" panose="02020603050405020304"/>
              </a:endParaRPr>
            </a:p>
          </p:txBody>
        </p:sp>
        <p:sp>
          <p:nvSpPr>
            <p:cNvPr id="33" name="object 6">
              <a:extLst>
                <a:ext uri="{FF2B5EF4-FFF2-40B4-BE49-F238E27FC236}">
                  <a16:creationId xmlns:a16="http://schemas.microsoft.com/office/drawing/2014/main" id="{348D7123-5ED5-4414-9D8D-BBED48FF5675}"/>
                </a:ext>
              </a:extLst>
            </p:cNvPr>
            <p:cNvSpPr txBox="1"/>
            <p:nvPr/>
          </p:nvSpPr>
          <p:spPr>
            <a:xfrm>
              <a:off x="8350" y="8122"/>
              <a:ext cx="168"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i="1" spc="30" dirty="0">
                  <a:latin typeface="Times New Roman" panose="02020603050405020304"/>
                  <a:cs typeface="Times New Roman" panose="02020603050405020304"/>
                </a:rPr>
                <a:t>k</a:t>
              </a:r>
              <a:endParaRPr sz="1350">
                <a:latin typeface="Times New Roman" panose="02020603050405020304"/>
                <a:cs typeface="Times New Roman" panose="02020603050405020304"/>
              </a:endParaRPr>
            </a:p>
          </p:txBody>
        </p:sp>
        <p:sp>
          <p:nvSpPr>
            <p:cNvPr id="34" name="object 7">
              <a:extLst>
                <a:ext uri="{FF2B5EF4-FFF2-40B4-BE49-F238E27FC236}">
                  <a16:creationId xmlns:a16="http://schemas.microsoft.com/office/drawing/2014/main" id="{3241E74E-3778-4C26-8030-9F8F5DFD060A}"/>
                </a:ext>
              </a:extLst>
            </p:cNvPr>
            <p:cNvSpPr txBox="1"/>
            <p:nvPr/>
          </p:nvSpPr>
          <p:spPr>
            <a:xfrm>
              <a:off x="9678" y="8134"/>
              <a:ext cx="1785" cy="583"/>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2350" spc="45" dirty="0">
                  <a:latin typeface="Times New Roman" panose="02020603050405020304"/>
                  <a:cs typeface="Times New Roman" panose="02020603050405020304"/>
                </a:rPr>
                <a:t>(</a:t>
              </a:r>
              <a:r>
                <a:rPr sz="2350" i="1" spc="45" dirty="0">
                  <a:latin typeface="Times New Roman" panose="02020603050405020304"/>
                  <a:cs typeface="Times New Roman" panose="02020603050405020304"/>
                </a:rPr>
                <a:t>d</a:t>
              </a:r>
              <a:r>
                <a:rPr sz="2350" i="1" spc="-395" dirty="0">
                  <a:latin typeface="Times New Roman" panose="02020603050405020304"/>
                  <a:cs typeface="Times New Roman" panose="02020603050405020304"/>
                </a:rPr>
                <a:t> </a:t>
              </a:r>
              <a:r>
                <a:rPr sz="2350" spc="25" dirty="0">
                  <a:latin typeface="Times New Roman" panose="02020603050405020304"/>
                  <a:cs typeface="Times New Roman" panose="02020603050405020304"/>
                </a:rPr>
                <a:t>(</a:t>
              </a:r>
              <a:r>
                <a:rPr sz="2350" spc="-285" dirty="0">
                  <a:latin typeface="Times New Roman" panose="02020603050405020304"/>
                  <a:cs typeface="Times New Roman" panose="02020603050405020304"/>
                </a:rPr>
                <a:t> </a:t>
              </a:r>
              <a:r>
                <a:rPr sz="2350" i="1" spc="25" dirty="0">
                  <a:latin typeface="Times New Roman" panose="02020603050405020304"/>
                  <a:cs typeface="Times New Roman" panose="02020603050405020304"/>
                </a:rPr>
                <a:t>p</a:t>
              </a:r>
              <a:r>
                <a:rPr sz="2350" spc="25" dirty="0">
                  <a:latin typeface="Times New Roman" panose="02020603050405020304"/>
                  <a:cs typeface="Times New Roman" panose="02020603050405020304"/>
                </a:rPr>
                <a:t>,</a:t>
              </a:r>
              <a:r>
                <a:rPr sz="2350" spc="-375" dirty="0">
                  <a:latin typeface="Times New Roman" panose="02020603050405020304"/>
                  <a:cs typeface="Times New Roman" panose="02020603050405020304"/>
                </a:rPr>
                <a:t> </a:t>
              </a:r>
              <a:r>
                <a:rPr sz="2350" i="1" spc="35" dirty="0">
                  <a:latin typeface="Times New Roman" panose="02020603050405020304"/>
                  <a:cs typeface="Times New Roman" panose="02020603050405020304"/>
                </a:rPr>
                <a:t>c</a:t>
              </a:r>
              <a:r>
                <a:rPr sz="2350" i="1" spc="-10" dirty="0">
                  <a:latin typeface="Times New Roman" panose="02020603050405020304"/>
                  <a:cs typeface="Times New Roman" panose="02020603050405020304"/>
                </a:rPr>
                <a:t> </a:t>
              </a:r>
              <a:r>
                <a:rPr sz="2350" dirty="0">
                  <a:latin typeface="Times New Roman" panose="02020603050405020304"/>
                  <a:cs typeface="Times New Roman" panose="02020603050405020304"/>
                </a:rPr>
                <a:t>))</a:t>
              </a:r>
            </a:p>
          </p:txBody>
        </p:sp>
        <p:sp>
          <p:nvSpPr>
            <p:cNvPr id="35" name="object 8">
              <a:extLst>
                <a:ext uri="{FF2B5EF4-FFF2-40B4-BE49-F238E27FC236}">
                  <a16:creationId xmlns:a16="http://schemas.microsoft.com/office/drawing/2014/main" id="{4F8D1DE1-B672-4E7A-869C-B5584283B974}"/>
                </a:ext>
              </a:extLst>
            </p:cNvPr>
            <p:cNvSpPr txBox="1"/>
            <p:nvPr/>
          </p:nvSpPr>
          <p:spPr>
            <a:xfrm>
              <a:off x="9530" y="8599"/>
              <a:ext cx="98" cy="250"/>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950" i="1" spc="15" dirty="0">
                  <a:latin typeface="Times New Roman" panose="02020603050405020304"/>
                  <a:cs typeface="Times New Roman" panose="02020603050405020304"/>
                </a:rPr>
                <a:t>i</a:t>
              </a:r>
              <a:endParaRPr sz="950">
                <a:latin typeface="Times New Roman" panose="02020603050405020304"/>
                <a:cs typeface="Times New Roman" panose="02020603050405020304"/>
              </a:endParaRPr>
            </a:p>
          </p:txBody>
        </p:sp>
        <p:sp>
          <p:nvSpPr>
            <p:cNvPr id="36" name="object 9">
              <a:extLst>
                <a:ext uri="{FF2B5EF4-FFF2-40B4-BE49-F238E27FC236}">
                  <a16:creationId xmlns:a16="http://schemas.microsoft.com/office/drawing/2014/main" id="{7E747C88-4904-4C7D-B553-59FD5BFBA45E}"/>
                </a:ext>
              </a:extLst>
            </p:cNvPr>
            <p:cNvSpPr txBox="1"/>
            <p:nvPr/>
          </p:nvSpPr>
          <p:spPr>
            <a:xfrm>
              <a:off x="8343" y="8452"/>
              <a:ext cx="1232"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tabLst>
                  <a:tab pos="458470" algn="l"/>
                </a:tabLst>
                <a:defRPr/>
              </a:pPr>
              <a:r>
                <a:rPr sz="1350" i="1" spc="105" dirty="0">
                  <a:latin typeface="Times New Roman" panose="02020603050405020304"/>
                  <a:cs typeface="Times New Roman" panose="02020603050405020304"/>
                </a:rPr>
                <a:t>i</a:t>
              </a:r>
              <a:r>
                <a:rPr sz="1350" spc="-70" dirty="0">
                  <a:latin typeface="Symbol" panose="05050102010706020507"/>
                  <a:cs typeface="Symbol" panose="05050102010706020507"/>
                </a:rPr>
                <a:t></a:t>
              </a:r>
              <a:r>
                <a:rPr sz="1350" spc="30" dirty="0">
                  <a:latin typeface="Times New Roman" panose="02020603050405020304"/>
                  <a:cs typeface="Times New Roman" panose="02020603050405020304"/>
                </a:rPr>
                <a:t>1</a:t>
              </a:r>
              <a:r>
                <a:rPr sz="1350" dirty="0">
                  <a:latin typeface="Times New Roman" panose="02020603050405020304"/>
                  <a:cs typeface="Times New Roman" panose="02020603050405020304"/>
                </a:rPr>
                <a:t>	</a:t>
              </a:r>
              <a:r>
                <a:rPr sz="1350" i="1" spc="-50" dirty="0">
                  <a:latin typeface="Times New Roman" panose="02020603050405020304"/>
                  <a:cs typeface="Times New Roman" panose="02020603050405020304"/>
                </a:rPr>
                <a:t>p</a:t>
              </a:r>
              <a:r>
                <a:rPr sz="1350" spc="-95" dirty="0">
                  <a:latin typeface="Symbol" panose="05050102010706020507"/>
                  <a:cs typeface="Symbol" panose="05050102010706020507"/>
                </a:rPr>
                <a:t></a:t>
              </a:r>
              <a:r>
                <a:rPr sz="1350" i="1" spc="45" dirty="0">
                  <a:latin typeface="Times New Roman" panose="02020603050405020304"/>
                  <a:cs typeface="Times New Roman" panose="02020603050405020304"/>
                </a:rPr>
                <a:t>C</a:t>
              </a:r>
              <a:endParaRPr sz="1350">
                <a:latin typeface="Times New Roman" panose="02020603050405020304"/>
                <a:cs typeface="Times New Roman" panose="02020603050405020304"/>
              </a:endParaRPr>
            </a:p>
          </p:txBody>
        </p:sp>
        <p:sp>
          <p:nvSpPr>
            <p:cNvPr id="37" name="object 10">
              <a:extLst>
                <a:ext uri="{FF2B5EF4-FFF2-40B4-BE49-F238E27FC236}">
                  <a16:creationId xmlns:a16="http://schemas.microsoft.com/office/drawing/2014/main" id="{02E203C8-0FED-40FF-875B-8D8A91678288}"/>
                </a:ext>
              </a:extLst>
            </p:cNvPr>
            <p:cNvSpPr txBox="1"/>
            <p:nvPr/>
          </p:nvSpPr>
          <p:spPr>
            <a:xfrm>
              <a:off x="7270" y="8134"/>
              <a:ext cx="1765" cy="583"/>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tabLst>
                  <a:tab pos="924560" algn="l"/>
                </a:tabLst>
                <a:defRPr/>
              </a:pPr>
              <a:r>
                <a:rPr sz="2350" i="1" spc="50" dirty="0">
                  <a:latin typeface="Times New Roman" panose="02020603050405020304"/>
                  <a:cs typeface="Times New Roman" panose="02020603050405020304"/>
                </a:rPr>
                <a:t>E</a:t>
              </a:r>
              <a:r>
                <a:rPr sz="2350" i="1" spc="10" dirty="0">
                  <a:latin typeface="Times New Roman" panose="02020603050405020304"/>
                  <a:cs typeface="Times New Roman" panose="02020603050405020304"/>
                </a:rPr>
                <a:t> </a:t>
              </a:r>
              <a:r>
                <a:rPr sz="2350" spc="45" dirty="0">
                  <a:latin typeface="Symbol" panose="05050102010706020507"/>
                  <a:cs typeface="Symbol" panose="05050102010706020507"/>
                </a:rPr>
                <a:t></a:t>
              </a:r>
              <a:r>
                <a:rPr sz="2350" spc="-135" dirty="0">
                  <a:latin typeface="Times New Roman" panose="02020603050405020304"/>
                  <a:cs typeface="Times New Roman" panose="02020603050405020304"/>
                </a:rPr>
                <a:t> </a:t>
              </a:r>
              <a:r>
                <a:rPr sz="2350" spc="45" dirty="0">
                  <a:latin typeface="Symbol" panose="05050102010706020507"/>
                  <a:cs typeface="Symbol" panose="05050102010706020507"/>
                </a:rPr>
                <a:t></a:t>
              </a:r>
              <a:r>
                <a:rPr sz="2350" dirty="0">
                  <a:latin typeface="Times New Roman" panose="02020603050405020304"/>
                  <a:cs typeface="Times New Roman" panose="02020603050405020304"/>
                </a:rPr>
                <a:t>	</a:t>
              </a:r>
              <a:r>
                <a:rPr sz="2350" spc="45" dirty="0">
                  <a:latin typeface="Symbol" panose="05050102010706020507"/>
                  <a:cs typeface="Symbol" panose="05050102010706020507"/>
                </a:rPr>
                <a:t></a:t>
              </a:r>
              <a:endParaRPr sz="2350" dirty="0">
                <a:latin typeface="Symbol" panose="05050102010706020507"/>
                <a:cs typeface="Symbol" panose="05050102010706020507"/>
              </a:endParaRPr>
            </a:p>
          </p:txBody>
        </p:sp>
      </p:grpSp>
      <p:grpSp>
        <p:nvGrpSpPr>
          <p:cNvPr id="20" name="组合 19"/>
          <p:cNvGrpSpPr/>
          <p:nvPr>
            <p:custDataLst>
              <p:tags r:id="rId8"/>
            </p:custDataLst>
          </p:nvPr>
        </p:nvGrpSpPr>
        <p:grpSpPr>
          <a:xfrm>
            <a:off x="0" y="0"/>
            <a:ext cx="9144000" cy="635000"/>
            <a:chOff x="0" y="0"/>
            <a:chExt cx="9144000" cy="635000"/>
          </a:xfrm>
        </p:grpSpPr>
        <p:sp>
          <p:nvSpPr>
            <p:cNvPr id="16" name="TitleBackground"/>
            <p:cNvSpPr/>
            <p:nvPr>
              <p:custDataLst>
                <p:tags r:id="rId10"/>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ColorBlock"/>
            <p:cNvSpPr/>
            <p:nvPr>
              <p:custDataLst>
                <p:tags r:id="rId11"/>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单选题</a:t>
              </a:r>
            </a:p>
          </p:txBody>
        </p:sp>
        <p:sp>
          <p:nvSpPr>
            <p:cNvPr id="19" name="TipText"/>
            <p:cNvSpPr txBox="1"/>
            <p:nvPr>
              <p:custDataLst>
                <p:tags r:id="rId13"/>
              </p:custDataLst>
            </p:nvPr>
          </p:nvSpPr>
          <p:spPr>
            <a:xfrm>
              <a:off x="1510030" y="109220"/>
              <a:ext cx="2286000" cy="508000"/>
            </a:xfrm>
            <a:prstGeom prst="rect">
              <a:avLst/>
            </a:prstGeom>
            <a:noFill/>
          </p:spPr>
          <p:txBody>
            <a:bodyPr vert="horz" wrap="none" rtlCol="0" anchor="ctr" anchorCtr="0">
              <a:noAutofit/>
            </a:bodyPr>
            <a:lstStyle/>
            <a:p>
              <a:r>
                <a:rPr lang="en-US" altLang="zh-CN"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分</a:t>
              </a:r>
            </a:p>
          </p:txBody>
        </p:sp>
      </p:grpSp>
      <p:pic>
        <p:nvPicPr>
          <p:cNvPr id="5" name="图片 4"/>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214827338"/>
      </p:ext>
    </p:extLst>
  </p:cSld>
  <p:clrMapOvr>
    <a:masterClrMapping/>
  </p:clrMapOvr>
  <p:transition spd="med">
    <p:split orient="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custDataLst>
              <p:tags r:id="rId1"/>
            </p:custDataLst>
          </p:nvPr>
        </p:nvSpPr>
        <p:spPr>
          <a:xfrm>
            <a:off x="540000" y="756000"/>
            <a:ext cx="7315200" cy="580865"/>
          </a:xfrm>
          <a:prstGeom prst="rect">
            <a:avLst/>
          </a:prstGeom>
          <a:noFill/>
        </p:spPr>
        <p:txBody>
          <a:bodyPr vert="horz" wrap="square" rtlCol="0" anchor="ctr" anchorCtr="0">
            <a:spAutoFit/>
          </a:bodyPr>
          <a:lstStyle/>
          <a:p>
            <a:pPr>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一维空间的</a:t>
            </a:r>
            <a:r>
              <a:rPr lang="en-US" altLang="zh-CN"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7</a:t>
            </a:r>
            <a:r>
              <a:rPr lang="zh-CN" altLang="en-US"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个点  </a:t>
            </a:r>
            <a:r>
              <a:rPr lang="en-US" altLang="zh-CN"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2   3   8   9   10   25</a:t>
            </a:r>
            <a:endParaRPr lang="zh-CN" altLang="en-US"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矩形 16"/>
          <p:cNvSpPr/>
          <p:nvPr/>
        </p:nvSpPr>
        <p:spPr bwMode="auto">
          <a:xfrm>
            <a:off x="5406859" y="850430"/>
            <a:ext cx="504000" cy="504000"/>
          </a:xfrm>
          <a:prstGeom prst="rect">
            <a:avLst/>
          </a:prstGeom>
          <a:noFill/>
          <a:ln w="19050" cap="flat" cmpd="sng" algn="ctr">
            <a:solidFill>
              <a:srgbClr val="FF67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extBox 17"/>
          <p:cNvSpPr txBox="1"/>
          <p:nvPr/>
        </p:nvSpPr>
        <p:spPr>
          <a:xfrm>
            <a:off x="6029870" y="902375"/>
            <a:ext cx="1008112" cy="400110"/>
          </a:xfrm>
          <a:prstGeom prst="rect">
            <a:avLst/>
          </a:prstGeom>
          <a:noFill/>
        </p:spPr>
        <p:txBody>
          <a:bodyPr wrap="square" rtlCol="0">
            <a:spAutoFit/>
          </a:bodyPr>
          <a:lstStyle/>
          <a:p>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离群点</a:t>
            </a:r>
          </a:p>
        </p:txBody>
      </p:sp>
      <p:sp>
        <p:nvSpPr>
          <p:cNvPr id="3" name="TextBox 2"/>
          <p:cNvSpPr txBox="1"/>
          <p:nvPr/>
        </p:nvSpPr>
        <p:spPr>
          <a:xfrm>
            <a:off x="540000" y="1484784"/>
            <a:ext cx="7704408" cy="580865"/>
          </a:xfrm>
          <a:prstGeom prst="rect">
            <a:avLst/>
          </a:prstGeom>
          <a:noFill/>
        </p:spPr>
        <p:txBody>
          <a:bodyPr wrap="square" rtlCol="0">
            <a:spAutoFit/>
          </a:bodyPr>
          <a:lstStyle/>
          <a:p>
            <a:pPr>
              <a:lnSpc>
                <a:spcPct val="150000"/>
              </a:lnSpc>
            </a:pP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设置</a:t>
            </a:r>
            <a:r>
              <a:rPr lang="en-US" altLang="zh-CN"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k=2</a:t>
            </a: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，直觉应该</a:t>
            </a:r>
            <a:r>
              <a:rPr lang="zh-CN" altLang="en-US" sz="24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划分为 </a:t>
            </a:r>
            <a:r>
              <a:rPr lang="en-US" altLang="zh-CN" sz="24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(1,2,3) (8,9,10,25) </a:t>
            </a:r>
            <a:r>
              <a:rPr lang="zh-CN" altLang="en-US" sz="24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两</a:t>
            </a: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个类别</a:t>
            </a:r>
          </a:p>
        </p:txBody>
      </p:sp>
      <p:sp>
        <p:nvSpPr>
          <p:cNvPr id="14" name="TextBox 13"/>
          <p:cNvSpPr txBox="1"/>
          <p:nvPr/>
        </p:nvSpPr>
        <p:spPr>
          <a:xfrm>
            <a:off x="540000" y="2261639"/>
            <a:ext cx="6638208" cy="580865"/>
          </a:xfrm>
          <a:prstGeom prst="rect">
            <a:avLst/>
          </a:prstGeom>
          <a:noFill/>
        </p:spPr>
        <p:txBody>
          <a:bodyPr wrap="square" rtlCol="0">
            <a:spAutoFit/>
          </a:bodyPr>
          <a:lstStyle>
            <a:defPPr>
              <a:defRPr lang="zh-CN"/>
            </a:defPPr>
            <a:lvl1pPr>
              <a:lnSpc>
                <a:spcPct val="150000"/>
              </a:lnSpc>
              <a:defRPr sz="2400" b="1">
                <a:solidFill>
                  <a:srgbClr val="FF6700"/>
                </a:solidFill>
                <a:latin typeface="Times New Roman" panose="02020603050405020304" pitchFamily="18" charset="0"/>
                <a:ea typeface="微软雅黑" panose="020B0503020204020204" pitchFamily="34" charset="-122"/>
              </a:defRPr>
            </a:lvl1pPr>
          </a:lstStyle>
          <a:p>
            <a:r>
              <a:rPr lang="zh-CN" altLang="en-US" dirty="0">
                <a:sym typeface="Times New Roman" panose="02020603050405020304" pitchFamily="18" charset="0"/>
              </a:rPr>
              <a:t>划分方法聚类质量评价准则：</a:t>
            </a:r>
            <a:r>
              <a:rPr lang="zh-CN" altLang="en-US">
                <a:sym typeface="Times New Roman" panose="02020603050405020304" pitchFamily="18" charset="0"/>
              </a:rPr>
              <a:t>最小化</a:t>
            </a:r>
            <a:r>
              <a:rPr lang="en-US" altLang="zh-CN" dirty="0">
                <a:sym typeface="Times New Roman" panose="02020603050405020304" pitchFamily="18" charset="0"/>
              </a:rPr>
              <a:t>E</a:t>
            </a:r>
            <a:r>
              <a:rPr lang="zh-CN" altLang="en-US" dirty="0">
                <a:sym typeface="Times New Roman" panose="02020603050405020304" pitchFamily="18" charset="0"/>
              </a:rPr>
              <a:t>值</a:t>
            </a:r>
          </a:p>
        </p:txBody>
      </p:sp>
      <p:sp>
        <p:nvSpPr>
          <p:cNvPr id="4" name="TextBox 3"/>
          <p:cNvSpPr txBox="1"/>
          <p:nvPr/>
        </p:nvSpPr>
        <p:spPr>
          <a:xfrm>
            <a:off x="540000" y="3684407"/>
            <a:ext cx="5040560" cy="1569660"/>
          </a:xfrm>
          <a:prstGeom prst="rect">
            <a:avLst/>
          </a:prstGeom>
          <a:noFill/>
        </p:spPr>
        <p:txBody>
          <a:bodyPr wrap="square" rtlCol="0">
            <a:spAutoFit/>
          </a:bodyPr>
          <a:lstStyle/>
          <a:p>
            <a:r>
              <a:rPr lang="en-US" altLang="zh-CN" sz="24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1,2,3) (8,9,10,25) </a:t>
            </a:r>
            <a:r>
              <a:rPr lang="zh-CN" altLang="en-US" sz="2400">
                <a:latin typeface="Times New Roman" panose="02020603050405020304" pitchFamily="18" charset="0"/>
                <a:ea typeface="微软雅黑" panose="020B0503020204020204" pitchFamily="34" charset="-122"/>
                <a:sym typeface="Times New Roman" panose="02020603050405020304" pitchFamily="18" charset="0"/>
              </a:rPr>
              <a:t>聚类</a:t>
            </a:r>
            <a:r>
              <a:rPr lang="zh-CN" altLang="en-US" sz="2400" dirty="0">
                <a:latin typeface="Times New Roman" panose="02020603050405020304" pitchFamily="18" charset="0"/>
                <a:ea typeface="微软雅黑" panose="020B0503020204020204" pitchFamily="34" charset="-122"/>
                <a:sym typeface="Times New Roman" panose="02020603050405020304" pitchFamily="18" charset="0"/>
              </a:rPr>
              <a:t>的</a:t>
            </a:r>
            <a:r>
              <a:rPr lang="en-US" altLang="zh-CN" sz="24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400" dirty="0">
                <a:latin typeface="Times New Roman" panose="02020603050405020304" pitchFamily="18" charset="0"/>
                <a:ea typeface="微软雅黑" panose="020B0503020204020204" pitchFamily="34" charset="-122"/>
                <a:sym typeface="Times New Roman" panose="02020603050405020304" pitchFamily="18" charset="0"/>
              </a:rPr>
              <a:t>值为： </a:t>
            </a:r>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a:p>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a:p>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a:p>
            <a:r>
              <a:rPr lang="en-US" altLang="zh-CN" sz="24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1,2,3,8) (9,10,25) </a:t>
            </a:r>
            <a:r>
              <a:rPr lang="zh-CN" altLang="en-US" sz="2400">
                <a:latin typeface="Times New Roman" panose="02020603050405020304" pitchFamily="18" charset="0"/>
                <a:ea typeface="微软雅黑" panose="020B0503020204020204" pitchFamily="34" charset="-122"/>
                <a:sym typeface="Times New Roman" panose="02020603050405020304" pitchFamily="18" charset="0"/>
              </a:rPr>
              <a:t>的</a:t>
            </a:r>
            <a:r>
              <a:rPr lang="en-US" altLang="zh-CN" sz="24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400">
                <a:latin typeface="Times New Roman" panose="02020603050405020304" pitchFamily="18" charset="0"/>
                <a:ea typeface="微软雅黑" panose="020B0503020204020204" pitchFamily="34" charset="-122"/>
                <a:sym typeface="Times New Roman" panose="02020603050405020304" pitchFamily="18" charset="0"/>
              </a:rPr>
              <a:t>值为：</a:t>
            </a:r>
            <a:endParaRPr lang="zh-CN" altLang="en-US" sz="24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标题 1">
            <a:extLst>
              <a:ext uri="{FF2B5EF4-FFF2-40B4-BE49-F238E27FC236}">
                <a16:creationId xmlns:a16="http://schemas.microsoft.com/office/drawing/2014/main" id="{444630EE-6F6F-4EFF-B6BE-AA75FC9BE2A9}"/>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中心点方法解决对离群点敏感问题</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21" name="组合 20">
            <a:extLst>
              <a:ext uri="{FF2B5EF4-FFF2-40B4-BE49-F238E27FC236}">
                <a16:creationId xmlns:a16="http://schemas.microsoft.com/office/drawing/2014/main" id="{E4FD255B-A192-456C-95C8-D8FED5058298}"/>
              </a:ext>
            </a:extLst>
          </p:cNvPr>
          <p:cNvGrpSpPr/>
          <p:nvPr/>
        </p:nvGrpSpPr>
        <p:grpSpPr>
          <a:xfrm>
            <a:off x="3115491" y="3054596"/>
            <a:ext cx="2764155" cy="461645"/>
            <a:chOff x="6590" y="5400"/>
            <a:chExt cx="4353" cy="727"/>
          </a:xfrm>
        </p:grpSpPr>
        <p:sp>
          <p:nvSpPr>
            <p:cNvPr id="22" name="object 4">
              <a:extLst>
                <a:ext uri="{FF2B5EF4-FFF2-40B4-BE49-F238E27FC236}">
                  <a16:creationId xmlns:a16="http://schemas.microsoft.com/office/drawing/2014/main" id="{81AC36A9-0985-474B-BE65-5791A03BA2DA}"/>
                </a:ext>
              </a:extLst>
            </p:cNvPr>
            <p:cNvSpPr txBox="1"/>
            <p:nvPr/>
          </p:nvSpPr>
          <p:spPr>
            <a:xfrm>
              <a:off x="10760" y="5400"/>
              <a:ext cx="183"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spc="30" dirty="0">
                  <a:latin typeface="Times New Roman" panose="02020603050405020304"/>
                  <a:cs typeface="Times New Roman" panose="02020603050405020304"/>
                </a:rPr>
                <a:t>2</a:t>
              </a:r>
              <a:endParaRPr sz="1350">
                <a:latin typeface="Times New Roman" panose="02020603050405020304"/>
                <a:cs typeface="Times New Roman" panose="02020603050405020304"/>
              </a:endParaRPr>
            </a:p>
          </p:txBody>
        </p:sp>
        <p:sp>
          <p:nvSpPr>
            <p:cNvPr id="23" name="object 5">
              <a:extLst>
                <a:ext uri="{FF2B5EF4-FFF2-40B4-BE49-F238E27FC236}">
                  <a16:creationId xmlns:a16="http://schemas.microsoft.com/office/drawing/2014/main" id="{221BD68A-40AF-4C15-A036-2F3006656A98}"/>
                </a:ext>
              </a:extLst>
            </p:cNvPr>
            <p:cNvSpPr txBox="1"/>
            <p:nvPr/>
          </p:nvSpPr>
          <p:spPr>
            <a:xfrm>
              <a:off x="10290" y="5730"/>
              <a:ext cx="120"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i="1" spc="15" dirty="0">
                  <a:latin typeface="Times New Roman" panose="02020603050405020304"/>
                  <a:cs typeface="Times New Roman" panose="02020603050405020304"/>
                </a:rPr>
                <a:t>i</a:t>
              </a:r>
              <a:endParaRPr sz="1350">
                <a:latin typeface="Times New Roman" panose="02020603050405020304"/>
                <a:cs typeface="Times New Roman" panose="02020603050405020304"/>
              </a:endParaRPr>
            </a:p>
          </p:txBody>
        </p:sp>
        <p:sp>
          <p:nvSpPr>
            <p:cNvPr id="24" name="object 6">
              <a:extLst>
                <a:ext uri="{FF2B5EF4-FFF2-40B4-BE49-F238E27FC236}">
                  <a16:creationId xmlns:a16="http://schemas.microsoft.com/office/drawing/2014/main" id="{6A173CC4-F54E-4D75-8362-C4227AB03C72}"/>
                </a:ext>
              </a:extLst>
            </p:cNvPr>
            <p:cNvSpPr txBox="1"/>
            <p:nvPr/>
          </p:nvSpPr>
          <p:spPr>
            <a:xfrm>
              <a:off x="7670" y="5400"/>
              <a:ext cx="168"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i="1" spc="30" dirty="0">
                  <a:latin typeface="Times New Roman" panose="02020603050405020304"/>
                  <a:cs typeface="Times New Roman" panose="02020603050405020304"/>
                </a:rPr>
                <a:t>k</a:t>
              </a:r>
              <a:endParaRPr sz="1350">
                <a:latin typeface="Times New Roman" panose="02020603050405020304"/>
                <a:cs typeface="Times New Roman" panose="02020603050405020304"/>
              </a:endParaRPr>
            </a:p>
          </p:txBody>
        </p:sp>
        <p:sp>
          <p:nvSpPr>
            <p:cNvPr id="25" name="object 7">
              <a:extLst>
                <a:ext uri="{FF2B5EF4-FFF2-40B4-BE49-F238E27FC236}">
                  <a16:creationId xmlns:a16="http://schemas.microsoft.com/office/drawing/2014/main" id="{6B96FC24-3C5C-4255-9852-86B349DC4CFC}"/>
                </a:ext>
              </a:extLst>
            </p:cNvPr>
            <p:cNvSpPr txBox="1"/>
            <p:nvPr/>
          </p:nvSpPr>
          <p:spPr>
            <a:xfrm>
              <a:off x="8997" y="5412"/>
              <a:ext cx="1785" cy="583"/>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2350" spc="45" dirty="0">
                  <a:latin typeface="Times New Roman" panose="02020603050405020304"/>
                  <a:cs typeface="Times New Roman" panose="02020603050405020304"/>
                </a:rPr>
                <a:t>(</a:t>
              </a:r>
              <a:r>
                <a:rPr sz="2350" i="1" spc="45" dirty="0">
                  <a:latin typeface="Times New Roman" panose="02020603050405020304"/>
                  <a:cs typeface="Times New Roman" panose="02020603050405020304"/>
                </a:rPr>
                <a:t>d</a:t>
              </a:r>
              <a:r>
                <a:rPr sz="2350" i="1" spc="-395" dirty="0">
                  <a:latin typeface="Times New Roman" panose="02020603050405020304"/>
                  <a:cs typeface="Times New Roman" panose="02020603050405020304"/>
                </a:rPr>
                <a:t> </a:t>
              </a:r>
              <a:r>
                <a:rPr sz="2350" spc="25" dirty="0">
                  <a:latin typeface="Times New Roman" panose="02020603050405020304"/>
                  <a:cs typeface="Times New Roman" panose="02020603050405020304"/>
                </a:rPr>
                <a:t>(</a:t>
              </a:r>
              <a:r>
                <a:rPr sz="2350" spc="-285" dirty="0">
                  <a:latin typeface="Times New Roman" panose="02020603050405020304"/>
                  <a:cs typeface="Times New Roman" panose="02020603050405020304"/>
                </a:rPr>
                <a:t> </a:t>
              </a:r>
              <a:r>
                <a:rPr sz="2350" i="1" spc="25" dirty="0">
                  <a:latin typeface="Times New Roman" panose="02020603050405020304"/>
                  <a:cs typeface="Times New Roman" panose="02020603050405020304"/>
                </a:rPr>
                <a:t>p</a:t>
              </a:r>
              <a:r>
                <a:rPr sz="2350" spc="25" dirty="0">
                  <a:latin typeface="Times New Roman" panose="02020603050405020304"/>
                  <a:cs typeface="Times New Roman" panose="02020603050405020304"/>
                </a:rPr>
                <a:t>,</a:t>
              </a:r>
              <a:r>
                <a:rPr sz="2350" spc="-375" dirty="0">
                  <a:latin typeface="Times New Roman" panose="02020603050405020304"/>
                  <a:cs typeface="Times New Roman" panose="02020603050405020304"/>
                </a:rPr>
                <a:t> </a:t>
              </a:r>
              <a:r>
                <a:rPr sz="2350" i="1" spc="35" dirty="0">
                  <a:latin typeface="Times New Roman" panose="02020603050405020304"/>
                  <a:cs typeface="Times New Roman" panose="02020603050405020304"/>
                </a:rPr>
                <a:t>c</a:t>
              </a:r>
              <a:r>
                <a:rPr sz="2350" i="1" spc="-10" dirty="0">
                  <a:latin typeface="Times New Roman" panose="02020603050405020304"/>
                  <a:cs typeface="Times New Roman" panose="02020603050405020304"/>
                </a:rPr>
                <a:t> </a:t>
              </a:r>
              <a:r>
                <a:rPr sz="2350" dirty="0">
                  <a:latin typeface="Times New Roman" panose="02020603050405020304"/>
                  <a:cs typeface="Times New Roman" panose="02020603050405020304"/>
                </a:rPr>
                <a:t>))</a:t>
              </a:r>
            </a:p>
          </p:txBody>
        </p:sp>
        <p:sp>
          <p:nvSpPr>
            <p:cNvPr id="26" name="object 8">
              <a:extLst>
                <a:ext uri="{FF2B5EF4-FFF2-40B4-BE49-F238E27FC236}">
                  <a16:creationId xmlns:a16="http://schemas.microsoft.com/office/drawing/2014/main" id="{E7709B7C-134B-418F-BFE0-F0CB4F330CAD}"/>
                </a:ext>
              </a:extLst>
            </p:cNvPr>
            <p:cNvSpPr txBox="1"/>
            <p:nvPr/>
          </p:nvSpPr>
          <p:spPr>
            <a:xfrm>
              <a:off x="8850" y="5877"/>
              <a:ext cx="98" cy="250"/>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950" i="1" spc="15" dirty="0">
                  <a:latin typeface="Times New Roman" panose="02020603050405020304"/>
                  <a:cs typeface="Times New Roman" panose="02020603050405020304"/>
                </a:rPr>
                <a:t>i</a:t>
              </a:r>
              <a:endParaRPr sz="950">
                <a:latin typeface="Times New Roman" panose="02020603050405020304"/>
                <a:cs typeface="Times New Roman" panose="02020603050405020304"/>
              </a:endParaRPr>
            </a:p>
          </p:txBody>
        </p:sp>
        <p:sp>
          <p:nvSpPr>
            <p:cNvPr id="27" name="object 9">
              <a:extLst>
                <a:ext uri="{FF2B5EF4-FFF2-40B4-BE49-F238E27FC236}">
                  <a16:creationId xmlns:a16="http://schemas.microsoft.com/office/drawing/2014/main" id="{7503FB53-0969-4A4D-9F57-6535063340B1}"/>
                </a:ext>
              </a:extLst>
            </p:cNvPr>
            <p:cNvSpPr txBox="1"/>
            <p:nvPr/>
          </p:nvSpPr>
          <p:spPr>
            <a:xfrm>
              <a:off x="7662" y="5730"/>
              <a:ext cx="1232"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tabLst>
                  <a:tab pos="458470" algn="l"/>
                </a:tabLst>
                <a:defRPr/>
              </a:pPr>
              <a:r>
                <a:rPr sz="1350" i="1" spc="105" dirty="0">
                  <a:latin typeface="Times New Roman" panose="02020603050405020304"/>
                  <a:cs typeface="Times New Roman" panose="02020603050405020304"/>
                </a:rPr>
                <a:t>i</a:t>
              </a:r>
              <a:r>
                <a:rPr sz="1350" spc="-70" dirty="0">
                  <a:latin typeface="Symbol" panose="05050102010706020507"/>
                  <a:cs typeface="Symbol" panose="05050102010706020507"/>
                </a:rPr>
                <a:t></a:t>
              </a:r>
              <a:r>
                <a:rPr sz="1350" spc="30" dirty="0">
                  <a:latin typeface="Times New Roman" panose="02020603050405020304"/>
                  <a:cs typeface="Times New Roman" panose="02020603050405020304"/>
                </a:rPr>
                <a:t>1</a:t>
              </a:r>
              <a:r>
                <a:rPr sz="1350" dirty="0">
                  <a:latin typeface="Times New Roman" panose="02020603050405020304"/>
                  <a:cs typeface="Times New Roman" panose="02020603050405020304"/>
                </a:rPr>
                <a:t>	</a:t>
              </a:r>
              <a:r>
                <a:rPr sz="1350" i="1" spc="-50" dirty="0">
                  <a:latin typeface="Times New Roman" panose="02020603050405020304"/>
                  <a:cs typeface="Times New Roman" panose="02020603050405020304"/>
                </a:rPr>
                <a:t>p</a:t>
              </a:r>
              <a:r>
                <a:rPr sz="1350" spc="-95" dirty="0">
                  <a:latin typeface="Symbol" panose="05050102010706020507"/>
                  <a:cs typeface="Symbol" panose="05050102010706020507"/>
                </a:rPr>
                <a:t></a:t>
              </a:r>
              <a:r>
                <a:rPr sz="1350" i="1" spc="45" dirty="0">
                  <a:latin typeface="Times New Roman" panose="02020603050405020304"/>
                  <a:cs typeface="Times New Roman" panose="02020603050405020304"/>
                </a:rPr>
                <a:t>C</a:t>
              </a:r>
              <a:endParaRPr sz="1350">
                <a:latin typeface="Times New Roman" panose="02020603050405020304"/>
                <a:cs typeface="Times New Roman" panose="02020603050405020304"/>
              </a:endParaRPr>
            </a:p>
          </p:txBody>
        </p:sp>
        <p:sp>
          <p:nvSpPr>
            <p:cNvPr id="28" name="object 10">
              <a:extLst>
                <a:ext uri="{FF2B5EF4-FFF2-40B4-BE49-F238E27FC236}">
                  <a16:creationId xmlns:a16="http://schemas.microsoft.com/office/drawing/2014/main" id="{A7F53302-BD9E-44E8-912F-D4E3326A7DC3}"/>
                </a:ext>
              </a:extLst>
            </p:cNvPr>
            <p:cNvSpPr txBox="1"/>
            <p:nvPr/>
          </p:nvSpPr>
          <p:spPr>
            <a:xfrm>
              <a:off x="6590" y="5412"/>
              <a:ext cx="1765" cy="583"/>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tabLst>
                  <a:tab pos="924560" algn="l"/>
                </a:tabLst>
                <a:defRPr/>
              </a:pPr>
              <a:r>
                <a:rPr sz="2350" i="1" spc="50" dirty="0">
                  <a:latin typeface="Times New Roman" panose="02020603050405020304"/>
                  <a:cs typeface="Times New Roman" panose="02020603050405020304"/>
                </a:rPr>
                <a:t>E</a:t>
              </a:r>
              <a:r>
                <a:rPr sz="2350" i="1" spc="10" dirty="0">
                  <a:latin typeface="Times New Roman" panose="02020603050405020304"/>
                  <a:cs typeface="Times New Roman" panose="02020603050405020304"/>
                </a:rPr>
                <a:t> </a:t>
              </a:r>
              <a:r>
                <a:rPr sz="2350" spc="45" dirty="0">
                  <a:latin typeface="Symbol" panose="05050102010706020507"/>
                  <a:cs typeface="Symbol" panose="05050102010706020507"/>
                </a:rPr>
                <a:t></a:t>
              </a:r>
              <a:r>
                <a:rPr sz="2350" spc="-135" dirty="0">
                  <a:latin typeface="Times New Roman" panose="02020603050405020304"/>
                  <a:cs typeface="Times New Roman" panose="02020603050405020304"/>
                </a:rPr>
                <a:t> </a:t>
              </a:r>
              <a:r>
                <a:rPr sz="2350" spc="45" dirty="0">
                  <a:latin typeface="Symbol" panose="05050102010706020507"/>
                  <a:cs typeface="Symbol" panose="05050102010706020507"/>
                </a:rPr>
                <a:t></a:t>
              </a:r>
              <a:r>
                <a:rPr sz="2350" dirty="0">
                  <a:latin typeface="Times New Roman" panose="02020603050405020304"/>
                  <a:cs typeface="Times New Roman" panose="02020603050405020304"/>
                </a:rPr>
                <a:t>	</a:t>
              </a:r>
              <a:r>
                <a:rPr sz="2350" spc="45" dirty="0">
                  <a:latin typeface="Symbol" panose="05050102010706020507"/>
                  <a:cs typeface="Symbol" panose="05050102010706020507"/>
                </a:rPr>
                <a:t></a:t>
              </a:r>
              <a:endParaRPr sz="2350" dirty="0">
                <a:latin typeface="Symbol" panose="05050102010706020507"/>
                <a:cs typeface="Symbol" panose="05050102010706020507"/>
              </a:endParaRPr>
            </a:p>
          </p:txBody>
        </p:sp>
      </p:grpSp>
      <p:sp>
        <p:nvSpPr>
          <p:cNvPr id="29" name="TextBox 3">
            <a:extLst>
              <a:ext uri="{FF2B5EF4-FFF2-40B4-BE49-F238E27FC236}">
                <a16:creationId xmlns:a16="http://schemas.microsoft.com/office/drawing/2014/main" id="{E2DB64C1-0DCA-444C-8399-BCC7C22FAC10}"/>
              </a:ext>
            </a:extLst>
          </p:cNvPr>
          <p:cNvSpPr txBox="1"/>
          <p:nvPr/>
        </p:nvSpPr>
        <p:spPr>
          <a:xfrm>
            <a:off x="240675" y="4217219"/>
            <a:ext cx="8619832" cy="430887"/>
          </a:xfrm>
          <a:prstGeom prst="rect">
            <a:avLst/>
          </a:prstGeom>
          <a:noFill/>
        </p:spPr>
        <p:txBody>
          <a:bodyPr wrap="square" rtlCol="0">
            <a:spAutoFit/>
          </a:bodyPr>
          <a:lstStyle/>
          <a:p>
            <a:pPr algn="ct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(1-2)</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(2-2)</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(3-2)</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(8-13)</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(9-13)</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(10-13)</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(25-13)</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=196</a:t>
            </a:r>
            <a:endParaRPr lang="zh-CN" altLang="en-US" sz="22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TextBox 3">
            <a:extLst>
              <a:ext uri="{FF2B5EF4-FFF2-40B4-BE49-F238E27FC236}">
                <a16:creationId xmlns:a16="http://schemas.microsoft.com/office/drawing/2014/main" id="{7FFC51E4-569C-48F3-8868-92AC36E5C8C7}"/>
              </a:ext>
            </a:extLst>
          </p:cNvPr>
          <p:cNvSpPr txBox="1"/>
          <p:nvPr/>
        </p:nvSpPr>
        <p:spPr>
          <a:xfrm>
            <a:off x="6531" y="5371474"/>
            <a:ext cx="9143999" cy="400110"/>
          </a:xfrm>
          <a:prstGeom prst="rect">
            <a:avLst/>
          </a:prstGeom>
          <a:noFill/>
        </p:spPr>
        <p:txBody>
          <a:bodyPr wrap="square" rtlCol="0">
            <a:spAutoFit/>
          </a:bodyPr>
          <a:lstStyle/>
          <a:p>
            <a:pPr algn="ct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(1-3.5)</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 (2-3.5)</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 (3-3.5)</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 (8-3.5)</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 (9-14.67)</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 (10-14.67)</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 (25-14.67)</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=196</a:t>
            </a:r>
            <a:endParaRPr lang="zh-CN" altLang="en-US"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071340108"/>
      </p:ext>
    </p:extLst>
  </p:cSld>
  <p:clrMapOvr>
    <a:masterClrMapping/>
  </p:clrMapOvr>
  <p:transition spd="med">
    <p:split orient="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custDataLst>
              <p:tags r:id="rId1"/>
            </p:custDataLst>
          </p:nvPr>
        </p:nvSpPr>
        <p:spPr>
          <a:xfrm>
            <a:off x="540000" y="756000"/>
            <a:ext cx="7315200" cy="580865"/>
          </a:xfrm>
          <a:prstGeom prst="rect">
            <a:avLst/>
          </a:prstGeom>
          <a:noFill/>
        </p:spPr>
        <p:txBody>
          <a:bodyPr vert="horz" wrap="square" rtlCol="0" anchor="ctr" anchorCtr="0">
            <a:spAutoFit/>
          </a:bodyPr>
          <a:lstStyle/>
          <a:p>
            <a:pPr>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一维空间的</a:t>
            </a:r>
            <a:r>
              <a:rPr lang="en-US" altLang="zh-CN"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7</a:t>
            </a:r>
            <a:r>
              <a:rPr lang="zh-CN" altLang="en-US"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个点  </a:t>
            </a:r>
            <a:r>
              <a:rPr lang="en-US" altLang="zh-CN"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2   3   8   9   10   25</a:t>
            </a:r>
            <a:endParaRPr lang="zh-CN" altLang="en-US" sz="24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矩形 16"/>
          <p:cNvSpPr/>
          <p:nvPr/>
        </p:nvSpPr>
        <p:spPr bwMode="auto">
          <a:xfrm>
            <a:off x="5406859" y="850430"/>
            <a:ext cx="504000" cy="504000"/>
          </a:xfrm>
          <a:prstGeom prst="rect">
            <a:avLst/>
          </a:prstGeom>
          <a:noFill/>
          <a:ln w="19050" cap="flat" cmpd="sng" algn="ctr">
            <a:solidFill>
              <a:srgbClr val="FF67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extBox 17"/>
          <p:cNvSpPr txBox="1"/>
          <p:nvPr/>
        </p:nvSpPr>
        <p:spPr>
          <a:xfrm>
            <a:off x="6029870" y="902375"/>
            <a:ext cx="1008112" cy="400110"/>
          </a:xfrm>
          <a:prstGeom prst="rect">
            <a:avLst/>
          </a:prstGeom>
          <a:noFill/>
        </p:spPr>
        <p:txBody>
          <a:bodyPr wrap="square" rtlCol="0">
            <a:spAutoFit/>
          </a:bodyPr>
          <a:lstStyle/>
          <a:p>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离群点</a:t>
            </a:r>
          </a:p>
        </p:txBody>
      </p:sp>
      <p:sp>
        <p:nvSpPr>
          <p:cNvPr id="3" name="TextBox 2"/>
          <p:cNvSpPr txBox="1"/>
          <p:nvPr/>
        </p:nvSpPr>
        <p:spPr>
          <a:xfrm>
            <a:off x="540000" y="1484784"/>
            <a:ext cx="7704408" cy="580865"/>
          </a:xfrm>
          <a:prstGeom prst="rect">
            <a:avLst/>
          </a:prstGeom>
          <a:noFill/>
        </p:spPr>
        <p:txBody>
          <a:bodyPr wrap="square" rtlCol="0">
            <a:spAutoFit/>
          </a:bodyPr>
          <a:lstStyle/>
          <a:p>
            <a:pPr>
              <a:lnSpc>
                <a:spcPct val="150000"/>
              </a:lnSpc>
            </a:pP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设置</a:t>
            </a:r>
            <a:r>
              <a:rPr lang="en-US" altLang="zh-CN"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k=2</a:t>
            </a: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，直觉应该</a:t>
            </a:r>
            <a:r>
              <a:rPr lang="zh-CN" altLang="en-US" sz="24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划分为 </a:t>
            </a:r>
            <a:r>
              <a:rPr lang="en-US" altLang="zh-CN" sz="24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(1,2,3) (8,9,10,25) </a:t>
            </a:r>
            <a:r>
              <a:rPr lang="zh-CN" altLang="en-US" sz="24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两</a:t>
            </a:r>
            <a:r>
              <a:rPr lang="zh-CN" altLang="en-US" sz="24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个类别</a:t>
            </a:r>
          </a:p>
        </p:txBody>
      </p:sp>
      <p:sp>
        <p:nvSpPr>
          <p:cNvPr id="14" name="TextBox 13"/>
          <p:cNvSpPr txBox="1"/>
          <p:nvPr/>
        </p:nvSpPr>
        <p:spPr>
          <a:xfrm>
            <a:off x="540000" y="2261639"/>
            <a:ext cx="6638208" cy="580865"/>
          </a:xfrm>
          <a:prstGeom prst="rect">
            <a:avLst/>
          </a:prstGeom>
          <a:noFill/>
        </p:spPr>
        <p:txBody>
          <a:bodyPr wrap="square" rtlCol="0">
            <a:spAutoFit/>
          </a:bodyPr>
          <a:lstStyle>
            <a:defPPr>
              <a:defRPr lang="zh-CN"/>
            </a:defPPr>
            <a:lvl1pPr>
              <a:lnSpc>
                <a:spcPct val="150000"/>
              </a:lnSpc>
              <a:defRPr sz="2400" b="1">
                <a:solidFill>
                  <a:srgbClr val="FF6700"/>
                </a:solidFill>
                <a:latin typeface="Times New Roman" panose="02020603050405020304" pitchFamily="18" charset="0"/>
                <a:ea typeface="微软雅黑" panose="020B0503020204020204" pitchFamily="34" charset="-122"/>
              </a:defRPr>
            </a:lvl1pPr>
          </a:lstStyle>
          <a:p>
            <a:r>
              <a:rPr lang="zh-CN" altLang="en-US" dirty="0">
                <a:sym typeface="Times New Roman" panose="02020603050405020304" pitchFamily="18" charset="0"/>
              </a:rPr>
              <a:t>划分方法聚类质量评价准则：</a:t>
            </a:r>
            <a:r>
              <a:rPr lang="zh-CN" altLang="en-US">
                <a:sym typeface="Times New Roman" panose="02020603050405020304" pitchFamily="18" charset="0"/>
              </a:rPr>
              <a:t>最小化</a:t>
            </a:r>
            <a:r>
              <a:rPr lang="en-US" altLang="zh-CN" dirty="0">
                <a:sym typeface="Times New Roman" panose="02020603050405020304" pitchFamily="18" charset="0"/>
              </a:rPr>
              <a:t>E</a:t>
            </a:r>
            <a:r>
              <a:rPr lang="zh-CN" altLang="en-US" dirty="0">
                <a:sym typeface="Times New Roman" panose="02020603050405020304" pitchFamily="18" charset="0"/>
              </a:rPr>
              <a:t>值</a:t>
            </a:r>
          </a:p>
        </p:txBody>
      </p:sp>
      <p:sp>
        <p:nvSpPr>
          <p:cNvPr id="4" name="TextBox 3"/>
          <p:cNvSpPr txBox="1"/>
          <p:nvPr/>
        </p:nvSpPr>
        <p:spPr>
          <a:xfrm>
            <a:off x="540000" y="3684407"/>
            <a:ext cx="5040560" cy="1569660"/>
          </a:xfrm>
          <a:prstGeom prst="rect">
            <a:avLst/>
          </a:prstGeom>
          <a:noFill/>
        </p:spPr>
        <p:txBody>
          <a:bodyPr wrap="square" rtlCol="0">
            <a:spAutoFit/>
          </a:bodyPr>
          <a:lstStyle/>
          <a:p>
            <a:r>
              <a:rPr lang="en-US" altLang="zh-CN" sz="24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1,2,3) (8,9,10,25) </a:t>
            </a:r>
            <a:r>
              <a:rPr lang="zh-CN" altLang="en-US" sz="2400">
                <a:latin typeface="Times New Roman" panose="02020603050405020304" pitchFamily="18" charset="0"/>
                <a:ea typeface="微软雅黑" panose="020B0503020204020204" pitchFamily="34" charset="-122"/>
                <a:sym typeface="Times New Roman" panose="02020603050405020304" pitchFamily="18" charset="0"/>
              </a:rPr>
              <a:t>聚类</a:t>
            </a:r>
            <a:r>
              <a:rPr lang="zh-CN" altLang="en-US" sz="2400" dirty="0">
                <a:latin typeface="Times New Roman" panose="02020603050405020304" pitchFamily="18" charset="0"/>
                <a:ea typeface="微软雅黑" panose="020B0503020204020204" pitchFamily="34" charset="-122"/>
                <a:sym typeface="Times New Roman" panose="02020603050405020304" pitchFamily="18" charset="0"/>
              </a:rPr>
              <a:t>的</a:t>
            </a:r>
            <a:r>
              <a:rPr lang="en-US" altLang="zh-CN" sz="24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400" dirty="0">
                <a:latin typeface="Times New Roman" panose="02020603050405020304" pitchFamily="18" charset="0"/>
                <a:ea typeface="微软雅黑" panose="020B0503020204020204" pitchFamily="34" charset="-122"/>
                <a:sym typeface="Times New Roman" panose="02020603050405020304" pitchFamily="18" charset="0"/>
              </a:rPr>
              <a:t>值为： </a:t>
            </a:r>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a:p>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a:p>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a:p>
            <a:r>
              <a:rPr lang="en-US" altLang="zh-CN" sz="24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1,2,3,8) (9,10,25) </a:t>
            </a:r>
            <a:r>
              <a:rPr lang="zh-CN" altLang="en-US" sz="2400">
                <a:latin typeface="Times New Roman" panose="02020603050405020304" pitchFamily="18" charset="0"/>
                <a:ea typeface="微软雅黑" panose="020B0503020204020204" pitchFamily="34" charset="-122"/>
                <a:sym typeface="Times New Roman" panose="02020603050405020304" pitchFamily="18" charset="0"/>
              </a:rPr>
              <a:t>的</a:t>
            </a:r>
            <a:r>
              <a:rPr lang="en-US" altLang="zh-CN" sz="24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400">
                <a:latin typeface="Times New Roman" panose="02020603050405020304" pitchFamily="18" charset="0"/>
                <a:ea typeface="微软雅黑" panose="020B0503020204020204" pitchFamily="34" charset="-122"/>
                <a:sym typeface="Times New Roman" panose="02020603050405020304" pitchFamily="18" charset="0"/>
              </a:rPr>
              <a:t>值为：</a:t>
            </a:r>
            <a:endParaRPr lang="zh-CN" altLang="en-US" sz="24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bwMode="auto">
          <a:xfrm>
            <a:off x="575872" y="4751649"/>
            <a:ext cx="2339943" cy="576064"/>
          </a:xfrm>
          <a:prstGeom prst="rect">
            <a:avLst/>
          </a:prstGeom>
          <a:noFill/>
          <a:ln w="19050" cap="flat" cmpd="sng" algn="ctr">
            <a:solidFill>
              <a:srgbClr val="FF67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spcBef>
                <a:spcPct val="0"/>
              </a:spcBef>
              <a:spcAft>
                <a:spcPct val="0"/>
              </a:spcAft>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标题 1">
            <a:extLst>
              <a:ext uri="{FF2B5EF4-FFF2-40B4-BE49-F238E27FC236}">
                <a16:creationId xmlns:a16="http://schemas.microsoft.com/office/drawing/2014/main" id="{444630EE-6F6F-4EFF-B6BE-AA75FC9BE2A9}"/>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中心点方法解决对离群点敏感问题</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21" name="组合 20">
            <a:extLst>
              <a:ext uri="{FF2B5EF4-FFF2-40B4-BE49-F238E27FC236}">
                <a16:creationId xmlns:a16="http://schemas.microsoft.com/office/drawing/2014/main" id="{E4FD255B-A192-456C-95C8-D8FED5058298}"/>
              </a:ext>
            </a:extLst>
          </p:cNvPr>
          <p:cNvGrpSpPr/>
          <p:nvPr/>
        </p:nvGrpSpPr>
        <p:grpSpPr>
          <a:xfrm>
            <a:off x="3115491" y="3054596"/>
            <a:ext cx="2764155" cy="461645"/>
            <a:chOff x="6590" y="5400"/>
            <a:chExt cx="4353" cy="727"/>
          </a:xfrm>
        </p:grpSpPr>
        <p:sp>
          <p:nvSpPr>
            <p:cNvPr id="22" name="object 4">
              <a:extLst>
                <a:ext uri="{FF2B5EF4-FFF2-40B4-BE49-F238E27FC236}">
                  <a16:creationId xmlns:a16="http://schemas.microsoft.com/office/drawing/2014/main" id="{81AC36A9-0985-474B-BE65-5791A03BA2DA}"/>
                </a:ext>
              </a:extLst>
            </p:cNvPr>
            <p:cNvSpPr txBox="1"/>
            <p:nvPr/>
          </p:nvSpPr>
          <p:spPr>
            <a:xfrm>
              <a:off x="10760" y="5400"/>
              <a:ext cx="183"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spc="30" dirty="0">
                  <a:latin typeface="Times New Roman" panose="02020603050405020304"/>
                  <a:cs typeface="Times New Roman" panose="02020603050405020304"/>
                </a:rPr>
                <a:t>2</a:t>
              </a:r>
              <a:endParaRPr sz="1350">
                <a:latin typeface="Times New Roman" panose="02020603050405020304"/>
                <a:cs typeface="Times New Roman" panose="02020603050405020304"/>
              </a:endParaRPr>
            </a:p>
          </p:txBody>
        </p:sp>
        <p:sp>
          <p:nvSpPr>
            <p:cNvPr id="23" name="object 5">
              <a:extLst>
                <a:ext uri="{FF2B5EF4-FFF2-40B4-BE49-F238E27FC236}">
                  <a16:creationId xmlns:a16="http://schemas.microsoft.com/office/drawing/2014/main" id="{221BD68A-40AF-4C15-A036-2F3006656A98}"/>
                </a:ext>
              </a:extLst>
            </p:cNvPr>
            <p:cNvSpPr txBox="1"/>
            <p:nvPr/>
          </p:nvSpPr>
          <p:spPr>
            <a:xfrm>
              <a:off x="10290" y="5730"/>
              <a:ext cx="120"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i="1" spc="15" dirty="0">
                  <a:latin typeface="Times New Roman" panose="02020603050405020304"/>
                  <a:cs typeface="Times New Roman" panose="02020603050405020304"/>
                </a:rPr>
                <a:t>i</a:t>
              </a:r>
              <a:endParaRPr sz="1350">
                <a:latin typeface="Times New Roman" panose="02020603050405020304"/>
                <a:cs typeface="Times New Roman" panose="02020603050405020304"/>
              </a:endParaRPr>
            </a:p>
          </p:txBody>
        </p:sp>
        <p:sp>
          <p:nvSpPr>
            <p:cNvPr id="24" name="object 6">
              <a:extLst>
                <a:ext uri="{FF2B5EF4-FFF2-40B4-BE49-F238E27FC236}">
                  <a16:creationId xmlns:a16="http://schemas.microsoft.com/office/drawing/2014/main" id="{6A173CC4-F54E-4D75-8362-C4227AB03C72}"/>
                </a:ext>
              </a:extLst>
            </p:cNvPr>
            <p:cNvSpPr txBox="1"/>
            <p:nvPr/>
          </p:nvSpPr>
          <p:spPr>
            <a:xfrm>
              <a:off x="7670" y="5400"/>
              <a:ext cx="168"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1350" i="1" spc="30" dirty="0">
                  <a:latin typeface="Times New Roman" panose="02020603050405020304"/>
                  <a:cs typeface="Times New Roman" panose="02020603050405020304"/>
                </a:rPr>
                <a:t>k</a:t>
              </a:r>
              <a:endParaRPr sz="1350">
                <a:latin typeface="Times New Roman" panose="02020603050405020304"/>
                <a:cs typeface="Times New Roman" panose="02020603050405020304"/>
              </a:endParaRPr>
            </a:p>
          </p:txBody>
        </p:sp>
        <p:sp>
          <p:nvSpPr>
            <p:cNvPr id="25" name="object 7">
              <a:extLst>
                <a:ext uri="{FF2B5EF4-FFF2-40B4-BE49-F238E27FC236}">
                  <a16:creationId xmlns:a16="http://schemas.microsoft.com/office/drawing/2014/main" id="{6B96FC24-3C5C-4255-9852-86B349DC4CFC}"/>
                </a:ext>
              </a:extLst>
            </p:cNvPr>
            <p:cNvSpPr txBox="1"/>
            <p:nvPr/>
          </p:nvSpPr>
          <p:spPr>
            <a:xfrm>
              <a:off x="8997" y="5412"/>
              <a:ext cx="1785" cy="583"/>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2350" spc="45" dirty="0">
                  <a:latin typeface="Times New Roman" panose="02020603050405020304"/>
                  <a:cs typeface="Times New Roman" panose="02020603050405020304"/>
                </a:rPr>
                <a:t>(</a:t>
              </a:r>
              <a:r>
                <a:rPr sz="2350" i="1" spc="45" dirty="0">
                  <a:latin typeface="Times New Roman" panose="02020603050405020304"/>
                  <a:cs typeface="Times New Roman" panose="02020603050405020304"/>
                </a:rPr>
                <a:t>d</a:t>
              </a:r>
              <a:r>
                <a:rPr sz="2350" i="1" spc="-395" dirty="0">
                  <a:latin typeface="Times New Roman" panose="02020603050405020304"/>
                  <a:cs typeface="Times New Roman" panose="02020603050405020304"/>
                </a:rPr>
                <a:t> </a:t>
              </a:r>
              <a:r>
                <a:rPr sz="2350" spc="25" dirty="0">
                  <a:latin typeface="Times New Roman" panose="02020603050405020304"/>
                  <a:cs typeface="Times New Roman" panose="02020603050405020304"/>
                </a:rPr>
                <a:t>(</a:t>
              </a:r>
              <a:r>
                <a:rPr sz="2350" spc="-285" dirty="0">
                  <a:latin typeface="Times New Roman" panose="02020603050405020304"/>
                  <a:cs typeface="Times New Roman" panose="02020603050405020304"/>
                </a:rPr>
                <a:t> </a:t>
              </a:r>
              <a:r>
                <a:rPr sz="2350" i="1" spc="25" dirty="0">
                  <a:latin typeface="Times New Roman" panose="02020603050405020304"/>
                  <a:cs typeface="Times New Roman" panose="02020603050405020304"/>
                </a:rPr>
                <a:t>p</a:t>
              </a:r>
              <a:r>
                <a:rPr sz="2350" spc="25" dirty="0">
                  <a:latin typeface="Times New Roman" panose="02020603050405020304"/>
                  <a:cs typeface="Times New Roman" panose="02020603050405020304"/>
                </a:rPr>
                <a:t>,</a:t>
              </a:r>
              <a:r>
                <a:rPr sz="2350" spc="-375" dirty="0">
                  <a:latin typeface="Times New Roman" panose="02020603050405020304"/>
                  <a:cs typeface="Times New Roman" panose="02020603050405020304"/>
                </a:rPr>
                <a:t> </a:t>
              </a:r>
              <a:r>
                <a:rPr sz="2350" i="1" spc="35" dirty="0">
                  <a:latin typeface="Times New Roman" panose="02020603050405020304"/>
                  <a:cs typeface="Times New Roman" panose="02020603050405020304"/>
                </a:rPr>
                <a:t>c</a:t>
              </a:r>
              <a:r>
                <a:rPr sz="2350" i="1" spc="-10" dirty="0">
                  <a:latin typeface="Times New Roman" panose="02020603050405020304"/>
                  <a:cs typeface="Times New Roman" panose="02020603050405020304"/>
                </a:rPr>
                <a:t> </a:t>
              </a:r>
              <a:r>
                <a:rPr sz="2350" dirty="0">
                  <a:latin typeface="Times New Roman" panose="02020603050405020304"/>
                  <a:cs typeface="Times New Roman" panose="02020603050405020304"/>
                </a:rPr>
                <a:t>))</a:t>
              </a:r>
            </a:p>
          </p:txBody>
        </p:sp>
        <p:sp>
          <p:nvSpPr>
            <p:cNvPr id="26" name="object 8">
              <a:extLst>
                <a:ext uri="{FF2B5EF4-FFF2-40B4-BE49-F238E27FC236}">
                  <a16:creationId xmlns:a16="http://schemas.microsoft.com/office/drawing/2014/main" id="{E7709B7C-134B-418F-BFE0-F0CB4F330CAD}"/>
                </a:ext>
              </a:extLst>
            </p:cNvPr>
            <p:cNvSpPr txBox="1"/>
            <p:nvPr/>
          </p:nvSpPr>
          <p:spPr>
            <a:xfrm>
              <a:off x="8850" y="5877"/>
              <a:ext cx="98" cy="250"/>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defRPr/>
              </a:pPr>
              <a:r>
                <a:rPr sz="950" i="1" spc="15" dirty="0">
                  <a:latin typeface="Times New Roman" panose="02020603050405020304"/>
                  <a:cs typeface="Times New Roman" panose="02020603050405020304"/>
                </a:rPr>
                <a:t>i</a:t>
              </a:r>
              <a:endParaRPr sz="950">
                <a:latin typeface="Times New Roman" panose="02020603050405020304"/>
                <a:cs typeface="Times New Roman" panose="02020603050405020304"/>
              </a:endParaRPr>
            </a:p>
          </p:txBody>
        </p:sp>
        <p:sp>
          <p:nvSpPr>
            <p:cNvPr id="27" name="object 9">
              <a:extLst>
                <a:ext uri="{FF2B5EF4-FFF2-40B4-BE49-F238E27FC236}">
                  <a16:creationId xmlns:a16="http://schemas.microsoft.com/office/drawing/2014/main" id="{7503FB53-0969-4A4D-9F57-6535063340B1}"/>
                </a:ext>
              </a:extLst>
            </p:cNvPr>
            <p:cNvSpPr txBox="1"/>
            <p:nvPr/>
          </p:nvSpPr>
          <p:spPr>
            <a:xfrm>
              <a:off x="7662" y="5730"/>
              <a:ext cx="1232" cy="342"/>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tabLst>
                  <a:tab pos="458470" algn="l"/>
                </a:tabLst>
                <a:defRPr/>
              </a:pPr>
              <a:r>
                <a:rPr sz="1350" i="1" spc="105" dirty="0">
                  <a:latin typeface="Times New Roman" panose="02020603050405020304"/>
                  <a:cs typeface="Times New Roman" panose="02020603050405020304"/>
                </a:rPr>
                <a:t>i</a:t>
              </a:r>
              <a:r>
                <a:rPr sz="1350" spc="-70" dirty="0">
                  <a:latin typeface="Symbol" panose="05050102010706020507"/>
                  <a:cs typeface="Symbol" panose="05050102010706020507"/>
                </a:rPr>
                <a:t></a:t>
              </a:r>
              <a:r>
                <a:rPr sz="1350" spc="30" dirty="0">
                  <a:latin typeface="Times New Roman" panose="02020603050405020304"/>
                  <a:cs typeface="Times New Roman" panose="02020603050405020304"/>
                </a:rPr>
                <a:t>1</a:t>
              </a:r>
              <a:r>
                <a:rPr sz="1350" dirty="0">
                  <a:latin typeface="Times New Roman" panose="02020603050405020304"/>
                  <a:cs typeface="Times New Roman" panose="02020603050405020304"/>
                </a:rPr>
                <a:t>	</a:t>
              </a:r>
              <a:r>
                <a:rPr sz="1350" i="1" spc="-50" dirty="0">
                  <a:latin typeface="Times New Roman" panose="02020603050405020304"/>
                  <a:cs typeface="Times New Roman" panose="02020603050405020304"/>
                </a:rPr>
                <a:t>p</a:t>
              </a:r>
              <a:r>
                <a:rPr sz="1350" spc="-95" dirty="0">
                  <a:latin typeface="Symbol" panose="05050102010706020507"/>
                  <a:cs typeface="Symbol" panose="05050102010706020507"/>
                </a:rPr>
                <a:t></a:t>
              </a:r>
              <a:r>
                <a:rPr sz="1350" i="1" spc="45" dirty="0">
                  <a:latin typeface="Times New Roman" panose="02020603050405020304"/>
                  <a:cs typeface="Times New Roman" panose="02020603050405020304"/>
                </a:rPr>
                <a:t>C</a:t>
              </a:r>
              <a:endParaRPr sz="1350">
                <a:latin typeface="Times New Roman" panose="02020603050405020304"/>
                <a:cs typeface="Times New Roman" panose="02020603050405020304"/>
              </a:endParaRPr>
            </a:p>
          </p:txBody>
        </p:sp>
        <p:sp>
          <p:nvSpPr>
            <p:cNvPr id="28" name="object 10">
              <a:extLst>
                <a:ext uri="{FF2B5EF4-FFF2-40B4-BE49-F238E27FC236}">
                  <a16:creationId xmlns:a16="http://schemas.microsoft.com/office/drawing/2014/main" id="{A7F53302-BD9E-44E8-912F-D4E3326A7DC3}"/>
                </a:ext>
              </a:extLst>
            </p:cNvPr>
            <p:cNvSpPr txBox="1"/>
            <p:nvPr/>
          </p:nvSpPr>
          <p:spPr>
            <a:xfrm>
              <a:off x="6590" y="5412"/>
              <a:ext cx="1765" cy="583"/>
            </a:xfrm>
            <a:prstGeom prst="rect">
              <a:avLst/>
            </a:prstGeom>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eaLnBrk="1" hangingPunct="1">
                <a:tabLst>
                  <a:tab pos="924560" algn="l"/>
                </a:tabLst>
                <a:defRPr/>
              </a:pPr>
              <a:r>
                <a:rPr sz="2350" i="1" spc="50" dirty="0">
                  <a:latin typeface="Times New Roman" panose="02020603050405020304"/>
                  <a:cs typeface="Times New Roman" panose="02020603050405020304"/>
                </a:rPr>
                <a:t>E</a:t>
              </a:r>
              <a:r>
                <a:rPr sz="2350" i="1" spc="10" dirty="0">
                  <a:latin typeface="Times New Roman" panose="02020603050405020304"/>
                  <a:cs typeface="Times New Roman" panose="02020603050405020304"/>
                </a:rPr>
                <a:t> </a:t>
              </a:r>
              <a:r>
                <a:rPr sz="2350" spc="45" dirty="0">
                  <a:latin typeface="Symbol" panose="05050102010706020507"/>
                  <a:cs typeface="Symbol" panose="05050102010706020507"/>
                </a:rPr>
                <a:t></a:t>
              </a:r>
              <a:r>
                <a:rPr sz="2350" spc="-135" dirty="0">
                  <a:latin typeface="Times New Roman" panose="02020603050405020304"/>
                  <a:cs typeface="Times New Roman" panose="02020603050405020304"/>
                </a:rPr>
                <a:t> </a:t>
              </a:r>
              <a:r>
                <a:rPr sz="2350" spc="45" dirty="0">
                  <a:latin typeface="Symbol" panose="05050102010706020507"/>
                  <a:cs typeface="Symbol" panose="05050102010706020507"/>
                </a:rPr>
                <a:t></a:t>
              </a:r>
              <a:r>
                <a:rPr sz="2350" dirty="0">
                  <a:latin typeface="Times New Roman" panose="02020603050405020304"/>
                  <a:cs typeface="Times New Roman" panose="02020603050405020304"/>
                </a:rPr>
                <a:t>	</a:t>
              </a:r>
              <a:r>
                <a:rPr sz="2350" spc="45" dirty="0">
                  <a:latin typeface="Symbol" panose="05050102010706020507"/>
                  <a:cs typeface="Symbol" panose="05050102010706020507"/>
                </a:rPr>
                <a:t></a:t>
              </a:r>
              <a:endParaRPr sz="2350" dirty="0">
                <a:latin typeface="Symbol" panose="05050102010706020507"/>
                <a:cs typeface="Symbol" panose="05050102010706020507"/>
              </a:endParaRPr>
            </a:p>
          </p:txBody>
        </p:sp>
      </p:grpSp>
      <p:sp>
        <p:nvSpPr>
          <p:cNvPr id="29" name="TextBox 3">
            <a:extLst>
              <a:ext uri="{FF2B5EF4-FFF2-40B4-BE49-F238E27FC236}">
                <a16:creationId xmlns:a16="http://schemas.microsoft.com/office/drawing/2014/main" id="{E2DB64C1-0DCA-444C-8399-BCC7C22FAC10}"/>
              </a:ext>
            </a:extLst>
          </p:cNvPr>
          <p:cNvSpPr txBox="1"/>
          <p:nvPr/>
        </p:nvSpPr>
        <p:spPr>
          <a:xfrm>
            <a:off x="240675" y="4217219"/>
            <a:ext cx="8619832" cy="430887"/>
          </a:xfrm>
          <a:prstGeom prst="rect">
            <a:avLst/>
          </a:prstGeom>
          <a:noFill/>
        </p:spPr>
        <p:txBody>
          <a:bodyPr wrap="square" rtlCol="0">
            <a:spAutoFit/>
          </a:bodyPr>
          <a:lstStyle/>
          <a:p>
            <a:pPr algn="ct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(1-2)</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(2-2)</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(3-2)</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(8-13)</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(9-13)</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(10-13)</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 (25-13)</a:t>
            </a:r>
            <a:r>
              <a:rPr lang="en-US" altLang="zh-CN" sz="22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200">
                <a:latin typeface="Times New Roman" panose="02020603050405020304" pitchFamily="18" charset="0"/>
                <a:ea typeface="微软雅黑" panose="020B0503020204020204" pitchFamily="34" charset="-122"/>
                <a:sym typeface="Times New Roman" panose="02020603050405020304" pitchFamily="18" charset="0"/>
              </a:rPr>
              <a:t>=196</a:t>
            </a:r>
            <a:endParaRPr lang="zh-CN" altLang="en-US" sz="22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TextBox 3">
            <a:extLst>
              <a:ext uri="{FF2B5EF4-FFF2-40B4-BE49-F238E27FC236}">
                <a16:creationId xmlns:a16="http://schemas.microsoft.com/office/drawing/2014/main" id="{7FFC51E4-569C-48F3-8868-92AC36E5C8C7}"/>
              </a:ext>
            </a:extLst>
          </p:cNvPr>
          <p:cNvSpPr txBox="1"/>
          <p:nvPr/>
        </p:nvSpPr>
        <p:spPr>
          <a:xfrm>
            <a:off x="6531" y="5371474"/>
            <a:ext cx="9143999" cy="400110"/>
          </a:xfrm>
          <a:prstGeom prst="rect">
            <a:avLst/>
          </a:prstGeom>
          <a:noFill/>
        </p:spPr>
        <p:txBody>
          <a:bodyPr wrap="square" rtlCol="0">
            <a:spAutoFit/>
          </a:bodyPr>
          <a:lstStyle/>
          <a:p>
            <a:pPr algn="ct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(1-3.5)</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 (2-3.5)</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 (3-3.5)</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 (8-3.5)</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 (9-14.67)</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 (10-14.67)</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 (25-14.67)</a:t>
            </a:r>
            <a:r>
              <a:rPr lang="en-US" altLang="zh-CN" sz="2000" baseline="3000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=196</a:t>
            </a:r>
            <a:endParaRPr lang="zh-CN" altLang="en-US"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241642721"/>
      </p:ext>
    </p:extLst>
  </p:cSld>
  <p:clrMapOvr>
    <a:masterClrMapping/>
  </p:clrMapOvr>
  <p:transition spd="med">
    <p:split orient="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252000" y="756000"/>
            <a:ext cx="8640000" cy="2263697"/>
          </a:xfrm>
          <a:prstGeom prst="rect">
            <a:avLst/>
          </a:prstGeom>
          <a:noFill/>
        </p:spPr>
        <p:txBody>
          <a:bodyPr wrap="square">
            <a:spAutoFit/>
          </a:body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中心点</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选用簇中位置</a:t>
            </a:r>
            <a:r>
              <a:rPr lang="zh-CN" altLang="en-US" sz="22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最中心的实际对象</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即中心点作为参照点</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基于最小化所有对象与其参照点之间的相异度之和的原则</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来划分</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使用</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绝对误差标准</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707327" y="4098588"/>
            <a:ext cx="2847637" cy="1141747"/>
          </a:xfrm>
          <a:prstGeom prst="rect">
            <a:avLst/>
          </a:prstGeom>
        </p:spPr>
      </p:pic>
      <p:pic>
        <p:nvPicPr>
          <p:cNvPr id="5" name="图片 4"/>
          <p:cNvPicPr>
            <a:picLocks noChangeAspect="1"/>
          </p:cNvPicPr>
          <p:nvPr/>
        </p:nvPicPr>
        <p:blipFill>
          <a:blip r:embed="rId3"/>
          <a:stretch>
            <a:fillRect/>
          </a:stretch>
        </p:blipFill>
        <p:spPr>
          <a:xfrm>
            <a:off x="3665689" y="3229838"/>
            <a:ext cx="4744925" cy="3108960"/>
          </a:xfrm>
          <a:prstGeom prst="rect">
            <a:avLst/>
          </a:prstGeom>
        </p:spPr>
      </p:pic>
      <p:sp>
        <p:nvSpPr>
          <p:cNvPr id="7" name="标题 1">
            <a:extLst>
              <a:ext uri="{FF2B5EF4-FFF2-40B4-BE49-F238E27FC236}">
                <a16:creationId xmlns:a16="http://schemas.microsoft.com/office/drawing/2014/main" id="{DA08ADCE-E4F8-4B15-A5B7-5519C712AB68}"/>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697163652"/>
      </p:ext>
    </p:extLst>
  </p:cSld>
  <p:clrMapOvr>
    <a:masterClrMapping/>
  </p:clrMapOvr>
  <p:transition spd="med">
    <p:split orient="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算法示例</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7652" name="Rectangle 3"/>
          <p:cNvSpPr>
            <a:spLocks noGrp="1" noChangeArrowheads="1"/>
          </p:cNvSpPr>
          <p:nvPr>
            <p:ph type="body" idx="4294967295"/>
          </p:nvPr>
        </p:nvSpPr>
        <p:spPr>
          <a:xfrm>
            <a:off x="252000" y="756000"/>
            <a:ext cx="8640000" cy="1688860"/>
          </a:xfrm>
          <a:prstGeom prst="rect">
            <a:avLst/>
          </a:prstGeom>
          <a:noFill/>
        </p:spPr>
        <p:txBody>
          <a:bodyPr wrap="square">
            <a:spAutoFit/>
          </a:bodyPr>
          <a:lstStyle/>
          <a:p>
            <a:pPr marL="0" indent="0" algn="just" fontAlgn="base">
              <a:lnSpc>
                <a:spcPct val="150000"/>
              </a:lnSpc>
              <a:spcBef>
                <a:spcPts val="600"/>
              </a:spcBef>
              <a:spcAft>
                <a:spcPct val="0"/>
              </a:spcAft>
              <a:buClr>
                <a:srgbClr val="FF6600"/>
              </a:buClr>
              <a:buSzPct val="80000"/>
              <a:buNone/>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        假如</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空间中的五个</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点｛</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A</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、Ｂ、Ｃ、Ｄ、Ｅ｝如图所示，各点之间的距离关系如表所示，根据所给的数据对</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其运行</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算法实现划分聚类</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（设</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 样本点间距离如下表</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所示：</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aphicFrame>
        <p:nvGraphicFramePr>
          <p:cNvPr id="29700" name="Group 4"/>
          <p:cNvGraphicFramePr>
            <a:graphicFrameLocks noGrp="1"/>
          </p:cNvGraphicFramePr>
          <p:nvPr>
            <p:extLst>
              <p:ext uri="{D42A27DB-BD31-4B8C-83A1-F6EECF244321}">
                <p14:modId xmlns:p14="http://schemas.microsoft.com/office/powerpoint/2010/main" val="2065829757"/>
              </p:ext>
            </p:extLst>
          </p:nvPr>
        </p:nvGraphicFramePr>
        <p:xfrm>
          <a:off x="2820988" y="2877050"/>
          <a:ext cx="3502025" cy="2454864"/>
        </p:xfrm>
        <a:graphic>
          <a:graphicData uri="http://schemas.openxmlformats.org/drawingml/2006/table">
            <a:tbl>
              <a:tblPr/>
              <a:tblGrid>
                <a:gridCol w="94615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487363">
                  <a:extLst>
                    <a:ext uri="{9D8B030D-6E8A-4147-A177-3AD203B41FA5}">
                      <a16:colId xmlns:a16="http://schemas.microsoft.com/office/drawing/2014/main" val="20004"/>
                    </a:ext>
                  </a:extLst>
                </a:gridCol>
                <a:gridCol w="485775">
                  <a:extLst>
                    <a:ext uri="{9D8B030D-6E8A-4147-A177-3AD203B41FA5}">
                      <a16:colId xmlns:a16="http://schemas.microsoft.com/office/drawing/2014/main" val="20005"/>
                    </a:ext>
                  </a:extLst>
                </a:gridCol>
              </a:tblGrid>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样本点</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graphicFrame>
        <p:nvGraphicFramePr>
          <p:cNvPr id="50231" name="Object 55"/>
          <p:cNvGraphicFramePr>
            <a:graphicFrameLocks noChangeAspect="1"/>
          </p:cNvGraphicFramePr>
          <p:nvPr>
            <p:extLst>
              <p:ext uri="{D42A27DB-BD31-4B8C-83A1-F6EECF244321}">
                <p14:modId xmlns:p14="http://schemas.microsoft.com/office/powerpoint/2010/main" val="2650247125"/>
              </p:ext>
            </p:extLst>
          </p:nvPr>
        </p:nvGraphicFramePr>
        <p:xfrm>
          <a:off x="762793" y="3066820"/>
          <a:ext cx="1601787" cy="2071687"/>
        </p:xfrm>
        <a:graphic>
          <a:graphicData uri="http://schemas.openxmlformats.org/presentationml/2006/ole">
            <mc:AlternateContent xmlns:mc="http://schemas.openxmlformats.org/markup-compatibility/2006">
              <mc:Choice xmlns:v="urn:schemas-microsoft-com:vml" Requires="v">
                <p:oleObj r:id="rId2" imgW="1600200" imgH="2070100" progId="Word.Picture.8">
                  <p:embed/>
                </p:oleObj>
              </mc:Choice>
              <mc:Fallback>
                <p:oleObj r:id="rId2" imgW="1600200" imgH="2070100" progId="Word.Picture.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793" y="3066820"/>
                        <a:ext cx="1601787" cy="20716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232" name="Object 56"/>
          <p:cNvGraphicFramePr>
            <a:graphicFrameLocks noChangeAspect="1"/>
          </p:cNvGraphicFramePr>
          <p:nvPr>
            <p:extLst>
              <p:ext uri="{D42A27DB-BD31-4B8C-83A1-F6EECF244321}">
                <p14:modId xmlns:p14="http://schemas.microsoft.com/office/powerpoint/2010/main" val="892426690"/>
              </p:ext>
            </p:extLst>
          </p:nvPr>
        </p:nvGraphicFramePr>
        <p:xfrm>
          <a:off x="6846779" y="3066820"/>
          <a:ext cx="1601788" cy="2071687"/>
        </p:xfrm>
        <a:graphic>
          <a:graphicData uri="http://schemas.openxmlformats.org/presentationml/2006/ole">
            <mc:AlternateContent xmlns:mc="http://schemas.openxmlformats.org/markup-compatibility/2006">
              <mc:Choice xmlns:v="urn:schemas-microsoft-com:vml" Requires="v">
                <p:oleObj r:id="rId4" imgW="1600200" imgH="2070100" progId="Word.Picture.8">
                  <p:embed/>
                </p:oleObj>
              </mc:Choice>
              <mc:Fallback>
                <p:oleObj r:id="rId4" imgW="1600200" imgH="2070100"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6779" y="3066820"/>
                        <a:ext cx="1601788" cy="20716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706" name="Text Box 57"/>
          <p:cNvSpPr txBox="1">
            <a:spLocks noChangeArrowheads="1"/>
          </p:cNvSpPr>
          <p:nvPr/>
        </p:nvSpPr>
        <p:spPr bwMode="auto">
          <a:xfrm>
            <a:off x="6914139" y="5375746"/>
            <a:ext cx="13388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buClr>
                <a:schemeClr val="accent2"/>
              </a:buClr>
              <a:buSzTx/>
              <a:buFont typeface="Wingdings" charset="2"/>
              <a:buNone/>
              <a:defRPr/>
            </a:pP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起始中心点</a:t>
            </a:r>
          </a:p>
        </p:txBody>
      </p:sp>
      <p:sp>
        <p:nvSpPr>
          <p:cNvPr id="27707" name="Rectangle 58"/>
          <p:cNvSpPr>
            <a:spLocks noChangeArrowheads="1"/>
          </p:cNvSpPr>
          <p:nvPr/>
        </p:nvSpPr>
        <p:spPr bwMode="auto">
          <a:xfrm>
            <a:off x="1086632" y="5375746"/>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469900" indent="-469900" eaLnBrk="1" hangingPunct="1">
              <a:spcBef>
                <a:spcPct val="20000"/>
              </a:spcBef>
              <a:buClr>
                <a:schemeClr val="accent2"/>
              </a:buClr>
              <a:buFont typeface="Wingdings" pitchFamily="2" charset="2"/>
              <a:buNone/>
            </a:pPr>
            <a:r>
              <a:rPr lang="zh-CN" altLang="en-US">
                <a:latin typeface="Times New Roman" panose="02020603050405020304" pitchFamily="18" charset="0"/>
                <a:ea typeface="微软雅黑" panose="020B0503020204020204" pitchFamily="34" charset="-122"/>
                <a:sym typeface="Times New Roman" panose="02020603050405020304" pitchFamily="18" charset="0"/>
              </a:rPr>
              <a:t>样本点</a:t>
            </a:r>
          </a:p>
        </p:txBody>
      </p:sp>
    </p:spTree>
    <p:extLst>
      <p:ext uri="{BB962C8B-B14F-4D97-AF65-F5344CB8AC3E}">
        <p14:creationId xmlns:p14="http://schemas.microsoft.com/office/powerpoint/2010/main" val="1021788260"/>
      </p:ext>
    </p:extLst>
  </p:cSld>
  <p:clrMapOvr>
    <a:masterClrMapping/>
  </p:clrMapOvr>
  <p:transition spd="med">
    <p:split orient="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idx="4294967295"/>
          </p:nvPr>
        </p:nvSpPr>
        <p:spPr>
          <a:xfrm>
            <a:off x="756000" y="108000"/>
            <a:ext cx="82296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算法示例</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8676" name="Rectangle 3"/>
          <p:cNvSpPr>
            <a:spLocks noGrp="1" noChangeArrowheads="1"/>
          </p:cNvSpPr>
          <p:nvPr>
            <p:ph type="body" sz="half" idx="4294967295"/>
          </p:nvPr>
        </p:nvSpPr>
        <p:spPr>
          <a:xfrm>
            <a:off x="252000" y="717323"/>
            <a:ext cx="8640000" cy="2696187"/>
          </a:xfrm>
          <a:prstGeom prst="rect">
            <a:avLst/>
          </a:prstGeom>
          <a:noFill/>
        </p:spPr>
        <p:txBody>
          <a:bodyPr wrap="square">
            <a:spAutoFit/>
          </a:bodyPr>
          <a:lstStyle/>
          <a:p>
            <a:pPr marL="0" indent="0" algn="just" fontAlgn="base">
              <a:lnSpc>
                <a:spcPct val="135000"/>
              </a:lnSpc>
              <a:spcBef>
                <a:spcPts val="600"/>
              </a:spcBef>
              <a:spcAft>
                <a:spcPct val="0"/>
              </a:spcAft>
              <a:buClr>
                <a:srgbClr val="FF6600"/>
              </a:buClr>
              <a:buSzPct val="80000"/>
              <a:buNone/>
            </a:pP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0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第一</a:t>
            </a:r>
            <a:r>
              <a:rPr lang="zh-CN" altLang="en-US" sz="20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步 建立阶段</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假如从</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5</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个对象中随机</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抽取的</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个</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中心点为</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A</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则样本被</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划分为</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A</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B</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E}</a:t>
            </a:r>
          </a:p>
          <a:p>
            <a:pPr marL="0" indent="0" algn="just" fontAlgn="base">
              <a:lnSpc>
                <a:spcPct val="135000"/>
              </a:lnSpc>
              <a:spcBef>
                <a:spcPts val="600"/>
              </a:spcBef>
              <a:spcAft>
                <a:spcPct val="0"/>
              </a:spcAft>
              <a:buClr>
                <a:srgbClr val="FF6600"/>
              </a:buClr>
              <a:buSzPct val="80000"/>
              <a:buNone/>
            </a:pP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0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第二</a:t>
            </a:r>
            <a:r>
              <a:rPr lang="zh-CN" altLang="en-US" sz="20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步 交换阶段</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假定中心点</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A</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分别被</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非中心点</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替换</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，根据</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算法需要计算</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下列代价</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AC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AD</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a:latin typeface="Times New Roman" panose="02020603050405020304" pitchFamily="18" charset="0"/>
                <a:ea typeface="微软雅黑" panose="020B0503020204020204" pitchFamily="34" charset="-122"/>
                <a:cs typeface="+mn-ea"/>
                <a:sym typeface="Times New Roman" panose="02020603050405020304" pitchFamily="18" charset="0"/>
              </a:rPr>
              <a:t>AE</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a:latin typeface="Times New Roman" panose="02020603050405020304" pitchFamily="18" charset="0"/>
                <a:ea typeface="微软雅黑" panose="020B0503020204020204" pitchFamily="34" charset="-122"/>
                <a:cs typeface="+mn-ea"/>
                <a:sym typeface="Times New Roman" panose="02020603050405020304" pitchFamily="18" charset="0"/>
              </a:rPr>
              <a:t>BC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BD</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BE</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即验证中心点变换后，代价如何变化</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以</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AC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为</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例说明计算过程</a:t>
            </a:r>
          </a:p>
        </p:txBody>
      </p:sp>
      <p:sp>
        <p:nvSpPr>
          <p:cNvPr id="28677" name="Text Box 4"/>
          <p:cNvSpPr txBox="1">
            <a:spLocks noChangeArrowheads="1"/>
          </p:cNvSpPr>
          <p:nvPr/>
        </p:nvSpPr>
        <p:spPr bwMode="auto">
          <a:xfrm>
            <a:off x="1854922" y="3700927"/>
            <a:ext cx="3528000" cy="243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9900" indent="-469900">
              <a:defRPr sz="3200">
                <a:solidFill>
                  <a:schemeClr val="tx1"/>
                </a:solidFill>
                <a:latin typeface="Arial" charset="0"/>
                <a:ea typeface="楷体_GB2312" pitchFamily="49" charset="-122"/>
              </a:defRPr>
            </a:lvl1pPr>
            <a:lvl2pPr marL="800100" indent="-342900">
              <a:defRPr sz="2800">
                <a:solidFill>
                  <a:schemeClr val="tx1"/>
                </a:solidFill>
                <a:latin typeface="Arial" charset="0"/>
                <a:ea typeface="楷体_GB2312" pitchFamily="49" charset="-122"/>
              </a:defRPr>
            </a:lvl2pPr>
            <a:lvl3pPr marL="1257300" indent="-342900">
              <a:defRPr sz="2400">
                <a:solidFill>
                  <a:schemeClr val="tx1"/>
                </a:solidFill>
                <a:latin typeface="Arial" charset="0"/>
                <a:ea typeface="楷体_GB2312" pitchFamily="49" charset="-122"/>
              </a:defRPr>
            </a:lvl3pPr>
            <a:lvl4pPr marL="1714500" indent="-342900">
              <a:defRPr sz="2000">
                <a:solidFill>
                  <a:schemeClr val="tx1"/>
                </a:solidFill>
                <a:latin typeface="Arial" charset="0"/>
                <a:ea typeface="楷体_GB2312" pitchFamily="49" charset="-122"/>
              </a:defRPr>
            </a:lvl4pPr>
            <a:lvl5pPr marL="2171700" indent="-342900">
              <a:defRPr sz="2000">
                <a:solidFill>
                  <a:schemeClr val="tx1"/>
                </a:solidFill>
                <a:latin typeface="Arial" charset="0"/>
                <a:ea typeface="楷体_GB2312" pitchFamily="49" charset="-122"/>
              </a:defRPr>
            </a:lvl5pPr>
            <a:lvl6pPr marL="2628900" indent="-342900" eaLnBrk="0" hangingPunct="0">
              <a:defRPr sz="2000">
                <a:solidFill>
                  <a:schemeClr val="tx1"/>
                </a:solidFill>
                <a:latin typeface="Arial" charset="0"/>
                <a:ea typeface="楷体_GB2312" pitchFamily="49" charset="-122"/>
              </a:defRPr>
            </a:lvl6pPr>
            <a:lvl7pPr marL="3086100" indent="-342900" eaLnBrk="0" hangingPunct="0">
              <a:defRPr sz="2000">
                <a:solidFill>
                  <a:schemeClr val="tx1"/>
                </a:solidFill>
                <a:latin typeface="Arial" charset="0"/>
                <a:ea typeface="楷体_GB2312" pitchFamily="49" charset="-122"/>
              </a:defRPr>
            </a:lvl7pPr>
            <a:lvl8pPr marL="3543300" indent="-342900" eaLnBrk="0" hangingPunct="0">
              <a:defRPr sz="2000">
                <a:solidFill>
                  <a:schemeClr val="tx1"/>
                </a:solidFill>
                <a:latin typeface="Arial" charset="0"/>
                <a:ea typeface="楷体_GB2312" pitchFamily="49" charset="-122"/>
              </a:defRPr>
            </a:lvl8pPr>
            <a:lvl9pPr marL="4000500" indent="-342900" eaLnBrk="0" hangingPunct="0">
              <a:defRPr sz="2000">
                <a:solidFill>
                  <a:schemeClr val="tx1"/>
                </a:solidFill>
                <a:latin typeface="Arial" charset="0"/>
                <a:ea typeface="楷体_GB2312" pitchFamily="49" charset="-122"/>
              </a:defRPr>
            </a:lvl9pPr>
          </a:lstStyle>
          <a:p>
            <a:pPr marL="324000" indent="-324000" algn="just" eaLnBrk="1" hangingPunct="1">
              <a:lnSpc>
                <a:spcPct val="140000"/>
              </a:lnSpc>
              <a:spcBef>
                <a:spcPts val="600"/>
              </a:spcBef>
              <a:buClr>
                <a:srgbClr val="FF6700"/>
              </a:buClr>
              <a:buFont typeface="Wingdings" pitchFamily="2" charset="2"/>
              <a:buAutoNum type="alphaLcParenR"/>
            </a:pP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当</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替换以后，</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不再是一个中心点，因为</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离</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比</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离</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近，</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被分配到</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中心点代表的簇，</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200" i="1" dirty="0">
                <a:latin typeface="Times New Roman" panose="02020603050405020304" pitchFamily="18" charset="0"/>
                <a:ea typeface="微软雅黑" panose="020B0503020204020204" pitchFamily="34" charset="-122"/>
                <a:sym typeface="Times New Roman" panose="02020603050405020304" pitchFamily="18" charset="0"/>
              </a:rPr>
              <a:t>AAC</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)=1</a:t>
            </a:r>
          </a:p>
          <a:p>
            <a:pPr marL="324000" indent="-324000" algn="just" eaLnBrk="1" hangingPunct="1">
              <a:lnSpc>
                <a:spcPct val="140000"/>
              </a:lnSpc>
              <a:spcBef>
                <a:spcPts val="600"/>
              </a:spcBef>
              <a:buClr>
                <a:srgbClr val="FF6700"/>
              </a:buClr>
              <a:buFont typeface="Wingdings" pitchFamily="2" charset="2"/>
              <a:buAutoNum type="alphaLcParenR"/>
            </a:pP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是一个中心点，当</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替换以后，</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不受影响，</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200" i="1" dirty="0">
                <a:latin typeface="Times New Roman" panose="02020603050405020304" pitchFamily="18" charset="0"/>
                <a:ea typeface="微软雅黑" panose="020B0503020204020204" pitchFamily="34" charset="-122"/>
                <a:sym typeface="Times New Roman" panose="02020603050405020304" pitchFamily="18" charset="0"/>
              </a:rPr>
              <a:t>BAC</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0</a:t>
            </a:r>
            <a:endParaRPr lang="zh-CN" altLang="en-US"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 name="Object 56"/>
          <p:cNvGraphicFramePr>
            <a:graphicFrameLocks noChangeAspect="1"/>
          </p:cNvGraphicFramePr>
          <p:nvPr>
            <p:extLst>
              <p:ext uri="{D42A27DB-BD31-4B8C-83A1-F6EECF244321}">
                <p14:modId xmlns:p14="http://schemas.microsoft.com/office/powerpoint/2010/main" val="2485276199"/>
              </p:ext>
            </p:extLst>
          </p:nvPr>
        </p:nvGraphicFramePr>
        <p:xfrm>
          <a:off x="210764" y="3735419"/>
          <a:ext cx="1601788" cy="2071687"/>
        </p:xfrm>
        <a:graphic>
          <a:graphicData uri="http://schemas.openxmlformats.org/presentationml/2006/ole">
            <mc:AlternateContent xmlns:mc="http://schemas.openxmlformats.org/markup-compatibility/2006">
              <mc:Choice xmlns:v="urn:schemas-microsoft-com:vml" Requires="v">
                <p:oleObj r:id="rId2" imgW="1600200" imgH="2070100" progId="Word.Picture.8">
                  <p:embed/>
                </p:oleObj>
              </mc:Choice>
              <mc:Fallback>
                <p:oleObj r:id="rId2" imgW="1600200" imgH="2070100" progId="Word.Picture.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764" y="3735419"/>
                        <a:ext cx="1601788" cy="20716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57"/>
          <p:cNvSpPr txBox="1">
            <a:spLocks noChangeArrowheads="1"/>
          </p:cNvSpPr>
          <p:nvPr/>
        </p:nvSpPr>
        <p:spPr bwMode="auto">
          <a:xfrm>
            <a:off x="473724" y="5971125"/>
            <a:ext cx="13388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buClr>
                <a:schemeClr val="accent2"/>
              </a:buClr>
              <a:buSzTx/>
              <a:buFont typeface="Wingdings" charset="2"/>
              <a:buNone/>
              <a:defRPr/>
            </a:pP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起始中心点</a:t>
            </a:r>
          </a:p>
        </p:txBody>
      </p:sp>
      <p:graphicFrame>
        <p:nvGraphicFramePr>
          <p:cNvPr id="9" name="Group 4">
            <a:extLst>
              <a:ext uri="{FF2B5EF4-FFF2-40B4-BE49-F238E27FC236}">
                <a16:creationId xmlns:a16="http://schemas.microsoft.com/office/drawing/2014/main" id="{0B7BA344-0D8C-493B-92CA-001BC1E66814}"/>
              </a:ext>
            </a:extLst>
          </p:cNvPr>
          <p:cNvGraphicFramePr>
            <a:graphicFrameLocks noGrp="1"/>
          </p:cNvGraphicFramePr>
          <p:nvPr>
            <p:extLst>
              <p:ext uri="{D42A27DB-BD31-4B8C-83A1-F6EECF244321}">
                <p14:modId xmlns:p14="http://schemas.microsoft.com/office/powerpoint/2010/main" val="579617043"/>
              </p:ext>
            </p:extLst>
          </p:nvPr>
        </p:nvGraphicFramePr>
        <p:xfrm>
          <a:off x="5490543" y="3700927"/>
          <a:ext cx="3502025" cy="2454864"/>
        </p:xfrm>
        <a:graphic>
          <a:graphicData uri="http://schemas.openxmlformats.org/drawingml/2006/table">
            <a:tbl>
              <a:tblPr/>
              <a:tblGrid>
                <a:gridCol w="94615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487363">
                  <a:extLst>
                    <a:ext uri="{9D8B030D-6E8A-4147-A177-3AD203B41FA5}">
                      <a16:colId xmlns:a16="http://schemas.microsoft.com/office/drawing/2014/main" val="20004"/>
                    </a:ext>
                  </a:extLst>
                </a:gridCol>
                <a:gridCol w="485775">
                  <a:extLst>
                    <a:ext uri="{9D8B030D-6E8A-4147-A177-3AD203B41FA5}">
                      <a16:colId xmlns:a16="http://schemas.microsoft.com/office/drawing/2014/main" val="20005"/>
                    </a:ext>
                  </a:extLst>
                </a:gridCol>
              </a:tblGrid>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样本点</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66972791"/>
      </p:ext>
    </p:extLst>
  </p:cSld>
  <p:clrMapOvr>
    <a:masterClrMapping/>
  </p:clrMapOvr>
  <p:transition spd="med">
    <p:split orient="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4294967295"/>
          </p:nvPr>
        </p:nvSpPr>
        <p:spPr>
          <a:xfrm>
            <a:off x="252000" y="756000"/>
            <a:ext cx="5076000" cy="4431278"/>
          </a:xfrm>
          <a:prstGeom prst="rect">
            <a:avLst/>
          </a:prstGeom>
        </p:spPr>
        <p:txBody>
          <a:bodyPr>
            <a:spAutoFit/>
          </a:bodyPr>
          <a:lstStyle/>
          <a:p>
            <a:pPr marL="360000" indent="-360000">
              <a:lnSpc>
                <a:spcPct val="120000"/>
              </a:lnSpc>
              <a:spcBef>
                <a:spcPts val="600"/>
              </a:spcBef>
              <a:buClr>
                <a:srgbClr val="FF6700"/>
              </a:buClr>
              <a:buFont typeface="Wingdings" pitchFamily="2" charset="2"/>
              <a:buAutoNum type="alphaLcParenR"/>
            </a:pP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400" i="1"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p>
          <a:p>
            <a:pPr marL="360000" indent="-360000">
              <a:lnSpc>
                <a:spcPct val="120000"/>
              </a:lnSpc>
              <a:spcBef>
                <a:spcPts val="600"/>
              </a:spcBef>
              <a:buClr>
                <a:srgbClr val="FF6700"/>
              </a:buClr>
              <a:buFont typeface="Wingdings" pitchFamily="2" charset="2"/>
              <a:buAutoNum type="alphaLcParenR"/>
            </a:pP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 </a:t>
            </a:r>
          </a:p>
          <a:p>
            <a:pPr marL="360000" indent="-360000">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是新中心点</a:t>
            </a:r>
            <a:r>
              <a:rPr lang="zh-CN" altLang="en-US"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)=0-2=-2</a:t>
            </a:r>
          </a:p>
          <a:p>
            <a:pPr marL="360000" indent="-360000">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最近的中心点是</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)=1-2=-1</a:t>
            </a:r>
          </a:p>
          <a:p>
            <a:pPr marL="360000" indent="-360000">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最近的中心仍然是 </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，根据</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PAM</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算法代价函数的第三种情况</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1400" i="1"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=0</a:t>
            </a:r>
            <a:endParaRPr lang="zh-CN" altLang="en-US"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算法示例</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701" name="Rectangle 4"/>
          <p:cNvSpPr>
            <a:spLocks noChangeArrowheads="1"/>
          </p:cNvSpPr>
          <p:nvPr/>
        </p:nvSpPr>
        <p:spPr bwMode="auto">
          <a:xfrm>
            <a:off x="234157" y="5234166"/>
            <a:ext cx="86756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marL="0" indent="0" algn="ctr">
              <a:buClr>
                <a:schemeClr val="accent2"/>
              </a:buClr>
              <a:buSzTx/>
              <a:buNone/>
              <a:defRPr/>
            </a:pP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因此，</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AAC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BAC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CAC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DAC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EAC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=1+0-2-1+0</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=-2</a:t>
            </a:r>
            <a:endParaRPr lang="zh-CN" altLang="en-US" sz="2000" i="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713398130"/>
              </p:ext>
            </p:extLst>
          </p:nvPr>
        </p:nvGraphicFramePr>
        <p:xfrm>
          <a:off x="6228184" y="642219"/>
          <a:ext cx="1601788" cy="2071687"/>
        </p:xfrm>
        <a:graphic>
          <a:graphicData uri="http://schemas.openxmlformats.org/presentationml/2006/ole">
            <mc:AlternateContent xmlns:mc="http://schemas.openxmlformats.org/markup-compatibility/2006">
              <mc:Choice xmlns:v="urn:schemas-microsoft-com:vml" Requires="v">
                <p:oleObj r:id="rId2" imgW="1600200" imgH="2070100" progId="Word.Picture.8">
                  <p:embed/>
                </p:oleObj>
              </mc:Choice>
              <mc:Fallback>
                <p:oleObj r:id="rId2" imgW="1600200" imgH="2070100" progId="Word.Picture.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8184" y="642219"/>
                        <a:ext cx="1601788" cy="20716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p:nvPr/>
        </p:nvSpPr>
        <p:spPr>
          <a:xfrm>
            <a:off x="953852" y="5656949"/>
            <a:ext cx="7236296" cy="784830"/>
          </a:xfrm>
          <a:prstGeom prst="rect">
            <a:avLst/>
          </a:prstGeom>
          <a:noFill/>
        </p:spPr>
        <p:txBody>
          <a:bodyPr wrap="square" rtlCol="0">
            <a:spAutoFit/>
          </a:bodyPr>
          <a:lstStyle/>
          <a:p>
            <a:pPr algn="ctr">
              <a:spcBef>
                <a:spcPts val="600"/>
              </a:spcBef>
            </a:pP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代价函数变小，说明</a:t>
            </a:r>
            <a:r>
              <a:rPr lang="en-US" altLang="zh-CN"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点替换以前的中心点</a:t>
            </a:r>
            <a:r>
              <a:rPr lang="en-US" altLang="zh-CN"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，聚类更加</a:t>
            </a:r>
            <a:r>
              <a:rPr lang="zh-CN" altLang="en-US" sz="20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紧凑，</a:t>
            </a:r>
            <a:endParaRPr lang="en-US" altLang="zh-CN" sz="20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a:spcBef>
                <a:spcPts val="600"/>
              </a:spcBef>
            </a:pPr>
            <a:r>
              <a:rPr lang="zh-CN" altLang="en-US" sz="20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那么</a:t>
            </a:r>
            <a:r>
              <a:rPr lang="en-US" altLang="zh-CN"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作为中心点更加合理</a:t>
            </a:r>
          </a:p>
        </p:txBody>
      </p:sp>
      <p:graphicFrame>
        <p:nvGraphicFramePr>
          <p:cNvPr id="11" name="Group 4">
            <a:extLst>
              <a:ext uri="{FF2B5EF4-FFF2-40B4-BE49-F238E27FC236}">
                <a16:creationId xmlns:a16="http://schemas.microsoft.com/office/drawing/2014/main" id="{58AD3BAC-F8EE-4185-AACD-0028BDD6BA7E}"/>
              </a:ext>
            </a:extLst>
          </p:cNvPr>
          <p:cNvGraphicFramePr>
            <a:graphicFrameLocks noGrp="1"/>
          </p:cNvGraphicFramePr>
          <p:nvPr>
            <p:extLst>
              <p:ext uri="{D42A27DB-BD31-4B8C-83A1-F6EECF244321}">
                <p14:modId xmlns:p14="http://schemas.microsoft.com/office/powerpoint/2010/main" val="3531650101"/>
              </p:ext>
            </p:extLst>
          </p:nvPr>
        </p:nvGraphicFramePr>
        <p:xfrm>
          <a:off x="5436096" y="2708920"/>
          <a:ext cx="3502025" cy="2454864"/>
        </p:xfrm>
        <a:graphic>
          <a:graphicData uri="http://schemas.openxmlformats.org/drawingml/2006/table">
            <a:tbl>
              <a:tblPr/>
              <a:tblGrid>
                <a:gridCol w="94615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487363">
                  <a:extLst>
                    <a:ext uri="{9D8B030D-6E8A-4147-A177-3AD203B41FA5}">
                      <a16:colId xmlns:a16="http://schemas.microsoft.com/office/drawing/2014/main" val="20004"/>
                    </a:ext>
                  </a:extLst>
                </a:gridCol>
                <a:gridCol w="485775">
                  <a:extLst>
                    <a:ext uri="{9D8B030D-6E8A-4147-A177-3AD203B41FA5}">
                      <a16:colId xmlns:a16="http://schemas.microsoft.com/office/drawing/2014/main" val="20005"/>
                    </a:ext>
                  </a:extLst>
                </a:gridCol>
              </a:tblGrid>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样本点</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97457538"/>
      </p:ext>
    </p:extLst>
  </p:cSld>
  <p:clrMapOvr>
    <a:masterClrMapping/>
  </p:clrMapOvr>
  <p:transition spd="med">
    <p:split orient="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4294967295"/>
          </p:nvPr>
        </p:nvSpPr>
        <p:spPr>
          <a:xfrm>
            <a:off x="252000" y="756000"/>
            <a:ext cx="5076000" cy="4431278"/>
          </a:xfrm>
          <a:prstGeom prst="rect">
            <a:avLst/>
          </a:prstGeom>
        </p:spPr>
        <p:txBody>
          <a:bodyPr>
            <a:spAutoFit/>
          </a:bodyPr>
          <a:lstStyle/>
          <a:p>
            <a:pPr marL="360000" indent="-360000">
              <a:lnSpc>
                <a:spcPct val="120000"/>
              </a:lnSpc>
              <a:spcBef>
                <a:spcPts val="600"/>
              </a:spcBef>
              <a:buClr>
                <a:srgbClr val="FF6700"/>
              </a:buClr>
              <a:buFont typeface="Wingdings" pitchFamily="2" charset="2"/>
              <a:buAutoNum type="alphaLcParenR"/>
            </a:pP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400" i="1"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p>
          <a:p>
            <a:pPr marL="360000" indent="-360000">
              <a:lnSpc>
                <a:spcPct val="120000"/>
              </a:lnSpc>
              <a:spcBef>
                <a:spcPts val="600"/>
              </a:spcBef>
              <a:buClr>
                <a:srgbClr val="FF6700"/>
              </a:buClr>
              <a:buFont typeface="Wingdings" pitchFamily="2" charset="2"/>
              <a:buAutoNum type="alphaLcParenR"/>
            </a:pP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 </a:t>
            </a:r>
          </a:p>
          <a:p>
            <a:pPr marL="360000" indent="-360000">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是新中心点</a:t>
            </a:r>
            <a:r>
              <a:rPr lang="zh-CN" altLang="en-US"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)=0-2=-2</a:t>
            </a:r>
          </a:p>
          <a:p>
            <a:pPr marL="360000" indent="-360000">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最近的中心点是</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)=1-2=-1</a:t>
            </a:r>
          </a:p>
          <a:p>
            <a:pPr marL="360000" indent="-360000">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最近的中心仍然是 </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，根据</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PAM</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算法代价函数的第三种情况</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1400" i="1"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=0</a:t>
            </a:r>
            <a:endParaRPr lang="zh-CN" altLang="en-US"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算法示例</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701" name="Rectangle 4"/>
          <p:cNvSpPr>
            <a:spLocks noChangeArrowheads="1"/>
          </p:cNvSpPr>
          <p:nvPr/>
        </p:nvSpPr>
        <p:spPr bwMode="auto">
          <a:xfrm>
            <a:off x="234157" y="5234166"/>
            <a:ext cx="86756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marL="0" indent="0" algn="ctr">
              <a:buClr>
                <a:schemeClr val="accent2"/>
              </a:buClr>
              <a:buSzTx/>
              <a:buNone/>
              <a:defRPr/>
            </a:pP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因此，</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AAC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BAC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CAC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DAC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EAC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=1+0-2-1+0</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=-2</a:t>
            </a:r>
            <a:endParaRPr lang="zh-CN" altLang="en-US" sz="2000" i="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 name="对象 1"/>
          <p:cNvGraphicFramePr>
            <a:graphicFrameLocks noChangeAspect="1"/>
          </p:cNvGraphicFramePr>
          <p:nvPr/>
        </p:nvGraphicFramePr>
        <p:xfrm>
          <a:off x="6228184" y="642219"/>
          <a:ext cx="1601788" cy="2071687"/>
        </p:xfrm>
        <a:graphic>
          <a:graphicData uri="http://schemas.openxmlformats.org/presentationml/2006/ole">
            <mc:AlternateContent xmlns:mc="http://schemas.openxmlformats.org/markup-compatibility/2006">
              <mc:Choice xmlns:v="urn:schemas-microsoft-com:vml" Requires="v">
                <p:oleObj r:id="rId2" imgW="1600200" imgH="2070100" progId="Word.Picture.8">
                  <p:embed/>
                </p:oleObj>
              </mc:Choice>
              <mc:Fallback>
                <p:oleObj r:id="rId2" imgW="1600200" imgH="2070100" progId="Word.Picture.8">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8184" y="642219"/>
                        <a:ext cx="1601788" cy="20716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p:nvPr/>
        </p:nvSpPr>
        <p:spPr>
          <a:xfrm>
            <a:off x="953852" y="5656949"/>
            <a:ext cx="7236296" cy="784830"/>
          </a:xfrm>
          <a:prstGeom prst="rect">
            <a:avLst/>
          </a:prstGeom>
          <a:noFill/>
        </p:spPr>
        <p:txBody>
          <a:bodyPr wrap="square" rtlCol="0">
            <a:spAutoFit/>
          </a:bodyPr>
          <a:lstStyle/>
          <a:p>
            <a:pPr algn="ctr">
              <a:spcBef>
                <a:spcPts val="600"/>
              </a:spcBef>
            </a:pP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代价函数变小，说明</a:t>
            </a:r>
            <a:r>
              <a:rPr lang="en-US" altLang="zh-CN"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点替换以前的中心点</a:t>
            </a:r>
            <a:r>
              <a:rPr lang="en-US" altLang="zh-CN"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，聚类更加</a:t>
            </a:r>
            <a:r>
              <a:rPr lang="zh-CN" altLang="en-US" sz="20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紧凑，</a:t>
            </a:r>
            <a:endParaRPr lang="en-US" altLang="zh-CN" sz="20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a:spcBef>
                <a:spcPts val="600"/>
              </a:spcBef>
            </a:pPr>
            <a:r>
              <a:rPr lang="zh-CN" altLang="en-US" sz="20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那么</a:t>
            </a:r>
            <a:r>
              <a:rPr lang="en-US" altLang="zh-CN"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作为中心点更加合理</a:t>
            </a:r>
          </a:p>
        </p:txBody>
      </p:sp>
      <p:sp>
        <p:nvSpPr>
          <p:cNvPr id="4" name="矩形 3"/>
          <p:cNvSpPr/>
          <p:nvPr/>
        </p:nvSpPr>
        <p:spPr>
          <a:xfrm>
            <a:off x="162432" y="6412942"/>
            <a:ext cx="8761053" cy="369332"/>
          </a:xfrm>
          <a:prstGeom prst="rect">
            <a:avLst/>
          </a:prstGeom>
        </p:spPr>
        <p:txBody>
          <a:bodyPr wrap="none">
            <a:spAutoFit/>
          </a:bodyPr>
          <a:lstStyle/>
          <a:p>
            <a:r>
              <a:rPr lang="zh-CN" altLang="en-US" b="1" dirty="0">
                <a:latin typeface="Times New Roman" panose="02020603050405020304" pitchFamily="18" charset="0"/>
                <a:ea typeface="微软雅黑" panose="020B0503020204020204" pitchFamily="34" charset="-122"/>
                <a:sym typeface="Times New Roman" panose="02020603050405020304" pitchFamily="18" charset="0"/>
              </a:rPr>
              <a:t>同理</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计算</a:t>
            </a:r>
            <a:r>
              <a:rPr lang="en-US" altLang="zh-CN" b="1">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i="1" baseline="-25000" dirty="0">
                <a:latin typeface="Times New Roman" panose="02020603050405020304" pitchFamily="18" charset="0"/>
                <a:ea typeface="微软雅黑" panose="020B0503020204020204" pitchFamily="34" charset="-122"/>
                <a:sym typeface="Times New Roman" panose="02020603050405020304" pitchFamily="18" charset="0"/>
              </a:rPr>
              <a:t>AC</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b="1">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i="1" baseline="-25000" dirty="0">
                <a:latin typeface="Times New Roman" panose="02020603050405020304" pitchFamily="18" charset="0"/>
                <a:ea typeface="微软雅黑" panose="020B0503020204020204" pitchFamily="34" charset="-122"/>
                <a:sym typeface="Times New Roman" panose="02020603050405020304" pitchFamily="18" charset="0"/>
              </a:rPr>
              <a:t>AD</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b="1">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i="1" baseline="-25000" dirty="0">
                <a:latin typeface="Times New Roman" panose="02020603050405020304" pitchFamily="18" charset="0"/>
                <a:ea typeface="微软雅黑" panose="020B0503020204020204" pitchFamily="34" charset="-122"/>
                <a:sym typeface="Times New Roman" panose="02020603050405020304" pitchFamily="18" charset="0"/>
              </a:rPr>
              <a:t>AE</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b="1">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i="1" baseline="-25000" dirty="0">
                <a:latin typeface="Times New Roman" panose="02020603050405020304" pitchFamily="18" charset="0"/>
                <a:ea typeface="微软雅黑" panose="020B0503020204020204" pitchFamily="34" charset="-122"/>
                <a:sym typeface="Times New Roman" panose="02020603050405020304" pitchFamily="18" charset="0"/>
              </a:rPr>
              <a:t>BC</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b="1">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i="1" baseline="-25000" dirty="0">
                <a:latin typeface="Times New Roman" panose="02020603050405020304" pitchFamily="18" charset="0"/>
                <a:ea typeface="微软雅黑" panose="020B0503020204020204" pitchFamily="34" charset="-122"/>
                <a:sym typeface="Times New Roman" panose="02020603050405020304" pitchFamily="18" charset="0"/>
              </a:rPr>
              <a:t>BD</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b="1">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i="1" baseline="-25000" dirty="0">
                <a:latin typeface="Times New Roman" panose="02020603050405020304" pitchFamily="18" charset="0"/>
                <a:ea typeface="微软雅黑" panose="020B0503020204020204" pitchFamily="34" charset="-122"/>
                <a:sym typeface="Times New Roman" panose="02020603050405020304" pitchFamily="18" charset="0"/>
              </a:rPr>
              <a:t>BE</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b="1" dirty="0">
                <a:latin typeface="Times New Roman" panose="02020603050405020304" pitchFamily="18" charset="0"/>
                <a:ea typeface="微软雅黑" panose="020B0503020204020204" pitchFamily="34" charset="-122"/>
                <a:sym typeface="Times New Roman" panose="02020603050405020304" pitchFamily="18" charset="0"/>
              </a:rPr>
              <a:t>代价函数最小值作为新中心点</a:t>
            </a:r>
          </a:p>
        </p:txBody>
      </p:sp>
      <p:graphicFrame>
        <p:nvGraphicFramePr>
          <p:cNvPr id="11" name="Group 4">
            <a:extLst>
              <a:ext uri="{FF2B5EF4-FFF2-40B4-BE49-F238E27FC236}">
                <a16:creationId xmlns:a16="http://schemas.microsoft.com/office/drawing/2014/main" id="{58AD3BAC-F8EE-4185-AACD-0028BDD6BA7E}"/>
              </a:ext>
            </a:extLst>
          </p:cNvPr>
          <p:cNvGraphicFramePr>
            <a:graphicFrameLocks noGrp="1"/>
          </p:cNvGraphicFramePr>
          <p:nvPr/>
        </p:nvGraphicFramePr>
        <p:xfrm>
          <a:off x="5436096" y="2708920"/>
          <a:ext cx="3502025" cy="2454864"/>
        </p:xfrm>
        <a:graphic>
          <a:graphicData uri="http://schemas.openxmlformats.org/drawingml/2006/table">
            <a:tbl>
              <a:tblPr/>
              <a:tblGrid>
                <a:gridCol w="94615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487363">
                  <a:extLst>
                    <a:ext uri="{9D8B030D-6E8A-4147-A177-3AD203B41FA5}">
                      <a16:colId xmlns:a16="http://schemas.microsoft.com/office/drawing/2014/main" val="20004"/>
                    </a:ext>
                  </a:extLst>
                </a:gridCol>
                <a:gridCol w="485775">
                  <a:extLst>
                    <a:ext uri="{9D8B030D-6E8A-4147-A177-3AD203B41FA5}">
                      <a16:colId xmlns:a16="http://schemas.microsoft.com/office/drawing/2014/main" val="20005"/>
                    </a:ext>
                  </a:extLst>
                </a:gridCol>
              </a:tblGrid>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样本点</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53214116"/>
      </p:ext>
    </p:extLst>
  </p:cSld>
  <p:clrMapOvr>
    <a:masterClrMapping/>
  </p:clrMapOvr>
  <p:transition spd="med">
    <p:split orient="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中心点方法</a:t>
            </a:r>
          </a:p>
        </p:txBody>
      </p:sp>
      <p:sp>
        <p:nvSpPr>
          <p:cNvPr id="3" name="内容占位符 2"/>
          <p:cNvSpPr>
            <a:spLocks noGrp="1"/>
          </p:cNvSpPr>
          <p:nvPr>
            <p:ph idx="4294967295"/>
          </p:nvPr>
        </p:nvSpPr>
        <p:spPr>
          <a:xfrm>
            <a:off x="252000" y="756000"/>
            <a:ext cx="8640000" cy="3864135"/>
          </a:xfrm>
          <a:prstGeom prst="rect">
            <a:avLst/>
          </a:prstGeom>
          <a:noFill/>
        </p:spPr>
        <p:txBody>
          <a:bodyPr wrap="square">
            <a:spAutoFit/>
          </a:body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基本思想</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首先为每个簇随意选择一个代表对象，剩余的对象根据其与代表对象的</a:t>
            </a:r>
            <a:r>
              <a:rPr lang="zh-CN" altLang="en-US" sz="22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距离</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分配给最近的一个簇</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然后迭代地用非代表对象来替代代表对象，以改进聚类</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的质量（</a:t>
            </a:r>
            <a:r>
              <a:rPr lang="zh-CN" altLang="en-US" sz="22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找</a:t>
            </a:r>
            <a:r>
              <a:rPr lang="zh-CN" altLang="en-US" sz="22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更好的</a:t>
            </a:r>
            <a:r>
              <a:rPr lang="zh-CN" altLang="en-US" sz="22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代表对象</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聚类结果的质量用一个</a:t>
            </a:r>
            <a:r>
              <a:rPr lang="zh-CN" altLang="en-US" sz="22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代价函数</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来估算，该函数评估了对象与其参照对象之间的平均</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相异度</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662162419"/>
      </p:ext>
    </p:extLst>
  </p:cSld>
  <p:clrMapOvr>
    <a:masterClrMapping/>
  </p:clrMapOvr>
  <p:transition spd="med">
    <p:split orient="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PAM</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a:t>
            </a:r>
          </a:p>
        </p:txBody>
      </p:sp>
      <p:sp>
        <p:nvSpPr>
          <p:cNvPr id="3" name="内容占位符 2"/>
          <p:cNvSpPr>
            <a:spLocks noGrp="1"/>
          </p:cNvSpPr>
          <p:nvPr>
            <p:ph idx="4294967295"/>
          </p:nvPr>
        </p:nvSpPr>
        <p:spPr>
          <a:xfrm>
            <a:off x="230188" y="756000"/>
            <a:ext cx="8640000" cy="1211807"/>
          </a:xfrm>
          <a:prstGeom prst="rect">
            <a:avLst/>
          </a:prstGeom>
          <a:noFill/>
        </p:spPr>
        <p:txBody>
          <a:bodyPr wrap="square">
            <a:spAutoFit/>
          </a:body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算法</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(Partitioning </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Around Medoids)</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最早</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提出的</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算法之一</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文本框 3"/>
          <p:cNvSpPr txBox="1"/>
          <p:nvPr/>
        </p:nvSpPr>
        <p:spPr>
          <a:xfrm>
            <a:off x="619021" y="2053207"/>
            <a:ext cx="8251167" cy="3464025"/>
          </a:xfrm>
          <a:prstGeom prst="rect">
            <a:avLst/>
          </a:prstGeom>
          <a:noFill/>
        </p:spPr>
        <p:txBody>
          <a:bodyPr wrap="square" rtlCol="0">
            <a:spAutoFit/>
          </a:bodyPr>
          <a:lstStyle/>
          <a:p>
            <a:pPr marL="457200" indent="-457200">
              <a:lnSpc>
                <a:spcPct val="150000"/>
              </a:lnSpc>
              <a:spcBef>
                <a:spcPts val="600"/>
              </a:spcBef>
              <a:buFont typeface="+mj-ea"/>
              <a:buAutoNum type="circleNumDbPlain"/>
            </a:pP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随机</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选择</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k </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个对象作为初始的</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代表对象 </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repeat</a:t>
            </a:r>
            <a:endParaRPr lang="en-US" altLang="zh-CN" sz="2200" dirty="0">
              <a:latin typeface="Times New Roman" panose="02020603050405020304" pitchFamily="18" charset="0"/>
              <a:ea typeface="微软雅黑" panose="020B0503020204020204" pitchFamily="34" charset="-122"/>
              <a:sym typeface="Times New Roman" panose="02020603050405020304" pitchFamily="18" charset="0"/>
            </a:endParaRPr>
          </a:p>
          <a:p>
            <a:pPr marL="457200" indent="-457200">
              <a:lnSpc>
                <a:spcPct val="150000"/>
              </a:lnSpc>
              <a:spcBef>
                <a:spcPts val="600"/>
              </a:spcBef>
              <a:buFont typeface="+mj-ea"/>
              <a:buAutoNum type="circleNumDbPlain"/>
            </a:pP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指派</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每个剩余的对象给离它最近的代表对象所代表的簇</a:t>
            </a:r>
          </a:p>
          <a:p>
            <a:pPr marL="457200" indent="-457200">
              <a:lnSpc>
                <a:spcPct val="150000"/>
              </a:lnSpc>
              <a:spcBef>
                <a:spcPts val="600"/>
              </a:spcBef>
              <a:buFont typeface="+mj-ea"/>
              <a:buAutoNum type="circleNumDbPlain"/>
            </a:pP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随机</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地选择一个非代表对象</a:t>
            </a:r>
            <a:r>
              <a:rPr lang="en-US" altLang="zh-CN" sz="2200" b="1" dirty="0" err="1">
                <a:latin typeface="Times New Roman" panose="02020603050405020304" pitchFamily="18" charset="0"/>
                <a:ea typeface="微软雅黑" panose="020B0503020204020204" pitchFamily="34" charset="-122"/>
                <a:sym typeface="Times New Roman" panose="02020603050405020304" pitchFamily="18" charset="0"/>
              </a:rPr>
              <a:t>O</a:t>
            </a:r>
            <a:r>
              <a:rPr lang="en-US" altLang="zh-CN" sz="2200" b="1" baseline="-25000" dirty="0" err="1">
                <a:latin typeface="Times New Roman" panose="02020603050405020304" pitchFamily="18" charset="0"/>
                <a:ea typeface="微软雅黑" panose="020B0503020204020204" pitchFamily="34" charset="-122"/>
                <a:sym typeface="Times New Roman" panose="02020603050405020304" pitchFamily="18" charset="0"/>
              </a:rPr>
              <a:t>random</a:t>
            </a:r>
            <a:endParaRPr lang="zh-CN" altLang="en-US" sz="2200" baseline="-25000" dirty="0">
              <a:latin typeface="Times New Roman" panose="02020603050405020304" pitchFamily="18" charset="0"/>
              <a:ea typeface="微软雅黑" panose="020B0503020204020204" pitchFamily="34" charset="-122"/>
              <a:sym typeface="Times New Roman" panose="02020603050405020304" pitchFamily="18" charset="0"/>
            </a:endParaRPr>
          </a:p>
          <a:p>
            <a:pPr marL="457200" indent="-457200">
              <a:lnSpc>
                <a:spcPct val="150000"/>
              </a:lnSpc>
              <a:spcBef>
                <a:spcPts val="600"/>
              </a:spcBef>
              <a:buFont typeface="+mj-ea"/>
              <a:buAutoNum type="circleNumDbPlain"/>
            </a:pP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计算</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用</a:t>
            </a:r>
            <a:r>
              <a:rPr lang="en-US" altLang="zh-CN" sz="2200" b="1" dirty="0" err="1">
                <a:latin typeface="Times New Roman" panose="02020603050405020304" pitchFamily="18" charset="0"/>
                <a:ea typeface="微软雅黑" panose="020B0503020204020204" pitchFamily="34" charset="-122"/>
                <a:sym typeface="Times New Roman" panose="02020603050405020304" pitchFamily="18" charset="0"/>
              </a:rPr>
              <a:t>O</a:t>
            </a:r>
            <a:r>
              <a:rPr lang="en-US" altLang="zh-CN" sz="2200" b="1" baseline="-25000" dirty="0" err="1">
                <a:latin typeface="Times New Roman" panose="02020603050405020304" pitchFamily="18" charset="0"/>
                <a:ea typeface="微软雅黑" panose="020B0503020204020204" pitchFamily="34" charset="-122"/>
                <a:sym typeface="Times New Roman" panose="02020603050405020304" pitchFamily="18" charset="0"/>
              </a:rPr>
              <a:t>random</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代替</a:t>
            </a:r>
            <a:r>
              <a:rPr lang="en-US" altLang="zh-CN" sz="2200" b="1" dirty="0" err="1">
                <a:latin typeface="Times New Roman" panose="02020603050405020304" pitchFamily="18" charset="0"/>
                <a:ea typeface="微软雅黑" panose="020B0503020204020204" pitchFamily="34" charset="-122"/>
                <a:sym typeface="Times New Roman" panose="02020603050405020304" pitchFamily="18" charset="0"/>
              </a:rPr>
              <a:t>O</a:t>
            </a:r>
            <a:r>
              <a:rPr lang="en-US" altLang="zh-CN" sz="2200" b="1" baseline="-25000" dirty="0" err="1">
                <a:latin typeface="Times New Roman" panose="02020603050405020304" pitchFamily="18" charset="0"/>
                <a:ea typeface="微软雅黑" panose="020B0503020204020204" pitchFamily="34" charset="-122"/>
                <a:sym typeface="Times New Roman" panose="02020603050405020304" pitchFamily="18" charset="0"/>
              </a:rPr>
              <a:t>j</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的</a:t>
            </a:r>
            <a:r>
              <a:rPr lang="zh-CN" altLang="en-US"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总代价</a:t>
            </a:r>
            <a:r>
              <a:rPr lang="en-US" altLang="zh-CN"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S </a:t>
            </a:r>
          </a:p>
          <a:p>
            <a:pPr marL="457200" indent="-457200">
              <a:lnSpc>
                <a:spcPct val="150000"/>
              </a:lnSpc>
              <a:spcBef>
                <a:spcPts val="600"/>
              </a:spcBef>
              <a:buFont typeface="+mj-ea"/>
              <a:buAutoNum type="circleNumDbPlain"/>
            </a:pP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如果</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S&lt;0</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，则用</a:t>
            </a:r>
            <a:r>
              <a:rPr lang="en-US" altLang="zh-CN" sz="2200" b="1" dirty="0" err="1">
                <a:latin typeface="Times New Roman" panose="02020603050405020304" pitchFamily="18" charset="0"/>
                <a:ea typeface="微软雅黑" panose="020B0503020204020204" pitchFamily="34" charset="-122"/>
                <a:sym typeface="Times New Roman" panose="02020603050405020304" pitchFamily="18" charset="0"/>
              </a:rPr>
              <a:t>O</a:t>
            </a:r>
            <a:r>
              <a:rPr lang="en-US" altLang="zh-CN" sz="2200" b="1" baseline="-25000" dirty="0" err="1">
                <a:latin typeface="Times New Roman" panose="02020603050405020304" pitchFamily="18" charset="0"/>
                <a:ea typeface="微软雅黑" panose="020B0503020204020204" pitchFamily="34" charset="-122"/>
                <a:sym typeface="Times New Roman" panose="02020603050405020304" pitchFamily="18" charset="0"/>
              </a:rPr>
              <a:t>random</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替换</a:t>
            </a:r>
            <a:r>
              <a:rPr lang="en-US" altLang="zh-CN" sz="2200" b="1" dirty="0" err="1">
                <a:latin typeface="Times New Roman" panose="02020603050405020304" pitchFamily="18" charset="0"/>
                <a:ea typeface="微软雅黑" panose="020B0503020204020204" pitchFamily="34" charset="-122"/>
                <a:sym typeface="Times New Roman" panose="02020603050405020304" pitchFamily="18" charset="0"/>
              </a:rPr>
              <a:t>O</a:t>
            </a:r>
            <a:r>
              <a:rPr lang="en-US" altLang="zh-CN" sz="2200" b="1" baseline="-25000" dirty="0" err="1">
                <a:latin typeface="Times New Roman" panose="02020603050405020304" pitchFamily="18" charset="0"/>
                <a:ea typeface="微软雅黑" panose="020B0503020204020204" pitchFamily="34" charset="-122"/>
                <a:sym typeface="Times New Roman" panose="02020603050405020304" pitchFamily="18" charset="0"/>
              </a:rPr>
              <a:t>j</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形成新的</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k</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个代表对象</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的集合</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until</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不发生变化</a:t>
            </a:r>
          </a:p>
        </p:txBody>
      </p:sp>
    </p:spTree>
    <p:extLst>
      <p:ext uri="{BB962C8B-B14F-4D97-AF65-F5344CB8AC3E}">
        <p14:creationId xmlns:p14="http://schemas.microsoft.com/office/powerpoint/2010/main" val="4137498319"/>
      </p:ext>
    </p:extLst>
  </p:cSld>
  <p:clrMapOvr>
    <a:masterClrMapping/>
  </p:clrMapOvr>
  <p:transition spd="med">
    <p:split orient="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代价函数</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a:spLocks noGrp="1"/>
          </p:cNvSpPr>
          <p:nvPr>
            <p:ph idx="4294967295"/>
          </p:nvPr>
        </p:nvSpPr>
        <p:spPr>
          <a:xfrm>
            <a:off x="252000" y="756000"/>
            <a:ext cx="7886700" cy="580865"/>
          </a:xfrm>
          <a:prstGeom prst="rect">
            <a:avLst/>
          </a:prstGeom>
          <a:noFill/>
        </p:spPr>
        <p:txBody>
          <a:bodyPr wrap="square">
            <a:spAutoFit/>
          </a:body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代价函数</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226138453"/>
              </p:ext>
            </p:extLst>
          </p:nvPr>
        </p:nvGraphicFramePr>
        <p:xfrm>
          <a:off x="3552444" y="1189138"/>
          <a:ext cx="2039112" cy="990655"/>
        </p:xfrm>
        <a:graphic>
          <a:graphicData uri="http://schemas.openxmlformats.org/presentationml/2006/ole">
            <mc:AlternateContent xmlns:mc="http://schemas.openxmlformats.org/markup-compatibility/2006">
              <mc:Choice xmlns:v="urn:schemas-microsoft-com:vml" Requires="v">
                <p:oleObj name="Equation" r:id="rId2" imgW="914400" imgH="444240" progId="Equation.DSMT4">
                  <p:embed/>
                </p:oleObj>
              </mc:Choice>
              <mc:Fallback>
                <p:oleObj name="Equation" r:id="rId2" imgW="914400" imgH="44424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444" y="1189138"/>
                        <a:ext cx="2039112" cy="990655"/>
                      </a:xfrm>
                      <a:prstGeom prst="rect">
                        <a:avLst/>
                      </a:prstGeom>
                      <a:noFill/>
                    </p:spPr>
                  </p:pic>
                </p:oleObj>
              </mc:Fallback>
            </mc:AlternateContent>
          </a:graphicData>
        </a:graphic>
      </p:graphicFrame>
      <p:sp>
        <p:nvSpPr>
          <p:cNvPr id="5" name="矩形 4"/>
          <p:cNvSpPr/>
          <p:nvPr/>
        </p:nvSpPr>
        <p:spPr>
          <a:xfrm>
            <a:off x="252000" y="2420888"/>
            <a:ext cx="8640000" cy="1765804"/>
          </a:xfrm>
          <a:prstGeom prst="rect">
            <a:avLst/>
          </a:prstGeom>
        </p:spPr>
        <p:txBody>
          <a:bodyPr wrap="square">
            <a:spAutoFit/>
          </a:bodyPr>
          <a:lstStyle/>
          <a:p>
            <a:pPr>
              <a:lnSpc>
                <a:spcPct val="150000"/>
              </a:lnSpc>
              <a:spcBef>
                <a:spcPts val="600"/>
              </a:spcBef>
              <a:buClr>
                <a:schemeClr val="tx1"/>
              </a:buClr>
              <a:buSzPct val="60000"/>
            </a:pP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        其中</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en-US" altLang="zh-CN" sz="2400" b="1" i="1" dirty="0">
                <a:solidFill>
                  <a:srgbClr val="FF67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是数据集中样本的个数；</a:t>
            </a:r>
            <a:r>
              <a:rPr lang="en-US" altLang="zh-CN" sz="2400" b="1" i="1" dirty="0" err="1">
                <a:solidFill>
                  <a:srgbClr val="FF67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C</a:t>
            </a:r>
            <a:r>
              <a:rPr lang="en-US" altLang="zh-CN" sz="2400" b="1" i="1" baseline="-25000" dirty="0" err="1">
                <a:solidFill>
                  <a:srgbClr val="FF67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pjh</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表示中心点</a:t>
            </a:r>
            <a:r>
              <a:rPr lang="en-US" altLang="zh-CN" sz="2400" b="1" i="1" dirty="0" err="1">
                <a:solidFill>
                  <a:srgbClr val="FF67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O</a:t>
            </a:r>
            <a:r>
              <a:rPr lang="en-US" altLang="zh-CN" sz="2400" b="1" i="1" baseline="-25000" dirty="0" err="1">
                <a:solidFill>
                  <a:srgbClr val="FF67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j</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被非中心点</a:t>
            </a:r>
            <a:r>
              <a:rPr lang="en-US" altLang="zh-CN" sz="2400" b="1" i="1" dirty="0">
                <a:solidFill>
                  <a:srgbClr val="FF67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O</a:t>
            </a:r>
            <a:r>
              <a:rPr lang="en-US" altLang="zh-CN" sz="2400" b="1" i="1" baseline="-25000" dirty="0">
                <a:solidFill>
                  <a:srgbClr val="FF67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h</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替代后，样本点</a:t>
            </a:r>
            <a:r>
              <a:rPr lang="en-US" altLang="zh-CN" sz="2400" b="1" i="1" dirty="0">
                <a:solidFill>
                  <a:srgbClr val="FF67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p</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的</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代价。</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p>
            <a:pPr>
              <a:lnSpc>
                <a:spcPct val="150000"/>
              </a:lnSpc>
              <a:spcBef>
                <a:spcPts val="600"/>
              </a:spcBef>
              <a:buClr>
                <a:schemeClr val="tx1"/>
              </a:buClr>
              <a:buSzPct val="60000"/>
            </a:pPr>
            <a:r>
              <a:rPr lang="zh-CN" altLang="en-US" sz="2400" b="1">
                <a:solidFill>
                  <a:srgbClr val="FF67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        问题</a:t>
            </a:r>
            <a:r>
              <a:rPr lang="zh-CN" altLang="en-US" sz="2400" b="1" dirty="0">
                <a:solidFill>
                  <a:srgbClr val="FF67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如何计算每个样本点</a:t>
            </a:r>
            <a:r>
              <a:rPr lang="en-US" altLang="zh-CN" sz="2400" b="1" i="1" dirty="0">
                <a:solidFill>
                  <a:srgbClr val="FF67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p</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产生的代价</a:t>
            </a:r>
            <a:r>
              <a:rPr lang="en-US" altLang="zh-CN" sz="2400" b="1" i="1" dirty="0" err="1">
                <a:solidFill>
                  <a:srgbClr val="FF67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C</a:t>
            </a:r>
            <a:r>
              <a:rPr lang="en-US" altLang="zh-CN" sz="2400" b="1" i="1" baseline="-25000" dirty="0" err="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pjh</a:t>
            </a:r>
            <a:r>
              <a:rPr lang="zh-CN" altLang="en-US" sz="1600"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sym typeface="Times New Roman" panose="02020603050405020304" pitchFamily="18" charset="0"/>
              </a:rPr>
              <a:t>？</a:t>
            </a:r>
          </a:p>
        </p:txBody>
      </p:sp>
    </p:spTree>
    <p:extLst>
      <p:ext uri="{BB962C8B-B14F-4D97-AF65-F5344CB8AC3E}">
        <p14:creationId xmlns:p14="http://schemas.microsoft.com/office/powerpoint/2010/main" val="4276593001"/>
      </p:ext>
    </p:extLst>
  </p:cSld>
  <p:clrMapOvr>
    <a:masterClrMapping/>
  </p:clrMapOvr>
  <p:transition spd="med">
    <p:split orient="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252000" y="756000"/>
            <a:ext cx="8640000" cy="1134862"/>
          </a:xfrm>
          <a:prstGeom prst="rect">
            <a:avLst/>
          </a:prstGeom>
        </p:spPr>
        <p:txBody>
          <a:bodyPr>
            <a:spAutoFit/>
          </a:bodyPr>
          <a:lstStyle/>
          <a:p>
            <a:pPr marL="0" indent="0">
              <a:lnSpc>
                <a:spcPct val="150000"/>
              </a:lnSpc>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        当非</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代表样本</a:t>
            </a:r>
            <a:r>
              <a:rPr lang="en-US" altLang="zh-CN" sz="2400" b="1" i="1" dirty="0" err="1">
                <a:solidFill>
                  <a:srgbClr val="FF66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O</a:t>
            </a:r>
            <a:r>
              <a:rPr lang="en-US" altLang="zh-CN" sz="2400" b="1" i="1" baseline="-25000" dirty="0" err="1">
                <a:solidFill>
                  <a:srgbClr val="FF66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random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替代代表样本</a:t>
            </a:r>
            <a:r>
              <a:rPr lang="en-US" altLang="zh-CN" sz="2400" b="1" i="1" dirty="0" err="1">
                <a:solidFill>
                  <a:srgbClr val="FF66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O</a:t>
            </a:r>
            <a:r>
              <a:rPr lang="en-US" altLang="zh-CN" sz="2400" b="1" i="1" baseline="-25000" dirty="0" err="1">
                <a:solidFill>
                  <a:srgbClr val="FF66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j</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后，对于数据集中的每一个样本</a:t>
            </a:r>
            <a:r>
              <a:rPr lang="en-US" altLang="zh-CN" sz="2400" b="1" i="1" dirty="0">
                <a:solidFill>
                  <a:srgbClr val="FF66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p</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，它所属的簇的类别将有以下四种可能的</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变化：</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000" y="1996527"/>
            <a:ext cx="8568000" cy="4231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39552" y="4322072"/>
            <a:ext cx="1728192" cy="646331"/>
          </a:xfrm>
          <a:prstGeom prst="rect">
            <a:avLst/>
          </a:prstGeom>
          <a:noFill/>
        </p:spPr>
        <p:txBody>
          <a:bodyPr wrap="square" rtlCol="0">
            <a:spAutoFit/>
          </a:bodyPr>
          <a:lstStyle/>
          <a:p>
            <a:pPr algn="ct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中心点变换后，</a:t>
            </a:r>
            <a:r>
              <a:rPr lang="en-US" altLang="zh-CN"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另寻他人</a:t>
            </a:r>
          </a:p>
        </p:txBody>
      </p:sp>
      <p:sp>
        <p:nvSpPr>
          <p:cNvPr id="6" name="TextBox 5"/>
          <p:cNvSpPr txBox="1"/>
          <p:nvPr/>
        </p:nvSpPr>
        <p:spPr>
          <a:xfrm>
            <a:off x="2662294" y="4735462"/>
            <a:ext cx="1728192" cy="646331"/>
          </a:xfrm>
          <a:prstGeom prst="rect">
            <a:avLst/>
          </a:prstGeom>
          <a:noFill/>
        </p:spPr>
        <p:txBody>
          <a:bodyPr wrap="square" rtlCol="0">
            <a:spAutoFit/>
          </a:bodyPr>
          <a:lstStyle/>
          <a:p>
            <a:pPr algn="ct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中心点变换后，</a:t>
            </a:r>
            <a:r>
              <a:rPr lang="en-US" altLang="zh-CN"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加入新中心点</a:t>
            </a:r>
          </a:p>
        </p:txBody>
      </p:sp>
      <p:sp>
        <p:nvSpPr>
          <p:cNvPr id="7" name="TextBox 6"/>
          <p:cNvSpPr txBox="1"/>
          <p:nvPr/>
        </p:nvSpPr>
        <p:spPr>
          <a:xfrm>
            <a:off x="4980150" y="4735462"/>
            <a:ext cx="1584176" cy="646331"/>
          </a:xfrm>
          <a:prstGeom prst="rect">
            <a:avLst/>
          </a:prstGeom>
          <a:noFill/>
        </p:spPr>
        <p:txBody>
          <a:bodyPr wrap="square" rtlCol="0">
            <a:spAutoFit/>
          </a:bodyPr>
          <a:lstStyle/>
          <a:p>
            <a:pPr algn="ct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中心点变换后，</a:t>
            </a:r>
            <a:r>
              <a:rPr lang="en-US" altLang="zh-CN"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保持原位</a:t>
            </a:r>
          </a:p>
        </p:txBody>
      </p:sp>
      <p:sp>
        <p:nvSpPr>
          <p:cNvPr id="8" name="TextBox 7"/>
          <p:cNvSpPr txBox="1"/>
          <p:nvPr/>
        </p:nvSpPr>
        <p:spPr>
          <a:xfrm>
            <a:off x="6948264" y="4735462"/>
            <a:ext cx="1846610" cy="646331"/>
          </a:xfrm>
          <a:prstGeom prst="rect">
            <a:avLst/>
          </a:prstGeom>
          <a:noFill/>
        </p:spPr>
        <p:txBody>
          <a:bodyPr wrap="square" rtlCol="0">
            <a:spAutoFit/>
          </a:bodyPr>
          <a:lstStyle/>
          <a:p>
            <a:pPr algn="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中心点变换后，</a:t>
            </a:r>
            <a:r>
              <a:rPr lang="en-US" altLang="zh-CN"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加入新中心点</a:t>
            </a:r>
          </a:p>
        </p:txBody>
      </p:sp>
      <p:sp>
        <p:nvSpPr>
          <p:cNvPr id="12" name="标题 1">
            <a:extLst>
              <a:ext uri="{FF2B5EF4-FFF2-40B4-BE49-F238E27FC236}">
                <a16:creationId xmlns:a16="http://schemas.microsoft.com/office/drawing/2014/main" id="{A463AF19-2203-4987-9658-A17D4F31C60F}"/>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代价函数</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1584455092"/>
      </p:ext>
    </p:extLst>
  </p:cSld>
  <p:clrMapOvr>
    <a:masterClrMapping/>
  </p:clrMapOvr>
  <p:transition spd="med">
    <p:split orient="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252000" y="756000"/>
            <a:ext cx="8640000" cy="1134862"/>
          </a:xfrm>
          <a:prstGeom prst="rect">
            <a:avLst/>
          </a:prstGeom>
        </p:spPr>
        <p:txBody>
          <a:bodyPr>
            <a:spAutoFit/>
          </a:bodyPr>
          <a:lstStyle/>
          <a:p>
            <a:pPr marL="0" indent="0">
              <a:lnSpc>
                <a:spcPct val="150000"/>
              </a:lnSpc>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        当非</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代表样本</a:t>
            </a:r>
            <a:r>
              <a:rPr lang="en-US" altLang="zh-CN" sz="2400" b="1" i="1" dirty="0" err="1">
                <a:solidFill>
                  <a:srgbClr val="FF66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O</a:t>
            </a:r>
            <a:r>
              <a:rPr lang="en-US" altLang="zh-CN" sz="2400" b="1" i="1" baseline="-25000" dirty="0" err="1">
                <a:solidFill>
                  <a:srgbClr val="FF66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random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替代代表样本</a:t>
            </a:r>
            <a:r>
              <a:rPr lang="en-US" altLang="zh-CN" sz="2400" b="1" i="1" dirty="0" err="1">
                <a:solidFill>
                  <a:srgbClr val="FF66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O</a:t>
            </a:r>
            <a:r>
              <a:rPr lang="en-US" altLang="zh-CN" sz="2400" b="1" i="1" baseline="-25000" dirty="0" err="1">
                <a:solidFill>
                  <a:srgbClr val="FF66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j</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后，对于数据集中的每一个样本</a:t>
            </a:r>
            <a:r>
              <a:rPr lang="en-US" altLang="zh-CN" sz="2400" b="1" i="1" dirty="0">
                <a:solidFill>
                  <a:srgbClr val="FF66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p</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，它所属的簇的类别将有以下四种可能的</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变化：</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000" y="1996527"/>
            <a:ext cx="8568000" cy="4231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39552" y="4322072"/>
            <a:ext cx="1728192" cy="646331"/>
          </a:xfrm>
          <a:prstGeom prst="rect">
            <a:avLst/>
          </a:prstGeom>
          <a:noFill/>
        </p:spPr>
        <p:txBody>
          <a:bodyPr wrap="square" rtlCol="0">
            <a:spAutoFit/>
          </a:bodyPr>
          <a:lstStyle/>
          <a:p>
            <a:pPr algn="ct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中心点变换后，</a:t>
            </a:r>
            <a:r>
              <a:rPr lang="en-US" altLang="zh-CN"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另寻他人</a:t>
            </a:r>
          </a:p>
        </p:txBody>
      </p:sp>
      <p:sp>
        <p:nvSpPr>
          <p:cNvPr id="6" name="TextBox 5"/>
          <p:cNvSpPr txBox="1"/>
          <p:nvPr/>
        </p:nvSpPr>
        <p:spPr>
          <a:xfrm>
            <a:off x="2662294" y="4735462"/>
            <a:ext cx="1728192" cy="646331"/>
          </a:xfrm>
          <a:prstGeom prst="rect">
            <a:avLst/>
          </a:prstGeom>
          <a:noFill/>
        </p:spPr>
        <p:txBody>
          <a:bodyPr wrap="square" rtlCol="0">
            <a:spAutoFit/>
          </a:bodyPr>
          <a:lstStyle/>
          <a:p>
            <a:pPr algn="ct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中心点变换后，</a:t>
            </a:r>
            <a:r>
              <a:rPr lang="en-US" altLang="zh-CN"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加入新中心点</a:t>
            </a:r>
          </a:p>
        </p:txBody>
      </p:sp>
      <p:sp>
        <p:nvSpPr>
          <p:cNvPr id="7" name="TextBox 6"/>
          <p:cNvSpPr txBox="1"/>
          <p:nvPr/>
        </p:nvSpPr>
        <p:spPr>
          <a:xfrm>
            <a:off x="4980150" y="4735462"/>
            <a:ext cx="1584176" cy="646331"/>
          </a:xfrm>
          <a:prstGeom prst="rect">
            <a:avLst/>
          </a:prstGeom>
          <a:noFill/>
        </p:spPr>
        <p:txBody>
          <a:bodyPr wrap="square" rtlCol="0">
            <a:spAutoFit/>
          </a:bodyPr>
          <a:lstStyle/>
          <a:p>
            <a:pPr algn="ct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中心点变换后，</a:t>
            </a:r>
            <a:r>
              <a:rPr lang="en-US" altLang="zh-CN"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保持原位</a:t>
            </a:r>
          </a:p>
        </p:txBody>
      </p:sp>
      <p:sp>
        <p:nvSpPr>
          <p:cNvPr id="8" name="TextBox 7"/>
          <p:cNvSpPr txBox="1"/>
          <p:nvPr/>
        </p:nvSpPr>
        <p:spPr>
          <a:xfrm>
            <a:off x="6948264" y="4735462"/>
            <a:ext cx="1846610" cy="646331"/>
          </a:xfrm>
          <a:prstGeom prst="rect">
            <a:avLst/>
          </a:prstGeom>
          <a:noFill/>
        </p:spPr>
        <p:txBody>
          <a:bodyPr wrap="square" rtlCol="0">
            <a:spAutoFit/>
          </a:bodyPr>
          <a:lstStyle/>
          <a:p>
            <a:pPr algn="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中心点变换后，</a:t>
            </a:r>
            <a:r>
              <a:rPr lang="en-US" altLang="zh-CN"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加入新中心点</a:t>
            </a:r>
          </a:p>
        </p:txBody>
      </p:sp>
      <p:sp>
        <p:nvSpPr>
          <p:cNvPr id="9" name="TextBox 8"/>
          <p:cNvSpPr txBox="1"/>
          <p:nvPr/>
        </p:nvSpPr>
        <p:spPr>
          <a:xfrm>
            <a:off x="2816227" y="5453215"/>
            <a:ext cx="1368152" cy="646331"/>
          </a:xfrm>
          <a:prstGeom prst="rect">
            <a:avLst/>
          </a:prstGeom>
          <a:noFill/>
        </p:spPr>
        <p:txBody>
          <a:bodyPr wrap="square" rtlCol="0">
            <a:spAutoFit/>
          </a:bodyPr>
          <a:lstStyle/>
          <a:p>
            <a:pPr algn="ctr"/>
            <a:r>
              <a:rPr lang="en-US" altLang="zh-CN" b="1" dirty="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b="1">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最初属于</a:t>
            </a:r>
            <a:endParaRPr lang="en-US" altLang="zh-CN" b="1">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a:r>
              <a:rPr lang="zh-CN" altLang="en-US" b="1">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被</a:t>
            </a:r>
            <a:r>
              <a:rPr lang="zh-CN" altLang="en-US" b="1" dirty="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替换的点</a:t>
            </a:r>
          </a:p>
        </p:txBody>
      </p:sp>
      <p:sp>
        <p:nvSpPr>
          <p:cNvPr id="10" name="TextBox 9"/>
          <p:cNvSpPr txBox="1"/>
          <p:nvPr/>
        </p:nvSpPr>
        <p:spPr>
          <a:xfrm>
            <a:off x="7115485" y="5463973"/>
            <a:ext cx="1512168" cy="646331"/>
          </a:xfrm>
          <a:prstGeom prst="rect">
            <a:avLst/>
          </a:prstGeom>
          <a:noFill/>
        </p:spPr>
        <p:txBody>
          <a:bodyPr wrap="square" rtlCol="0">
            <a:spAutoFit/>
          </a:bodyPr>
          <a:lstStyle/>
          <a:p>
            <a:r>
              <a:rPr lang="en-US" altLang="zh-CN" b="1" dirty="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b="1" dirty="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最初</a:t>
            </a:r>
            <a:r>
              <a:rPr lang="zh-CN" altLang="en-US" b="1">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不属于</a:t>
            </a:r>
            <a:endParaRPr lang="en-US" altLang="zh-CN" b="1">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a:r>
              <a:rPr lang="zh-CN" altLang="en-US" b="1">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被</a:t>
            </a:r>
            <a:r>
              <a:rPr lang="zh-CN" altLang="en-US" b="1" dirty="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替换的点</a:t>
            </a:r>
          </a:p>
        </p:txBody>
      </p:sp>
      <p:sp>
        <p:nvSpPr>
          <p:cNvPr id="12" name="标题 1">
            <a:extLst>
              <a:ext uri="{FF2B5EF4-FFF2-40B4-BE49-F238E27FC236}">
                <a16:creationId xmlns:a16="http://schemas.microsoft.com/office/drawing/2014/main" id="{A463AF19-2203-4987-9658-A17D4F31C60F}"/>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代价函数</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521078809"/>
      </p:ext>
    </p:extLst>
  </p:cSld>
  <p:clrMapOvr>
    <a:masterClrMapping/>
  </p:clrMapOvr>
  <p:transition spd="med">
    <p:split orient="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算法示例</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 name="Rectangle 3">
            <a:extLst>
              <a:ext uri="{FF2B5EF4-FFF2-40B4-BE49-F238E27FC236}">
                <a16:creationId xmlns:a16="http://schemas.microsoft.com/office/drawing/2014/main" id="{9D49C501-7B5E-4FF7-90B1-03D7CD987CD3}"/>
              </a:ext>
            </a:extLst>
          </p:cNvPr>
          <p:cNvSpPr txBox="1">
            <a:spLocks noChangeArrowheads="1"/>
          </p:cNvSpPr>
          <p:nvPr/>
        </p:nvSpPr>
        <p:spPr>
          <a:xfrm>
            <a:off x="252000" y="756000"/>
            <a:ext cx="8640000" cy="1688860"/>
          </a:xfrm>
          <a:prstGeom prst="rect">
            <a:avLst/>
          </a:prstGeom>
          <a:no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lnSpc>
                <a:spcPct val="150000"/>
              </a:lnSpc>
              <a:spcBef>
                <a:spcPts val="600"/>
              </a:spcBef>
              <a:spcAft>
                <a:spcPct val="0"/>
              </a:spcAft>
              <a:buClr>
                <a:srgbClr val="FF6600"/>
              </a:buClr>
              <a:buSzPct val="80000"/>
              <a:buFont typeface="Arial" panose="020B0604020202020204" pitchFamily="34" charset="0"/>
              <a:buNone/>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        假如空间中的五个点｛</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A</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、Ｂ、Ｃ、Ｄ、Ｅ｝如图所示，各点之间的距离关系如表所示，根据所给的数据对其运行</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算法实现划分聚类（设</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k=2</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 样本点间距离如下表所示：</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aphicFrame>
        <p:nvGraphicFramePr>
          <p:cNvPr id="11" name="Group 4">
            <a:extLst>
              <a:ext uri="{FF2B5EF4-FFF2-40B4-BE49-F238E27FC236}">
                <a16:creationId xmlns:a16="http://schemas.microsoft.com/office/drawing/2014/main" id="{5A4CD65F-FB99-464C-BD2C-E6526D66BA10}"/>
              </a:ext>
            </a:extLst>
          </p:cNvPr>
          <p:cNvGraphicFramePr>
            <a:graphicFrameLocks noGrp="1"/>
          </p:cNvGraphicFramePr>
          <p:nvPr>
            <p:extLst>
              <p:ext uri="{D42A27DB-BD31-4B8C-83A1-F6EECF244321}">
                <p14:modId xmlns:p14="http://schemas.microsoft.com/office/powerpoint/2010/main" val="2166113333"/>
              </p:ext>
            </p:extLst>
          </p:nvPr>
        </p:nvGraphicFramePr>
        <p:xfrm>
          <a:off x="2820988" y="2877050"/>
          <a:ext cx="3502025" cy="2454864"/>
        </p:xfrm>
        <a:graphic>
          <a:graphicData uri="http://schemas.openxmlformats.org/drawingml/2006/table">
            <a:tbl>
              <a:tblPr/>
              <a:tblGrid>
                <a:gridCol w="94615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487363">
                  <a:extLst>
                    <a:ext uri="{9D8B030D-6E8A-4147-A177-3AD203B41FA5}">
                      <a16:colId xmlns:a16="http://schemas.microsoft.com/office/drawing/2014/main" val="20004"/>
                    </a:ext>
                  </a:extLst>
                </a:gridCol>
                <a:gridCol w="485775">
                  <a:extLst>
                    <a:ext uri="{9D8B030D-6E8A-4147-A177-3AD203B41FA5}">
                      <a16:colId xmlns:a16="http://schemas.microsoft.com/office/drawing/2014/main" val="20005"/>
                    </a:ext>
                  </a:extLst>
                </a:gridCol>
              </a:tblGrid>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样本点</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graphicFrame>
        <p:nvGraphicFramePr>
          <p:cNvPr id="12" name="Object 55">
            <a:extLst>
              <a:ext uri="{FF2B5EF4-FFF2-40B4-BE49-F238E27FC236}">
                <a16:creationId xmlns:a16="http://schemas.microsoft.com/office/drawing/2014/main" id="{5AE43D0D-6518-40B5-B311-CC7491BFF37E}"/>
              </a:ext>
            </a:extLst>
          </p:cNvPr>
          <p:cNvGraphicFramePr>
            <a:graphicFrameLocks noChangeAspect="1"/>
          </p:cNvGraphicFramePr>
          <p:nvPr>
            <p:extLst>
              <p:ext uri="{D42A27DB-BD31-4B8C-83A1-F6EECF244321}">
                <p14:modId xmlns:p14="http://schemas.microsoft.com/office/powerpoint/2010/main" val="4117518087"/>
              </p:ext>
            </p:extLst>
          </p:nvPr>
        </p:nvGraphicFramePr>
        <p:xfrm>
          <a:off x="762793" y="3066820"/>
          <a:ext cx="1601787" cy="2071687"/>
        </p:xfrm>
        <a:graphic>
          <a:graphicData uri="http://schemas.openxmlformats.org/presentationml/2006/ole">
            <mc:AlternateContent xmlns:mc="http://schemas.openxmlformats.org/markup-compatibility/2006">
              <mc:Choice xmlns:v="urn:schemas-microsoft-com:vml" Requires="v">
                <p:oleObj r:id="rId2" imgW="1600200" imgH="2070100" progId="Word.Picture.8">
                  <p:embed/>
                </p:oleObj>
              </mc:Choice>
              <mc:Fallback>
                <p:oleObj r:id="rId2" imgW="1600200" imgH="2070100" progId="Word.Picture.8">
                  <p:embed/>
                  <p:pic>
                    <p:nvPicPr>
                      <p:cNvPr id="50231" name="Object 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793" y="3066820"/>
                        <a:ext cx="1601787" cy="20716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56">
            <a:extLst>
              <a:ext uri="{FF2B5EF4-FFF2-40B4-BE49-F238E27FC236}">
                <a16:creationId xmlns:a16="http://schemas.microsoft.com/office/drawing/2014/main" id="{17B56A38-F976-4B0F-AA28-53406CCA8937}"/>
              </a:ext>
            </a:extLst>
          </p:cNvPr>
          <p:cNvGraphicFramePr>
            <a:graphicFrameLocks noChangeAspect="1"/>
          </p:cNvGraphicFramePr>
          <p:nvPr>
            <p:extLst>
              <p:ext uri="{D42A27DB-BD31-4B8C-83A1-F6EECF244321}">
                <p14:modId xmlns:p14="http://schemas.microsoft.com/office/powerpoint/2010/main" val="3262532154"/>
              </p:ext>
            </p:extLst>
          </p:nvPr>
        </p:nvGraphicFramePr>
        <p:xfrm>
          <a:off x="6846779" y="3066820"/>
          <a:ext cx="1601788" cy="2071687"/>
        </p:xfrm>
        <a:graphic>
          <a:graphicData uri="http://schemas.openxmlformats.org/presentationml/2006/ole">
            <mc:AlternateContent xmlns:mc="http://schemas.openxmlformats.org/markup-compatibility/2006">
              <mc:Choice xmlns:v="urn:schemas-microsoft-com:vml" Requires="v">
                <p:oleObj r:id="rId4" imgW="1600200" imgH="2070100" progId="Word.Picture.8">
                  <p:embed/>
                </p:oleObj>
              </mc:Choice>
              <mc:Fallback>
                <p:oleObj r:id="rId4" imgW="1600200" imgH="2070100" progId="Word.Picture.8">
                  <p:embed/>
                  <p:pic>
                    <p:nvPicPr>
                      <p:cNvPr id="50232" name="Object 5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6779" y="3066820"/>
                        <a:ext cx="1601788" cy="20716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 Box 57">
            <a:extLst>
              <a:ext uri="{FF2B5EF4-FFF2-40B4-BE49-F238E27FC236}">
                <a16:creationId xmlns:a16="http://schemas.microsoft.com/office/drawing/2014/main" id="{0A21F0D0-46AA-42D0-A030-2387C77ABD24}"/>
              </a:ext>
            </a:extLst>
          </p:cNvPr>
          <p:cNvSpPr txBox="1">
            <a:spLocks noChangeArrowheads="1"/>
          </p:cNvSpPr>
          <p:nvPr/>
        </p:nvSpPr>
        <p:spPr bwMode="auto">
          <a:xfrm>
            <a:off x="6914139" y="5375746"/>
            <a:ext cx="13388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buClr>
                <a:schemeClr val="accent2"/>
              </a:buClr>
              <a:buSzTx/>
              <a:buFont typeface="Wingdings" charset="2"/>
              <a:buNone/>
              <a:defRPr/>
            </a:pP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起始中心点</a:t>
            </a:r>
          </a:p>
        </p:txBody>
      </p:sp>
      <p:sp>
        <p:nvSpPr>
          <p:cNvPr id="15" name="Rectangle 58">
            <a:extLst>
              <a:ext uri="{FF2B5EF4-FFF2-40B4-BE49-F238E27FC236}">
                <a16:creationId xmlns:a16="http://schemas.microsoft.com/office/drawing/2014/main" id="{6EA1BC67-CF94-4B7D-B311-8BFC77A4A7EF}"/>
              </a:ext>
            </a:extLst>
          </p:cNvPr>
          <p:cNvSpPr>
            <a:spLocks noChangeArrowheads="1"/>
          </p:cNvSpPr>
          <p:nvPr/>
        </p:nvSpPr>
        <p:spPr bwMode="auto">
          <a:xfrm>
            <a:off x="1086632" y="5375746"/>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469900" indent="-469900" eaLnBrk="1" hangingPunct="1">
              <a:spcBef>
                <a:spcPct val="20000"/>
              </a:spcBef>
              <a:buClr>
                <a:schemeClr val="accent2"/>
              </a:buClr>
              <a:buFont typeface="Wingdings" pitchFamily="2" charset="2"/>
              <a:buNone/>
            </a:pPr>
            <a:r>
              <a:rPr lang="zh-CN" altLang="en-US">
                <a:latin typeface="Times New Roman" panose="02020603050405020304" pitchFamily="18" charset="0"/>
                <a:ea typeface="微软雅黑" panose="020B0503020204020204" pitchFamily="34" charset="-122"/>
                <a:sym typeface="Times New Roman" panose="02020603050405020304" pitchFamily="18" charset="0"/>
              </a:rPr>
              <a:t>样本点</a:t>
            </a:r>
          </a:p>
        </p:txBody>
      </p:sp>
    </p:spTree>
    <p:extLst>
      <p:ext uri="{BB962C8B-B14F-4D97-AF65-F5344CB8AC3E}">
        <p14:creationId xmlns:p14="http://schemas.microsoft.com/office/powerpoint/2010/main" val="3800912659"/>
      </p:ext>
    </p:extLst>
  </p:cSld>
  <p:clrMapOvr>
    <a:masterClrMapping/>
  </p:clrMapOvr>
  <p:transition spd="med">
    <p:split orient="ver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idx="4294967295"/>
          </p:nvPr>
        </p:nvSpPr>
        <p:spPr>
          <a:xfrm>
            <a:off x="756000" y="108000"/>
            <a:ext cx="82296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算法示例</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8676" name="Rectangle 3"/>
          <p:cNvSpPr>
            <a:spLocks noGrp="1" noChangeArrowheads="1"/>
          </p:cNvSpPr>
          <p:nvPr>
            <p:ph type="body" sz="half" idx="4294967295"/>
          </p:nvPr>
        </p:nvSpPr>
        <p:spPr>
          <a:xfrm>
            <a:off x="252000" y="717323"/>
            <a:ext cx="8640000" cy="2696187"/>
          </a:xfrm>
          <a:prstGeom prst="rect">
            <a:avLst/>
          </a:prstGeom>
          <a:noFill/>
        </p:spPr>
        <p:txBody>
          <a:bodyPr wrap="square">
            <a:spAutoFit/>
          </a:bodyPr>
          <a:lstStyle/>
          <a:p>
            <a:pPr marL="0" indent="0" algn="just" fontAlgn="base">
              <a:lnSpc>
                <a:spcPct val="135000"/>
              </a:lnSpc>
              <a:spcBef>
                <a:spcPts val="600"/>
              </a:spcBef>
              <a:spcAft>
                <a:spcPct val="0"/>
              </a:spcAft>
              <a:buClr>
                <a:srgbClr val="FF6600"/>
              </a:buClr>
              <a:buSzPct val="80000"/>
              <a:buNone/>
            </a:pP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0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第一</a:t>
            </a:r>
            <a:r>
              <a:rPr lang="zh-CN" altLang="en-US" sz="20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步 建立阶段</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假如从</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5</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个对象中随机</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抽取的</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个</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中心点为</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A</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则样本被</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划分为</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A</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B</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E}</a:t>
            </a:r>
          </a:p>
          <a:p>
            <a:pPr marL="0" indent="0" algn="just" fontAlgn="base">
              <a:lnSpc>
                <a:spcPct val="135000"/>
              </a:lnSpc>
              <a:spcBef>
                <a:spcPts val="600"/>
              </a:spcBef>
              <a:spcAft>
                <a:spcPct val="0"/>
              </a:spcAft>
              <a:buClr>
                <a:srgbClr val="FF6600"/>
              </a:buClr>
              <a:buSzPct val="80000"/>
              <a:buNone/>
            </a:pP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0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第二</a:t>
            </a:r>
            <a:r>
              <a:rPr lang="zh-CN" altLang="en-US" sz="20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步 交换阶段</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假定中心点</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A</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分别被</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非中心点</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替换</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，根据</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算法需要计算</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下列代价</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AC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AD</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a:latin typeface="Times New Roman" panose="02020603050405020304" pitchFamily="18" charset="0"/>
                <a:ea typeface="微软雅黑" panose="020B0503020204020204" pitchFamily="34" charset="-122"/>
                <a:cs typeface="+mn-ea"/>
                <a:sym typeface="Times New Roman" panose="02020603050405020304" pitchFamily="18" charset="0"/>
              </a:rPr>
              <a:t>AE</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a:latin typeface="Times New Roman" panose="02020603050405020304" pitchFamily="18" charset="0"/>
                <a:ea typeface="微软雅黑" panose="020B0503020204020204" pitchFamily="34" charset="-122"/>
                <a:cs typeface="+mn-ea"/>
                <a:sym typeface="Times New Roman" panose="02020603050405020304" pitchFamily="18" charset="0"/>
              </a:rPr>
              <a:t>BC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BD</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BE</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即验证中心点变换后，代价如何变化</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以</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AC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为</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例说明计算过程</a:t>
            </a:r>
          </a:p>
        </p:txBody>
      </p:sp>
      <p:sp>
        <p:nvSpPr>
          <p:cNvPr id="28677" name="Text Box 4"/>
          <p:cNvSpPr txBox="1">
            <a:spLocks noChangeArrowheads="1"/>
          </p:cNvSpPr>
          <p:nvPr/>
        </p:nvSpPr>
        <p:spPr bwMode="auto">
          <a:xfrm>
            <a:off x="1854922" y="3700927"/>
            <a:ext cx="3528000" cy="243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9900" indent="-469900">
              <a:defRPr sz="3200">
                <a:solidFill>
                  <a:schemeClr val="tx1"/>
                </a:solidFill>
                <a:latin typeface="Arial" charset="0"/>
                <a:ea typeface="楷体_GB2312" pitchFamily="49" charset="-122"/>
              </a:defRPr>
            </a:lvl1pPr>
            <a:lvl2pPr marL="800100" indent="-342900">
              <a:defRPr sz="2800">
                <a:solidFill>
                  <a:schemeClr val="tx1"/>
                </a:solidFill>
                <a:latin typeface="Arial" charset="0"/>
                <a:ea typeface="楷体_GB2312" pitchFamily="49" charset="-122"/>
              </a:defRPr>
            </a:lvl2pPr>
            <a:lvl3pPr marL="1257300" indent="-342900">
              <a:defRPr sz="2400">
                <a:solidFill>
                  <a:schemeClr val="tx1"/>
                </a:solidFill>
                <a:latin typeface="Arial" charset="0"/>
                <a:ea typeface="楷体_GB2312" pitchFamily="49" charset="-122"/>
              </a:defRPr>
            </a:lvl3pPr>
            <a:lvl4pPr marL="1714500" indent="-342900">
              <a:defRPr sz="2000">
                <a:solidFill>
                  <a:schemeClr val="tx1"/>
                </a:solidFill>
                <a:latin typeface="Arial" charset="0"/>
                <a:ea typeface="楷体_GB2312" pitchFamily="49" charset="-122"/>
              </a:defRPr>
            </a:lvl4pPr>
            <a:lvl5pPr marL="2171700" indent="-342900">
              <a:defRPr sz="2000">
                <a:solidFill>
                  <a:schemeClr val="tx1"/>
                </a:solidFill>
                <a:latin typeface="Arial" charset="0"/>
                <a:ea typeface="楷体_GB2312" pitchFamily="49" charset="-122"/>
              </a:defRPr>
            </a:lvl5pPr>
            <a:lvl6pPr marL="2628900" indent="-342900" eaLnBrk="0" hangingPunct="0">
              <a:defRPr sz="2000">
                <a:solidFill>
                  <a:schemeClr val="tx1"/>
                </a:solidFill>
                <a:latin typeface="Arial" charset="0"/>
                <a:ea typeface="楷体_GB2312" pitchFamily="49" charset="-122"/>
              </a:defRPr>
            </a:lvl6pPr>
            <a:lvl7pPr marL="3086100" indent="-342900" eaLnBrk="0" hangingPunct="0">
              <a:defRPr sz="2000">
                <a:solidFill>
                  <a:schemeClr val="tx1"/>
                </a:solidFill>
                <a:latin typeface="Arial" charset="0"/>
                <a:ea typeface="楷体_GB2312" pitchFamily="49" charset="-122"/>
              </a:defRPr>
            </a:lvl7pPr>
            <a:lvl8pPr marL="3543300" indent="-342900" eaLnBrk="0" hangingPunct="0">
              <a:defRPr sz="2000">
                <a:solidFill>
                  <a:schemeClr val="tx1"/>
                </a:solidFill>
                <a:latin typeface="Arial" charset="0"/>
                <a:ea typeface="楷体_GB2312" pitchFamily="49" charset="-122"/>
              </a:defRPr>
            </a:lvl8pPr>
            <a:lvl9pPr marL="4000500" indent="-342900" eaLnBrk="0" hangingPunct="0">
              <a:defRPr sz="2000">
                <a:solidFill>
                  <a:schemeClr val="tx1"/>
                </a:solidFill>
                <a:latin typeface="Arial" charset="0"/>
                <a:ea typeface="楷体_GB2312" pitchFamily="49" charset="-122"/>
              </a:defRPr>
            </a:lvl9pPr>
          </a:lstStyle>
          <a:p>
            <a:pPr marL="324000" indent="-324000" algn="just" eaLnBrk="1" hangingPunct="1">
              <a:lnSpc>
                <a:spcPct val="140000"/>
              </a:lnSpc>
              <a:spcBef>
                <a:spcPts val="600"/>
              </a:spcBef>
              <a:buClr>
                <a:srgbClr val="FF6700"/>
              </a:buClr>
              <a:buFont typeface="Wingdings" pitchFamily="2" charset="2"/>
              <a:buAutoNum type="alphaLcParenR"/>
            </a:pP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当</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替换以后，</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不再是一个中心点，因为</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离</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比</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离</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近，</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被分配到</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中心点代表的簇，</a:t>
            </a:r>
            <a:r>
              <a:rPr lang="en-US" altLang="zh-CN" sz="18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2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AAC</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)=1</a:t>
            </a:r>
          </a:p>
          <a:p>
            <a:pPr marL="324000" indent="-324000" algn="just" eaLnBrk="1" hangingPunct="1">
              <a:lnSpc>
                <a:spcPct val="140000"/>
              </a:lnSpc>
              <a:spcBef>
                <a:spcPts val="600"/>
              </a:spcBef>
              <a:buClr>
                <a:srgbClr val="FF6700"/>
              </a:buClr>
              <a:buFont typeface="Wingdings" pitchFamily="2" charset="2"/>
              <a:buAutoNum type="alphaLcParenR"/>
            </a:pP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是一个中心点，当</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替换以后，</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不受影响，</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200" i="1" dirty="0">
                <a:latin typeface="Times New Roman" panose="02020603050405020304" pitchFamily="18" charset="0"/>
                <a:ea typeface="微软雅黑" panose="020B0503020204020204" pitchFamily="34" charset="-122"/>
                <a:sym typeface="Times New Roman" panose="02020603050405020304" pitchFamily="18" charset="0"/>
              </a:rPr>
              <a:t>BAC</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0</a:t>
            </a:r>
            <a:endParaRPr lang="zh-CN" altLang="en-US"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 name="Object 56"/>
          <p:cNvGraphicFramePr>
            <a:graphicFrameLocks noChangeAspect="1"/>
          </p:cNvGraphicFramePr>
          <p:nvPr/>
        </p:nvGraphicFramePr>
        <p:xfrm>
          <a:off x="210764" y="3735419"/>
          <a:ext cx="1601788" cy="2071687"/>
        </p:xfrm>
        <a:graphic>
          <a:graphicData uri="http://schemas.openxmlformats.org/presentationml/2006/ole">
            <mc:AlternateContent xmlns:mc="http://schemas.openxmlformats.org/markup-compatibility/2006">
              <mc:Choice xmlns:v="urn:schemas-microsoft-com:vml" Requires="v">
                <p:oleObj r:id="rId2" imgW="1600200" imgH="2070100" progId="Word.Picture.8">
                  <p:embed/>
                </p:oleObj>
              </mc:Choice>
              <mc:Fallback>
                <p:oleObj r:id="rId2" imgW="1600200" imgH="2070100" progId="Word.Picture.8">
                  <p:embed/>
                  <p:pic>
                    <p:nvPicPr>
                      <p:cNvPr id="7" name="Object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764" y="3735419"/>
                        <a:ext cx="1601788" cy="20716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57"/>
          <p:cNvSpPr txBox="1">
            <a:spLocks noChangeArrowheads="1"/>
          </p:cNvSpPr>
          <p:nvPr/>
        </p:nvSpPr>
        <p:spPr bwMode="auto">
          <a:xfrm>
            <a:off x="473724" y="5971125"/>
            <a:ext cx="13388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buClr>
                <a:schemeClr val="accent2"/>
              </a:buClr>
              <a:buSzTx/>
              <a:buFont typeface="Wingdings" charset="2"/>
              <a:buNone/>
              <a:defRPr/>
            </a:pP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起始中心点</a:t>
            </a:r>
          </a:p>
        </p:txBody>
      </p:sp>
      <p:graphicFrame>
        <p:nvGraphicFramePr>
          <p:cNvPr id="9" name="Group 4">
            <a:extLst>
              <a:ext uri="{FF2B5EF4-FFF2-40B4-BE49-F238E27FC236}">
                <a16:creationId xmlns:a16="http://schemas.microsoft.com/office/drawing/2014/main" id="{0B7BA344-0D8C-493B-92CA-001BC1E66814}"/>
              </a:ext>
            </a:extLst>
          </p:cNvPr>
          <p:cNvGraphicFramePr>
            <a:graphicFrameLocks noGrp="1"/>
          </p:cNvGraphicFramePr>
          <p:nvPr>
            <p:extLst>
              <p:ext uri="{D42A27DB-BD31-4B8C-83A1-F6EECF244321}">
                <p14:modId xmlns:p14="http://schemas.microsoft.com/office/powerpoint/2010/main" val="359337899"/>
              </p:ext>
            </p:extLst>
          </p:nvPr>
        </p:nvGraphicFramePr>
        <p:xfrm>
          <a:off x="5490543" y="2564904"/>
          <a:ext cx="3502025" cy="2454864"/>
        </p:xfrm>
        <a:graphic>
          <a:graphicData uri="http://schemas.openxmlformats.org/drawingml/2006/table">
            <a:tbl>
              <a:tblPr/>
              <a:tblGrid>
                <a:gridCol w="94615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487363">
                  <a:extLst>
                    <a:ext uri="{9D8B030D-6E8A-4147-A177-3AD203B41FA5}">
                      <a16:colId xmlns:a16="http://schemas.microsoft.com/office/drawing/2014/main" val="20004"/>
                    </a:ext>
                  </a:extLst>
                </a:gridCol>
                <a:gridCol w="485775">
                  <a:extLst>
                    <a:ext uri="{9D8B030D-6E8A-4147-A177-3AD203B41FA5}">
                      <a16:colId xmlns:a16="http://schemas.microsoft.com/office/drawing/2014/main" val="20005"/>
                    </a:ext>
                  </a:extLst>
                </a:gridCol>
              </a:tblGrid>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样本点</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pic>
        <p:nvPicPr>
          <p:cNvPr id="2" name="图片 1">
            <a:extLst>
              <a:ext uri="{FF2B5EF4-FFF2-40B4-BE49-F238E27FC236}">
                <a16:creationId xmlns:a16="http://schemas.microsoft.com/office/drawing/2014/main" id="{980A32F7-F7ED-49E6-AD85-03C1C6C3BAE1}"/>
              </a:ext>
            </a:extLst>
          </p:cNvPr>
          <p:cNvPicPr>
            <a:picLocks noChangeAspect="1"/>
          </p:cNvPicPr>
          <p:nvPr/>
        </p:nvPicPr>
        <p:blipFill>
          <a:blip r:embed="rId4"/>
          <a:stretch>
            <a:fillRect/>
          </a:stretch>
        </p:blipFill>
        <p:spPr>
          <a:xfrm>
            <a:off x="5419859" y="5019769"/>
            <a:ext cx="3724141" cy="1838232"/>
          </a:xfrm>
          <a:prstGeom prst="rect">
            <a:avLst/>
          </a:prstGeom>
        </p:spPr>
      </p:pic>
    </p:spTree>
    <p:extLst>
      <p:ext uri="{BB962C8B-B14F-4D97-AF65-F5344CB8AC3E}">
        <p14:creationId xmlns:p14="http://schemas.microsoft.com/office/powerpoint/2010/main" val="494003142"/>
      </p:ext>
    </p:extLst>
  </p:cSld>
  <p:clrMapOvr>
    <a:masterClrMapping/>
  </p:clrMapOvr>
  <p:transition spd="med">
    <p:split orient="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idx="4294967295"/>
          </p:nvPr>
        </p:nvSpPr>
        <p:spPr>
          <a:xfrm>
            <a:off x="756000" y="108000"/>
            <a:ext cx="82296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算法示例</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8676" name="Rectangle 3"/>
          <p:cNvSpPr>
            <a:spLocks noGrp="1" noChangeArrowheads="1"/>
          </p:cNvSpPr>
          <p:nvPr>
            <p:ph type="body" sz="half" idx="4294967295"/>
          </p:nvPr>
        </p:nvSpPr>
        <p:spPr>
          <a:xfrm>
            <a:off x="252000" y="717323"/>
            <a:ext cx="8640000" cy="2696187"/>
          </a:xfrm>
          <a:prstGeom prst="rect">
            <a:avLst/>
          </a:prstGeom>
          <a:noFill/>
        </p:spPr>
        <p:txBody>
          <a:bodyPr wrap="square">
            <a:spAutoFit/>
          </a:bodyPr>
          <a:lstStyle/>
          <a:p>
            <a:pPr marL="0" indent="0" algn="just" fontAlgn="base">
              <a:lnSpc>
                <a:spcPct val="135000"/>
              </a:lnSpc>
              <a:spcBef>
                <a:spcPts val="600"/>
              </a:spcBef>
              <a:spcAft>
                <a:spcPct val="0"/>
              </a:spcAft>
              <a:buClr>
                <a:srgbClr val="FF6600"/>
              </a:buClr>
              <a:buSzPct val="80000"/>
              <a:buNone/>
            </a:pP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0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第一</a:t>
            </a:r>
            <a:r>
              <a:rPr lang="zh-CN" altLang="en-US" sz="20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步 建立阶段</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假如从</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5</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个对象中随机</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抽取的</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个</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中心点为</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A</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则样本被</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划分为</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A</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B</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E}</a:t>
            </a:r>
          </a:p>
          <a:p>
            <a:pPr marL="0" indent="0" algn="just" fontAlgn="base">
              <a:lnSpc>
                <a:spcPct val="135000"/>
              </a:lnSpc>
              <a:spcBef>
                <a:spcPts val="600"/>
              </a:spcBef>
              <a:spcAft>
                <a:spcPct val="0"/>
              </a:spcAft>
              <a:buClr>
                <a:srgbClr val="FF6600"/>
              </a:buClr>
              <a:buSzPct val="80000"/>
              <a:buNone/>
            </a:pP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000" b="1">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第二</a:t>
            </a:r>
            <a:r>
              <a:rPr lang="zh-CN" altLang="en-US" sz="20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步 交换阶段</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假定中心点</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A</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分别被</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非中心点</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替换</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，根据</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算法需要计算</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下列代价</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AC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AD</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a:latin typeface="Times New Roman" panose="02020603050405020304" pitchFamily="18" charset="0"/>
                <a:ea typeface="微软雅黑" panose="020B0503020204020204" pitchFamily="34" charset="-122"/>
                <a:cs typeface="+mn-ea"/>
                <a:sym typeface="Times New Roman" panose="02020603050405020304" pitchFamily="18" charset="0"/>
              </a:rPr>
              <a:t>AE</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a:latin typeface="Times New Roman" panose="02020603050405020304" pitchFamily="18" charset="0"/>
                <a:ea typeface="微软雅黑" panose="020B0503020204020204" pitchFamily="34" charset="-122"/>
                <a:cs typeface="+mn-ea"/>
                <a:sym typeface="Times New Roman" panose="02020603050405020304" pitchFamily="18" charset="0"/>
              </a:rPr>
              <a:t>BC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BD</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BE</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即验证中心点变换后，代价如何变化</a:t>
            </a:r>
          </a:p>
          <a:p>
            <a:pPr marL="817200" lvl="1" indent="-360000" algn="just" fontAlgn="base">
              <a:lnSpc>
                <a:spcPct val="135000"/>
              </a:lnSpc>
              <a:spcBef>
                <a:spcPts val="600"/>
              </a:spcBef>
              <a:spcAft>
                <a:spcPct val="0"/>
              </a:spcAft>
              <a:buClr>
                <a:srgbClr val="FF6600"/>
              </a:buClr>
              <a:buSzPct val="80000"/>
              <a:buFont typeface="Wingdings" panose="05000000000000000000" pitchFamily="2" charset="2"/>
              <a:buChar char="l"/>
            </a:pP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以</a:t>
            </a:r>
            <a:r>
              <a:rPr lang="en-US" altLang="zh-CN" sz="2000">
                <a:latin typeface="Times New Roman" panose="02020603050405020304" pitchFamily="18" charset="0"/>
                <a:ea typeface="微软雅黑" panose="020B0503020204020204" pitchFamily="34" charset="-122"/>
                <a:cs typeface="+mn-ea"/>
                <a:sym typeface="Times New Roman" panose="02020603050405020304" pitchFamily="18" charset="0"/>
              </a:rPr>
              <a:t>TC</a:t>
            </a:r>
            <a:r>
              <a:rPr lang="en-US" altLang="zh-CN" sz="2000"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AC</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为</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例说明计算过程</a:t>
            </a:r>
          </a:p>
        </p:txBody>
      </p:sp>
      <p:sp>
        <p:nvSpPr>
          <p:cNvPr id="28677" name="Text Box 4"/>
          <p:cNvSpPr txBox="1">
            <a:spLocks noChangeArrowheads="1"/>
          </p:cNvSpPr>
          <p:nvPr/>
        </p:nvSpPr>
        <p:spPr bwMode="auto">
          <a:xfrm>
            <a:off x="1854922" y="3700927"/>
            <a:ext cx="3528000" cy="243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9900" indent="-469900">
              <a:defRPr sz="3200">
                <a:solidFill>
                  <a:schemeClr val="tx1"/>
                </a:solidFill>
                <a:latin typeface="Arial" charset="0"/>
                <a:ea typeface="楷体_GB2312" pitchFamily="49" charset="-122"/>
              </a:defRPr>
            </a:lvl1pPr>
            <a:lvl2pPr marL="800100" indent="-342900">
              <a:defRPr sz="2800">
                <a:solidFill>
                  <a:schemeClr val="tx1"/>
                </a:solidFill>
                <a:latin typeface="Arial" charset="0"/>
                <a:ea typeface="楷体_GB2312" pitchFamily="49" charset="-122"/>
              </a:defRPr>
            </a:lvl2pPr>
            <a:lvl3pPr marL="1257300" indent="-342900">
              <a:defRPr sz="2400">
                <a:solidFill>
                  <a:schemeClr val="tx1"/>
                </a:solidFill>
                <a:latin typeface="Arial" charset="0"/>
                <a:ea typeface="楷体_GB2312" pitchFamily="49" charset="-122"/>
              </a:defRPr>
            </a:lvl3pPr>
            <a:lvl4pPr marL="1714500" indent="-342900">
              <a:defRPr sz="2000">
                <a:solidFill>
                  <a:schemeClr val="tx1"/>
                </a:solidFill>
                <a:latin typeface="Arial" charset="0"/>
                <a:ea typeface="楷体_GB2312" pitchFamily="49" charset="-122"/>
              </a:defRPr>
            </a:lvl4pPr>
            <a:lvl5pPr marL="2171700" indent="-342900">
              <a:defRPr sz="2000">
                <a:solidFill>
                  <a:schemeClr val="tx1"/>
                </a:solidFill>
                <a:latin typeface="Arial" charset="0"/>
                <a:ea typeface="楷体_GB2312" pitchFamily="49" charset="-122"/>
              </a:defRPr>
            </a:lvl5pPr>
            <a:lvl6pPr marL="2628900" indent="-342900" eaLnBrk="0" hangingPunct="0">
              <a:defRPr sz="2000">
                <a:solidFill>
                  <a:schemeClr val="tx1"/>
                </a:solidFill>
                <a:latin typeface="Arial" charset="0"/>
                <a:ea typeface="楷体_GB2312" pitchFamily="49" charset="-122"/>
              </a:defRPr>
            </a:lvl6pPr>
            <a:lvl7pPr marL="3086100" indent="-342900" eaLnBrk="0" hangingPunct="0">
              <a:defRPr sz="2000">
                <a:solidFill>
                  <a:schemeClr val="tx1"/>
                </a:solidFill>
                <a:latin typeface="Arial" charset="0"/>
                <a:ea typeface="楷体_GB2312" pitchFamily="49" charset="-122"/>
              </a:defRPr>
            </a:lvl7pPr>
            <a:lvl8pPr marL="3543300" indent="-342900" eaLnBrk="0" hangingPunct="0">
              <a:defRPr sz="2000">
                <a:solidFill>
                  <a:schemeClr val="tx1"/>
                </a:solidFill>
                <a:latin typeface="Arial" charset="0"/>
                <a:ea typeface="楷体_GB2312" pitchFamily="49" charset="-122"/>
              </a:defRPr>
            </a:lvl8pPr>
            <a:lvl9pPr marL="4000500" indent="-342900" eaLnBrk="0" hangingPunct="0">
              <a:defRPr sz="2000">
                <a:solidFill>
                  <a:schemeClr val="tx1"/>
                </a:solidFill>
                <a:latin typeface="Arial" charset="0"/>
                <a:ea typeface="楷体_GB2312" pitchFamily="49" charset="-122"/>
              </a:defRPr>
            </a:lvl9pPr>
          </a:lstStyle>
          <a:p>
            <a:pPr marL="324000" indent="-324000" algn="just" eaLnBrk="1" hangingPunct="1">
              <a:lnSpc>
                <a:spcPct val="140000"/>
              </a:lnSpc>
              <a:spcBef>
                <a:spcPts val="600"/>
              </a:spcBef>
              <a:buClr>
                <a:srgbClr val="FF6700"/>
              </a:buClr>
              <a:buFont typeface="Wingdings" pitchFamily="2" charset="2"/>
              <a:buAutoNum type="alphaLcParenR"/>
            </a:pP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当</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替换以后，</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不再是一个中心点，因为</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离</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比</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离</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近，</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被分配到</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中心点代表的簇，</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200" i="1" dirty="0">
                <a:latin typeface="Times New Roman" panose="02020603050405020304" pitchFamily="18" charset="0"/>
                <a:ea typeface="微软雅黑" panose="020B0503020204020204" pitchFamily="34" charset="-122"/>
                <a:sym typeface="Times New Roman" panose="02020603050405020304" pitchFamily="18" charset="0"/>
              </a:rPr>
              <a:t>AAC</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)=1</a:t>
            </a:r>
          </a:p>
          <a:p>
            <a:pPr marL="324000" indent="-324000" algn="just" eaLnBrk="1" hangingPunct="1">
              <a:lnSpc>
                <a:spcPct val="140000"/>
              </a:lnSpc>
              <a:spcBef>
                <a:spcPts val="600"/>
              </a:spcBef>
              <a:buClr>
                <a:srgbClr val="FF6700"/>
              </a:buClr>
              <a:buFont typeface="Wingdings" pitchFamily="2" charset="2"/>
              <a:buAutoNum type="alphaLcParenR"/>
            </a:pP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是一个中心点，当</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替换以后，</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不受影响，</a:t>
            </a:r>
            <a:r>
              <a:rPr lang="en-US" altLang="zh-CN" sz="18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2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BAC</a:t>
            </a:r>
            <a:r>
              <a:rPr lang="en-US" altLang="zh-CN"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18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0</a:t>
            </a:r>
            <a:endParaRPr lang="zh-CN" altLang="en-US" sz="18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 name="Object 56"/>
          <p:cNvGraphicFramePr>
            <a:graphicFrameLocks noChangeAspect="1"/>
          </p:cNvGraphicFramePr>
          <p:nvPr/>
        </p:nvGraphicFramePr>
        <p:xfrm>
          <a:off x="210764" y="3735419"/>
          <a:ext cx="1601788" cy="2071687"/>
        </p:xfrm>
        <a:graphic>
          <a:graphicData uri="http://schemas.openxmlformats.org/presentationml/2006/ole">
            <mc:AlternateContent xmlns:mc="http://schemas.openxmlformats.org/markup-compatibility/2006">
              <mc:Choice xmlns:v="urn:schemas-microsoft-com:vml" Requires="v">
                <p:oleObj r:id="rId2" imgW="1600200" imgH="2070100" progId="Word.Picture.8">
                  <p:embed/>
                </p:oleObj>
              </mc:Choice>
              <mc:Fallback>
                <p:oleObj r:id="rId2" imgW="1600200" imgH="2070100" progId="Word.Picture.8">
                  <p:embed/>
                  <p:pic>
                    <p:nvPicPr>
                      <p:cNvPr id="7" name="Object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764" y="3735419"/>
                        <a:ext cx="1601788" cy="20716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57"/>
          <p:cNvSpPr txBox="1">
            <a:spLocks noChangeArrowheads="1"/>
          </p:cNvSpPr>
          <p:nvPr/>
        </p:nvSpPr>
        <p:spPr bwMode="auto">
          <a:xfrm>
            <a:off x="473724" y="5971125"/>
            <a:ext cx="13388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buClr>
                <a:schemeClr val="accent2"/>
              </a:buClr>
              <a:buSzTx/>
              <a:buFont typeface="Wingdings" charset="2"/>
              <a:buNone/>
              <a:defRPr/>
            </a:pP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起始中心点</a:t>
            </a:r>
          </a:p>
        </p:txBody>
      </p:sp>
      <p:graphicFrame>
        <p:nvGraphicFramePr>
          <p:cNvPr id="9" name="Group 4">
            <a:extLst>
              <a:ext uri="{FF2B5EF4-FFF2-40B4-BE49-F238E27FC236}">
                <a16:creationId xmlns:a16="http://schemas.microsoft.com/office/drawing/2014/main" id="{0B7BA344-0D8C-493B-92CA-001BC1E66814}"/>
              </a:ext>
            </a:extLst>
          </p:cNvPr>
          <p:cNvGraphicFramePr>
            <a:graphicFrameLocks noGrp="1"/>
          </p:cNvGraphicFramePr>
          <p:nvPr/>
        </p:nvGraphicFramePr>
        <p:xfrm>
          <a:off x="5490543" y="2564904"/>
          <a:ext cx="3502025" cy="2454864"/>
        </p:xfrm>
        <a:graphic>
          <a:graphicData uri="http://schemas.openxmlformats.org/drawingml/2006/table">
            <a:tbl>
              <a:tblPr/>
              <a:tblGrid>
                <a:gridCol w="94615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487363">
                  <a:extLst>
                    <a:ext uri="{9D8B030D-6E8A-4147-A177-3AD203B41FA5}">
                      <a16:colId xmlns:a16="http://schemas.microsoft.com/office/drawing/2014/main" val="20004"/>
                    </a:ext>
                  </a:extLst>
                </a:gridCol>
                <a:gridCol w="485775">
                  <a:extLst>
                    <a:ext uri="{9D8B030D-6E8A-4147-A177-3AD203B41FA5}">
                      <a16:colId xmlns:a16="http://schemas.microsoft.com/office/drawing/2014/main" val="20005"/>
                    </a:ext>
                  </a:extLst>
                </a:gridCol>
              </a:tblGrid>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样本点</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pic>
        <p:nvPicPr>
          <p:cNvPr id="2" name="图片 1">
            <a:extLst>
              <a:ext uri="{FF2B5EF4-FFF2-40B4-BE49-F238E27FC236}">
                <a16:creationId xmlns:a16="http://schemas.microsoft.com/office/drawing/2014/main" id="{980A32F7-F7ED-49E6-AD85-03C1C6C3BAE1}"/>
              </a:ext>
            </a:extLst>
          </p:cNvPr>
          <p:cNvPicPr>
            <a:picLocks noChangeAspect="1"/>
          </p:cNvPicPr>
          <p:nvPr/>
        </p:nvPicPr>
        <p:blipFill>
          <a:blip r:embed="rId4"/>
          <a:stretch>
            <a:fillRect/>
          </a:stretch>
        </p:blipFill>
        <p:spPr>
          <a:xfrm>
            <a:off x="5419859" y="5019769"/>
            <a:ext cx="3724141" cy="1838232"/>
          </a:xfrm>
          <a:prstGeom prst="rect">
            <a:avLst/>
          </a:prstGeom>
        </p:spPr>
      </p:pic>
    </p:spTree>
    <p:extLst>
      <p:ext uri="{BB962C8B-B14F-4D97-AF65-F5344CB8AC3E}">
        <p14:creationId xmlns:p14="http://schemas.microsoft.com/office/powerpoint/2010/main" val="188967212"/>
      </p:ext>
    </p:extLst>
  </p:cSld>
  <p:clrMapOvr>
    <a:masterClrMapping/>
  </p:clrMapOvr>
  <p:transition spd="med">
    <p:split orient="ver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4294967295"/>
          </p:nvPr>
        </p:nvSpPr>
        <p:spPr>
          <a:xfrm>
            <a:off x="252000" y="756000"/>
            <a:ext cx="5076000" cy="4431278"/>
          </a:xfrm>
          <a:prstGeom prst="rect">
            <a:avLst/>
          </a:prstGeom>
        </p:spPr>
        <p:txBody>
          <a:bodyPr>
            <a:spAutoFit/>
          </a:bodyPr>
          <a:lstStyle/>
          <a:p>
            <a:pPr marL="360000" indent="-360000" algn="just">
              <a:lnSpc>
                <a:spcPct val="120000"/>
              </a:lnSpc>
              <a:spcBef>
                <a:spcPts val="600"/>
              </a:spcBef>
              <a:buClr>
                <a:srgbClr val="FF6700"/>
              </a:buClr>
              <a:buFont typeface="Wingdings" pitchFamily="2" charset="2"/>
              <a:buAutoNum type="alphaLcParenR"/>
            </a:pP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400" i="1"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p>
          <a:p>
            <a:pPr marL="360000" indent="-360000" algn="just">
              <a:lnSpc>
                <a:spcPct val="120000"/>
              </a:lnSpc>
              <a:spcBef>
                <a:spcPts val="600"/>
              </a:spcBef>
              <a:buClr>
                <a:srgbClr val="FF6700"/>
              </a:buClr>
              <a:buFont typeface="Wingdings" pitchFamily="2" charset="2"/>
              <a:buAutoNum type="alphaLcParenR"/>
            </a:pP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 </a:t>
            </a:r>
          </a:p>
          <a:p>
            <a:pPr marL="360000" indent="-360000" algn="just">
              <a:lnSpc>
                <a:spcPct val="120000"/>
              </a:lnSpc>
              <a:spcBef>
                <a:spcPts val="600"/>
              </a:spcBef>
              <a:buClr>
                <a:srgbClr val="FF6700"/>
              </a:buClr>
              <a:buFont typeface="Wingdings" pitchFamily="2" charset="2"/>
              <a:buAutoNum type="alphaLcParenR"/>
            </a:pP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替换以后，</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是新中心点</a:t>
            </a:r>
            <a:r>
              <a:rPr lang="zh-CN" altLang="en-US" sz="200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i="1">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)=0-2=-2</a:t>
            </a:r>
          </a:p>
          <a:p>
            <a:pPr marL="360000" indent="-360000" algn="just">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最近的中心点是</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)=1-2=-1</a:t>
            </a:r>
          </a:p>
          <a:p>
            <a:pPr marL="360000" indent="-360000" algn="just">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最近的中心仍然是 </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，根据</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PAM</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算法代价函数的第三种情况</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1400" i="1"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=0</a:t>
            </a:r>
            <a:endParaRPr lang="zh-CN" altLang="en-US"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算法示例</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701" name="Rectangle 4"/>
          <p:cNvSpPr>
            <a:spLocks noChangeArrowheads="1"/>
          </p:cNvSpPr>
          <p:nvPr/>
        </p:nvSpPr>
        <p:spPr bwMode="auto">
          <a:xfrm>
            <a:off x="234157" y="5234166"/>
            <a:ext cx="86756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marL="0" indent="0" algn="ctr">
              <a:buClr>
                <a:schemeClr val="accent2"/>
              </a:buClr>
              <a:buSzTx/>
              <a:buNone/>
              <a:defRPr/>
            </a:pP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因此，</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AAC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BAC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CAC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DAC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EAC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=1+0-2-1+0</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=-2</a:t>
            </a:r>
            <a:endParaRPr lang="zh-CN" altLang="en-US" sz="2000" i="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 name="对象 1"/>
          <p:cNvGraphicFramePr>
            <a:graphicFrameLocks noChangeAspect="1"/>
          </p:cNvGraphicFramePr>
          <p:nvPr/>
        </p:nvGraphicFramePr>
        <p:xfrm>
          <a:off x="8010001" y="5186457"/>
          <a:ext cx="971567" cy="1256585"/>
        </p:xfrm>
        <a:graphic>
          <a:graphicData uri="http://schemas.openxmlformats.org/presentationml/2006/ole">
            <mc:AlternateContent xmlns:mc="http://schemas.openxmlformats.org/markup-compatibility/2006">
              <mc:Choice xmlns:v="urn:schemas-microsoft-com:vml" Requires="v">
                <p:oleObj r:id="rId2" imgW="1600200" imgH="2070100" progId="Word.Picture.8">
                  <p:embed/>
                </p:oleObj>
              </mc:Choice>
              <mc:Fallback>
                <p:oleObj r:id="rId2" imgW="1600200" imgH="2070100" progId="Word.Picture.8">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0001" y="5186457"/>
                        <a:ext cx="971567" cy="1256585"/>
                      </a:xfrm>
                      <a:prstGeom prst="rect">
                        <a:avLst/>
                      </a:prstGeom>
                      <a:solidFill>
                        <a:srgbClr val="FFFFFF"/>
                      </a:solidFill>
                      <a:ln>
                        <a:noFill/>
                      </a:ln>
                    </p:spPr>
                  </p:pic>
                </p:oleObj>
              </mc:Fallback>
            </mc:AlternateContent>
          </a:graphicData>
        </a:graphic>
      </p:graphicFrame>
      <p:graphicFrame>
        <p:nvGraphicFramePr>
          <p:cNvPr id="11" name="Group 4">
            <a:extLst>
              <a:ext uri="{FF2B5EF4-FFF2-40B4-BE49-F238E27FC236}">
                <a16:creationId xmlns:a16="http://schemas.microsoft.com/office/drawing/2014/main" id="{58AD3BAC-F8EE-4185-AACD-0028BDD6BA7E}"/>
              </a:ext>
            </a:extLst>
          </p:cNvPr>
          <p:cNvGraphicFramePr>
            <a:graphicFrameLocks noGrp="1"/>
          </p:cNvGraphicFramePr>
          <p:nvPr/>
        </p:nvGraphicFramePr>
        <p:xfrm>
          <a:off x="5436096" y="2708920"/>
          <a:ext cx="3502025" cy="2454864"/>
        </p:xfrm>
        <a:graphic>
          <a:graphicData uri="http://schemas.openxmlformats.org/drawingml/2006/table">
            <a:tbl>
              <a:tblPr/>
              <a:tblGrid>
                <a:gridCol w="94615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487363">
                  <a:extLst>
                    <a:ext uri="{9D8B030D-6E8A-4147-A177-3AD203B41FA5}">
                      <a16:colId xmlns:a16="http://schemas.microsoft.com/office/drawing/2014/main" val="20004"/>
                    </a:ext>
                  </a:extLst>
                </a:gridCol>
                <a:gridCol w="485775">
                  <a:extLst>
                    <a:ext uri="{9D8B030D-6E8A-4147-A177-3AD203B41FA5}">
                      <a16:colId xmlns:a16="http://schemas.microsoft.com/office/drawing/2014/main" val="20005"/>
                    </a:ext>
                  </a:extLst>
                </a:gridCol>
              </a:tblGrid>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样本点</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pic>
        <p:nvPicPr>
          <p:cNvPr id="9" name="图片 8">
            <a:extLst>
              <a:ext uri="{FF2B5EF4-FFF2-40B4-BE49-F238E27FC236}">
                <a16:creationId xmlns:a16="http://schemas.microsoft.com/office/drawing/2014/main" id="{6B7067D7-DB4C-49A1-A34D-BACD17176655}"/>
              </a:ext>
            </a:extLst>
          </p:cNvPr>
          <p:cNvPicPr>
            <a:picLocks noChangeAspect="1"/>
          </p:cNvPicPr>
          <p:nvPr/>
        </p:nvPicPr>
        <p:blipFill>
          <a:blip r:embed="rId4"/>
          <a:stretch>
            <a:fillRect/>
          </a:stretch>
        </p:blipFill>
        <p:spPr>
          <a:xfrm>
            <a:off x="5419859" y="775100"/>
            <a:ext cx="3724141" cy="1838232"/>
          </a:xfrm>
          <a:prstGeom prst="rect">
            <a:avLst/>
          </a:prstGeom>
        </p:spPr>
      </p:pic>
    </p:spTree>
    <p:extLst>
      <p:ext uri="{BB962C8B-B14F-4D97-AF65-F5344CB8AC3E}">
        <p14:creationId xmlns:p14="http://schemas.microsoft.com/office/powerpoint/2010/main" val="3968788534"/>
      </p:ext>
    </p:extLst>
  </p:cSld>
  <p:clrMapOvr>
    <a:masterClrMapping/>
  </p:clrMapOvr>
  <p:transition spd="med">
    <p:split orient="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4294967295"/>
          </p:nvPr>
        </p:nvSpPr>
        <p:spPr>
          <a:xfrm>
            <a:off x="252000" y="756000"/>
            <a:ext cx="5076000" cy="4431278"/>
          </a:xfrm>
          <a:prstGeom prst="rect">
            <a:avLst/>
          </a:prstGeom>
        </p:spPr>
        <p:txBody>
          <a:bodyPr>
            <a:spAutoFit/>
          </a:bodyPr>
          <a:lstStyle/>
          <a:p>
            <a:pPr marL="360000" indent="-360000" algn="just">
              <a:lnSpc>
                <a:spcPct val="120000"/>
              </a:lnSpc>
              <a:spcBef>
                <a:spcPts val="600"/>
              </a:spcBef>
              <a:buClr>
                <a:srgbClr val="FF6700"/>
              </a:buClr>
              <a:buFont typeface="Wingdings" pitchFamily="2" charset="2"/>
              <a:buAutoNum type="alphaLcParenR"/>
            </a:pP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400" i="1"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p>
          <a:p>
            <a:pPr marL="360000" indent="-360000" algn="just">
              <a:lnSpc>
                <a:spcPct val="120000"/>
              </a:lnSpc>
              <a:spcBef>
                <a:spcPts val="600"/>
              </a:spcBef>
              <a:buClr>
                <a:srgbClr val="FF6700"/>
              </a:buClr>
              <a:buFont typeface="Wingdings" pitchFamily="2" charset="2"/>
              <a:buAutoNum type="alphaLcParenR"/>
            </a:pP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 </a:t>
            </a:r>
          </a:p>
          <a:p>
            <a:pPr marL="360000" indent="-360000" algn="just">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是新中心点</a:t>
            </a:r>
            <a:r>
              <a:rPr lang="zh-CN" altLang="en-US"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)=0-2=-2</a:t>
            </a:r>
          </a:p>
          <a:p>
            <a:pPr marL="360000" indent="-360000" algn="just">
              <a:lnSpc>
                <a:spcPct val="120000"/>
              </a:lnSpc>
              <a:spcBef>
                <a:spcPts val="600"/>
              </a:spcBef>
              <a:buClr>
                <a:srgbClr val="FF6700"/>
              </a:buClr>
              <a:buFont typeface="Wingdings" pitchFamily="2" charset="2"/>
              <a:buAutoNum type="alphaLcParenR"/>
            </a:pP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最近的中心点是</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1400" i="1">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)=1-2=-1</a:t>
            </a:r>
          </a:p>
          <a:p>
            <a:pPr marL="360000" indent="-360000" algn="just">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最近的中心仍然是 </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，根据</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PAM</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算法代价函数的第三种情况</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1400" i="1"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=0</a:t>
            </a:r>
            <a:endParaRPr lang="zh-CN" altLang="en-US"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算法示例</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701" name="Rectangle 4"/>
          <p:cNvSpPr>
            <a:spLocks noChangeArrowheads="1"/>
          </p:cNvSpPr>
          <p:nvPr/>
        </p:nvSpPr>
        <p:spPr bwMode="auto">
          <a:xfrm>
            <a:off x="234157" y="5234166"/>
            <a:ext cx="86756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marL="0" indent="0" algn="ctr">
              <a:buClr>
                <a:schemeClr val="accent2"/>
              </a:buClr>
              <a:buSzTx/>
              <a:buNone/>
              <a:defRPr/>
            </a:pP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因此，</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AAC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BAC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CAC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DAC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EAC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=1+0-2-1+0</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=-2</a:t>
            </a:r>
            <a:endParaRPr lang="zh-CN" altLang="en-US" sz="2000" i="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 name="对象 1"/>
          <p:cNvGraphicFramePr>
            <a:graphicFrameLocks noChangeAspect="1"/>
          </p:cNvGraphicFramePr>
          <p:nvPr/>
        </p:nvGraphicFramePr>
        <p:xfrm>
          <a:off x="8010001" y="5186457"/>
          <a:ext cx="971567" cy="1256585"/>
        </p:xfrm>
        <a:graphic>
          <a:graphicData uri="http://schemas.openxmlformats.org/presentationml/2006/ole">
            <mc:AlternateContent xmlns:mc="http://schemas.openxmlformats.org/markup-compatibility/2006">
              <mc:Choice xmlns:v="urn:schemas-microsoft-com:vml" Requires="v">
                <p:oleObj r:id="rId2" imgW="1600200" imgH="2070100" progId="Word.Picture.8">
                  <p:embed/>
                </p:oleObj>
              </mc:Choice>
              <mc:Fallback>
                <p:oleObj r:id="rId2" imgW="1600200" imgH="2070100" progId="Word.Picture.8">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0001" y="5186457"/>
                        <a:ext cx="971567" cy="1256585"/>
                      </a:xfrm>
                      <a:prstGeom prst="rect">
                        <a:avLst/>
                      </a:prstGeom>
                      <a:solidFill>
                        <a:srgbClr val="FFFFFF"/>
                      </a:solidFill>
                      <a:ln>
                        <a:noFill/>
                      </a:ln>
                    </p:spPr>
                  </p:pic>
                </p:oleObj>
              </mc:Fallback>
            </mc:AlternateContent>
          </a:graphicData>
        </a:graphic>
      </p:graphicFrame>
      <p:graphicFrame>
        <p:nvGraphicFramePr>
          <p:cNvPr id="11" name="Group 4">
            <a:extLst>
              <a:ext uri="{FF2B5EF4-FFF2-40B4-BE49-F238E27FC236}">
                <a16:creationId xmlns:a16="http://schemas.microsoft.com/office/drawing/2014/main" id="{58AD3BAC-F8EE-4185-AACD-0028BDD6BA7E}"/>
              </a:ext>
            </a:extLst>
          </p:cNvPr>
          <p:cNvGraphicFramePr>
            <a:graphicFrameLocks noGrp="1"/>
          </p:cNvGraphicFramePr>
          <p:nvPr/>
        </p:nvGraphicFramePr>
        <p:xfrm>
          <a:off x="5436096" y="2708920"/>
          <a:ext cx="3502025" cy="2454864"/>
        </p:xfrm>
        <a:graphic>
          <a:graphicData uri="http://schemas.openxmlformats.org/drawingml/2006/table">
            <a:tbl>
              <a:tblPr/>
              <a:tblGrid>
                <a:gridCol w="94615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487363">
                  <a:extLst>
                    <a:ext uri="{9D8B030D-6E8A-4147-A177-3AD203B41FA5}">
                      <a16:colId xmlns:a16="http://schemas.microsoft.com/office/drawing/2014/main" val="20004"/>
                    </a:ext>
                  </a:extLst>
                </a:gridCol>
                <a:gridCol w="485775">
                  <a:extLst>
                    <a:ext uri="{9D8B030D-6E8A-4147-A177-3AD203B41FA5}">
                      <a16:colId xmlns:a16="http://schemas.microsoft.com/office/drawing/2014/main" val="20005"/>
                    </a:ext>
                  </a:extLst>
                </a:gridCol>
              </a:tblGrid>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样本点</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pic>
        <p:nvPicPr>
          <p:cNvPr id="9" name="图片 8">
            <a:extLst>
              <a:ext uri="{FF2B5EF4-FFF2-40B4-BE49-F238E27FC236}">
                <a16:creationId xmlns:a16="http://schemas.microsoft.com/office/drawing/2014/main" id="{6B7067D7-DB4C-49A1-A34D-BACD17176655}"/>
              </a:ext>
            </a:extLst>
          </p:cNvPr>
          <p:cNvPicPr>
            <a:picLocks noChangeAspect="1"/>
          </p:cNvPicPr>
          <p:nvPr/>
        </p:nvPicPr>
        <p:blipFill>
          <a:blip r:embed="rId4"/>
          <a:stretch>
            <a:fillRect/>
          </a:stretch>
        </p:blipFill>
        <p:spPr>
          <a:xfrm>
            <a:off x="5419859" y="775100"/>
            <a:ext cx="3724141" cy="1838232"/>
          </a:xfrm>
          <a:prstGeom prst="rect">
            <a:avLst/>
          </a:prstGeom>
        </p:spPr>
      </p:pic>
    </p:spTree>
    <p:extLst>
      <p:ext uri="{BB962C8B-B14F-4D97-AF65-F5344CB8AC3E}">
        <p14:creationId xmlns:p14="http://schemas.microsoft.com/office/powerpoint/2010/main" val="2077914980"/>
      </p:ext>
    </p:extLst>
  </p:cSld>
  <p:clrMapOvr>
    <a:masterClrMapping/>
  </p:clrMapOvr>
  <p:transition spd="med">
    <p:split orient="ver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4294967295"/>
          </p:nvPr>
        </p:nvSpPr>
        <p:spPr>
          <a:xfrm>
            <a:off x="252000" y="756000"/>
            <a:ext cx="5076000" cy="4431278"/>
          </a:xfrm>
          <a:prstGeom prst="rect">
            <a:avLst/>
          </a:prstGeom>
        </p:spPr>
        <p:txBody>
          <a:bodyPr>
            <a:spAutoFit/>
          </a:bodyPr>
          <a:lstStyle/>
          <a:p>
            <a:pPr marL="360000" indent="-360000" algn="just">
              <a:lnSpc>
                <a:spcPct val="120000"/>
              </a:lnSpc>
              <a:spcBef>
                <a:spcPts val="600"/>
              </a:spcBef>
              <a:buClr>
                <a:srgbClr val="FF6700"/>
              </a:buClr>
              <a:buFont typeface="Wingdings" pitchFamily="2" charset="2"/>
              <a:buAutoNum type="alphaLcParenR"/>
            </a:pP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400" i="1"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p>
          <a:p>
            <a:pPr marL="360000" indent="-360000" algn="just">
              <a:lnSpc>
                <a:spcPct val="120000"/>
              </a:lnSpc>
              <a:spcBef>
                <a:spcPts val="600"/>
              </a:spcBef>
              <a:buClr>
                <a:srgbClr val="FF6700"/>
              </a:buClr>
              <a:buFont typeface="Wingdings" pitchFamily="2" charset="2"/>
              <a:buAutoNum type="alphaLcParenR"/>
            </a:pP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 </a:t>
            </a:r>
          </a:p>
          <a:p>
            <a:pPr marL="360000" indent="-360000" algn="just">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是新中心点</a:t>
            </a:r>
            <a:r>
              <a:rPr lang="zh-CN" altLang="en-US"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)=0-2=-2</a:t>
            </a:r>
          </a:p>
          <a:p>
            <a:pPr marL="360000" indent="-360000" algn="just">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最近的中心点是</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)=1-2=-1</a:t>
            </a:r>
          </a:p>
          <a:p>
            <a:pPr marL="360000" indent="-360000" algn="just">
              <a:lnSpc>
                <a:spcPct val="120000"/>
              </a:lnSpc>
              <a:spcBef>
                <a:spcPts val="600"/>
              </a:spcBef>
              <a:buClr>
                <a:srgbClr val="FF6700"/>
              </a:buClr>
              <a:buFont typeface="Wingdings" pitchFamily="2" charset="2"/>
              <a:buAutoNum type="alphaLcParenR"/>
            </a:pP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最近的中心仍然是 </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，根据</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PAM</a:t>
            </a:r>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算法代价函数的第三种情况</a:t>
            </a:r>
            <a:r>
              <a:rPr lang="en-US" altLang="zh-CN" sz="20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1400" i="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=0</a:t>
            </a:r>
            <a:endPar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算法示例</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701" name="Rectangle 4"/>
          <p:cNvSpPr>
            <a:spLocks noChangeArrowheads="1"/>
          </p:cNvSpPr>
          <p:nvPr/>
        </p:nvSpPr>
        <p:spPr bwMode="auto">
          <a:xfrm>
            <a:off x="234157" y="5234166"/>
            <a:ext cx="86756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marL="0" indent="0" algn="ctr">
              <a:buClr>
                <a:schemeClr val="accent2"/>
              </a:buClr>
              <a:buSzTx/>
              <a:buNone/>
              <a:defRPr/>
            </a:pP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因此，</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AAC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BAC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CAC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DAC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EAC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=1+0-2-1+0</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=-2</a:t>
            </a:r>
            <a:endParaRPr lang="zh-CN" altLang="en-US" sz="2000" i="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 name="对象 1"/>
          <p:cNvGraphicFramePr>
            <a:graphicFrameLocks noChangeAspect="1"/>
          </p:cNvGraphicFramePr>
          <p:nvPr/>
        </p:nvGraphicFramePr>
        <p:xfrm>
          <a:off x="8010001" y="5186457"/>
          <a:ext cx="971567" cy="1256585"/>
        </p:xfrm>
        <a:graphic>
          <a:graphicData uri="http://schemas.openxmlformats.org/presentationml/2006/ole">
            <mc:AlternateContent xmlns:mc="http://schemas.openxmlformats.org/markup-compatibility/2006">
              <mc:Choice xmlns:v="urn:schemas-microsoft-com:vml" Requires="v">
                <p:oleObj r:id="rId2" imgW="1600200" imgH="2070100" progId="Word.Picture.8">
                  <p:embed/>
                </p:oleObj>
              </mc:Choice>
              <mc:Fallback>
                <p:oleObj r:id="rId2" imgW="1600200" imgH="2070100" progId="Word.Picture.8">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0001" y="5186457"/>
                        <a:ext cx="971567" cy="1256585"/>
                      </a:xfrm>
                      <a:prstGeom prst="rect">
                        <a:avLst/>
                      </a:prstGeom>
                      <a:solidFill>
                        <a:srgbClr val="FFFFFF"/>
                      </a:solidFill>
                      <a:ln>
                        <a:noFill/>
                      </a:ln>
                    </p:spPr>
                  </p:pic>
                </p:oleObj>
              </mc:Fallback>
            </mc:AlternateContent>
          </a:graphicData>
        </a:graphic>
      </p:graphicFrame>
      <p:graphicFrame>
        <p:nvGraphicFramePr>
          <p:cNvPr id="11" name="Group 4">
            <a:extLst>
              <a:ext uri="{FF2B5EF4-FFF2-40B4-BE49-F238E27FC236}">
                <a16:creationId xmlns:a16="http://schemas.microsoft.com/office/drawing/2014/main" id="{58AD3BAC-F8EE-4185-AACD-0028BDD6BA7E}"/>
              </a:ext>
            </a:extLst>
          </p:cNvPr>
          <p:cNvGraphicFramePr>
            <a:graphicFrameLocks noGrp="1"/>
          </p:cNvGraphicFramePr>
          <p:nvPr/>
        </p:nvGraphicFramePr>
        <p:xfrm>
          <a:off x="5436096" y="2708920"/>
          <a:ext cx="3502025" cy="2454864"/>
        </p:xfrm>
        <a:graphic>
          <a:graphicData uri="http://schemas.openxmlformats.org/drawingml/2006/table">
            <a:tbl>
              <a:tblPr/>
              <a:tblGrid>
                <a:gridCol w="94615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487363">
                  <a:extLst>
                    <a:ext uri="{9D8B030D-6E8A-4147-A177-3AD203B41FA5}">
                      <a16:colId xmlns:a16="http://schemas.microsoft.com/office/drawing/2014/main" val="20004"/>
                    </a:ext>
                  </a:extLst>
                </a:gridCol>
                <a:gridCol w="485775">
                  <a:extLst>
                    <a:ext uri="{9D8B030D-6E8A-4147-A177-3AD203B41FA5}">
                      <a16:colId xmlns:a16="http://schemas.microsoft.com/office/drawing/2014/main" val="20005"/>
                    </a:ext>
                  </a:extLst>
                </a:gridCol>
              </a:tblGrid>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样本点</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pic>
        <p:nvPicPr>
          <p:cNvPr id="9" name="图片 8">
            <a:extLst>
              <a:ext uri="{FF2B5EF4-FFF2-40B4-BE49-F238E27FC236}">
                <a16:creationId xmlns:a16="http://schemas.microsoft.com/office/drawing/2014/main" id="{6B7067D7-DB4C-49A1-A34D-BACD17176655}"/>
              </a:ext>
            </a:extLst>
          </p:cNvPr>
          <p:cNvPicPr>
            <a:picLocks noChangeAspect="1"/>
          </p:cNvPicPr>
          <p:nvPr/>
        </p:nvPicPr>
        <p:blipFill>
          <a:blip r:embed="rId4"/>
          <a:stretch>
            <a:fillRect/>
          </a:stretch>
        </p:blipFill>
        <p:spPr>
          <a:xfrm>
            <a:off x="5419859" y="775100"/>
            <a:ext cx="3724141" cy="1838232"/>
          </a:xfrm>
          <a:prstGeom prst="rect">
            <a:avLst/>
          </a:prstGeom>
        </p:spPr>
      </p:pic>
    </p:spTree>
    <p:extLst>
      <p:ext uri="{BB962C8B-B14F-4D97-AF65-F5344CB8AC3E}">
        <p14:creationId xmlns:p14="http://schemas.microsoft.com/office/powerpoint/2010/main" val="3152639660"/>
      </p:ext>
    </p:extLst>
  </p:cSld>
  <p:clrMapOvr>
    <a:masterClrMapping/>
  </p:clrMapOvr>
  <p:transition spd="med">
    <p:split orient="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4294967295"/>
          </p:nvPr>
        </p:nvSpPr>
        <p:spPr>
          <a:xfrm>
            <a:off x="252000" y="756000"/>
            <a:ext cx="5076000" cy="4431278"/>
          </a:xfrm>
          <a:prstGeom prst="rect">
            <a:avLst/>
          </a:prstGeom>
        </p:spPr>
        <p:txBody>
          <a:bodyPr>
            <a:spAutoFit/>
          </a:bodyPr>
          <a:lstStyle/>
          <a:p>
            <a:pPr marL="360000" indent="-360000" algn="just">
              <a:lnSpc>
                <a:spcPct val="120000"/>
              </a:lnSpc>
              <a:spcBef>
                <a:spcPts val="600"/>
              </a:spcBef>
              <a:buClr>
                <a:srgbClr val="FF6700"/>
              </a:buClr>
              <a:buFont typeface="Wingdings" pitchFamily="2" charset="2"/>
              <a:buAutoNum type="alphaLcParenR"/>
            </a:pP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400" i="1"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p>
          <a:p>
            <a:pPr marL="360000" indent="-360000" algn="just">
              <a:lnSpc>
                <a:spcPct val="120000"/>
              </a:lnSpc>
              <a:spcBef>
                <a:spcPts val="600"/>
              </a:spcBef>
              <a:buClr>
                <a:srgbClr val="FF6700"/>
              </a:buClr>
              <a:buFont typeface="Wingdings" pitchFamily="2" charset="2"/>
              <a:buAutoNum type="alphaLcParenR"/>
            </a:pP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 </a:t>
            </a:r>
          </a:p>
          <a:p>
            <a:pPr marL="360000" indent="-360000" algn="just">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是新中心点</a:t>
            </a:r>
            <a:r>
              <a:rPr lang="zh-CN" altLang="en-US"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)=0-2=-2</a:t>
            </a:r>
          </a:p>
          <a:p>
            <a:pPr marL="360000" indent="-360000" algn="just">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最近的中心点是</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)=1-2=-1</a:t>
            </a:r>
          </a:p>
          <a:p>
            <a:pPr marL="360000" indent="-360000" algn="just">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最近的中心仍然是 </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，根据</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PAM</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算法代价函数的第三种情况</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1400" i="1"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=0</a:t>
            </a:r>
            <a:endParaRPr lang="zh-CN" altLang="en-US"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算法示例</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701" name="Rectangle 4"/>
          <p:cNvSpPr>
            <a:spLocks noChangeArrowheads="1"/>
          </p:cNvSpPr>
          <p:nvPr/>
        </p:nvSpPr>
        <p:spPr bwMode="auto">
          <a:xfrm>
            <a:off x="234157" y="5234166"/>
            <a:ext cx="86756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marL="0" indent="0" algn="ctr">
              <a:buClr>
                <a:schemeClr val="accent2"/>
              </a:buClr>
              <a:buSzTx/>
              <a:buNone/>
              <a:defRPr/>
            </a:pP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因此，</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AAC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BAC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CAC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DAC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EAC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=1+0-2-1+0</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=-2</a:t>
            </a:r>
            <a:endParaRPr lang="zh-CN" altLang="en-US" sz="2000" i="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4061064609"/>
              </p:ext>
            </p:extLst>
          </p:nvPr>
        </p:nvGraphicFramePr>
        <p:xfrm>
          <a:off x="8010001" y="5186457"/>
          <a:ext cx="971567" cy="1256585"/>
        </p:xfrm>
        <a:graphic>
          <a:graphicData uri="http://schemas.openxmlformats.org/presentationml/2006/ole">
            <mc:AlternateContent xmlns:mc="http://schemas.openxmlformats.org/markup-compatibility/2006">
              <mc:Choice xmlns:v="urn:schemas-microsoft-com:vml" Requires="v">
                <p:oleObj r:id="rId2" imgW="1600200" imgH="2070100" progId="Word.Picture.8">
                  <p:embed/>
                </p:oleObj>
              </mc:Choice>
              <mc:Fallback>
                <p:oleObj r:id="rId2" imgW="1600200" imgH="2070100" progId="Word.Picture.8">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0001" y="5186457"/>
                        <a:ext cx="971567" cy="1256585"/>
                      </a:xfrm>
                      <a:prstGeom prst="rect">
                        <a:avLst/>
                      </a:prstGeom>
                      <a:solidFill>
                        <a:srgbClr val="FFFFFF"/>
                      </a:solidFill>
                      <a:ln>
                        <a:noFill/>
                      </a:ln>
                    </p:spPr>
                  </p:pic>
                </p:oleObj>
              </mc:Fallback>
            </mc:AlternateContent>
          </a:graphicData>
        </a:graphic>
      </p:graphicFrame>
      <p:sp>
        <p:nvSpPr>
          <p:cNvPr id="3" name="TextBox 2"/>
          <p:cNvSpPr txBox="1"/>
          <p:nvPr/>
        </p:nvSpPr>
        <p:spPr>
          <a:xfrm>
            <a:off x="953852" y="5656949"/>
            <a:ext cx="7236296" cy="784830"/>
          </a:xfrm>
          <a:prstGeom prst="rect">
            <a:avLst/>
          </a:prstGeom>
          <a:noFill/>
        </p:spPr>
        <p:txBody>
          <a:bodyPr wrap="square" rtlCol="0">
            <a:spAutoFit/>
          </a:bodyPr>
          <a:lstStyle/>
          <a:p>
            <a:pPr algn="ctr">
              <a:spcBef>
                <a:spcPts val="600"/>
              </a:spcBef>
            </a:pP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代价函数变小，说明</a:t>
            </a:r>
            <a:r>
              <a:rPr lang="en-US" altLang="zh-CN"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点替换以前的中心点</a:t>
            </a:r>
            <a:r>
              <a:rPr lang="en-US" altLang="zh-CN"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，聚类更加</a:t>
            </a:r>
            <a:r>
              <a:rPr lang="zh-CN" altLang="en-US" sz="20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紧凑，</a:t>
            </a:r>
            <a:endParaRPr lang="en-US" altLang="zh-CN" sz="20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a:spcBef>
                <a:spcPts val="600"/>
              </a:spcBef>
            </a:pPr>
            <a:r>
              <a:rPr lang="zh-CN" altLang="en-US" sz="20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那么</a:t>
            </a:r>
            <a:r>
              <a:rPr lang="en-US" altLang="zh-CN"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作为中心点更加合理</a:t>
            </a:r>
          </a:p>
        </p:txBody>
      </p:sp>
      <p:graphicFrame>
        <p:nvGraphicFramePr>
          <p:cNvPr id="11" name="Group 4">
            <a:extLst>
              <a:ext uri="{FF2B5EF4-FFF2-40B4-BE49-F238E27FC236}">
                <a16:creationId xmlns:a16="http://schemas.microsoft.com/office/drawing/2014/main" id="{58AD3BAC-F8EE-4185-AACD-0028BDD6BA7E}"/>
              </a:ext>
            </a:extLst>
          </p:cNvPr>
          <p:cNvGraphicFramePr>
            <a:graphicFrameLocks noGrp="1"/>
          </p:cNvGraphicFramePr>
          <p:nvPr/>
        </p:nvGraphicFramePr>
        <p:xfrm>
          <a:off x="5436096" y="2708920"/>
          <a:ext cx="3502025" cy="2454864"/>
        </p:xfrm>
        <a:graphic>
          <a:graphicData uri="http://schemas.openxmlformats.org/drawingml/2006/table">
            <a:tbl>
              <a:tblPr/>
              <a:tblGrid>
                <a:gridCol w="94615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487363">
                  <a:extLst>
                    <a:ext uri="{9D8B030D-6E8A-4147-A177-3AD203B41FA5}">
                      <a16:colId xmlns:a16="http://schemas.microsoft.com/office/drawing/2014/main" val="20004"/>
                    </a:ext>
                  </a:extLst>
                </a:gridCol>
                <a:gridCol w="485775">
                  <a:extLst>
                    <a:ext uri="{9D8B030D-6E8A-4147-A177-3AD203B41FA5}">
                      <a16:colId xmlns:a16="http://schemas.microsoft.com/office/drawing/2014/main" val="20005"/>
                    </a:ext>
                  </a:extLst>
                </a:gridCol>
              </a:tblGrid>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样本点</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pic>
        <p:nvPicPr>
          <p:cNvPr id="9" name="图片 8">
            <a:extLst>
              <a:ext uri="{FF2B5EF4-FFF2-40B4-BE49-F238E27FC236}">
                <a16:creationId xmlns:a16="http://schemas.microsoft.com/office/drawing/2014/main" id="{6B7067D7-DB4C-49A1-A34D-BACD17176655}"/>
              </a:ext>
            </a:extLst>
          </p:cNvPr>
          <p:cNvPicPr>
            <a:picLocks noChangeAspect="1"/>
          </p:cNvPicPr>
          <p:nvPr/>
        </p:nvPicPr>
        <p:blipFill>
          <a:blip r:embed="rId4"/>
          <a:stretch>
            <a:fillRect/>
          </a:stretch>
        </p:blipFill>
        <p:spPr>
          <a:xfrm>
            <a:off x="5419859" y="775100"/>
            <a:ext cx="3724141" cy="1838232"/>
          </a:xfrm>
          <a:prstGeom prst="rect">
            <a:avLst/>
          </a:prstGeom>
        </p:spPr>
      </p:pic>
    </p:spTree>
    <p:extLst>
      <p:ext uri="{BB962C8B-B14F-4D97-AF65-F5344CB8AC3E}">
        <p14:creationId xmlns:p14="http://schemas.microsoft.com/office/powerpoint/2010/main" val="2605360763"/>
      </p:ext>
    </p:extLst>
  </p:cSld>
  <p:clrMapOvr>
    <a:masterClrMapping/>
  </p:clrMapOvr>
  <p:transition spd="med">
    <p:split orient="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4294967295"/>
          </p:nvPr>
        </p:nvSpPr>
        <p:spPr>
          <a:xfrm>
            <a:off x="252000" y="756000"/>
            <a:ext cx="5076000" cy="4431278"/>
          </a:xfrm>
          <a:prstGeom prst="rect">
            <a:avLst/>
          </a:prstGeom>
        </p:spPr>
        <p:txBody>
          <a:bodyPr>
            <a:spAutoFit/>
          </a:bodyPr>
          <a:lstStyle/>
          <a:p>
            <a:pPr marL="360000" indent="-360000" algn="just">
              <a:lnSpc>
                <a:spcPct val="120000"/>
              </a:lnSpc>
              <a:spcBef>
                <a:spcPts val="600"/>
              </a:spcBef>
              <a:buClr>
                <a:srgbClr val="FF6700"/>
              </a:buClr>
              <a:buFont typeface="Wingdings" pitchFamily="2" charset="2"/>
              <a:buAutoNum type="alphaLcParenR"/>
            </a:pP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1400" i="1"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a:t>
            </a:r>
          </a:p>
          <a:p>
            <a:pPr marL="360000" indent="-360000" algn="just">
              <a:lnSpc>
                <a:spcPct val="120000"/>
              </a:lnSpc>
              <a:spcBef>
                <a:spcPts val="600"/>
              </a:spcBef>
              <a:buClr>
                <a:srgbClr val="FF6700"/>
              </a:buClr>
              <a:buFont typeface="Wingdings" pitchFamily="2" charset="2"/>
              <a:buAutoNum type="alphaLcParenR"/>
            </a:pP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 </a:t>
            </a:r>
          </a:p>
          <a:p>
            <a:pPr marL="360000" indent="-360000" algn="just">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是新中心点</a:t>
            </a:r>
            <a:r>
              <a:rPr lang="zh-CN" altLang="en-US"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)=0-2=-2</a:t>
            </a:r>
          </a:p>
          <a:p>
            <a:pPr marL="360000" indent="-360000" algn="just">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最近的中心点是</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1400" i="1">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)=1-2=-1</a:t>
            </a:r>
          </a:p>
          <a:p>
            <a:pPr marL="360000" indent="-360000" algn="just">
              <a:lnSpc>
                <a:spcPct val="120000"/>
              </a:lnSpc>
              <a:spcBef>
                <a:spcPts val="600"/>
              </a:spcBef>
              <a:buClr>
                <a:srgbClr val="FF6700"/>
              </a:buClr>
              <a:buFont typeface="Wingdings" pitchFamily="2" charset="2"/>
              <a:buAutoNum type="alphaLcParenR"/>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原先属于</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中心点所在的簇，当</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被</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替换以后，离</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最近的中心仍然是 </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，根据</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PAM</a:t>
            </a: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算法代价函数的第三种情况</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1400" b="1" i="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1400" i="1"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=0</a:t>
            </a:r>
            <a:endParaRPr lang="zh-CN" altLang="en-US"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k-</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中心点</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算法示例</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701" name="Rectangle 4"/>
          <p:cNvSpPr>
            <a:spLocks noChangeArrowheads="1"/>
          </p:cNvSpPr>
          <p:nvPr/>
        </p:nvSpPr>
        <p:spPr bwMode="auto">
          <a:xfrm>
            <a:off x="234157" y="5234166"/>
            <a:ext cx="86756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marL="0" indent="0" algn="ctr">
              <a:buClr>
                <a:schemeClr val="accent2"/>
              </a:buClr>
              <a:buSzTx/>
              <a:buNone/>
              <a:defRPr/>
            </a:pPr>
            <a:r>
              <a:rPr lang="zh-CN" altLang="en-US" sz="2000" dirty="0">
                <a:latin typeface="Times New Roman" panose="02020603050405020304" pitchFamily="18" charset="0"/>
                <a:ea typeface="微软雅黑" panose="020B0503020204020204" pitchFamily="34" charset="-122"/>
                <a:sym typeface="Times New Roman" panose="02020603050405020304" pitchFamily="18" charset="0"/>
              </a:rPr>
              <a:t>因此，</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AAC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BAC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a:latin typeface="Times New Roman" panose="02020603050405020304" pitchFamily="18" charset="0"/>
                <a:ea typeface="微软雅黑" panose="020B0503020204020204" pitchFamily="34" charset="-122"/>
                <a:sym typeface="Times New Roman" panose="02020603050405020304" pitchFamily="18" charset="0"/>
              </a:rPr>
              <a:t>CAC</a:t>
            </a: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DAC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000" i="1" baseline="-25000" dirty="0">
                <a:latin typeface="Times New Roman" panose="02020603050405020304" pitchFamily="18" charset="0"/>
                <a:ea typeface="微软雅黑" panose="020B0503020204020204" pitchFamily="34" charset="-122"/>
                <a:sym typeface="Times New Roman" panose="02020603050405020304" pitchFamily="18" charset="0"/>
              </a:rPr>
              <a:t>EAC</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sym typeface="Times New Roman" panose="02020603050405020304" pitchFamily="18" charset="0"/>
              </a:rPr>
              <a:t>=1+0-2-1+0</a:t>
            </a:r>
            <a:r>
              <a:rPr lang="en-US" altLang="zh-CN" sz="2000" i="1">
                <a:latin typeface="Times New Roman" panose="02020603050405020304" pitchFamily="18" charset="0"/>
                <a:ea typeface="微软雅黑" panose="020B0503020204020204" pitchFamily="34" charset="-122"/>
                <a:sym typeface="Times New Roman" panose="02020603050405020304" pitchFamily="18" charset="0"/>
              </a:rPr>
              <a:t>=-2</a:t>
            </a:r>
            <a:endParaRPr lang="zh-CN" altLang="en-US" sz="2000" i="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 name="对象 1"/>
          <p:cNvGraphicFramePr>
            <a:graphicFrameLocks noChangeAspect="1"/>
          </p:cNvGraphicFramePr>
          <p:nvPr/>
        </p:nvGraphicFramePr>
        <p:xfrm>
          <a:off x="8010001" y="5186457"/>
          <a:ext cx="971567" cy="1256585"/>
        </p:xfrm>
        <a:graphic>
          <a:graphicData uri="http://schemas.openxmlformats.org/presentationml/2006/ole">
            <mc:AlternateContent xmlns:mc="http://schemas.openxmlformats.org/markup-compatibility/2006">
              <mc:Choice xmlns:v="urn:schemas-microsoft-com:vml" Requires="v">
                <p:oleObj r:id="rId2" imgW="1600200" imgH="2070100" progId="Word.Picture.8">
                  <p:embed/>
                </p:oleObj>
              </mc:Choice>
              <mc:Fallback>
                <p:oleObj r:id="rId2" imgW="1600200" imgH="2070100" progId="Word.Picture.8">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0001" y="5186457"/>
                        <a:ext cx="971567" cy="1256585"/>
                      </a:xfrm>
                      <a:prstGeom prst="rect">
                        <a:avLst/>
                      </a:prstGeom>
                      <a:solidFill>
                        <a:srgbClr val="FFFFFF"/>
                      </a:solidFill>
                      <a:ln>
                        <a:noFill/>
                      </a:ln>
                    </p:spPr>
                  </p:pic>
                </p:oleObj>
              </mc:Fallback>
            </mc:AlternateContent>
          </a:graphicData>
        </a:graphic>
      </p:graphicFrame>
      <p:sp>
        <p:nvSpPr>
          <p:cNvPr id="3" name="TextBox 2"/>
          <p:cNvSpPr txBox="1"/>
          <p:nvPr/>
        </p:nvSpPr>
        <p:spPr>
          <a:xfrm>
            <a:off x="953852" y="5656949"/>
            <a:ext cx="7236296" cy="784830"/>
          </a:xfrm>
          <a:prstGeom prst="rect">
            <a:avLst/>
          </a:prstGeom>
          <a:noFill/>
        </p:spPr>
        <p:txBody>
          <a:bodyPr wrap="square" rtlCol="0">
            <a:spAutoFit/>
          </a:bodyPr>
          <a:lstStyle/>
          <a:p>
            <a:pPr algn="ctr">
              <a:spcBef>
                <a:spcPts val="600"/>
              </a:spcBef>
            </a:pP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代价函数变小，说明</a:t>
            </a:r>
            <a:r>
              <a:rPr lang="en-US" altLang="zh-CN"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点替换以前的中心点</a:t>
            </a:r>
            <a:r>
              <a:rPr lang="en-US" altLang="zh-CN"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，聚类更加</a:t>
            </a:r>
            <a:r>
              <a:rPr lang="zh-CN" altLang="en-US" sz="20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紧凑，</a:t>
            </a:r>
            <a:endParaRPr lang="en-US" altLang="zh-CN" sz="20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a:spcBef>
                <a:spcPts val="600"/>
              </a:spcBef>
            </a:pPr>
            <a:r>
              <a:rPr lang="zh-CN" altLang="en-US" sz="20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那么</a:t>
            </a:r>
            <a:r>
              <a:rPr lang="en-US" altLang="zh-CN"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作为中心点更加合理</a:t>
            </a:r>
          </a:p>
        </p:txBody>
      </p:sp>
      <p:sp>
        <p:nvSpPr>
          <p:cNvPr id="4" name="矩形 3"/>
          <p:cNvSpPr/>
          <p:nvPr/>
        </p:nvSpPr>
        <p:spPr>
          <a:xfrm>
            <a:off x="162432" y="6412942"/>
            <a:ext cx="8761053" cy="369332"/>
          </a:xfrm>
          <a:prstGeom prst="rect">
            <a:avLst/>
          </a:prstGeom>
        </p:spPr>
        <p:txBody>
          <a:bodyPr wrap="none">
            <a:spAutoFit/>
          </a:bodyPr>
          <a:lstStyle/>
          <a:p>
            <a:r>
              <a:rPr lang="zh-CN" altLang="en-US" b="1" dirty="0">
                <a:latin typeface="Times New Roman" panose="02020603050405020304" pitchFamily="18" charset="0"/>
                <a:ea typeface="微软雅黑" panose="020B0503020204020204" pitchFamily="34" charset="-122"/>
                <a:sym typeface="Times New Roman" panose="02020603050405020304" pitchFamily="18" charset="0"/>
              </a:rPr>
              <a:t>同理</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计算</a:t>
            </a:r>
            <a:r>
              <a:rPr lang="en-US" altLang="zh-CN" b="1">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i="1" baseline="-25000" dirty="0">
                <a:latin typeface="Times New Roman" panose="02020603050405020304" pitchFamily="18" charset="0"/>
                <a:ea typeface="微软雅黑" panose="020B0503020204020204" pitchFamily="34" charset="-122"/>
                <a:sym typeface="Times New Roman" panose="02020603050405020304" pitchFamily="18" charset="0"/>
              </a:rPr>
              <a:t>AC</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b="1">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i="1" baseline="-25000" dirty="0">
                <a:latin typeface="Times New Roman" panose="02020603050405020304" pitchFamily="18" charset="0"/>
                <a:ea typeface="微软雅黑" panose="020B0503020204020204" pitchFamily="34" charset="-122"/>
                <a:sym typeface="Times New Roman" panose="02020603050405020304" pitchFamily="18" charset="0"/>
              </a:rPr>
              <a:t>AD</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b="1">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i="1" baseline="-25000" dirty="0">
                <a:latin typeface="Times New Roman" panose="02020603050405020304" pitchFamily="18" charset="0"/>
                <a:ea typeface="微软雅黑" panose="020B0503020204020204" pitchFamily="34" charset="-122"/>
                <a:sym typeface="Times New Roman" panose="02020603050405020304" pitchFamily="18" charset="0"/>
              </a:rPr>
              <a:t>AE</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b="1">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i="1" baseline="-25000" dirty="0">
                <a:latin typeface="Times New Roman" panose="02020603050405020304" pitchFamily="18" charset="0"/>
                <a:ea typeface="微软雅黑" panose="020B0503020204020204" pitchFamily="34" charset="-122"/>
                <a:sym typeface="Times New Roman" panose="02020603050405020304" pitchFamily="18" charset="0"/>
              </a:rPr>
              <a:t>BC</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b="1">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i="1" baseline="-25000" dirty="0">
                <a:latin typeface="Times New Roman" panose="02020603050405020304" pitchFamily="18" charset="0"/>
                <a:ea typeface="微软雅黑" panose="020B0503020204020204" pitchFamily="34" charset="-122"/>
                <a:sym typeface="Times New Roman" panose="02020603050405020304" pitchFamily="18" charset="0"/>
              </a:rPr>
              <a:t>BD</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b="1">
                <a:latin typeface="Times New Roman" panose="02020603050405020304" pitchFamily="18" charset="0"/>
                <a:ea typeface="微软雅黑" panose="020B0503020204020204" pitchFamily="34" charset="-122"/>
                <a:sym typeface="Times New Roman" panose="02020603050405020304" pitchFamily="18" charset="0"/>
              </a:rPr>
              <a:t>TC</a:t>
            </a:r>
            <a:r>
              <a:rPr lang="en-US" altLang="zh-CN" i="1" baseline="-25000" dirty="0">
                <a:latin typeface="Times New Roman" panose="02020603050405020304" pitchFamily="18" charset="0"/>
                <a:ea typeface="微软雅黑" panose="020B0503020204020204" pitchFamily="34" charset="-122"/>
                <a:sym typeface="Times New Roman" panose="02020603050405020304" pitchFamily="18" charset="0"/>
              </a:rPr>
              <a:t>BE</a:t>
            </a:r>
            <a:r>
              <a:rPr lang="zh-CN" altLang="en-US" b="1">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b="1" dirty="0">
                <a:latin typeface="Times New Roman" panose="02020603050405020304" pitchFamily="18" charset="0"/>
                <a:ea typeface="微软雅黑" panose="020B0503020204020204" pitchFamily="34" charset="-122"/>
                <a:sym typeface="Times New Roman" panose="02020603050405020304" pitchFamily="18" charset="0"/>
              </a:rPr>
              <a:t>代价函数最小值作为新中心点</a:t>
            </a:r>
          </a:p>
        </p:txBody>
      </p:sp>
      <p:graphicFrame>
        <p:nvGraphicFramePr>
          <p:cNvPr id="11" name="Group 4">
            <a:extLst>
              <a:ext uri="{FF2B5EF4-FFF2-40B4-BE49-F238E27FC236}">
                <a16:creationId xmlns:a16="http://schemas.microsoft.com/office/drawing/2014/main" id="{58AD3BAC-F8EE-4185-AACD-0028BDD6BA7E}"/>
              </a:ext>
            </a:extLst>
          </p:cNvPr>
          <p:cNvGraphicFramePr>
            <a:graphicFrameLocks noGrp="1"/>
          </p:cNvGraphicFramePr>
          <p:nvPr/>
        </p:nvGraphicFramePr>
        <p:xfrm>
          <a:off x="5436096" y="2708920"/>
          <a:ext cx="3502025" cy="2454864"/>
        </p:xfrm>
        <a:graphic>
          <a:graphicData uri="http://schemas.openxmlformats.org/drawingml/2006/table">
            <a:tbl>
              <a:tblPr/>
              <a:tblGrid>
                <a:gridCol w="94615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487363">
                  <a:extLst>
                    <a:ext uri="{9D8B030D-6E8A-4147-A177-3AD203B41FA5}">
                      <a16:colId xmlns:a16="http://schemas.microsoft.com/office/drawing/2014/main" val="20004"/>
                    </a:ext>
                  </a:extLst>
                </a:gridCol>
                <a:gridCol w="485775">
                  <a:extLst>
                    <a:ext uri="{9D8B030D-6E8A-4147-A177-3AD203B41FA5}">
                      <a16:colId xmlns:a16="http://schemas.microsoft.com/office/drawing/2014/main" val="20005"/>
                    </a:ext>
                  </a:extLst>
                </a:gridCol>
              </a:tblGrid>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样本点</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A</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B</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D</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409144">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E</a:t>
                      </a:r>
                    </a:p>
                  </a:txBody>
                  <a:tcPr marT="45696" marB="4569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p>
                  </a:txBody>
                  <a:tcPr marT="45696" marB="4569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pic>
        <p:nvPicPr>
          <p:cNvPr id="9" name="图片 8">
            <a:extLst>
              <a:ext uri="{FF2B5EF4-FFF2-40B4-BE49-F238E27FC236}">
                <a16:creationId xmlns:a16="http://schemas.microsoft.com/office/drawing/2014/main" id="{6B7067D7-DB4C-49A1-A34D-BACD17176655}"/>
              </a:ext>
            </a:extLst>
          </p:cNvPr>
          <p:cNvPicPr>
            <a:picLocks noChangeAspect="1"/>
          </p:cNvPicPr>
          <p:nvPr/>
        </p:nvPicPr>
        <p:blipFill>
          <a:blip r:embed="rId4"/>
          <a:stretch>
            <a:fillRect/>
          </a:stretch>
        </p:blipFill>
        <p:spPr>
          <a:xfrm>
            <a:off x="5419859" y="775100"/>
            <a:ext cx="3724141" cy="1838232"/>
          </a:xfrm>
          <a:prstGeom prst="rect">
            <a:avLst/>
          </a:prstGeom>
        </p:spPr>
      </p:pic>
    </p:spTree>
    <p:extLst>
      <p:ext uri="{BB962C8B-B14F-4D97-AF65-F5344CB8AC3E}">
        <p14:creationId xmlns:p14="http://schemas.microsoft.com/office/powerpoint/2010/main" val="1004361219"/>
      </p:ext>
    </p:extLst>
  </p:cSld>
  <p:clrMapOvr>
    <a:masterClrMapping/>
  </p:clrMapOvr>
  <p:transition spd="med">
    <p:split orient="ver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PAM</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a:t>
            </a:r>
          </a:p>
        </p:txBody>
      </p:sp>
      <p:sp>
        <p:nvSpPr>
          <p:cNvPr id="6" name="内容占位符 2">
            <a:extLst>
              <a:ext uri="{FF2B5EF4-FFF2-40B4-BE49-F238E27FC236}">
                <a16:creationId xmlns:a16="http://schemas.microsoft.com/office/drawing/2014/main" id="{058EE8F5-F87A-4DC3-BE91-FDA3D8731CA0}"/>
              </a:ext>
            </a:extLst>
          </p:cNvPr>
          <p:cNvSpPr txBox="1">
            <a:spLocks/>
          </p:cNvSpPr>
          <p:nvPr/>
        </p:nvSpPr>
        <p:spPr>
          <a:xfrm>
            <a:off x="230188" y="756000"/>
            <a:ext cx="8640000" cy="1211807"/>
          </a:xfrm>
          <a:prstGeom prst="rect">
            <a:avLst/>
          </a:prstGeom>
          <a:no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PAM</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算法</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(Partitioning Around Medoids)</a:t>
            </a: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最早提出的</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中心点算法之一</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7" name="文本框 6">
            <a:extLst>
              <a:ext uri="{FF2B5EF4-FFF2-40B4-BE49-F238E27FC236}">
                <a16:creationId xmlns:a16="http://schemas.microsoft.com/office/drawing/2014/main" id="{8E3A1904-60E1-45AD-8AEC-8D11F2E95CCA}"/>
              </a:ext>
            </a:extLst>
          </p:cNvPr>
          <p:cNvSpPr txBox="1"/>
          <p:nvPr/>
        </p:nvSpPr>
        <p:spPr>
          <a:xfrm>
            <a:off x="619021" y="2053207"/>
            <a:ext cx="8251167" cy="3464025"/>
          </a:xfrm>
          <a:prstGeom prst="rect">
            <a:avLst/>
          </a:prstGeom>
          <a:noFill/>
        </p:spPr>
        <p:txBody>
          <a:bodyPr wrap="square" rtlCol="0">
            <a:spAutoFit/>
          </a:bodyPr>
          <a:lstStyle/>
          <a:p>
            <a:pPr marL="457200" indent="-457200">
              <a:lnSpc>
                <a:spcPct val="150000"/>
              </a:lnSpc>
              <a:spcBef>
                <a:spcPts val="600"/>
              </a:spcBef>
              <a:buFont typeface="+mj-ea"/>
              <a:buAutoNum type="circleNumDbPlain"/>
            </a:pP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随机</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选择</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k </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个对象作为初始的</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代表对象 </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repeat</a:t>
            </a:r>
            <a:endParaRPr lang="en-US" altLang="zh-CN" sz="2200" dirty="0">
              <a:latin typeface="Times New Roman" panose="02020603050405020304" pitchFamily="18" charset="0"/>
              <a:ea typeface="微软雅黑" panose="020B0503020204020204" pitchFamily="34" charset="-122"/>
              <a:sym typeface="Times New Roman" panose="02020603050405020304" pitchFamily="18" charset="0"/>
            </a:endParaRPr>
          </a:p>
          <a:p>
            <a:pPr marL="457200" indent="-457200">
              <a:lnSpc>
                <a:spcPct val="150000"/>
              </a:lnSpc>
              <a:spcBef>
                <a:spcPts val="600"/>
              </a:spcBef>
              <a:buFont typeface="+mj-ea"/>
              <a:buAutoNum type="circleNumDbPlain"/>
            </a:pP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指派</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每个剩余的对象给离它最近的代表对象所代表的簇</a:t>
            </a:r>
          </a:p>
          <a:p>
            <a:pPr marL="457200" indent="-457200">
              <a:lnSpc>
                <a:spcPct val="150000"/>
              </a:lnSpc>
              <a:spcBef>
                <a:spcPts val="600"/>
              </a:spcBef>
              <a:buFont typeface="+mj-ea"/>
              <a:buAutoNum type="circleNumDbPlain"/>
            </a:pP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随机</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地选择一个非代表对象</a:t>
            </a:r>
            <a:r>
              <a:rPr lang="en-US" altLang="zh-CN" sz="2200" b="1" dirty="0" err="1">
                <a:latin typeface="Times New Roman" panose="02020603050405020304" pitchFamily="18" charset="0"/>
                <a:ea typeface="微软雅黑" panose="020B0503020204020204" pitchFamily="34" charset="-122"/>
                <a:sym typeface="Times New Roman" panose="02020603050405020304" pitchFamily="18" charset="0"/>
              </a:rPr>
              <a:t>O</a:t>
            </a:r>
            <a:r>
              <a:rPr lang="en-US" altLang="zh-CN" sz="2200" b="1" baseline="-25000" dirty="0" err="1">
                <a:latin typeface="Times New Roman" panose="02020603050405020304" pitchFamily="18" charset="0"/>
                <a:ea typeface="微软雅黑" panose="020B0503020204020204" pitchFamily="34" charset="-122"/>
                <a:sym typeface="Times New Roman" panose="02020603050405020304" pitchFamily="18" charset="0"/>
              </a:rPr>
              <a:t>random</a:t>
            </a:r>
            <a:endParaRPr lang="zh-CN" altLang="en-US" sz="2200" baseline="-25000" dirty="0">
              <a:latin typeface="Times New Roman" panose="02020603050405020304" pitchFamily="18" charset="0"/>
              <a:ea typeface="微软雅黑" panose="020B0503020204020204" pitchFamily="34" charset="-122"/>
              <a:sym typeface="Times New Roman" panose="02020603050405020304" pitchFamily="18" charset="0"/>
            </a:endParaRPr>
          </a:p>
          <a:p>
            <a:pPr marL="457200" indent="-457200">
              <a:lnSpc>
                <a:spcPct val="150000"/>
              </a:lnSpc>
              <a:spcBef>
                <a:spcPts val="600"/>
              </a:spcBef>
              <a:buFont typeface="+mj-ea"/>
              <a:buAutoNum type="circleNumDbPlain"/>
            </a:pP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计算</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用</a:t>
            </a:r>
            <a:r>
              <a:rPr lang="en-US" altLang="zh-CN" sz="2200" b="1" dirty="0" err="1">
                <a:latin typeface="Times New Roman" panose="02020603050405020304" pitchFamily="18" charset="0"/>
                <a:ea typeface="微软雅黑" panose="020B0503020204020204" pitchFamily="34" charset="-122"/>
                <a:sym typeface="Times New Roman" panose="02020603050405020304" pitchFamily="18" charset="0"/>
              </a:rPr>
              <a:t>O</a:t>
            </a:r>
            <a:r>
              <a:rPr lang="en-US" altLang="zh-CN" sz="2200" b="1" baseline="-25000" dirty="0" err="1">
                <a:latin typeface="Times New Roman" panose="02020603050405020304" pitchFamily="18" charset="0"/>
                <a:ea typeface="微软雅黑" panose="020B0503020204020204" pitchFamily="34" charset="-122"/>
                <a:sym typeface="Times New Roman" panose="02020603050405020304" pitchFamily="18" charset="0"/>
              </a:rPr>
              <a:t>random</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代替</a:t>
            </a:r>
            <a:r>
              <a:rPr lang="en-US" altLang="zh-CN" sz="2200" b="1" dirty="0" err="1">
                <a:latin typeface="Times New Roman" panose="02020603050405020304" pitchFamily="18" charset="0"/>
                <a:ea typeface="微软雅黑" panose="020B0503020204020204" pitchFamily="34" charset="-122"/>
                <a:sym typeface="Times New Roman" panose="02020603050405020304" pitchFamily="18" charset="0"/>
              </a:rPr>
              <a:t>O</a:t>
            </a:r>
            <a:r>
              <a:rPr lang="en-US" altLang="zh-CN" sz="2200" b="1" baseline="-25000" dirty="0" err="1">
                <a:latin typeface="Times New Roman" panose="02020603050405020304" pitchFamily="18" charset="0"/>
                <a:ea typeface="微软雅黑" panose="020B0503020204020204" pitchFamily="34" charset="-122"/>
                <a:sym typeface="Times New Roman" panose="02020603050405020304" pitchFamily="18" charset="0"/>
              </a:rPr>
              <a:t>j</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的</a:t>
            </a:r>
            <a:r>
              <a:rPr lang="zh-CN" altLang="en-US"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总代价</a:t>
            </a:r>
            <a:r>
              <a:rPr lang="en-US" altLang="zh-CN"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S </a:t>
            </a:r>
          </a:p>
          <a:p>
            <a:pPr marL="457200" indent="-457200">
              <a:lnSpc>
                <a:spcPct val="150000"/>
              </a:lnSpc>
              <a:spcBef>
                <a:spcPts val="600"/>
              </a:spcBef>
              <a:buFont typeface="+mj-ea"/>
              <a:buAutoNum type="circleNumDbPlain"/>
            </a:pP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如果</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S&lt;0</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，则用</a:t>
            </a:r>
            <a:r>
              <a:rPr lang="en-US" altLang="zh-CN" sz="2200" b="1" dirty="0" err="1">
                <a:latin typeface="Times New Roman" panose="02020603050405020304" pitchFamily="18" charset="0"/>
                <a:ea typeface="微软雅黑" panose="020B0503020204020204" pitchFamily="34" charset="-122"/>
                <a:sym typeface="Times New Roman" panose="02020603050405020304" pitchFamily="18" charset="0"/>
              </a:rPr>
              <a:t>O</a:t>
            </a:r>
            <a:r>
              <a:rPr lang="en-US" altLang="zh-CN" sz="2200" b="1" baseline="-25000" dirty="0" err="1">
                <a:latin typeface="Times New Roman" panose="02020603050405020304" pitchFamily="18" charset="0"/>
                <a:ea typeface="微软雅黑" panose="020B0503020204020204" pitchFamily="34" charset="-122"/>
                <a:sym typeface="Times New Roman" panose="02020603050405020304" pitchFamily="18" charset="0"/>
              </a:rPr>
              <a:t>random</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替换</a:t>
            </a:r>
            <a:r>
              <a:rPr lang="en-US" altLang="zh-CN" sz="2200" b="1" dirty="0" err="1">
                <a:latin typeface="Times New Roman" panose="02020603050405020304" pitchFamily="18" charset="0"/>
                <a:ea typeface="微软雅黑" panose="020B0503020204020204" pitchFamily="34" charset="-122"/>
                <a:sym typeface="Times New Roman" panose="02020603050405020304" pitchFamily="18" charset="0"/>
              </a:rPr>
              <a:t>O</a:t>
            </a:r>
            <a:r>
              <a:rPr lang="en-US" altLang="zh-CN" sz="2200" b="1" baseline="-25000" dirty="0" err="1">
                <a:latin typeface="Times New Roman" panose="02020603050405020304" pitchFamily="18" charset="0"/>
                <a:ea typeface="微软雅黑" panose="020B0503020204020204" pitchFamily="34" charset="-122"/>
                <a:sym typeface="Times New Roman" panose="02020603050405020304" pitchFamily="18" charset="0"/>
              </a:rPr>
              <a:t>j</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形成新的</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k</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个代表对象</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的集合</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until</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不发生变化</a:t>
            </a:r>
          </a:p>
        </p:txBody>
      </p:sp>
    </p:spTree>
    <p:extLst>
      <p:ext uri="{BB962C8B-B14F-4D97-AF65-F5344CB8AC3E}">
        <p14:creationId xmlns:p14="http://schemas.microsoft.com/office/powerpoint/2010/main" val="4094834005"/>
      </p:ext>
    </p:extLst>
  </p:cSld>
  <p:clrMapOvr>
    <a:masterClrMapping/>
  </p:clrMapOvr>
  <p:transition spd="med">
    <p:split orient="ver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5576"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PAM</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算法示意</a:t>
            </a:r>
          </a:p>
        </p:txBody>
      </p:sp>
      <p:pic>
        <p:nvPicPr>
          <p:cNvPr id="4" name="图片 3"/>
          <p:cNvPicPr>
            <a:picLocks noChangeAspect="1"/>
          </p:cNvPicPr>
          <p:nvPr/>
        </p:nvPicPr>
        <p:blipFill>
          <a:blip r:embed="rId2"/>
          <a:stretch>
            <a:fillRect/>
          </a:stretch>
        </p:blipFill>
        <p:spPr>
          <a:xfrm>
            <a:off x="252000" y="1222820"/>
            <a:ext cx="8640000" cy="4949850"/>
          </a:xfrm>
          <a:prstGeom prst="rect">
            <a:avLst/>
          </a:prstGeom>
        </p:spPr>
      </p:pic>
    </p:spTree>
    <p:extLst>
      <p:ext uri="{BB962C8B-B14F-4D97-AF65-F5344CB8AC3E}">
        <p14:creationId xmlns:p14="http://schemas.microsoft.com/office/powerpoint/2010/main" val="2519213986"/>
      </p:ext>
    </p:extLst>
  </p:cSld>
  <p:clrMapOvr>
    <a:masterClrMapping/>
  </p:clrMapOvr>
  <p:transition spd="med">
    <p:split orient="ver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PAM</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a:t>
            </a:r>
          </a:p>
        </p:txBody>
      </p:sp>
      <p:sp>
        <p:nvSpPr>
          <p:cNvPr id="3" name="内容占位符 2"/>
          <p:cNvSpPr>
            <a:spLocks noGrp="1"/>
          </p:cNvSpPr>
          <p:nvPr>
            <p:ph idx="4294967295"/>
          </p:nvPr>
        </p:nvSpPr>
        <p:spPr>
          <a:xfrm>
            <a:off x="252000" y="756000"/>
            <a:ext cx="8640000" cy="3240182"/>
          </a:xfrm>
          <a:prstGeom prst="rect">
            <a:avLst/>
          </a:prstGeom>
          <a:noFill/>
        </p:spPr>
        <p:txBody>
          <a:bodyPr wrap="square">
            <a:spAutoFit/>
          </a:bodyPr>
          <a:lstStyle/>
          <a:p>
            <a:pPr marL="360000" indent="-360000" algn="just" fontAlgn="base">
              <a:lnSpc>
                <a:spcPct val="140000"/>
              </a:lnSpc>
              <a:spcBef>
                <a:spcPts val="600"/>
              </a:spcBef>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优点</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4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当存在噪音和孤立点</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时，</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PAM </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比</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均值方法更健壮</a:t>
            </a:r>
          </a:p>
          <a:p>
            <a:pPr marL="360000" indent="-360000" algn="just" fontAlgn="base">
              <a:lnSpc>
                <a:spcPct val="140000"/>
              </a:lnSpc>
              <a:spcBef>
                <a:spcPts val="600"/>
              </a:spcBef>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缺点</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40000"/>
              </a:lnSpc>
              <a:spcBef>
                <a:spcPts val="600"/>
              </a:spcBef>
              <a:buClr>
                <a:srgbClr val="FF6600"/>
              </a:buClr>
              <a:buSzPct val="80000"/>
              <a:buFont typeface="Wingdings" panose="05000000000000000000" pitchFamily="2" charset="2"/>
              <a:buChar char="l"/>
            </a:pP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PAM </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对于较小的数据集非常有效，但不能很好地扩展到大型数据集，原因是计算复杂</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度较高</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2">
              <a:lnSpc>
                <a:spcPct val="140000"/>
              </a:lnSpc>
              <a:spcBef>
                <a:spcPts val="600"/>
              </a:spcBef>
              <a:buClr>
                <a:srgbClr val="FF6700"/>
              </a:buClr>
            </a:pPr>
            <a:r>
              <a:rPr lang="zh-CN" altLang="en-US" b="1" dirty="0">
                <a:solidFill>
                  <a:srgbClr val="FF6600"/>
                </a:solidFill>
                <a:sym typeface="Times New Roman" panose="02020603050405020304" pitchFamily="18" charset="0"/>
              </a:rPr>
              <a:t>每次中心点交换的时候，就要计算数据中每个点</a:t>
            </a:r>
            <a:r>
              <a:rPr lang="zh-CN" altLang="en-US" b="1">
                <a:solidFill>
                  <a:srgbClr val="FF6600"/>
                </a:solidFill>
                <a:sym typeface="Times New Roman" panose="02020603050405020304" pitchFamily="18" charset="0"/>
              </a:rPr>
              <a:t>的代价</a:t>
            </a:r>
            <a:endParaRPr lang="zh-CN" altLang="en-US" sz="22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4293096"/>
            <a:ext cx="3888432" cy="2224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9985632"/>
      </p:ext>
    </p:extLst>
  </p:cSld>
  <p:clrMapOvr>
    <a:masterClrMapping/>
  </p:clrMapOvr>
  <p:transition spd="med">
    <p:split orient="ver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2.1.4 PAM</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a:t>
            </a:r>
          </a:p>
        </p:txBody>
      </p:sp>
      <p:sp>
        <p:nvSpPr>
          <p:cNvPr id="3" name="内容占位符 2"/>
          <p:cNvSpPr>
            <a:spLocks noGrp="1"/>
          </p:cNvSpPr>
          <p:nvPr>
            <p:ph idx="4294967295"/>
          </p:nvPr>
        </p:nvSpPr>
        <p:spPr>
          <a:xfrm>
            <a:off x="252000" y="756000"/>
            <a:ext cx="8640000" cy="3240182"/>
          </a:xfrm>
          <a:prstGeom prst="rect">
            <a:avLst/>
          </a:prstGeom>
          <a:noFill/>
        </p:spPr>
        <p:txBody>
          <a:bodyPr wrap="square">
            <a:spAutoFit/>
          </a:bodyPr>
          <a:lstStyle/>
          <a:p>
            <a:pPr marL="360000" indent="-360000" algn="just" fontAlgn="base">
              <a:lnSpc>
                <a:spcPct val="140000"/>
              </a:lnSpc>
              <a:spcBef>
                <a:spcPts val="600"/>
              </a:spcBef>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优点</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4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当存在噪音和孤立点</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时，</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PAM </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比</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均值方法更健壮</a:t>
            </a:r>
          </a:p>
          <a:p>
            <a:pPr marL="360000" indent="-360000" algn="just" fontAlgn="base">
              <a:lnSpc>
                <a:spcPct val="140000"/>
              </a:lnSpc>
              <a:spcBef>
                <a:spcPts val="600"/>
              </a:spcBef>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缺点</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40000"/>
              </a:lnSpc>
              <a:spcBef>
                <a:spcPts val="600"/>
              </a:spcBef>
              <a:buClr>
                <a:srgbClr val="FF6600"/>
              </a:buClr>
              <a:buSzPct val="80000"/>
              <a:buFont typeface="Wingdings" panose="05000000000000000000" pitchFamily="2" charset="2"/>
              <a:buChar char="l"/>
            </a:pP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PAM </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对于较小的数据集非常有效，但不能很好地扩展到大型数据集，原因是计算复杂</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度较高</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2">
              <a:lnSpc>
                <a:spcPct val="140000"/>
              </a:lnSpc>
              <a:spcBef>
                <a:spcPts val="600"/>
              </a:spcBef>
              <a:buClr>
                <a:srgbClr val="FF6700"/>
              </a:buClr>
            </a:pPr>
            <a:r>
              <a:rPr lang="zh-CN" altLang="en-US" b="1" dirty="0">
                <a:solidFill>
                  <a:srgbClr val="FF6600"/>
                </a:solidFill>
                <a:sym typeface="Times New Roman" panose="02020603050405020304" pitchFamily="18" charset="0"/>
              </a:rPr>
              <a:t>每次中心点交换的时候，就要计算数据中每个点</a:t>
            </a:r>
            <a:r>
              <a:rPr lang="zh-CN" altLang="en-US" b="1">
                <a:solidFill>
                  <a:srgbClr val="FF6600"/>
                </a:solidFill>
                <a:sym typeface="Times New Roman" panose="02020603050405020304" pitchFamily="18" charset="0"/>
              </a:rPr>
              <a:t>的代价</a:t>
            </a:r>
            <a:endParaRPr lang="zh-CN" altLang="en-US" sz="22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4293096"/>
            <a:ext cx="3888432" cy="2224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a:extLst>
              <a:ext uri="{FF2B5EF4-FFF2-40B4-BE49-F238E27FC236}">
                <a16:creationId xmlns:a16="http://schemas.microsoft.com/office/drawing/2014/main" id="{176CDD42-76AA-4FEA-B27C-38AC029E9361}"/>
              </a:ext>
            </a:extLst>
          </p:cNvPr>
          <p:cNvSpPr/>
          <p:nvPr/>
        </p:nvSpPr>
        <p:spPr>
          <a:xfrm>
            <a:off x="4427984" y="4120104"/>
            <a:ext cx="4464016" cy="2581541"/>
          </a:xfrm>
          <a:prstGeom prst="rect">
            <a:avLst/>
          </a:prstGeom>
        </p:spPr>
        <p:txBody>
          <a:bodyPr wrap="square">
            <a:spAutoFit/>
          </a:bodyPr>
          <a:lstStyle/>
          <a:p>
            <a:pPr marL="298450" indent="-285750">
              <a:lnSpc>
                <a:spcPct val="120000"/>
              </a:lnSpc>
              <a:spcBef>
                <a:spcPts val="600"/>
              </a:spcBef>
              <a:buFont typeface="Arial" pitchFamily="34" charset="0"/>
              <a:buChar char="•"/>
            </a:pPr>
            <a:r>
              <a:rPr lang="en-US" altLang="zh-CN" sz="2000" dirty="0">
                <a:latin typeface="Times New Roman" panose="02020603050405020304" pitchFamily="18" charset="0"/>
                <a:ea typeface="微软雅黑" panose="020B0503020204020204" pitchFamily="34" charset="-122"/>
                <a:cs typeface="SimSun"/>
                <a:sym typeface="Times New Roman" panose="02020603050405020304" pitchFamily="18" charset="0"/>
              </a:rPr>
              <a:t>PAM</a:t>
            </a:r>
            <a:r>
              <a:rPr lang="zh-CN" altLang="en-US" sz="2000" dirty="0">
                <a:latin typeface="Times New Roman" panose="02020603050405020304" pitchFamily="18" charset="0"/>
                <a:ea typeface="微软雅黑" panose="020B0503020204020204" pitchFamily="34" charset="-122"/>
                <a:cs typeface="SimSun"/>
                <a:sym typeface="Times New Roman" panose="02020603050405020304" pitchFamily="18" charset="0"/>
              </a:rPr>
              <a:t>算法中，每一次迭代都需要确定出</a:t>
            </a:r>
            <a:r>
              <a:rPr lang="en-US" altLang="zh-CN" sz="2000" b="1" dirty="0">
                <a:solidFill>
                  <a:srgbClr val="FF6600"/>
                </a:solidFill>
                <a:latin typeface="Times New Roman" panose="02020603050405020304" pitchFamily="18" charset="0"/>
                <a:ea typeface="微软雅黑" panose="020B0503020204020204" pitchFamily="34" charset="-122"/>
                <a:cs typeface="SimSun"/>
                <a:sym typeface="Times New Roman" panose="02020603050405020304" pitchFamily="18" charset="0"/>
              </a:rPr>
              <a:t>k(n-k)</a:t>
            </a:r>
            <a:r>
              <a:rPr lang="zh-CN" altLang="en-US" sz="2000" dirty="0">
                <a:latin typeface="Times New Roman" panose="02020603050405020304" pitchFamily="18" charset="0"/>
                <a:ea typeface="微软雅黑" panose="020B0503020204020204" pitchFamily="34" charset="-122"/>
                <a:cs typeface="SimSun"/>
                <a:sym typeface="Times New Roman" panose="02020603050405020304" pitchFamily="18" charset="0"/>
              </a:rPr>
              <a:t>个交换对</a:t>
            </a:r>
            <a:endParaRPr lang="en-US" altLang="zh-CN" sz="2000" spc="15" dirty="0">
              <a:latin typeface="Times New Roman" panose="02020603050405020304" pitchFamily="18" charset="0"/>
              <a:ea typeface="微软雅黑" panose="020B0503020204020204" pitchFamily="34" charset="-122"/>
              <a:cs typeface="SimSun"/>
              <a:sym typeface="Times New Roman" panose="02020603050405020304" pitchFamily="18" charset="0"/>
            </a:endParaRPr>
          </a:p>
          <a:p>
            <a:pPr marL="298450" indent="-285750">
              <a:lnSpc>
                <a:spcPct val="120000"/>
              </a:lnSpc>
              <a:spcBef>
                <a:spcPts val="600"/>
              </a:spcBef>
              <a:buFont typeface="Arial" pitchFamily="34" charset="0"/>
              <a:buChar char="•"/>
            </a:pPr>
            <a:r>
              <a:rPr lang="zh-CN" altLang="en-US" sz="2000" spc="15" dirty="0">
                <a:latin typeface="Times New Roman" panose="02020603050405020304" pitchFamily="18" charset="0"/>
                <a:ea typeface="微软雅黑" panose="020B0503020204020204" pitchFamily="34" charset="-122"/>
                <a:cs typeface="SimSun"/>
                <a:sym typeface="Times New Roman" panose="02020603050405020304" pitchFamily="18" charset="0"/>
              </a:rPr>
              <a:t>对于交换对</a:t>
            </a:r>
            <a:r>
              <a:rPr lang="en-US" altLang="zh-CN" sz="2000" spc="15" dirty="0">
                <a:latin typeface="Times New Roman" panose="02020603050405020304" pitchFamily="18" charset="0"/>
                <a:ea typeface="微软雅黑" panose="020B0503020204020204" pitchFamily="34" charset="-122"/>
                <a:cs typeface="SimSun"/>
                <a:sym typeface="Times New Roman" panose="02020603050405020304" pitchFamily="18" charset="0"/>
              </a:rPr>
              <a:t>i</a:t>
            </a:r>
            <a:r>
              <a:rPr lang="zh-CN" altLang="en-US" sz="2000" spc="15" dirty="0">
                <a:latin typeface="Times New Roman" panose="02020603050405020304" pitchFamily="18" charset="0"/>
                <a:ea typeface="微软雅黑" panose="020B0503020204020204" pitchFamily="34" charset="-122"/>
                <a:cs typeface="SimSun"/>
                <a:sym typeface="Times New Roman" panose="02020603050405020304" pitchFamily="18" charset="0"/>
              </a:rPr>
              <a:t>，</a:t>
            </a:r>
            <a:r>
              <a:rPr lang="en-US" altLang="zh-CN" sz="2000" spc="15" dirty="0">
                <a:latin typeface="Times New Roman" panose="02020603050405020304" pitchFamily="18" charset="0"/>
                <a:ea typeface="微软雅黑" panose="020B0503020204020204" pitchFamily="34" charset="-122"/>
                <a:cs typeface="SimSun"/>
                <a:sym typeface="Times New Roman" panose="02020603050405020304" pitchFamily="18" charset="0"/>
              </a:rPr>
              <a:t>h</a:t>
            </a:r>
            <a:r>
              <a:rPr lang="zh-CN" altLang="en-US" sz="2000" spc="15" dirty="0">
                <a:latin typeface="Times New Roman" panose="02020603050405020304" pitchFamily="18" charset="0"/>
                <a:ea typeface="微软雅黑" panose="020B0503020204020204" pitchFamily="34" charset="-122"/>
                <a:cs typeface="SimSun"/>
                <a:sym typeface="Times New Roman" panose="02020603050405020304" pitchFamily="18" charset="0"/>
              </a:rPr>
              <a:t>需要计算</a:t>
            </a:r>
            <a:r>
              <a:rPr lang="en-US" altLang="zh-CN" sz="2000" b="1" spc="15" dirty="0" err="1">
                <a:solidFill>
                  <a:srgbClr val="FF6600"/>
                </a:solidFill>
                <a:latin typeface="Times New Roman" panose="02020603050405020304" pitchFamily="18" charset="0"/>
                <a:ea typeface="微软雅黑" panose="020B0503020204020204" pitchFamily="34" charset="-122"/>
                <a:cs typeface="SimSun"/>
                <a:sym typeface="Times New Roman" panose="02020603050405020304" pitchFamily="18" charset="0"/>
              </a:rPr>
              <a:t>Tc</a:t>
            </a:r>
            <a:r>
              <a:rPr lang="en-US" altLang="zh-CN" sz="2400" b="1" i="1" spc="22" baseline="20467" dirty="0" err="1">
                <a:solidFill>
                  <a:srgbClr val="FF6600"/>
                </a:solidFill>
                <a:latin typeface="Times New Roman" panose="02020603050405020304" pitchFamily="18" charset="0"/>
                <a:ea typeface="微软雅黑" panose="020B0503020204020204" pitchFamily="34" charset="-122"/>
                <a:cs typeface="Times New Roman"/>
                <a:sym typeface="Times New Roman" panose="02020603050405020304" pitchFamily="18" charset="0"/>
              </a:rPr>
              <a:t>ih</a:t>
            </a:r>
            <a:endParaRPr lang="en-US" altLang="zh-CN" sz="2000" b="1" i="1" spc="15" dirty="0">
              <a:solidFill>
                <a:srgbClr val="FF6600"/>
              </a:solidFill>
              <a:latin typeface="Times New Roman" panose="02020603050405020304" pitchFamily="18" charset="0"/>
              <a:ea typeface="微软雅黑" panose="020B0503020204020204" pitchFamily="34" charset="-122"/>
              <a:cs typeface="Meiryo"/>
              <a:sym typeface="Times New Roman" panose="02020603050405020304" pitchFamily="18" charset="0"/>
            </a:endParaRPr>
          </a:p>
          <a:p>
            <a:pPr marL="298450" indent="-285750">
              <a:lnSpc>
                <a:spcPct val="120000"/>
              </a:lnSpc>
              <a:spcBef>
                <a:spcPts val="600"/>
              </a:spcBef>
              <a:buFont typeface="Arial" pitchFamily="34" charset="0"/>
              <a:buChar char="•"/>
            </a:pPr>
            <a:r>
              <a:rPr lang="zh-CN" altLang="en-US" sz="2000" spc="15" dirty="0">
                <a:latin typeface="Times New Roman" panose="02020603050405020304" pitchFamily="18" charset="0"/>
                <a:ea typeface="微软雅黑" panose="020B0503020204020204" pitchFamily="34" charset="-122"/>
                <a:cs typeface="SimSun"/>
                <a:sym typeface="Times New Roman" panose="02020603050405020304" pitchFamily="18" charset="0"/>
              </a:rPr>
              <a:t>在计算</a:t>
            </a:r>
            <a:r>
              <a:rPr lang="en-US" altLang="zh-CN" sz="2000" spc="15" dirty="0" err="1">
                <a:latin typeface="Times New Roman" panose="02020603050405020304" pitchFamily="18" charset="0"/>
                <a:ea typeface="微软雅黑" panose="020B0503020204020204" pitchFamily="34" charset="-122"/>
                <a:cs typeface="SimSun"/>
                <a:sym typeface="Times New Roman" panose="02020603050405020304" pitchFamily="18" charset="0"/>
              </a:rPr>
              <a:t>TC</a:t>
            </a:r>
            <a:r>
              <a:rPr lang="en-US" altLang="zh-CN" sz="2400" i="1" spc="22" baseline="20467" dirty="0" err="1">
                <a:latin typeface="Times New Roman" panose="02020603050405020304" pitchFamily="18" charset="0"/>
                <a:ea typeface="微软雅黑" panose="020B0503020204020204" pitchFamily="34" charset="-122"/>
                <a:cs typeface="Times New Roman"/>
                <a:sym typeface="Times New Roman" panose="02020603050405020304" pitchFamily="18" charset="0"/>
              </a:rPr>
              <a:t>ih</a:t>
            </a:r>
            <a:r>
              <a:rPr lang="zh-CN" altLang="en-US" sz="2000" spc="15" dirty="0">
                <a:latin typeface="Times New Roman" panose="02020603050405020304" pitchFamily="18" charset="0"/>
                <a:ea typeface="微软雅黑" panose="020B0503020204020204" pitchFamily="34" charset="-122"/>
                <a:cs typeface="SimSun"/>
                <a:sym typeface="Times New Roman" panose="02020603050405020304" pitchFamily="18" charset="0"/>
              </a:rPr>
              <a:t>过程中，</a:t>
            </a:r>
            <a:r>
              <a:rPr lang="zh-CN" altLang="en-US" sz="2000" spc="-5" dirty="0">
                <a:latin typeface="Times New Roman" panose="02020603050405020304" pitchFamily="18" charset="0"/>
                <a:ea typeface="微软雅黑" panose="020B0503020204020204" pitchFamily="34" charset="-122"/>
                <a:cs typeface="SimSun"/>
                <a:sym typeface="Times New Roman" panose="02020603050405020304" pitchFamily="18" charset="0"/>
              </a:rPr>
              <a:t>需要</a:t>
            </a:r>
            <a:r>
              <a:rPr lang="zh-CN" altLang="en-US" sz="2000" dirty="0">
                <a:latin typeface="Times New Roman" panose="02020603050405020304" pitchFamily="18" charset="0"/>
                <a:ea typeface="微软雅黑" panose="020B0503020204020204" pitchFamily="34" charset="-122"/>
                <a:cs typeface="SimSun"/>
                <a:sym typeface="Times New Roman" panose="02020603050405020304" pitchFamily="18" charset="0"/>
              </a:rPr>
              <a:t>计</a:t>
            </a:r>
            <a:r>
              <a:rPr lang="zh-CN" altLang="en-US" sz="2000" spc="-5" dirty="0">
                <a:latin typeface="Times New Roman" panose="02020603050405020304" pitchFamily="18" charset="0"/>
                <a:ea typeface="微软雅黑" panose="020B0503020204020204" pitchFamily="34" charset="-122"/>
                <a:cs typeface="SimSun"/>
                <a:sym typeface="Times New Roman" panose="02020603050405020304" pitchFamily="18" charset="0"/>
              </a:rPr>
              <a:t>算</a:t>
            </a:r>
            <a:r>
              <a:rPr lang="en-US" altLang="zh-CN" sz="2000" b="1" spc="-5" dirty="0">
                <a:solidFill>
                  <a:srgbClr val="FF6600"/>
                </a:solidFill>
                <a:latin typeface="Times New Roman" panose="02020603050405020304" pitchFamily="18" charset="0"/>
                <a:ea typeface="微软雅黑" panose="020B0503020204020204" pitchFamily="34" charset="-122"/>
                <a:cs typeface="SimSun"/>
                <a:sym typeface="Times New Roman" panose="02020603050405020304" pitchFamily="18" charset="0"/>
              </a:rPr>
              <a:t>n-</a:t>
            </a:r>
            <a:r>
              <a:rPr lang="en-US" altLang="zh-CN" sz="2000" b="1" spc="-10" dirty="0">
                <a:solidFill>
                  <a:srgbClr val="FF6600"/>
                </a:solidFill>
                <a:latin typeface="Times New Roman" panose="02020603050405020304" pitchFamily="18" charset="0"/>
                <a:ea typeface="微软雅黑" panose="020B0503020204020204" pitchFamily="34" charset="-122"/>
                <a:cs typeface="SimSun"/>
                <a:sym typeface="Times New Roman" panose="02020603050405020304" pitchFamily="18" charset="0"/>
              </a:rPr>
              <a:t>k</a:t>
            </a:r>
            <a:r>
              <a:rPr lang="zh-CN" altLang="en-US" sz="2000" spc="-5" dirty="0">
                <a:latin typeface="Times New Roman" panose="02020603050405020304" pitchFamily="18" charset="0"/>
                <a:ea typeface="微软雅黑" panose="020B0503020204020204" pitchFamily="34" charset="-122"/>
                <a:cs typeface="SimSun"/>
                <a:sym typeface="Times New Roman" panose="02020603050405020304" pitchFamily="18" charset="0"/>
              </a:rPr>
              <a:t>个非</a:t>
            </a:r>
            <a:r>
              <a:rPr lang="zh-CN" altLang="en-US" sz="2000" dirty="0">
                <a:latin typeface="Times New Roman" panose="02020603050405020304" pitchFamily="18" charset="0"/>
                <a:ea typeface="微软雅黑" panose="020B0503020204020204" pitchFamily="34" charset="-122"/>
                <a:cs typeface="SimSun"/>
                <a:sym typeface="Times New Roman" panose="02020603050405020304" pitchFamily="18" charset="0"/>
              </a:rPr>
              <a:t>中</a:t>
            </a:r>
            <a:r>
              <a:rPr lang="zh-CN" altLang="en-US" sz="2000" spc="-5" dirty="0">
                <a:latin typeface="Times New Roman" panose="02020603050405020304" pitchFamily="18" charset="0"/>
                <a:ea typeface="微软雅黑" panose="020B0503020204020204" pitchFamily="34" charset="-122"/>
                <a:cs typeface="SimSun"/>
                <a:sym typeface="Times New Roman" panose="02020603050405020304" pitchFamily="18" charset="0"/>
              </a:rPr>
              <a:t>心点的</a:t>
            </a:r>
            <a:r>
              <a:rPr lang="zh-CN" altLang="en-US" sz="2000" dirty="0">
                <a:latin typeface="Times New Roman" panose="02020603050405020304" pitchFamily="18" charset="0"/>
                <a:ea typeface="微软雅黑" panose="020B0503020204020204" pitchFamily="34" charset="-122"/>
                <a:cs typeface="SimSun"/>
                <a:sym typeface="Times New Roman" panose="02020603050405020304" pitchFamily="18" charset="0"/>
              </a:rPr>
              <a:t>代</a:t>
            </a:r>
            <a:r>
              <a:rPr lang="zh-CN" altLang="en-US" sz="2000" spc="-5" dirty="0">
                <a:latin typeface="Times New Roman" panose="02020603050405020304" pitchFamily="18" charset="0"/>
                <a:ea typeface="微软雅黑" panose="020B0503020204020204" pitchFamily="34" charset="-122"/>
                <a:cs typeface="SimSun"/>
                <a:sym typeface="Times New Roman" panose="02020603050405020304" pitchFamily="18" charset="0"/>
              </a:rPr>
              <a:t>价</a:t>
            </a:r>
            <a:endParaRPr lang="en-US" altLang="zh-CN" sz="2000" spc="-5" dirty="0">
              <a:latin typeface="Times New Roman" panose="02020603050405020304" pitchFamily="18" charset="0"/>
              <a:ea typeface="微软雅黑" panose="020B0503020204020204" pitchFamily="34" charset="-122"/>
              <a:cs typeface="SimSun"/>
              <a:sym typeface="Times New Roman" panose="02020603050405020304" pitchFamily="18" charset="0"/>
            </a:endParaRPr>
          </a:p>
          <a:p>
            <a:pPr marL="298450" indent="-285750">
              <a:lnSpc>
                <a:spcPct val="120000"/>
              </a:lnSpc>
              <a:spcBef>
                <a:spcPts val="600"/>
              </a:spcBef>
              <a:buFont typeface="Arial" pitchFamily="34" charset="0"/>
              <a:buChar char="•"/>
            </a:pPr>
            <a:r>
              <a:rPr lang="zh-CN" altLang="en-US" sz="2000" spc="-5" dirty="0">
                <a:latin typeface="Times New Roman" panose="02020603050405020304" pitchFamily="18" charset="0"/>
                <a:ea typeface="微软雅黑" panose="020B0503020204020204" pitchFamily="34" charset="-122"/>
                <a:cs typeface="SimSun"/>
                <a:sym typeface="Times New Roman" panose="02020603050405020304" pitchFamily="18" charset="0"/>
              </a:rPr>
              <a:t>所</a:t>
            </a:r>
            <a:r>
              <a:rPr lang="zh-CN" altLang="en-US" sz="2000" dirty="0">
                <a:latin typeface="Times New Roman" panose="02020603050405020304" pitchFamily="18" charset="0"/>
                <a:ea typeface="微软雅黑" panose="020B0503020204020204" pitchFamily="34" charset="-122"/>
                <a:cs typeface="SimSun"/>
                <a:sym typeface="Times New Roman" panose="02020603050405020304" pitchFamily="18" charset="0"/>
              </a:rPr>
              <a:t>以</a:t>
            </a:r>
            <a:r>
              <a:rPr lang="zh-CN" altLang="en-US" sz="2000" spc="-5" dirty="0">
                <a:latin typeface="Times New Roman" panose="02020603050405020304" pitchFamily="18" charset="0"/>
                <a:ea typeface="微软雅黑" panose="020B0503020204020204" pitchFamily="34" charset="-122"/>
                <a:cs typeface="SimSun"/>
                <a:sym typeface="Times New Roman" panose="02020603050405020304" pitchFamily="18" charset="0"/>
              </a:rPr>
              <a:t>每次迭</a:t>
            </a:r>
            <a:r>
              <a:rPr lang="zh-CN" altLang="en-US" sz="2000" dirty="0">
                <a:latin typeface="Times New Roman" panose="02020603050405020304" pitchFamily="18" charset="0"/>
                <a:ea typeface="微软雅黑" panose="020B0503020204020204" pitchFamily="34" charset="-122"/>
                <a:cs typeface="SimSun"/>
                <a:sym typeface="Times New Roman" panose="02020603050405020304" pitchFamily="18" charset="0"/>
              </a:rPr>
              <a:t>代</a:t>
            </a:r>
            <a:r>
              <a:rPr lang="zh-CN" altLang="en-US" sz="2000" spc="-5" dirty="0">
                <a:latin typeface="Times New Roman" panose="02020603050405020304" pitchFamily="18" charset="0"/>
                <a:ea typeface="微软雅黑" panose="020B0503020204020204" pitchFamily="34" charset="-122"/>
                <a:cs typeface="SimSun"/>
                <a:sym typeface="Times New Roman" panose="02020603050405020304" pitchFamily="18" charset="0"/>
              </a:rPr>
              <a:t>的复杂度是</a:t>
            </a:r>
            <a:r>
              <a:rPr lang="en-US" altLang="zh-CN" sz="2000" b="1" spc="-5" dirty="0">
                <a:solidFill>
                  <a:srgbClr val="FF6600"/>
                </a:solidFill>
                <a:latin typeface="Times New Roman" panose="02020603050405020304" pitchFamily="18" charset="0"/>
                <a:ea typeface="微软雅黑" panose="020B0503020204020204" pitchFamily="34" charset="-122"/>
                <a:cs typeface="SimSun"/>
                <a:sym typeface="Times New Roman" panose="02020603050405020304" pitchFamily="18" charset="0"/>
              </a:rPr>
              <a:t>k(n-k)</a:t>
            </a:r>
            <a:r>
              <a:rPr lang="en-US" altLang="zh-CN" sz="2000" b="1" i="1" spc="-7" baseline="28619" dirty="0">
                <a:solidFill>
                  <a:srgbClr val="FF6600"/>
                </a:solidFill>
                <a:latin typeface="Times New Roman" panose="02020603050405020304" pitchFamily="18" charset="0"/>
                <a:ea typeface="微软雅黑" panose="020B0503020204020204" pitchFamily="34" charset="-122"/>
                <a:cs typeface="Times New Roman"/>
                <a:sym typeface="Times New Roman" panose="02020603050405020304" pitchFamily="18" charset="0"/>
              </a:rPr>
              <a:t>2</a:t>
            </a:r>
            <a:r>
              <a:rPr lang="zh-CN" altLang="en-US" sz="2000" b="1" i="1" spc="577" baseline="28619" dirty="0">
                <a:solidFill>
                  <a:srgbClr val="FF6600"/>
                </a:solidFill>
                <a:latin typeface="Times New Roman" panose="02020603050405020304" pitchFamily="18" charset="0"/>
                <a:ea typeface="微软雅黑" panose="020B0503020204020204" pitchFamily="34" charset="-122"/>
                <a:cs typeface="Times New Roman"/>
                <a:sym typeface="Times New Roman" panose="02020603050405020304" pitchFamily="18" charset="0"/>
              </a:rPr>
              <a:t> </a:t>
            </a:r>
            <a:endParaRPr lang="zh-CN" altLang="en-US" sz="2000" b="1" baseline="28619" dirty="0">
              <a:solidFill>
                <a:srgbClr val="FF6600"/>
              </a:solidFill>
              <a:latin typeface="Times New Roman" panose="02020603050405020304" pitchFamily="18" charset="0"/>
              <a:ea typeface="微软雅黑" panose="020B0503020204020204" pitchFamily="34" charset="-122"/>
              <a:cs typeface="Times New Roman"/>
              <a:sym typeface="Times New Roman" panose="02020603050405020304" pitchFamily="18" charset="0"/>
            </a:endParaRPr>
          </a:p>
        </p:txBody>
      </p:sp>
    </p:spTree>
    <p:extLst>
      <p:ext uri="{BB962C8B-B14F-4D97-AF65-F5344CB8AC3E}">
        <p14:creationId xmlns:p14="http://schemas.microsoft.com/office/powerpoint/2010/main" val="645108856"/>
      </p:ext>
    </p:extLst>
  </p:cSld>
  <p:clrMapOvr>
    <a:masterClrMapping/>
  </p:clrMapOvr>
  <p:transition spd="med">
    <p:split orient="ver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下列哪些属于基于划分的聚类算法</a:t>
            </a: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K-means</a:t>
            </a:r>
            <a:endPar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K-modes</a:t>
            </a:r>
            <a:endPar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TextBox 8"/>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K-means++</a:t>
            </a:r>
            <a:endPar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TextBox 9"/>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K</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中心点</a:t>
            </a:r>
          </a:p>
        </p:txBody>
      </p:sp>
      <p:sp>
        <p:nvSpPr>
          <p:cNvPr id="11" name="矩形 10"/>
          <p:cNvSpPr>
            <a:spLocks noChangeAspect="1"/>
          </p:cNvSpPr>
          <p:nvPr>
            <p:custDataLst>
              <p:tags r:id="rId7"/>
            </p:custDataLst>
          </p:nvPr>
        </p:nvSpPr>
        <p:spPr bwMode="auto">
          <a:xfrm>
            <a:off x="1114425" y="2850356"/>
            <a:ext cx="514350" cy="514350"/>
          </a:xfrm>
          <a:prstGeom prst="rect">
            <a:avLst/>
          </a:prstGeom>
          <a:solidFill>
            <a:srgbClr val="FF99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A</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矩形 11"/>
          <p:cNvSpPr>
            <a:spLocks noChangeAspect="1"/>
          </p:cNvSpPr>
          <p:nvPr>
            <p:custDataLst>
              <p:tags r:id="rId8"/>
            </p:custDataLst>
          </p:nvPr>
        </p:nvSpPr>
        <p:spPr bwMode="auto">
          <a:xfrm>
            <a:off x="1114425" y="3707606"/>
            <a:ext cx="514350" cy="514350"/>
          </a:xfrm>
          <a:prstGeom prst="rect">
            <a:avLst/>
          </a:prstGeom>
          <a:solidFill>
            <a:srgbClr val="FF99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B</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矩形 12"/>
          <p:cNvSpPr>
            <a:spLocks noChangeAspect="1"/>
          </p:cNvSpPr>
          <p:nvPr>
            <p:custDataLst>
              <p:tags r:id="rId9"/>
            </p:custDataLst>
          </p:nvPr>
        </p:nvSpPr>
        <p:spPr bwMode="auto">
          <a:xfrm>
            <a:off x="1114425" y="4564856"/>
            <a:ext cx="514350" cy="514350"/>
          </a:xfrm>
          <a:prstGeom prst="rect">
            <a:avLst/>
          </a:prstGeom>
          <a:solidFill>
            <a:srgbClr val="FF99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矩形 13"/>
          <p:cNvSpPr>
            <a:spLocks noChangeAspect="1"/>
          </p:cNvSpPr>
          <p:nvPr>
            <p:custDataLst>
              <p:tags r:id="rId10"/>
            </p:custDataLst>
          </p:nvPr>
        </p:nvSpPr>
        <p:spPr bwMode="auto">
          <a:xfrm>
            <a:off x="1114425" y="5422106"/>
            <a:ext cx="514350" cy="514350"/>
          </a:xfrm>
          <a:prstGeom prst="rect">
            <a:avLst/>
          </a:prstGeom>
          <a:solidFill>
            <a:srgbClr val="FF99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D</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圆角矩形 14"/>
          <p:cNvSpPr/>
          <p:nvPr>
            <p:custDataLst>
              <p:tags r:id="rId11"/>
            </p:custDataLst>
          </p:nvPr>
        </p:nvSpPr>
        <p:spPr bwMode="auto">
          <a:xfrm>
            <a:off x="6172200" y="6215063"/>
            <a:ext cx="1543050" cy="411480"/>
          </a:xfrm>
          <a:prstGeom prst="roundRect">
            <a:avLst/>
          </a:prstGeom>
          <a:gradFill flip="none" rotWithShape="1">
            <a:gsLst>
              <a:gs pos="0">
                <a:srgbClr val="13548C">
                  <a:shade val="30000"/>
                  <a:satMod val="115000"/>
                </a:srgbClr>
              </a:gs>
              <a:gs pos="50000">
                <a:srgbClr val="13548C">
                  <a:shade val="67500"/>
                  <a:satMod val="115000"/>
                </a:srgbClr>
              </a:gs>
              <a:gs pos="100000">
                <a:srgbClr val="13548C">
                  <a:shade val="100000"/>
                  <a:satMod val="115000"/>
                </a:srgbClr>
              </a:gs>
            </a:gsLst>
            <a:lin ang="16200000" scaled="1"/>
            <a:tileRect/>
          </a:gradFill>
          <a:ln w="381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提交</a:t>
            </a:r>
          </a:p>
        </p:txBody>
      </p:sp>
      <p:grpSp>
        <p:nvGrpSpPr>
          <p:cNvPr id="20" name="组合 19"/>
          <p:cNvGrpSpPr/>
          <p:nvPr>
            <p:custDataLst>
              <p:tags r:id="rId12"/>
            </p:custDataLst>
          </p:nvPr>
        </p:nvGrpSpPr>
        <p:grpSpPr>
          <a:xfrm>
            <a:off x="0" y="0"/>
            <a:ext cx="9144000" cy="635000"/>
            <a:chOff x="0" y="0"/>
            <a:chExt cx="9144000" cy="635000"/>
          </a:xfrm>
        </p:grpSpPr>
        <p:sp>
          <p:nvSpPr>
            <p:cNvPr id="16" name="TitleBackground"/>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ColorBlock"/>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多选题</a:t>
              </a:r>
            </a:p>
          </p:txBody>
        </p:sp>
        <p:sp>
          <p:nvSpPr>
            <p:cNvPr id="19" name="TipText"/>
            <p:cNvSpPr txBox="1"/>
            <p:nvPr>
              <p:custDataLst>
                <p:tags r:id="rId17"/>
              </p:custDataLst>
            </p:nvPr>
          </p:nvSpPr>
          <p:spPr>
            <a:xfrm>
              <a:off x="1510030" y="109220"/>
              <a:ext cx="2286000" cy="508000"/>
            </a:xfrm>
            <a:prstGeom prst="rect">
              <a:avLst/>
            </a:prstGeom>
            <a:noFill/>
          </p:spPr>
          <p:txBody>
            <a:bodyPr vert="horz" wrap="none" rtlCol="0" anchor="ctr" anchorCtr="0">
              <a:noAutofit/>
            </a:bodyPr>
            <a:lstStyle/>
            <a:p>
              <a:r>
                <a:rPr lang="en-US" altLang="zh-CN"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分</a:t>
              </a:r>
            </a:p>
          </p:txBody>
        </p:sp>
      </p:grpSp>
      <p:pic>
        <p:nvPicPr>
          <p:cNvPr id="5" name="图片 4"/>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487405919"/>
      </p:ext>
    </p:extLst>
  </p:cSld>
  <p:clrMapOvr>
    <a:masterClrMapping/>
  </p:clrMapOvr>
  <p:transition spd="med">
    <p:split orient="ver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下列说法正确的是</a:t>
            </a:r>
          </a:p>
        </p:txBody>
      </p:sp>
      <p:sp>
        <p:nvSpPr>
          <p:cNvPr id="7" name="TextBox 6"/>
          <p:cNvSpPr txBox="1"/>
          <p:nvPr>
            <p:custDataLst>
              <p:tags r:id="rId3"/>
            </p:custDataLst>
          </p:nvPr>
        </p:nvSpPr>
        <p:spPr>
          <a:xfrm>
            <a:off x="1828800" y="2513434"/>
            <a:ext cx="670364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K-means</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算法能够解决有离群点的聚类问题</a:t>
            </a:r>
          </a:p>
        </p:txBody>
      </p:sp>
      <p:sp>
        <p:nvSpPr>
          <p:cNvPr id="8" name="TextBox 7"/>
          <p:cNvSpPr txBox="1"/>
          <p:nvPr>
            <p:custDataLst>
              <p:tags r:id="rId4"/>
            </p:custDataLst>
          </p:nvPr>
        </p:nvSpPr>
        <p:spPr>
          <a:xfrm>
            <a:off x="1828800" y="3370684"/>
            <a:ext cx="64008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K-modes</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能够解决离散数据的聚类问题</a:t>
            </a:r>
          </a:p>
        </p:txBody>
      </p:sp>
      <p:sp>
        <p:nvSpPr>
          <p:cNvPr id="9" name="TextBox 8"/>
          <p:cNvSpPr txBox="1"/>
          <p:nvPr>
            <p:custDataLst>
              <p:tags r:id="rId5"/>
            </p:custDataLst>
          </p:nvPr>
        </p:nvSpPr>
        <p:spPr>
          <a:xfrm>
            <a:off x="1828800" y="4227934"/>
            <a:ext cx="7495728"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K-means++</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能够解决初始点影响聚类效果的问题</a:t>
            </a:r>
          </a:p>
        </p:txBody>
      </p:sp>
      <p:sp>
        <p:nvSpPr>
          <p:cNvPr id="10" name="TextBox 9"/>
          <p:cNvSpPr txBox="1"/>
          <p:nvPr>
            <p:custDataLst>
              <p:tags r:id="rId6"/>
            </p:custDataLst>
          </p:nvPr>
        </p:nvSpPr>
        <p:spPr>
          <a:xfrm>
            <a:off x="1828800" y="5085184"/>
            <a:ext cx="64008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K</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中心点能够解决有离群点的聚类问题</a:t>
            </a:r>
          </a:p>
        </p:txBody>
      </p:sp>
      <p:sp>
        <p:nvSpPr>
          <p:cNvPr id="11" name="矩形 10"/>
          <p:cNvSpPr>
            <a:spLocks noChangeAspect="1"/>
          </p:cNvSpPr>
          <p:nvPr>
            <p:custDataLst>
              <p:tags r:id="rId7"/>
            </p:custDataLst>
          </p:nvPr>
        </p:nvSpPr>
        <p:spPr bwMode="auto">
          <a:xfrm>
            <a:off x="1114425" y="2577727"/>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A</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矩形 11"/>
          <p:cNvSpPr>
            <a:spLocks noChangeAspect="1"/>
          </p:cNvSpPr>
          <p:nvPr>
            <p:custDataLst>
              <p:tags r:id="rId8"/>
            </p:custDataLst>
          </p:nvPr>
        </p:nvSpPr>
        <p:spPr bwMode="auto">
          <a:xfrm>
            <a:off x="1114425" y="3434977"/>
            <a:ext cx="514350" cy="514350"/>
          </a:xfrm>
          <a:prstGeom prst="rect">
            <a:avLst/>
          </a:prstGeom>
          <a:solidFill>
            <a:srgbClr val="FF99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B</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矩形 12"/>
          <p:cNvSpPr>
            <a:spLocks noChangeAspect="1"/>
          </p:cNvSpPr>
          <p:nvPr>
            <p:custDataLst>
              <p:tags r:id="rId9"/>
            </p:custDataLst>
          </p:nvPr>
        </p:nvSpPr>
        <p:spPr bwMode="auto">
          <a:xfrm>
            <a:off x="1114425" y="4292227"/>
            <a:ext cx="514350" cy="514350"/>
          </a:xfrm>
          <a:prstGeom prst="rect">
            <a:avLst/>
          </a:prstGeom>
          <a:solidFill>
            <a:srgbClr val="FF99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矩形 13"/>
          <p:cNvSpPr>
            <a:spLocks noChangeAspect="1"/>
          </p:cNvSpPr>
          <p:nvPr>
            <p:custDataLst>
              <p:tags r:id="rId10"/>
            </p:custDataLst>
          </p:nvPr>
        </p:nvSpPr>
        <p:spPr bwMode="auto">
          <a:xfrm>
            <a:off x="1114425" y="5149477"/>
            <a:ext cx="514350" cy="514350"/>
          </a:xfrm>
          <a:prstGeom prst="rect">
            <a:avLst/>
          </a:prstGeom>
          <a:solidFill>
            <a:srgbClr val="FF99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D</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圆角矩形 14">
            <a:extLst>
              <a:ext uri="{FF2B5EF4-FFF2-40B4-BE49-F238E27FC236}">
                <a16:creationId xmlns:a16="http://schemas.microsoft.com/office/drawing/2014/main" id="{47166756-EE26-445E-AABD-8FAF7AF605E9}"/>
              </a:ext>
            </a:extLst>
          </p:cNvPr>
          <p:cNvSpPr/>
          <p:nvPr>
            <p:custDataLst>
              <p:tags r:id="rId11"/>
            </p:custDataLst>
          </p:nvPr>
        </p:nvSpPr>
        <p:spPr bwMode="auto">
          <a:xfrm>
            <a:off x="6172200" y="6215063"/>
            <a:ext cx="1543050" cy="411480"/>
          </a:xfrm>
          <a:prstGeom prst="roundRect">
            <a:avLst/>
          </a:prstGeom>
          <a:gradFill flip="none" rotWithShape="1">
            <a:gsLst>
              <a:gs pos="0">
                <a:srgbClr val="13548C">
                  <a:shade val="30000"/>
                  <a:satMod val="115000"/>
                </a:srgbClr>
              </a:gs>
              <a:gs pos="50000">
                <a:srgbClr val="13548C">
                  <a:shade val="67500"/>
                  <a:satMod val="115000"/>
                </a:srgbClr>
              </a:gs>
              <a:gs pos="100000">
                <a:srgbClr val="13548C">
                  <a:shade val="100000"/>
                  <a:satMod val="115000"/>
                </a:srgbClr>
              </a:gs>
            </a:gsLst>
            <a:lin ang="16200000" scaled="1"/>
            <a:tileRect/>
          </a:gradFill>
          <a:ln w="381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提交</a:t>
            </a:r>
          </a:p>
        </p:txBody>
      </p:sp>
      <p:grpSp>
        <p:nvGrpSpPr>
          <p:cNvPr id="20" name="组合 19"/>
          <p:cNvGrpSpPr/>
          <p:nvPr>
            <p:custDataLst>
              <p:tags r:id="rId12"/>
            </p:custDataLst>
          </p:nvPr>
        </p:nvGrpSpPr>
        <p:grpSpPr>
          <a:xfrm>
            <a:off x="0" y="0"/>
            <a:ext cx="9144000" cy="635000"/>
            <a:chOff x="0" y="0"/>
            <a:chExt cx="9144000" cy="635000"/>
          </a:xfrm>
        </p:grpSpPr>
        <p:sp>
          <p:nvSpPr>
            <p:cNvPr id="16" name="TitleBackground"/>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ColorBlock"/>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多选题</a:t>
              </a:r>
            </a:p>
          </p:txBody>
        </p:sp>
        <p:sp>
          <p:nvSpPr>
            <p:cNvPr id="19" name="TipText"/>
            <p:cNvSpPr txBox="1"/>
            <p:nvPr>
              <p:custDataLst>
                <p:tags r:id="rId17"/>
              </p:custDataLst>
            </p:nvPr>
          </p:nvSpPr>
          <p:spPr>
            <a:xfrm>
              <a:off x="1510030" y="109220"/>
              <a:ext cx="2286000" cy="508000"/>
            </a:xfrm>
            <a:prstGeom prst="rect">
              <a:avLst/>
            </a:prstGeom>
            <a:noFill/>
          </p:spPr>
          <p:txBody>
            <a:bodyPr vert="horz" wrap="none" rtlCol="0" anchor="ctr" anchorCtr="0">
              <a:noAutofit/>
            </a:bodyPr>
            <a:lstStyle/>
            <a:p>
              <a:r>
                <a:rPr lang="en-US" altLang="zh-CN"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分</a:t>
              </a:r>
            </a:p>
          </p:txBody>
        </p:sp>
      </p:grpSp>
      <p:pic>
        <p:nvPicPr>
          <p:cNvPr id="5" name="图片 4"/>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799441842"/>
      </p:ext>
    </p:extLst>
  </p:cSld>
  <p:clrMapOvr>
    <a:masterClrMapping/>
  </p:clrMapOvr>
  <p:transition spd="med">
    <p:split orient="ver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 </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层次方法</a:t>
            </a:r>
          </a:p>
        </p:txBody>
      </p:sp>
      <p:sp>
        <p:nvSpPr>
          <p:cNvPr id="3" name="内容占位符 2"/>
          <p:cNvSpPr>
            <a:spLocks noGrp="1"/>
          </p:cNvSpPr>
          <p:nvPr>
            <p:ph idx="4294967295"/>
          </p:nvPr>
        </p:nvSpPr>
        <p:spPr>
          <a:xfrm>
            <a:off x="252000" y="756000"/>
            <a:ext cx="8640000" cy="5867888"/>
          </a:xfrm>
          <a:prstGeom prst="rect">
            <a:avLst/>
          </a:prstGeom>
          <a:noFill/>
        </p:spPr>
        <p:txBody>
          <a:bodyPr wrap="square" lIns="72000" rIns="72000">
            <a:spAutoFit/>
          </a:bodyPr>
          <a:lstStyle/>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层次方法</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对给定数据对象集进行层次的分解</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使用距离矩阵作为聚类标准</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不需要输入聚类数目</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，但需要终止条件</a:t>
            </a: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两种层次方法</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自底向上方法（凝聚）</a:t>
            </a:r>
            <a:endParaRPr lang="en-US" altLang="zh-CN" sz="20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2">
              <a:lnSpc>
                <a:spcPct val="130000"/>
              </a:lnSpc>
              <a:spcBef>
                <a:spcPts val="600"/>
              </a:spcBef>
              <a:buClr>
                <a:srgbClr val="FF6700"/>
              </a:buClr>
            </a:pPr>
            <a:r>
              <a:rPr lang="zh-CN" altLang="en-US" sz="1800" dirty="0">
                <a:sym typeface="Times New Roman" panose="02020603050405020304" pitchFamily="18" charset="0"/>
              </a:rPr>
              <a:t>初始将每个对象作为单独的一个簇，然后相继的合并相近的对象或簇，直到所有的簇合并为一个，或者达到一个终止条件</a:t>
            </a:r>
            <a:endParaRPr lang="en-US" altLang="zh-CN" sz="1800" dirty="0">
              <a:sym typeface="Times New Roman" panose="02020603050405020304" pitchFamily="18" charset="0"/>
            </a:endParaRPr>
          </a:p>
          <a:p>
            <a:pPr lvl="2">
              <a:lnSpc>
                <a:spcPct val="130000"/>
              </a:lnSpc>
              <a:spcBef>
                <a:spcPts val="600"/>
              </a:spcBef>
              <a:buClr>
                <a:srgbClr val="FF6700"/>
              </a:buClr>
            </a:pPr>
            <a:r>
              <a:rPr lang="zh-CN" altLang="en-US" sz="1800" dirty="0">
                <a:sym typeface="Times New Roman" panose="02020603050405020304" pitchFamily="18" charset="0"/>
              </a:rPr>
              <a:t>代表算法：</a:t>
            </a:r>
            <a:r>
              <a:rPr lang="en-US" altLang="zh-CN" sz="1800" b="1" dirty="0">
                <a:solidFill>
                  <a:srgbClr val="0070C0"/>
                </a:solidFill>
                <a:sym typeface="Times New Roman" panose="02020603050405020304" pitchFamily="18" charset="0"/>
              </a:rPr>
              <a:t>AGNES</a:t>
            </a:r>
            <a:r>
              <a:rPr lang="zh-CN" altLang="en-US" sz="1800" b="1" dirty="0">
                <a:solidFill>
                  <a:srgbClr val="0070C0"/>
                </a:solidFill>
                <a:sym typeface="Times New Roman" panose="02020603050405020304" pitchFamily="18" charset="0"/>
              </a:rPr>
              <a:t>算法</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自顶向下方法（分裂）</a:t>
            </a:r>
            <a:endParaRPr lang="en-US" altLang="zh-CN" sz="20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2">
              <a:lnSpc>
                <a:spcPct val="130000"/>
              </a:lnSpc>
              <a:spcBef>
                <a:spcPts val="600"/>
              </a:spcBef>
              <a:buClr>
                <a:srgbClr val="FF6700"/>
              </a:buClr>
            </a:pPr>
            <a:r>
              <a:rPr lang="zh-CN" altLang="en-US" sz="1800" dirty="0">
                <a:sym typeface="Times New Roman" panose="02020603050405020304" pitchFamily="18" charset="0"/>
              </a:rPr>
              <a:t>初始将所有的对象置于一个簇中，在迭代的每一步，一个簇被分裂为多个更小的簇，直到最终每个对象在一个单独的簇中，或达到一个终止条件</a:t>
            </a:r>
            <a:endParaRPr lang="en-US" altLang="zh-CN" sz="1800" dirty="0">
              <a:sym typeface="Times New Roman" panose="02020603050405020304" pitchFamily="18" charset="0"/>
            </a:endParaRPr>
          </a:p>
          <a:p>
            <a:pPr lvl="2">
              <a:lnSpc>
                <a:spcPct val="130000"/>
              </a:lnSpc>
              <a:spcBef>
                <a:spcPts val="600"/>
              </a:spcBef>
              <a:buClr>
                <a:srgbClr val="FF6700"/>
              </a:buClr>
            </a:pPr>
            <a:r>
              <a:rPr lang="zh-CN" altLang="en-US" sz="1800" dirty="0">
                <a:sym typeface="Times New Roman" panose="02020603050405020304" pitchFamily="18" charset="0"/>
              </a:rPr>
              <a:t>代表算法：</a:t>
            </a:r>
            <a:r>
              <a:rPr lang="en-US" altLang="zh-CN" sz="1800" b="1" dirty="0">
                <a:solidFill>
                  <a:srgbClr val="0070C0"/>
                </a:solidFill>
                <a:sym typeface="Times New Roman" panose="02020603050405020304" pitchFamily="18" charset="0"/>
              </a:rPr>
              <a:t>DIANA</a:t>
            </a:r>
            <a:r>
              <a:rPr lang="zh-CN" altLang="en-US" sz="1800" b="1" dirty="0">
                <a:solidFill>
                  <a:srgbClr val="0070C0"/>
                </a:solidFill>
                <a:sym typeface="Times New Roman" panose="02020603050405020304" pitchFamily="18" charset="0"/>
              </a:rPr>
              <a:t>算法</a:t>
            </a:r>
            <a:endParaRPr lang="zh-CN" altLang="en-US" b="1" dirty="0">
              <a:solidFill>
                <a:srgbClr val="0070C0"/>
              </a:solidFill>
              <a:sym typeface="Times New Roman" panose="02020603050405020304" pitchFamily="18" charset="0"/>
            </a:endParaRPr>
          </a:p>
        </p:txBody>
      </p:sp>
    </p:spTree>
    <p:extLst>
      <p:ext uri="{BB962C8B-B14F-4D97-AF65-F5344CB8AC3E}">
        <p14:creationId xmlns:p14="http://schemas.microsoft.com/office/powerpoint/2010/main" val="2887451094"/>
      </p:ext>
    </p:extLst>
  </p:cSld>
  <p:clrMapOvr>
    <a:masterClrMapping/>
  </p:clrMapOvr>
  <p:transition spd="med">
    <p:split orient="ver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层次</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聚类过程图示</a:t>
            </a:r>
          </a:p>
        </p:txBody>
      </p:sp>
      <p:sp>
        <p:nvSpPr>
          <p:cNvPr id="3" name="内容占位符 2"/>
          <p:cNvSpPr>
            <a:spLocks noGrp="1"/>
          </p:cNvSpPr>
          <p:nvPr>
            <p:ph idx="4294967295"/>
          </p:nvPr>
        </p:nvSpPr>
        <p:spPr>
          <a:xfrm>
            <a:off x="252000" y="756000"/>
            <a:ext cx="8347075" cy="540148"/>
          </a:xfrm>
          <a:prstGeom prst="rect">
            <a:avLst/>
          </a:prstGeom>
          <a:noFill/>
        </p:spPr>
        <p:txBody>
          <a:bodyPr wrap="square" lIns="72000" rIns="72000">
            <a:spAutoFit/>
          </a:bodyPr>
          <a:lstStyle/>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凝聚的</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(agglomerative)</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和分裂的</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(divisive)</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层次聚类图示</a:t>
            </a:r>
          </a:p>
        </p:txBody>
      </p:sp>
      <p:grpSp>
        <p:nvGrpSpPr>
          <p:cNvPr id="4" name="Group 4"/>
          <p:cNvGrpSpPr>
            <a:grpSpLocks/>
          </p:cNvGrpSpPr>
          <p:nvPr/>
        </p:nvGrpSpPr>
        <p:grpSpPr bwMode="auto">
          <a:xfrm>
            <a:off x="829849" y="1772816"/>
            <a:ext cx="7191375" cy="3649663"/>
            <a:chOff x="1200" y="1776"/>
            <a:chExt cx="4530" cy="2299"/>
          </a:xfrm>
        </p:grpSpPr>
        <p:sp>
          <p:nvSpPr>
            <p:cNvPr id="5" name="Line 5"/>
            <p:cNvSpPr>
              <a:spLocks noChangeShapeType="1"/>
            </p:cNvSpPr>
            <p:nvPr/>
          </p:nvSpPr>
          <p:spPr bwMode="auto">
            <a:xfrm>
              <a:off x="1200" y="2112"/>
              <a:ext cx="321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 name="Group 6"/>
            <p:cNvGrpSpPr>
              <a:grpSpLocks/>
            </p:cNvGrpSpPr>
            <p:nvPr/>
          </p:nvGrpSpPr>
          <p:grpSpPr bwMode="auto">
            <a:xfrm>
              <a:off x="1440" y="1785"/>
              <a:ext cx="480" cy="327"/>
              <a:chOff x="1104" y="1785"/>
              <a:chExt cx="480" cy="327"/>
            </a:xfrm>
          </p:grpSpPr>
          <p:sp>
            <p:nvSpPr>
              <p:cNvPr id="58" name="Line 7"/>
              <p:cNvSpPr>
                <a:spLocks noChangeShapeType="1"/>
              </p:cNvSpPr>
              <p:nvPr/>
            </p:nvSpPr>
            <p:spPr bwMode="auto">
              <a:xfrm flipH="1">
                <a:off x="1200" y="201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9" name="Text Box 8"/>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微软雅黑" panose="020B0503020204020204" pitchFamily="34" charset="-122"/>
                    <a:sym typeface="Times New Roman" panose="02020603050405020304" pitchFamily="18" charset="0"/>
                  </a:rPr>
                  <a:t>Step 0</a:t>
                </a:r>
                <a:endParaRPr lang="en-US" altLang="zh-CN" sz="2400">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7" name="Group 9"/>
            <p:cNvGrpSpPr>
              <a:grpSpLocks/>
            </p:cNvGrpSpPr>
            <p:nvPr/>
          </p:nvGrpSpPr>
          <p:grpSpPr bwMode="auto">
            <a:xfrm>
              <a:off x="1968" y="1776"/>
              <a:ext cx="480" cy="327"/>
              <a:chOff x="1104" y="1785"/>
              <a:chExt cx="480" cy="327"/>
            </a:xfrm>
          </p:grpSpPr>
          <p:sp>
            <p:nvSpPr>
              <p:cNvPr id="56" name="Line 10"/>
              <p:cNvSpPr>
                <a:spLocks noChangeShapeType="1"/>
              </p:cNvSpPr>
              <p:nvPr/>
            </p:nvSpPr>
            <p:spPr bwMode="auto">
              <a:xfrm flipH="1">
                <a:off x="1200" y="201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7" name="Text Box 11"/>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微软雅黑" panose="020B0503020204020204" pitchFamily="34" charset="-122"/>
                    <a:sym typeface="Times New Roman" panose="02020603050405020304" pitchFamily="18" charset="0"/>
                  </a:rPr>
                  <a:t>Step 1</a:t>
                </a:r>
                <a:endParaRPr lang="en-US" altLang="zh-CN" sz="2400">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8" name="Group 12"/>
            <p:cNvGrpSpPr>
              <a:grpSpLocks/>
            </p:cNvGrpSpPr>
            <p:nvPr/>
          </p:nvGrpSpPr>
          <p:grpSpPr bwMode="auto">
            <a:xfrm>
              <a:off x="2496" y="1776"/>
              <a:ext cx="480" cy="327"/>
              <a:chOff x="1104" y="1785"/>
              <a:chExt cx="480" cy="327"/>
            </a:xfrm>
          </p:grpSpPr>
          <p:sp>
            <p:nvSpPr>
              <p:cNvPr id="54" name="Line 13"/>
              <p:cNvSpPr>
                <a:spLocks noChangeShapeType="1"/>
              </p:cNvSpPr>
              <p:nvPr/>
            </p:nvSpPr>
            <p:spPr bwMode="auto">
              <a:xfrm flipH="1">
                <a:off x="1200" y="201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5" name="Text Box 14"/>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微软雅黑" panose="020B0503020204020204" pitchFamily="34" charset="-122"/>
                    <a:sym typeface="Times New Roman" panose="02020603050405020304" pitchFamily="18" charset="0"/>
                  </a:rPr>
                  <a:t>Step 2</a:t>
                </a:r>
                <a:endParaRPr lang="en-US" altLang="zh-CN" sz="2400">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9" name="Group 15"/>
            <p:cNvGrpSpPr>
              <a:grpSpLocks/>
            </p:cNvGrpSpPr>
            <p:nvPr/>
          </p:nvGrpSpPr>
          <p:grpSpPr bwMode="auto">
            <a:xfrm>
              <a:off x="2976" y="1776"/>
              <a:ext cx="480" cy="327"/>
              <a:chOff x="1104" y="1785"/>
              <a:chExt cx="480" cy="327"/>
            </a:xfrm>
          </p:grpSpPr>
          <p:sp>
            <p:nvSpPr>
              <p:cNvPr id="52" name="Line 16"/>
              <p:cNvSpPr>
                <a:spLocks noChangeShapeType="1"/>
              </p:cNvSpPr>
              <p:nvPr/>
            </p:nvSpPr>
            <p:spPr bwMode="auto">
              <a:xfrm flipH="1">
                <a:off x="1200" y="201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3" name="Text Box 17"/>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Step 3</a:t>
                </a:r>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10" name="Group 18"/>
            <p:cNvGrpSpPr>
              <a:grpSpLocks/>
            </p:cNvGrpSpPr>
            <p:nvPr/>
          </p:nvGrpSpPr>
          <p:grpSpPr bwMode="auto">
            <a:xfrm>
              <a:off x="3456" y="1776"/>
              <a:ext cx="480" cy="327"/>
              <a:chOff x="1104" y="1785"/>
              <a:chExt cx="480" cy="327"/>
            </a:xfrm>
          </p:grpSpPr>
          <p:sp>
            <p:nvSpPr>
              <p:cNvPr id="50" name="Line 19"/>
              <p:cNvSpPr>
                <a:spLocks noChangeShapeType="1"/>
              </p:cNvSpPr>
              <p:nvPr/>
            </p:nvSpPr>
            <p:spPr bwMode="auto">
              <a:xfrm flipH="1">
                <a:off x="1200" y="201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1" name="Text Box 20"/>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微软雅黑" panose="020B0503020204020204" pitchFamily="34" charset="-122"/>
                    <a:sym typeface="Times New Roman" panose="02020603050405020304" pitchFamily="18" charset="0"/>
                  </a:rPr>
                  <a:t>Step 4</a:t>
                </a:r>
                <a:endParaRPr lang="en-US" altLang="zh-CN" sz="240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1" name="Text Box 21"/>
            <p:cNvSpPr txBox="1">
              <a:spLocks noChangeArrowheads="1"/>
            </p:cNvSpPr>
            <p:nvPr/>
          </p:nvSpPr>
          <p:spPr bwMode="auto">
            <a:xfrm>
              <a:off x="1440" y="250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b</a:t>
              </a:r>
            </a:p>
          </p:txBody>
        </p:sp>
        <p:sp>
          <p:nvSpPr>
            <p:cNvPr id="12" name="Text Box 22"/>
            <p:cNvSpPr txBox="1">
              <a:spLocks noChangeArrowheads="1"/>
            </p:cNvSpPr>
            <p:nvPr/>
          </p:nvSpPr>
          <p:spPr bwMode="auto">
            <a:xfrm>
              <a:off x="1440" y="310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d</a:t>
              </a:r>
            </a:p>
          </p:txBody>
        </p:sp>
        <p:sp>
          <p:nvSpPr>
            <p:cNvPr id="13" name="Text Box 23"/>
            <p:cNvSpPr txBox="1">
              <a:spLocks noChangeArrowheads="1"/>
            </p:cNvSpPr>
            <p:nvPr/>
          </p:nvSpPr>
          <p:spPr bwMode="auto">
            <a:xfrm>
              <a:off x="1440" y="2808"/>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c</a:t>
              </a:r>
            </a:p>
          </p:txBody>
        </p:sp>
        <p:sp>
          <p:nvSpPr>
            <p:cNvPr id="14" name="Text Box 24"/>
            <p:cNvSpPr txBox="1">
              <a:spLocks noChangeArrowheads="1"/>
            </p:cNvSpPr>
            <p:nvPr/>
          </p:nvSpPr>
          <p:spPr bwMode="auto">
            <a:xfrm>
              <a:off x="1440" y="3408"/>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e</a:t>
              </a:r>
            </a:p>
          </p:txBody>
        </p:sp>
        <p:sp>
          <p:nvSpPr>
            <p:cNvPr id="15" name="Text Box 25"/>
            <p:cNvSpPr txBox="1">
              <a:spLocks noChangeArrowheads="1"/>
            </p:cNvSpPr>
            <p:nvPr/>
          </p:nvSpPr>
          <p:spPr bwMode="auto">
            <a:xfrm>
              <a:off x="1440" y="2208"/>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a</a:t>
              </a:r>
            </a:p>
          </p:txBody>
        </p:sp>
        <p:sp>
          <p:nvSpPr>
            <p:cNvPr id="16" name="Oval 26"/>
            <p:cNvSpPr>
              <a:spLocks noChangeArrowheads="1"/>
            </p:cNvSpPr>
            <p:nvPr/>
          </p:nvSpPr>
          <p:spPr bwMode="auto">
            <a:xfrm>
              <a:off x="1392" y="2256"/>
              <a:ext cx="28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Oval 27"/>
            <p:cNvSpPr>
              <a:spLocks noChangeArrowheads="1"/>
            </p:cNvSpPr>
            <p:nvPr/>
          </p:nvSpPr>
          <p:spPr bwMode="auto">
            <a:xfrm>
              <a:off x="1392" y="2544"/>
              <a:ext cx="28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Oval 28"/>
            <p:cNvSpPr>
              <a:spLocks noChangeArrowheads="1"/>
            </p:cNvSpPr>
            <p:nvPr/>
          </p:nvSpPr>
          <p:spPr bwMode="auto">
            <a:xfrm>
              <a:off x="1392" y="2832"/>
              <a:ext cx="28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Oval 29"/>
            <p:cNvSpPr>
              <a:spLocks noChangeArrowheads="1"/>
            </p:cNvSpPr>
            <p:nvPr/>
          </p:nvSpPr>
          <p:spPr bwMode="auto">
            <a:xfrm>
              <a:off x="1392" y="3120"/>
              <a:ext cx="28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Oval 30"/>
            <p:cNvSpPr>
              <a:spLocks noChangeArrowheads="1"/>
            </p:cNvSpPr>
            <p:nvPr/>
          </p:nvSpPr>
          <p:spPr bwMode="auto">
            <a:xfrm>
              <a:off x="1392" y="3408"/>
              <a:ext cx="28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Text Box 31"/>
            <p:cNvSpPr txBox="1">
              <a:spLocks noChangeArrowheads="1"/>
            </p:cNvSpPr>
            <p:nvPr/>
          </p:nvSpPr>
          <p:spPr bwMode="auto">
            <a:xfrm>
              <a:off x="1968" y="2304"/>
              <a:ext cx="3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a b</a:t>
              </a:r>
            </a:p>
          </p:txBody>
        </p:sp>
        <p:sp>
          <p:nvSpPr>
            <p:cNvPr id="22" name="Oval 32"/>
            <p:cNvSpPr>
              <a:spLocks noChangeArrowheads="1"/>
            </p:cNvSpPr>
            <p:nvPr/>
          </p:nvSpPr>
          <p:spPr bwMode="auto">
            <a:xfrm>
              <a:off x="1872" y="2352"/>
              <a:ext cx="52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Text Box 33"/>
            <p:cNvSpPr txBox="1">
              <a:spLocks noChangeArrowheads="1"/>
            </p:cNvSpPr>
            <p:nvPr/>
          </p:nvSpPr>
          <p:spPr bwMode="auto">
            <a:xfrm>
              <a:off x="2496" y="3216"/>
              <a:ext cx="3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d e</a:t>
              </a:r>
            </a:p>
          </p:txBody>
        </p:sp>
        <p:sp>
          <p:nvSpPr>
            <p:cNvPr id="24" name="Oval 34"/>
            <p:cNvSpPr>
              <a:spLocks noChangeArrowheads="1"/>
            </p:cNvSpPr>
            <p:nvPr/>
          </p:nvSpPr>
          <p:spPr bwMode="auto">
            <a:xfrm>
              <a:off x="2400" y="3264"/>
              <a:ext cx="52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Text Box 35"/>
            <p:cNvSpPr txBox="1">
              <a:spLocks noChangeArrowheads="1"/>
            </p:cNvSpPr>
            <p:nvPr/>
          </p:nvSpPr>
          <p:spPr bwMode="auto">
            <a:xfrm>
              <a:off x="2880" y="2928"/>
              <a:ext cx="4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c d e</a:t>
              </a:r>
            </a:p>
          </p:txBody>
        </p:sp>
        <p:sp>
          <p:nvSpPr>
            <p:cNvPr id="26" name="Oval 36"/>
            <p:cNvSpPr>
              <a:spLocks noChangeArrowheads="1"/>
            </p:cNvSpPr>
            <p:nvPr/>
          </p:nvSpPr>
          <p:spPr bwMode="auto">
            <a:xfrm>
              <a:off x="2784" y="2928"/>
              <a:ext cx="624"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 name="Text Box 37"/>
            <p:cNvSpPr txBox="1">
              <a:spLocks noChangeArrowheads="1"/>
            </p:cNvSpPr>
            <p:nvPr/>
          </p:nvSpPr>
          <p:spPr bwMode="auto">
            <a:xfrm>
              <a:off x="3216" y="2592"/>
              <a:ext cx="7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dirty="0">
                  <a:latin typeface="Times New Roman" panose="02020603050405020304" pitchFamily="18" charset="0"/>
                  <a:ea typeface="微软雅黑" panose="020B0503020204020204" pitchFamily="34" charset="-122"/>
                  <a:sym typeface="Times New Roman" panose="02020603050405020304" pitchFamily="18" charset="0"/>
                </a:rPr>
                <a:t>a b c d e</a:t>
              </a:r>
            </a:p>
          </p:txBody>
        </p:sp>
        <p:sp>
          <p:nvSpPr>
            <p:cNvPr id="28" name="Oval 38"/>
            <p:cNvSpPr>
              <a:spLocks noChangeArrowheads="1"/>
            </p:cNvSpPr>
            <p:nvPr/>
          </p:nvSpPr>
          <p:spPr bwMode="auto">
            <a:xfrm>
              <a:off x="3120" y="2592"/>
              <a:ext cx="100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Line 39"/>
            <p:cNvSpPr>
              <a:spLocks noChangeShapeType="1"/>
            </p:cNvSpPr>
            <p:nvPr/>
          </p:nvSpPr>
          <p:spPr bwMode="auto">
            <a:xfrm>
              <a:off x="1200" y="3753"/>
              <a:ext cx="3216"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Line 40"/>
            <p:cNvSpPr>
              <a:spLocks noChangeShapeType="1"/>
            </p:cNvSpPr>
            <p:nvPr/>
          </p:nvSpPr>
          <p:spPr bwMode="auto">
            <a:xfrm flipH="1">
              <a:off x="1536" y="3753"/>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 name="Text Box 41"/>
            <p:cNvSpPr txBox="1">
              <a:spLocks noChangeArrowheads="1"/>
            </p:cNvSpPr>
            <p:nvPr/>
          </p:nvSpPr>
          <p:spPr bwMode="auto">
            <a:xfrm>
              <a:off x="1440" y="381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微软雅黑" panose="020B0503020204020204" pitchFamily="34" charset="-122"/>
                  <a:sym typeface="Times New Roman" panose="02020603050405020304" pitchFamily="18" charset="0"/>
                </a:rPr>
                <a:t>Step 4</a:t>
              </a:r>
              <a:endParaRPr lang="en-US" altLang="zh-CN" sz="24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Line 42"/>
            <p:cNvSpPr>
              <a:spLocks noChangeShapeType="1"/>
            </p:cNvSpPr>
            <p:nvPr/>
          </p:nvSpPr>
          <p:spPr bwMode="auto">
            <a:xfrm flipH="1">
              <a:off x="2064" y="374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Text Box 43"/>
            <p:cNvSpPr txBox="1">
              <a:spLocks noChangeArrowheads="1"/>
            </p:cNvSpPr>
            <p:nvPr/>
          </p:nvSpPr>
          <p:spPr bwMode="auto">
            <a:xfrm>
              <a:off x="1968" y="3801"/>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微软雅黑" panose="020B0503020204020204" pitchFamily="34" charset="-122"/>
                  <a:sym typeface="Times New Roman" panose="02020603050405020304" pitchFamily="18" charset="0"/>
                </a:rPr>
                <a:t>Step 3</a:t>
              </a:r>
              <a:endParaRPr lang="en-US" altLang="zh-CN" sz="24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 name="Line 44"/>
            <p:cNvSpPr>
              <a:spLocks noChangeShapeType="1"/>
            </p:cNvSpPr>
            <p:nvPr/>
          </p:nvSpPr>
          <p:spPr bwMode="auto">
            <a:xfrm flipH="1">
              <a:off x="2592" y="374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Text Box 45"/>
            <p:cNvSpPr txBox="1">
              <a:spLocks noChangeArrowheads="1"/>
            </p:cNvSpPr>
            <p:nvPr/>
          </p:nvSpPr>
          <p:spPr bwMode="auto">
            <a:xfrm>
              <a:off x="2496" y="3801"/>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微软雅黑" panose="020B0503020204020204" pitchFamily="34" charset="-122"/>
                  <a:sym typeface="Times New Roman" panose="02020603050405020304" pitchFamily="18" charset="0"/>
                </a:rPr>
                <a:t>Step 2</a:t>
              </a:r>
              <a:endParaRPr lang="en-US" altLang="zh-CN" sz="24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Line 46"/>
            <p:cNvSpPr>
              <a:spLocks noChangeShapeType="1"/>
            </p:cNvSpPr>
            <p:nvPr/>
          </p:nvSpPr>
          <p:spPr bwMode="auto">
            <a:xfrm flipH="1">
              <a:off x="3072" y="374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Text Box 47"/>
            <p:cNvSpPr txBox="1">
              <a:spLocks noChangeArrowheads="1"/>
            </p:cNvSpPr>
            <p:nvPr/>
          </p:nvSpPr>
          <p:spPr bwMode="auto">
            <a:xfrm>
              <a:off x="2976" y="3801"/>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微软雅黑" panose="020B0503020204020204" pitchFamily="34" charset="-122"/>
                  <a:sym typeface="Times New Roman" panose="02020603050405020304" pitchFamily="18" charset="0"/>
                </a:rPr>
                <a:t>Step 1</a:t>
              </a:r>
              <a:endParaRPr lang="en-US" altLang="zh-CN" sz="24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8" name="Line 48"/>
            <p:cNvSpPr>
              <a:spLocks noChangeShapeType="1"/>
            </p:cNvSpPr>
            <p:nvPr/>
          </p:nvSpPr>
          <p:spPr bwMode="auto">
            <a:xfrm flipH="1">
              <a:off x="3552" y="374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9" name="Text Box 49"/>
            <p:cNvSpPr txBox="1">
              <a:spLocks noChangeArrowheads="1"/>
            </p:cNvSpPr>
            <p:nvPr/>
          </p:nvSpPr>
          <p:spPr bwMode="auto">
            <a:xfrm>
              <a:off x="3456" y="3801"/>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微软雅黑" panose="020B0503020204020204" pitchFamily="34" charset="-122"/>
                  <a:sym typeface="Times New Roman" panose="02020603050405020304" pitchFamily="18" charset="0"/>
                </a:rPr>
                <a:t>Step 0</a:t>
              </a:r>
              <a:endParaRPr lang="en-US" altLang="zh-CN" sz="24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Line 50"/>
            <p:cNvSpPr>
              <a:spLocks noChangeShapeType="1"/>
            </p:cNvSpPr>
            <p:nvPr/>
          </p:nvSpPr>
          <p:spPr bwMode="auto">
            <a:xfrm>
              <a:off x="1680" y="2352"/>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Line 51"/>
            <p:cNvSpPr>
              <a:spLocks noChangeShapeType="1"/>
            </p:cNvSpPr>
            <p:nvPr/>
          </p:nvSpPr>
          <p:spPr bwMode="auto">
            <a:xfrm flipV="1">
              <a:off x="1680" y="2448"/>
              <a:ext cx="192"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Line 52"/>
            <p:cNvSpPr>
              <a:spLocks noChangeShapeType="1"/>
            </p:cNvSpPr>
            <p:nvPr/>
          </p:nvSpPr>
          <p:spPr bwMode="auto">
            <a:xfrm>
              <a:off x="1680" y="3216"/>
              <a:ext cx="72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 name="Line 53"/>
            <p:cNvSpPr>
              <a:spLocks noChangeShapeType="1"/>
            </p:cNvSpPr>
            <p:nvPr/>
          </p:nvSpPr>
          <p:spPr bwMode="auto">
            <a:xfrm flipV="1">
              <a:off x="1680" y="3360"/>
              <a:ext cx="72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4" name="Line 54"/>
            <p:cNvSpPr>
              <a:spLocks noChangeShapeType="1"/>
            </p:cNvSpPr>
            <p:nvPr/>
          </p:nvSpPr>
          <p:spPr bwMode="auto">
            <a:xfrm>
              <a:off x="1680" y="2976"/>
              <a:ext cx="110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5" name="Line 55"/>
            <p:cNvSpPr>
              <a:spLocks noChangeShapeType="1"/>
            </p:cNvSpPr>
            <p:nvPr/>
          </p:nvSpPr>
          <p:spPr bwMode="auto">
            <a:xfrm flipV="1">
              <a:off x="2688" y="3072"/>
              <a:ext cx="9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 name="Line 56"/>
            <p:cNvSpPr>
              <a:spLocks noChangeShapeType="1"/>
            </p:cNvSpPr>
            <p:nvPr/>
          </p:nvSpPr>
          <p:spPr bwMode="auto">
            <a:xfrm>
              <a:off x="2400" y="2496"/>
              <a:ext cx="72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7" name="Line 57"/>
            <p:cNvSpPr>
              <a:spLocks noChangeShapeType="1"/>
            </p:cNvSpPr>
            <p:nvPr/>
          </p:nvSpPr>
          <p:spPr bwMode="auto">
            <a:xfrm flipV="1">
              <a:off x="3072" y="2736"/>
              <a:ext cx="4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8" name="Text Box 58"/>
            <p:cNvSpPr txBox="1">
              <a:spLocks noChangeArrowheads="1"/>
            </p:cNvSpPr>
            <p:nvPr/>
          </p:nvSpPr>
          <p:spPr bwMode="auto">
            <a:xfrm>
              <a:off x="4441" y="1824"/>
              <a:ext cx="1289"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b="1">
                  <a:latin typeface="Times New Roman" panose="02020603050405020304" pitchFamily="18" charset="0"/>
                  <a:ea typeface="微软雅黑" panose="020B0503020204020204" pitchFamily="34" charset="-122"/>
                  <a:sym typeface="Times New Roman" panose="02020603050405020304" pitchFamily="18" charset="0"/>
                </a:rPr>
                <a:t>agglomerative</a:t>
              </a:r>
            </a:p>
            <a:p>
              <a:pPr algn="ctr" eaLnBrk="0" hangingPunct="0"/>
              <a:r>
                <a:rPr lang="en-US" altLang="zh-CN" sz="2400" b="1">
                  <a:latin typeface="Times New Roman" panose="02020603050405020304" pitchFamily="18" charset="0"/>
                  <a:ea typeface="微软雅黑" panose="020B0503020204020204" pitchFamily="34" charset="-122"/>
                  <a:sym typeface="Times New Roman" panose="02020603050405020304" pitchFamily="18" charset="0"/>
                </a:rPr>
                <a:t>(AGNES)</a:t>
              </a:r>
            </a:p>
          </p:txBody>
        </p:sp>
        <p:sp>
          <p:nvSpPr>
            <p:cNvPr id="49" name="Text Box 59"/>
            <p:cNvSpPr txBox="1">
              <a:spLocks noChangeArrowheads="1"/>
            </p:cNvSpPr>
            <p:nvPr/>
          </p:nvSpPr>
          <p:spPr bwMode="auto">
            <a:xfrm>
              <a:off x="4539" y="3552"/>
              <a:ext cx="883"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divisive</a:t>
              </a:r>
            </a:p>
            <a:p>
              <a:pPr algn="ctr" eaLnBrk="0" hangingPunct="0"/>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(DIANA)</a:t>
              </a:r>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extLst>
      <p:ext uri="{BB962C8B-B14F-4D97-AF65-F5344CB8AC3E}">
        <p14:creationId xmlns:p14="http://schemas.microsoft.com/office/powerpoint/2010/main" val="3391067924"/>
      </p:ext>
    </p:extLst>
  </p:cSld>
  <p:clrMapOvr>
    <a:masterClrMapping/>
  </p:clrMapOvr>
  <p:transition spd="med">
    <p:split orient="ver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2.2.1 AGNES</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a:t>
            </a:r>
          </a:p>
        </p:txBody>
      </p:sp>
      <p:sp>
        <p:nvSpPr>
          <p:cNvPr id="3" name="内容占位符 2"/>
          <p:cNvSpPr>
            <a:spLocks noGrp="1"/>
          </p:cNvSpPr>
          <p:nvPr>
            <p:ph idx="4294967295"/>
          </p:nvPr>
        </p:nvSpPr>
        <p:spPr>
          <a:xfrm>
            <a:off x="252000" y="756000"/>
            <a:ext cx="8640000" cy="4782015"/>
          </a:xfrm>
          <a:prstGeom prst="rect">
            <a:avLst/>
          </a:prstGeom>
          <a:noFill/>
        </p:spPr>
        <p:txBody>
          <a:bodyPr wrap="square" lIns="72000" rIns="72000">
            <a:spAutoFit/>
          </a:bodyPr>
          <a:lstStyle/>
          <a:p>
            <a:pPr marL="360000" indent="-360000" algn="just" fontAlgn="base">
              <a:lnSpc>
                <a:spcPct val="150000"/>
              </a:lnSpc>
              <a:spcBef>
                <a:spcPts val="600"/>
              </a:spcBef>
              <a:buClr>
                <a:srgbClr val="FF6600"/>
              </a:buClr>
              <a:buSzPct val="80000"/>
              <a:buFont typeface="Wingdings" panose="05000000000000000000" pitchFamily="2" charset="2"/>
              <a:buChar char="l"/>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AGNES (Agglomerative Nesting)</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算法</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首先，将数据集中的每个样本作为一个簇；</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然后，根据某些准则将这些簇逐步合并；</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合并的过程反复进行，直至不能再合并或者达到结束条件为止。</a:t>
            </a:r>
          </a:p>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合并准则</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每次找到距离最近的两个簇进行合并。</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两个簇之间的距离由这两个簇中距离最近的样本点之间的距离来</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表示。</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2640398320"/>
      </p:ext>
    </p:extLst>
  </p:cSld>
  <p:clrMapOvr>
    <a:masterClrMapping/>
  </p:clrMapOvr>
  <p:transition spd="med">
    <p:split orient="ver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252000" y="706045"/>
            <a:ext cx="8640000" cy="4364656"/>
          </a:xfrm>
          <a:prstGeom prst="rect">
            <a:avLst/>
          </a:prstGeom>
          <a:noFill/>
        </p:spPr>
        <p:txBody>
          <a:bodyPr wrap="square" lIns="72000" rIns="72000">
            <a:spAutoFit/>
          </a:bodyPr>
          <a:lstStyle>
            <a:lvl1pPr marL="360000" indent="-360000" algn="just" fontAlgn="base">
              <a:lnSpc>
                <a:spcPct val="150000"/>
              </a:lnSpc>
              <a:spcBef>
                <a:spcPts val="600"/>
              </a:spcBef>
              <a:buClr>
                <a:srgbClr val="FF6600"/>
              </a:buClr>
              <a:buSzPct val="80000"/>
              <a:buFont typeface="Wingdings" panose="05000000000000000000" pitchFamily="2" charset="2"/>
              <a:buChar char="l"/>
              <a:defRPr sz="2200">
                <a:latin typeface="Times New Roman" panose="02020603050405020304" pitchFamily="18" charset="0"/>
                <a:ea typeface="微软雅黑" panose="020B0503020204020204" pitchFamily="34" charset="-122"/>
                <a:cs typeface="+mn-ea"/>
              </a:defRPr>
            </a:lvl1pPr>
            <a:lvl2pPr marL="817200" lvl="1" indent="-360000" algn="just" fontAlgn="base">
              <a:lnSpc>
                <a:spcPct val="150000"/>
              </a:lnSpc>
              <a:spcBef>
                <a:spcPts val="600"/>
              </a:spcBef>
              <a:buClr>
                <a:srgbClr val="FF6600"/>
              </a:buClr>
              <a:buSzPct val="80000"/>
              <a:buFont typeface="Wingdings" panose="05000000000000000000" pitchFamily="2" charset="2"/>
              <a:buChar char="l"/>
              <a:defRPr sz="2000">
                <a:latin typeface="Times New Roman" panose="02020603050405020304" pitchFamily="18" charset="0"/>
                <a:ea typeface="微软雅黑" panose="020B0503020204020204" pitchFamily="34" charset="-122"/>
                <a:cs typeface="+mn-ea"/>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nSpc>
                <a:spcPct val="130000"/>
              </a:lnSpc>
              <a:buNone/>
            </a:pPr>
            <a:r>
              <a:rPr lang="en-US" altLang="zh-CN" sz="2400" dirty="0">
                <a:sym typeface="Times New Roman" panose="02020603050405020304" pitchFamily="18" charset="0"/>
              </a:rPr>
              <a:t>AGNES</a:t>
            </a:r>
            <a:r>
              <a:rPr lang="zh-CN" altLang="en-US" sz="2400" dirty="0">
                <a:sym typeface="Times New Roman" panose="02020603050405020304" pitchFamily="18" charset="0"/>
              </a:rPr>
              <a:t>算法（自底向上合并算法）</a:t>
            </a:r>
          </a:p>
          <a:p>
            <a:pPr marL="0" indent="0">
              <a:lnSpc>
                <a:spcPct val="130000"/>
              </a:lnSpc>
              <a:buNone/>
            </a:pPr>
            <a:r>
              <a:rPr lang="zh-CN" altLang="en-US" sz="2400" dirty="0">
                <a:sym typeface="Times New Roman" panose="02020603050405020304" pitchFamily="18" charset="0"/>
              </a:rPr>
              <a:t>输入</a:t>
            </a:r>
            <a:r>
              <a:rPr lang="zh-CN" altLang="en-US" sz="2400">
                <a:sym typeface="Times New Roman" panose="02020603050405020304" pitchFamily="18" charset="0"/>
              </a:rPr>
              <a:t>：包含</a:t>
            </a:r>
            <a:r>
              <a:rPr lang="en-US" altLang="zh-CN" sz="2400" dirty="0">
                <a:sym typeface="Times New Roman" panose="02020603050405020304" pitchFamily="18" charset="0"/>
              </a:rPr>
              <a:t>n</a:t>
            </a:r>
            <a:r>
              <a:rPr lang="zh-CN" altLang="en-US" sz="2400" dirty="0">
                <a:sym typeface="Times New Roman" panose="02020603050405020304" pitchFamily="18" charset="0"/>
              </a:rPr>
              <a:t>个样本的数据集，终止条件簇</a:t>
            </a:r>
            <a:r>
              <a:rPr lang="zh-CN" altLang="en-US" sz="2400">
                <a:sym typeface="Times New Roman" panose="02020603050405020304" pitchFamily="18" charset="0"/>
              </a:rPr>
              <a:t>的数目</a:t>
            </a:r>
            <a:r>
              <a:rPr lang="en-US" altLang="zh-CN" sz="2400" dirty="0">
                <a:sym typeface="Times New Roman" panose="02020603050405020304" pitchFamily="18" charset="0"/>
              </a:rPr>
              <a:t>k</a:t>
            </a:r>
            <a:r>
              <a:rPr lang="zh-CN" altLang="en-US" sz="2400" dirty="0">
                <a:sym typeface="Times New Roman" panose="02020603050405020304" pitchFamily="18" charset="0"/>
              </a:rPr>
              <a:t>。</a:t>
            </a:r>
          </a:p>
          <a:p>
            <a:pPr marL="0" indent="0">
              <a:lnSpc>
                <a:spcPct val="130000"/>
              </a:lnSpc>
              <a:buNone/>
            </a:pPr>
            <a:r>
              <a:rPr lang="zh-CN" altLang="en-US" sz="2400">
                <a:sym typeface="Times New Roman" panose="02020603050405020304" pitchFamily="18" charset="0"/>
              </a:rPr>
              <a:t>输出：</a:t>
            </a:r>
            <a:r>
              <a:rPr lang="en-US" altLang="zh-CN" sz="2400" dirty="0">
                <a:sym typeface="Times New Roman" panose="02020603050405020304" pitchFamily="18" charset="0"/>
              </a:rPr>
              <a:t>k</a:t>
            </a:r>
            <a:r>
              <a:rPr lang="zh-CN" altLang="en-US" sz="2400" dirty="0">
                <a:sym typeface="Times New Roman" panose="02020603050405020304" pitchFamily="18" charset="0"/>
              </a:rPr>
              <a:t>个簇，达到终止条件规定的簇的数目。</a:t>
            </a:r>
          </a:p>
          <a:p>
            <a:pPr marL="457200" lvl="1" indent="0">
              <a:lnSpc>
                <a:spcPct val="130000"/>
              </a:lnSpc>
              <a:buNone/>
            </a:pPr>
            <a:r>
              <a:rPr lang="en-US" altLang="zh-CN" sz="2200" dirty="0">
                <a:sym typeface="Times New Roman" panose="02020603050405020304" pitchFamily="18" charset="0"/>
              </a:rPr>
              <a:t>(1)  </a:t>
            </a:r>
            <a:r>
              <a:rPr lang="zh-CN" altLang="en-US" sz="2200" dirty="0">
                <a:sym typeface="Times New Roman" panose="02020603050405020304" pitchFamily="18" charset="0"/>
              </a:rPr>
              <a:t>初始时，将每个样本当成一个簇；</a:t>
            </a:r>
          </a:p>
          <a:p>
            <a:pPr marL="457200" lvl="1" indent="0">
              <a:lnSpc>
                <a:spcPct val="130000"/>
              </a:lnSpc>
              <a:buNone/>
            </a:pPr>
            <a:r>
              <a:rPr lang="en-US" altLang="zh-CN" sz="2200" dirty="0">
                <a:sym typeface="Times New Roman" panose="02020603050405020304" pitchFamily="18" charset="0"/>
              </a:rPr>
              <a:t>(2)  REPEAT</a:t>
            </a:r>
          </a:p>
          <a:p>
            <a:pPr marL="457200" lvl="1" indent="0">
              <a:lnSpc>
                <a:spcPct val="130000"/>
              </a:lnSpc>
              <a:buNone/>
            </a:pPr>
            <a:r>
              <a:rPr lang="zh-CN" altLang="en-US" sz="2200" dirty="0">
                <a:sym typeface="Times New Roman" panose="02020603050405020304" pitchFamily="18" charset="0"/>
              </a:rPr>
              <a:t>         根据不同簇中最近样本间的距离找到最近的两个簇；</a:t>
            </a:r>
          </a:p>
          <a:p>
            <a:pPr marL="457200" lvl="1" indent="0">
              <a:lnSpc>
                <a:spcPct val="130000"/>
              </a:lnSpc>
              <a:buNone/>
            </a:pPr>
            <a:r>
              <a:rPr lang="zh-CN" altLang="en-US" sz="2200">
                <a:sym typeface="Times New Roman" panose="02020603050405020304" pitchFamily="18" charset="0"/>
              </a:rPr>
              <a:t>         合并</a:t>
            </a:r>
            <a:r>
              <a:rPr lang="zh-CN" altLang="en-US" sz="2200" dirty="0">
                <a:sym typeface="Times New Roman" panose="02020603050405020304" pitchFamily="18" charset="0"/>
              </a:rPr>
              <a:t>这两个簇，生成新的簇的集合；</a:t>
            </a:r>
          </a:p>
          <a:p>
            <a:pPr marL="457200" lvl="1" indent="0">
              <a:lnSpc>
                <a:spcPct val="130000"/>
              </a:lnSpc>
              <a:buNone/>
            </a:pPr>
            <a:r>
              <a:rPr lang="en-US" altLang="zh-CN" sz="2200" dirty="0">
                <a:sym typeface="Times New Roman" panose="02020603050405020304" pitchFamily="18" charset="0"/>
              </a:rPr>
              <a:t>(3)  UNTIL </a:t>
            </a:r>
            <a:r>
              <a:rPr lang="zh-CN" altLang="en-US" sz="2200" dirty="0">
                <a:sym typeface="Times New Roman" panose="02020603050405020304" pitchFamily="18" charset="0"/>
              </a:rPr>
              <a:t>达到定义的簇的数目。</a:t>
            </a:r>
          </a:p>
        </p:txBody>
      </p:sp>
      <p:sp>
        <p:nvSpPr>
          <p:cNvPr id="5" name="矩形 4"/>
          <p:cNvSpPr/>
          <p:nvPr/>
        </p:nvSpPr>
        <p:spPr bwMode="auto">
          <a:xfrm>
            <a:off x="3513396" y="4480144"/>
            <a:ext cx="1152000" cy="432000"/>
          </a:xfrm>
          <a:prstGeom prst="rect">
            <a:avLst/>
          </a:prstGeom>
          <a:noFill/>
          <a:ln w="19050" cap="flat" cmpd="sng" algn="ctr">
            <a:solidFill>
              <a:srgbClr val="FF67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TextBox 5"/>
          <p:cNvSpPr txBox="1"/>
          <p:nvPr/>
        </p:nvSpPr>
        <p:spPr>
          <a:xfrm>
            <a:off x="4860032" y="4450479"/>
            <a:ext cx="3240360" cy="461665"/>
          </a:xfrm>
          <a:prstGeom prst="rect">
            <a:avLst/>
          </a:prstGeom>
          <a:noFill/>
        </p:spPr>
        <p:txBody>
          <a:bodyPr wrap="square" rtlCol="0">
            <a:spAutoFit/>
          </a:bodyPr>
          <a:lstStyle/>
          <a:p>
            <a:r>
              <a:rPr lang="zh-CN" altLang="en-US" sz="2400" b="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算法终止条件是什么？</a:t>
            </a:r>
          </a:p>
        </p:txBody>
      </p:sp>
      <p:sp>
        <p:nvSpPr>
          <p:cNvPr id="7" name="标题 1">
            <a:extLst>
              <a:ext uri="{FF2B5EF4-FFF2-40B4-BE49-F238E27FC236}">
                <a16:creationId xmlns:a16="http://schemas.microsoft.com/office/drawing/2014/main" id="{F8292840-601B-4BB5-8D38-3400A401735C}"/>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2.2.1 AGNES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3703932250"/>
      </p:ext>
    </p:extLst>
  </p:cSld>
  <p:clrMapOvr>
    <a:masterClrMapping/>
  </p:clrMapOvr>
  <p:transition spd="med">
    <p:split orient="ver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252000" y="706045"/>
            <a:ext cx="8640000" cy="4364656"/>
          </a:xfrm>
          <a:prstGeom prst="rect">
            <a:avLst/>
          </a:prstGeom>
          <a:noFill/>
        </p:spPr>
        <p:txBody>
          <a:bodyPr wrap="square" lIns="72000" rIns="72000">
            <a:spAutoFit/>
          </a:bodyPr>
          <a:lstStyle>
            <a:lvl1pPr marL="360000" indent="-360000" algn="just" fontAlgn="base">
              <a:lnSpc>
                <a:spcPct val="150000"/>
              </a:lnSpc>
              <a:spcBef>
                <a:spcPts val="600"/>
              </a:spcBef>
              <a:buClr>
                <a:srgbClr val="FF6600"/>
              </a:buClr>
              <a:buSzPct val="80000"/>
              <a:buFont typeface="Wingdings" panose="05000000000000000000" pitchFamily="2" charset="2"/>
              <a:buChar char="l"/>
              <a:defRPr sz="2200">
                <a:latin typeface="Times New Roman" panose="02020603050405020304" pitchFamily="18" charset="0"/>
                <a:ea typeface="微软雅黑" panose="020B0503020204020204" pitchFamily="34" charset="-122"/>
                <a:cs typeface="+mn-ea"/>
              </a:defRPr>
            </a:lvl1pPr>
            <a:lvl2pPr marL="817200" lvl="1" indent="-360000" algn="just" fontAlgn="base">
              <a:lnSpc>
                <a:spcPct val="150000"/>
              </a:lnSpc>
              <a:spcBef>
                <a:spcPts val="600"/>
              </a:spcBef>
              <a:buClr>
                <a:srgbClr val="FF6600"/>
              </a:buClr>
              <a:buSzPct val="80000"/>
              <a:buFont typeface="Wingdings" panose="05000000000000000000" pitchFamily="2" charset="2"/>
              <a:buChar char="l"/>
              <a:defRPr sz="2000">
                <a:latin typeface="Times New Roman" panose="02020603050405020304" pitchFamily="18" charset="0"/>
                <a:ea typeface="微软雅黑" panose="020B0503020204020204" pitchFamily="34" charset="-122"/>
                <a:cs typeface="+mn-ea"/>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nSpc>
                <a:spcPct val="130000"/>
              </a:lnSpc>
              <a:buNone/>
            </a:pPr>
            <a:r>
              <a:rPr lang="en-US" altLang="zh-CN" sz="2400" dirty="0">
                <a:sym typeface="Times New Roman" panose="02020603050405020304" pitchFamily="18" charset="0"/>
              </a:rPr>
              <a:t>AGNES</a:t>
            </a:r>
            <a:r>
              <a:rPr lang="zh-CN" altLang="en-US" sz="2400" dirty="0">
                <a:sym typeface="Times New Roman" panose="02020603050405020304" pitchFamily="18" charset="0"/>
              </a:rPr>
              <a:t>算法（自底向上合并算法）</a:t>
            </a:r>
          </a:p>
          <a:p>
            <a:pPr marL="0" indent="0">
              <a:lnSpc>
                <a:spcPct val="130000"/>
              </a:lnSpc>
              <a:buNone/>
            </a:pPr>
            <a:r>
              <a:rPr lang="zh-CN" altLang="en-US" sz="2400" dirty="0">
                <a:sym typeface="Times New Roman" panose="02020603050405020304" pitchFamily="18" charset="0"/>
              </a:rPr>
              <a:t>输入</a:t>
            </a:r>
            <a:r>
              <a:rPr lang="zh-CN" altLang="en-US" sz="2400">
                <a:sym typeface="Times New Roman" panose="02020603050405020304" pitchFamily="18" charset="0"/>
              </a:rPr>
              <a:t>：包含</a:t>
            </a:r>
            <a:r>
              <a:rPr lang="en-US" altLang="zh-CN" sz="2400" dirty="0">
                <a:sym typeface="Times New Roman" panose="02020603050405020304" pitchFamily="18" charset="0"/>
              </a:rPr>
              <a:t>n</a:t>
            </a:r>
            <a:r>
              <a:rPr lang="zh-CN" altLang="en-US" sz="2400" dirty="0">
                <a:sym typeface="Times New Roman" panose="02020603050405020304" pitchFamily="18" charset="0"/>
              </a:rPr>
              <a:t>个样本的数据集，终止条件簇</a:t>
            </a:r>
            <a:r>
              <a:rPr lang="zh-CN" altLang="en-US" sz="2400">
                <a:sym typeface="Times New Roman" panose="02020603050405020304" pitchFamily="18" charset="0"/>
              </a:rPr>
              <a:t>的数目</a:t>
            </a:r>
            <a:r>
              <a:rPr lang="en-US" altLang="zh-CN" sz="2400" dirty="0">
                <a:sym typeface="Times New Roman" panose="02020603050405020304" pitchFamily="18" charset="0"/>
              </a:rPr>
              <a:t>k</a:t>
            </a:r>
            <a:r>
              <a:rPr lang="zh-CN" altLang="en-US" sz="2400" dirty="0">
                <a:sym typeface="Times New Roman" panose="02020603050405020304" pitchFamily="18" charset="0"/>
              </a:rPr>
              <a:t>。</a:t>
            </a:r>
          </a:p>
          <a:p>
            <a:pPr marL="0" indent="0">
              <a:lnSpc>
                <a:spcPct val="130000"/>
              </a:lnSpc>
              <a:buNone/>
            </a:pPr>
            <a:r>
              <a:rPr lang="zh-CN" altLang="en-US" sz="2400">
                <a:sym typeface="Times New Roman" panose="02020603050405020304" pitchFamily="18" charset="0"/>
              </a:rPr>
              <a:t>输出：</a:t>
            </a:r>
            <a:r>
              <a:rPr lang="en-US" altLang="zh-CN" sz="2400" dirty="0">
                <a:sym typeface="Times New Roman" panose="02020603050405020304" pitchFamily="18" charset="0"/>
              </a:rPr>
              <a:t>k</a:t>
            </a:r>
            <a:r>
              <a:rPr lang="zh-CN" altLang="en-US" sz="2400" dirty="0">
                <a:sym typeface="Times New Roman" panose="02020603050405020304" pitchFamily="18" charset="0"/>
              </a:rPr>
              <a:t>个簇，达到终止条件规定的簇的数目。</a:t>
            </a:r>
          </a:p>
          <a:p>
            <a:pPr marL="457200" lvl="1" indent="0">
              <a:lnSpc>
                <a:spcPct val="130000"/>
              </a:lnSpc>
              <a:buNone/>
            </a:pPr>
            <a:r>
              <a:rPr lang="en-US" altLang="zh-CN" sz="2200" dirty="0">
                <a:sym typeface="Times New Roman" panose="02020603050405020304" pitchFamily="18" charset="0"/>
              </a:rPr>
              <a:t>(1)  </a:t>
            </a:r>
            <a:r>
              <a:rPr lang="zh-CN" altLang="en-US" sz="2200" dirty="0">
                <a:sym typeface="Times New Roman" panose="02020603050405020304" pitchFamily="18" charset="0"/>
              </a:rPr>
              <a:t>初始时，将每个样本当成一个簇；</a:t>
            </a:r>
          </a:p>
          <a:p>
            <a:pPr marL="457200" lvl="1" indent="0">
              <a:lnSpc>
                <a:spcPct val="130000"/>
              </a:lnSpc>
              <a:buNone/>
            </a:pPr>
            <a:r>
              <a:rPr lang="en-US" altLang="zh-CN" sz="2200" dirty="0">
                <a:sym typeface="Times New Roman" panose="02020603050405020304" pitchFamily="18" charset="0"/>
              </a:rPr>
              <a:t>(2)  REPEAT</a:t>
            </a:r>
          </a:p>
          <a:p>
            <a:pPr marL="457200" lvl="1" indent="0">
              <a:lnSpc>
                <a:spcPct val="130000"/>
              </a:lnSpc>
              <a:buNone/>
            </a:pPr>
            <a:r>
              <a:rPr lang="zh-CN" altLang="en-US" sz="2200" dirty="0">
                <a:sym typeface="Times New Roman" panose="02020603050405020304" pitchFamily="18" charset="0"/>
              </a:rPr>
              <a:t>         根据不同簇中最近样本间的距离找到最近的两个簇；</a:t>
            </a:r>
          </a:p>
          <a:p>
            <a:pPr marL="457200" lvl="1" indent="0">
              <a:lnSpc>
                <a:spcPct val="130000"/>
              </a:lnSpc>
              <a:buNone/>
            </a:pPr>
            <a:r>
              <a:rPr lang="zh-CN" altLang="en-US" sz="2200">
                <a:sym typeface="Times New Roman" panose="02020603050405020304" pitchFamily="18" charset="0"/>
              </a:rPr>
              <a:t>         合并</a:t>
            </a:r>
            <a:r>
              <a:rPr lang="zh-CN" altLang="en-US" sz="2200" dirty="0">
                <a:sym typeface="Times New Roman" panose="02020603050405020304" pitchFamily="18" charset="0"/>
              </a:rPr>
              <a:t>这两个簇，生成新的簇的集合；</a:t>
            </a:r>
          </a:p>
          <a:p>
            <a:pPr marL="457200" lvl="1" indent="0">
              <a:lnSpc>
                <a:spcPct val="130000"/>
              </a:lnSpc>
              <a:buNone/>
            </a:pPr>
            <a:r>
              <a:rPr lang="en-US" altLang="zh-CN" sz="2200" dirty="0">
                <a:sym typeface="Times New Roman" panose="02020603050405020304" pitchFamily="18" charset="0"/>
              </a:rPr>
              <a:t>(3)  UNTIL </a:t>
            </a:r>
            <a:r>
              <a:rPr lang="zh-CN" altLang="en-US" sz="2200" dirty="0">
                <a:sym typeface="Times New Roman" panose="02020603050405020304" pitchFamily="18" charset="0"/>
              </a:rPr>
              <a:t>达到定义的簇的数目。</a:t>
            </a:r>
          </a:p>
        </p:txBody>
      </p:sp>
      <p:sp>
        <p:nvSpPr>
          <p:cNvPr id="5" name="矩形 4"/>
          <p:cNvSpPr/>
          <p:nvPr/>
        </p:nvSpPr>
        <p:spPr bwMode="auto">
          <a:xfrm>
            <a:off x="3513396" y="4480144"/>
            <a:ext cx="1152000" cy="432000"/>
          </a:xfrm>
          <a:prstGeom prst="rect">
            <a:avLst/>
          </a:prstGeom>
          <a:noFill/>
          <a:ln w="19050" cap="flat" cmpd="sng" algn="ctr">
            <a:solidFill>
              <a:srgbClr val="FF67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TextBox 5"/>
          <p:cNvSpPr txBox="1"/>
          <p:nvPr/>
        </p:nvSpPr>
        <p:spPr>
          <a:xfrm>
            <a:off x="4860032" y="4450479"/>
            <a:ext cx="3240360" cy="461665"/>
          </a:xfrm>
          <a:prstGeom prst="rect">
            <a:avLst/>
          </a:prstGeom>
          <a:noFill/>
        </p:spPr>
        <p:txBody>
          <a:bodyPr wrap="square" rtlCol="0">
            <a:spAutoFit/>
          </a:bodyPr>
          <a:lstStyle/>
          <a:p>
            <a:r>
              <a:rPr lang="zh-CN" altLang="en-US" sz="2400" b="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算法终止条件是什么？</a:t>
            </a:r>
          </a:p>
        </p:txBody>
      </p:sp>
      <p:sp>
        <p:nvSpPr>
          <p:cNvPr id="7" name="标题 1">
            <a:extLst>
              <a:ext uri="{FF2B5EF4-FFF2-40B4-BE49-F238E27FC236}">
                <a16:creationId xmlns:a16="http://schemas.microsoft.com/office/drawing/2014/main" id="{F8292840-601B-4BB5-8D38-3400A401735C}"/>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2.2.1 AGNES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9" name="TextBox 6">
            <a:extLst>
              <a:ext uri="{FF2B5EF4-FFF2-40B4-BE49-F238E27FC236}">
                <a16:creationId xmlns:a16="http://schemas.microsoft.com/office/drawing/2014/main" id="{78D6C035-5E61-4A75-AC11-F5A90A7ED45E}"/>
              </a:ext>
            </a:extLst>
          </p:cNvPr>
          <p:cNvSpPr txBox="1"/>
          <p:nvPr/>
        </p:nvSpPr>
        <p:spPr>
          <a:xfrm>
            <a:off x="4860032" y="4934536"/>
            <a:ext cx="2736304" cy="430887"/>
          </a:xfrm>
          <a:prstGeom prst="rect">
            <a:avLst/>
          </a:prstGeom>
          <a:noFill/>
        </p:spPr>
        <p:txBody>
          <a:bodyPr wrap="square" rtlCol="0">
            <a:spAutoFit/>
          </a:bodyPr>
          <a:lstStyle/>
          <a:p>
            <a:r>
              <a:rPr lang="zh-CN" altLang="en-US"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）指定簇的数目</a:t>
            </a:r>
            <a:r>
              <a:rPr lang="en-US" altLang="zh-CN"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k</a:t>
            </a:r>
            <a:endParaRPr lang="zh-CN" altLang="en-US"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828631745"/>
      </p:ext>
    </p:extLst>
  </p:cSld>
  <p:clrMapOvr>
    <a:masterClrMapping/>
  </p:clrMapOvr>
  <p:transition spd="med">
    <p:split orient="ver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252000" y="706045"/>
            <a:ext cx="8640000" cy="4364656"/>
          </a:xfrm>
          <a:prstGeom prst="rect">
            <a:avLst/>
          </a:prstGeom>
          <a:noFill/>
        </p:spPr>
        <p:txBody>
          <a:bodyPr wrap="square" lIns="72000" rIns="72000">
            <a:spAutoFit/>
          </a:bodyPr>
          <a:lstStyle>
            <a:lvl1pPr marL="360000" indent="-360000" algn="just" fontAlgn="base">
              <a:lnSpc>
                <a:spcPct val="150000"/>
              </a:lnSpc>
              <a:spcBef>
                <a:spcPts val="600"/>
              </a:spcBef>
              <a:buClr>
                <a:srgbClr val="FF6600"/>
              </a:buClr>
              <a:buSzPct val="80000"/>
              <a:buFont typeface="Wingdings" panose="05000000000000000000" pitchFamily="2" charset="2"/>
              <a:buChar char="l"/>
              <a:defRPr sz="2200">
                <a:latin typeface="Times New Roman" panose="02020603050405020304" pitchFamily="18" charset="0"/>
                <a:ea typeface="微软雅黑" panose="020B0503020204020204" pitchFamily="34" charset="-122"/>
                <a:cs typeface="+mn-ea"/>
              </a:defRPr>
            </a:lvl1pPr>
            <a:lvl2pPr marL="817200" lvl="1" indent="-360000" algn="just" fontAlgn="base">
              <a:lnSpc>
                <a:spcPct val="150000"/>
              </a:lnSpc>
              <a:spcBef>
                <a:spcPts val="600"/>
              </a:spcBef>
              <a:buClr>
                <a:srgbClr val="FF6600"/>
              </a:buClr>
              <a:buSzPct val="80000"/>
              <a:buFont typeface="Wingdings" panose="05000000000000000000" pitchFamily="2" charset="2"/>
              <a:buChar char="l"/>
              <a:defRPr sz="2000">
                <a:latin typeface="Times New Roman" panose="02020603050405020304" pitchFamily="18" charset="0"/>
                <a:ea typeface="微软雅黑" panose="020B0503020204020204" pitchFamily="34" charset="-122"/>
                <a:cs typeface="+mn-ea"/>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nSpc>
                <a:spcPct val="130000"/>
              </a:lnSpc>
              <a:buNone/>
            </a:pPr>
            <a:r>
              <a:rPr lang="en-US" altLang="zh-CN" sz="2400" dirty="0">
                <a:sym typeface="Times New Roman" panose="02020603050405020304" pitchFamily="18" charset="0"/>
              </a:rPr>
              <a:t>AGNES</a:t>
            </a:r>
            <a:r>
              <a:rPr lang="zh-CN" altLang="en-US" sz="2400" dirty="0">
                <a:sym typeface="Times New Roman" panose="02020603050405020304" pitchFamily="18" charset="0"/>
              </a:rPr>
              <a:t>算法（自底向上合并算法）</a:t>
            </a:r>
          </a:p>
          <a:p>
            <a:pPr marL="0" indent="0">
              <a:lnSpc>
                <a:spcPct val="130000"/>
              </a:lnSpc>
              <a:buNone/>
            </a:pPr>
            <a:r>
              <a:rPr lang="zh-CN" altLang="en-US" sz="2400" dirty="0">
                <a:sym typeface="Times New Roman" panose="02020603050405020304" pitchFamily="18" charset="0"/>
              </a:rPr>
              <a:t>输入</a:t>
            </a:r>
            <a:r>
              <a:rPr lang="zh-CN" altLang="en-US" sz="2400">
                <a:sym typeface="Times New Roman" panose="02020603050405020304" pitchFamily="18" charset="0"/>
              </a:rPr>
              <a:t>：包含</a:t>
            </a:r>
            <a:r>
              <a:rPr lang="en-US" altLang="zh-CN" sz="2400" dirty="0">
                <a:sym typeface="Times New Roman" panose="02020603050405020304" pitchFamily="18" charset="0"/>
              </a:rPr>
              <a:t>n</a:t>
            </a:r>
            <a:r>
              <a:rPr lang="zh-CN" altLang="en-US" sz="2400" dirty="0">
                <a:sym typeface="Times New Roman" panose="02020603050405020304" pitchFamily="18" charset="0"/>
              </a:rPr>
              <a:t>个样本的数据集，终止条件簇</a:t>
            </a:r>
            <a:r>
              <a:rPr lang="zh-CN" altLang="en-US" sz="2400">
                <a:sym typeface="Times New Roman" panose="02020603050405020304" pitchFamily="18" charset="0"/>
              </a:rPr>
              <a:t>的数目</a:t>
            </a:r>
            <a:r>
              <a:rPr lang="en-US" altLang="zh-CN" sz="2400" dirty="0">
                <a:sym typeface="Times New Roman" panose="02020603050405020304" pitchFamily="18" charset="0"/>
              </a:rPr>
              <a:t>k</a:t>
            </a:r>
            <a:r>
              <a:rPr lang="zh-CN" altLang="en-US" sz="2400" dirty="0">
                <a:sym typeface="Times New Roman" panose="02020603050405020304" pitchFamily="18" charset="0"/>
              </a:rPr>
              <a:t>。</a:t>
            </a:r>
          </a:p>
          <a:p>
            <a:pPr marL="0" indent="0">
              <a:lnSpc>
                <a:spcPct val="130000"/>
              </a:lnSpc>
              <a:buNone/>
            </a:pPr>
            <a:r>
              <a:rPr lang="zh-CN" altLang="en-US" sz="2400">
                <a:sym typeface="Times New Roman" panose="02020603050405020304" pitchFamily="18" charset="0"/>
              </a:rPr>
              <a:t>输出：</a:t>
            </a:r>
            <a:r>
              <a:rPr lang="en-US" altLang="zh-CN" sz="2400" dirty="0">
                <a:sym typeface="Times New Roman" panose="02020603050405020304" pitchFamily="18" charset="0"/>
              </a:rPr>
              <a:t>k</a:t>
            </a:r>
            <a:r>
              <a:rPr lang="zh-CN" altLang="en-US" sz="2400" dirty="0">
                <a:sym typeface="Times New Roman" panose="02020603050405020304" pitchFamily="18" charset="0"/>
              </a:rPr>
              <a:t>个簇，达到终止条件规定的簇的数目。</a:t>
            </a:r>
          </a:p>
          <a:p>
            <a:pPr marL="457200" lvl="1" indent="0">
              <a:lnSpc>
                <a:spcPct val="130000"/>
              </a:lnSpc>
              <a:buNone/>
            </a:pPr>
            <a:r>
              <a:rPr lang="en-US" altLang="zh-CN" sz="2200" dirty="0">
                <a:sym typeface="Times New Roman" panose="02020603050405020304" pitchFamily="18" charset="0"/>
              </a:rPr>
              <a:t>(1)  </a:t>
            </a:r>
            <a:r>
              <a:rPr lang="zh-CN" altLang="en-US" sz="2200" dirty="0">
                <a:sym typeface="Times New Roman" panose="02020603050405020304" pitchFamily="18" charset="0"/>
              </a:rPr>
              <a:t>初始时，将每个样本当成一个簇；</a:t>
            </a:r>
          </a:p>
          <a:p>
            <a:pPr marL="457200" lvl="1" indent="0">
              <a:lnSpc>
                <a:spcPct val="130000"/>
              </a:lnSpc>
              <a:buNone/>
            </a:pPr>
            <a:r>
              <a:rPr lang="en-US" altLang="zh-CN" sz="2200" dirty="0">
                <a:sym typeface="Times New Roman" panose="02020603050405020304" pitchFamily="18" charset="0"/>
              </a:rPr>
              <a:t>(2)  REPEAT</a:t>
            </a:r>
          </a:p>
          <a:p>
            <a:pPr marL="457200" lvl="1" indent="0">
              <a:lnSpc>
                <a:spcPct val="130000"/>
              </a:lnSpc>
              <a:buNone/>
            </a:pPr>
            <a:r>
              <a:rPr lang="zh-CN" altLang="en-US" sz="2200" dirty="0">
                <a:sym typeface="Times New Roman" panose="02020603050405020304" pitchFamily="18" charset="0"/>
              </a:rPr>
              <a:t>         根据不同簇中最近样本间的距离找到最近的两个簇；</a:t>
            </a:r>
          </a:p>
          <a:p>
            <a:pPr marL="457200" lvl="1" indent="0">
              <a:lnSpc>
                <a:spcPct val="130000"/>
              </a:lnSpc>
              <a:buNone/>
            </a:pPr>
            <a:r>
              <a:rPr lang="zh-CN" altLang="en-US" sz="2200">
                <a:sym typeface="Times New Roman" panose="02020603050405020304" pitchFamily="18" charset="0"/>
              </a:rPr>
              <a:t>         合并</a:t>
            </a:r>
            <a:r>
              <a:rPr lang="zh-CN" altLang="en-US" sz="2200" dirty="0">
                <a:sym typeface="Times New Roman" panose="02020603050405020304" pitchFamily="18" charset="0"/>
              </a:rPr>
              <a:t>这两个簇，生成新的簇的集合；</a:t>
            </a:r>
          </a:p>
          <a:p>
            <a:pPr marL="457200" lvl="1" indent="0">
              <a:lnSpc>
                <a:spcPct val="130000"/>
              </a:lnSpc>
              <a:buNone/>
            </a:pPr>
            <a:r>
              <a:rPr lang="en-US" altLang="zh-CN" sz="2200" dirty="0">
                <a:sym typeface="Times New Roman" panose="02020603050405020304" pitchFamily="18" charset="0"/>
              </a:rPr>
              <a:t>(3)  UNTIL </a:t>
            </a:r>
            <a:r>
              <a:rPr lang="zh-CN" altLang="en-US" sz="2200" dirty="0">
                <a:sym typeface="Times New Roman" panose="02020603050405020304" pitchFamily="18" charset="0"/>
              </a:rPr>
              <a:t>达到定义的簇的数目。</a:t>
            </a:r>
          </a:p>
        </p:txBody>
      </p:sp>
      <p:sp>
        <p:nvSpPr>
          <p:cNvPr id="5" name="矩形 4"/>
          <p:cNvSpPr/>
          <p:nvPr/>
        </p:nvSpPr>
        <p:spPr bwMode="auto">
          <a:xfrm>
            <a:off x="3513396" y="4480144"/>
            <a:ext cx="1152000" cy="432000"/>
          </a:xfrm>
          <a:prstGeom prst="rect">
            <a:avLst/>
          </a:prstGeom>
          <a:noFill/>
          <a:ln w="19050" cap="flat" cmpd="sng" algn="ctr">
            <a:solidFill>
              <a:srgbClr val="FF67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TextBox 5"/>
          <p:cNvSpPr txBox="1"/>
          <p:nvPr/>
        </p:nvSpPr>
        <p:spPr>
          <a:xfrm>
            <a:off x="4860032" y="4450479"/>
            <a:ext cx="3240360" cy="461665"/>
          </a:xfrm>
          <a:prstGeom prst="rect">
            <a:avLst/>
          </a:prstGeom>
          <a:noFill/>
        </p:spPr>
        <p:txBody>
          <a:bodyPr wrap="square" rtlCol="0">
            <a:spAutoFit/>
          </a:bodyPr>
          <a:lstStyle/>
          <a:p>
            <a:r>
              <a:rPr lang="zh-CN" altLang="en-US" sz="2400" b="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算法终止条件是什么？</a:t>
            </a:r>
          </a:p>
        </p:txBody>
      </p:sp>
      <p:sp>
        <p:nvSpPr>
          <p:cNvPr id="7" name="标题 1">
            <a:extLst>
              <a:ext uri="{FF2B5EF4-FFF2-40B4-BE49-F238E27FC236}">
                <a16:creationId xmlns:a16="http://schemas.microsoft.com/office/drawing/2014/main" id="{F8292840-601B-4BB5-8D38-3400A401735C}"/>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2.2.1 AGNES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8" name="TextBox 6">
            <a:extLst>
              <a:ext uri="{FF2B5EF4-FFF2-40B4-BE49-F238E27FC236}">
                <a16:creationId xmlns:a16="http://schemas.microsoft.com/office/drawing/2014/main" id="{8DEB8AFC-BAAE-4786-89C3-5C28615B91A9}"/>
              </a:ext>
            </a:extLst>
          </p:cNvPr>
          <p:cNvSpPr txBox="1"/>
          <p:nvPr/>
        </p:nvSpPr>
        <p:spPr>
          <a:xfrm>
            <a:off x="4860032" y="4934536"/>
            <a:ext cx="2736304" cy="430887"/>
          </a:xfrm>
          <a:prstGeom prst="rect">
            <a:avLst/>
          </a:prstGeom>
          <a:noFill/>
        </p:spPr>
        <p:txBody>
          <a:bodyPr wrap="square" rtlCol="0">
            <a:spAutoFit/>
          </a:bodyPr>
          <a:lstStyle/>
          <a:p>
            <a:r>
              <a:rPr lang="zh-CN" altLang="en-US"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）指定簇的数目</a:t>
            </a:r>
            <a:r>
              <a:rPr lang="en-US" altLang="zh-CN"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k</a:t>
            </a:r>
            <a:endParaRPr lang="zh-CN" altLang="en-US" sz="2200" b="1" dirty="0">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TextBox 6">
            <a:extLst>
              <a:ext uri="{FF2B5EF4-FFF2-40B4-BE49-F238E27FC236}">
                <a16:creationId xmlns:a16="http://schemas.microsoft.com/office/drawing/2014/main" id="{9EE2ED32-50BF-4ECE-8549-12216F12C68B}"/>
              </a:ext>
            </a:extLst>
          </p:cNvPr>
          <p:cNvSpPr txBox="1"/>
          <p:nvPr/>
        </p:nvSpPr>
        <p:spPr>
          <a:xfrm>
            <a:off x="4860031" y="5418630"/>
            <a:ext cx="4335027" cy="430887"/>
          </a:xfrm>
          <a:prstGeom prst="rect">
            <a:avLst/>
          </a:prstGeom>
          <a:noFill/>
        </p:spPr>
        <p:txBody>
          <a:bodyPr wrap="square" rtlCol="0">
            <a:spAutoFit/>
          </a:bodyPr>
          <a:lstStyle/>
          <a:p>
            <a:r>
              <a:rPr lang="zh-CN" altLang="en-US" sz="22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2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200" b="1">
                <a:solidFill>
                  <a:srgbClr val="FF6700"/>
                </a:solidFill>
                <a:latin typeface="Times New Roman" panose="02020603050405020304" pitchFamily="18" charset="0"/>
                <a:ea typeface="微软雅黑" panose="020B0503020204020204" pitchFamily="34" charset="-122"/>
                <a:sym typeface="Times New Roman" panose="02020603050405020304" pitchFamily="18" charset="0"/>
              </a:rPr>
              <a:t>）簇之间的距离超过一定阈值</a:t>
            </a:r>
          </a:p>
        </p:txBody>
      </p:sp>
      <p:pic>
        <p:nvPicPr>
          <p:cNvPr id="10" name="Picture 2">
            <a:extLst>
              <a:ext uri="{FF2B5EF4-FFF2-40B4-BE49-F238E27FC236}">
                <a16:creationId xmlns:a16="http://schemas.microsoft.com/office/drawing/2014/main" id="{5C024B43-25BE-4E3E-A1D3-C1391A02DB0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3" y="4999180"/>
            <a:ext cx="3384376" cy="1809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691296"/>
      </p:ext>
    </p:extLst>
  </p:cSld>
  <p:clrMapOvr>
    <a:masterClrMapping/>
  </p:clrMapOvr>
  <p:transition spd="med">
    <p:split orient="ver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252000" y="706045"/>
            <a:ext cx="8640000" cy="4364656"/>
          </a:xfrm>
          <a:prstGeom prst="rect">
            <a:avLst/>
          </a:prstGeom>
          <a:noFill/>
        </p:spPr>
        <p:txBody>
          <a:bodyPr wrap="square" lIns="72000" rIns="72000">
            <a:spAutoFit/>
          </a:bodyPr>
          <a:lstStyle>
            <a:lvl1pPr marL="360000" indent="-360000" algn="just" fontAlgn="base">
              <a:lnSpc>
                <a:spcPct val="150000"/>
              </a:lnSpc>
              <a:spcBef>
                <a:spcPts val="600"/>
              </a:spcBef>
              <a:buClr>
                <a:srgbClr val="FF6600"/>
              </a:buClr>
              <a:buSzPct val="80000"/>
              <a:buFont typeface="Wingdings" panose="05000000000000000000" pitchFamily="2" charset="2"/>
              <a:buChar char="l"/>
              <a:defRPr sz="2200">
                <a:latin typeface="Times New Roman" panose="02020603050405020304" pitchFamily="18" charset="0"/>
                <a:ea typeface="微软雅黑" panose="020B0503020204020204" pitchFamily="34" charset="-122"/>
                <a:cs typeface="+mn-ea"/>
              </a:defRPr>
            </a:lvl1pPr>
            <a:lvl2pPr marL="817200" lvl="1" indent="-360000" algn="just" fontAlgn="base">
              <a:lnSpc>
                <a:spcPct val="150000"/>
              </a:lnSpc>
              <a:spcBef>
                <a:spcPts val="600"/>
              </a:spcBef>
              <a:buClr>
                <a:srgbClr val="FF6600"/>
              </a:buClr>
              <a:buSzPct val="80000"/>
              <a:buFont typeface="Wingdings" panose="05000000000000000000" pitchFamily="2" charset="2"/>
              <a:buChar char="l"/>
              <a:defRPr sz="2000">
                <a:latin typeface="Times New Roman" panose="02020603050405020304" pitchFamily="18" charset="0"/>
                <a:ea typeface="微软雅黑" panose="020B0503020204020204" pitchFamily="34" charset="-122"/>
                <a:cs typeface="+mn-ea"/>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nSpc>
                <a:spcPct val="130000"/>
              </a:lnSpc>
              <a:buNone/>
            </a:pPr>
            <a:r>
              <a:rPr lang="en-US" altLang="zh-CN" sz="2400" dirty="0">
                <a:sym typeface="Times New Roman" panose="02020603050405020304" pitchFamily="18" charset="0"/>
              </a:rPr>
              <a:t>AGNES</a:t>
            </a:r>
            <a:r>
              <a:rPr lang="zh-CN" altLang="en-US" sz="2400" dirty="0">
                <a:sym typeface="Times New Roman" panose="02020603050405020304" pitchFamily="18" charset="0"/>
              </a:rPr>
              <a:t>算法（自底向上合并算法）</a:t>
            </a:r>
          </a:p>
          <a:p>
            <a:pPr marL="0" indent="0">
              <a:lnSpc>
                <a:spcPct val="130000"/>
              </a:lnSpc>
              <a:buNone/>
            </a:pPr>
            <a:r>
              <a:rPr lang="zh-CN" altLang="en-US" sz="2400" dirty="0">
                <a:sym typeface="Times New Roman" panose="02020603050405020304" pitchFamily="18" charset="0"/>
              </a:rPr>
              <a:t>输入</a:t>
            </a:r>
            <a:r>
              <a:rPr lang="zh-CN" altLang="en-US" sz="2400">
                <a:sym typeface="Times New Roman" panose="02020603050405020304" pitchFamily="18" charset="0"/>
              </a:rPr>
              <a:t>：包含</a:t>
            </a:r>
            <a:r>
              <a:rPr lang="en-US" altLang="zh-CN" sz="2400" dirty="0">
                <a:sym typeface="Times New Roman" panose="02020603050405020304" pitchFamily="18" charset="0"/>
              </a:rPr>
              <a:t>n</a:t>
            </a:r>
            <a:r>
              <a:rPr lang="zh-CN" altLang="en-US" sz="2400" dirty="0">
                <a:sym typeface="Times New Roman" panose="02020603050405020304" pitchFamily="18" charset="0"/>
              </a:rPr>
              <a:t>个样本的数据集，终止条件簇</a:t>
            </a:r>
            <a:r>
              <a:rPr lang="zh-CN" altLang="en-US" sz="2400">
                <a:sym typeface="Times New Roman" panose="02020603050405020304" pitchFamily="18" charset="0"/>
              </a:rPr>
              <a:t>的数目</a:t>
            </a:r>
            <a:r>
              <a:rPr lang="en-US" altLang="zh-CN" sz="2400" dirty="0">
                <a:sym typeface="Times New Roman" panose="02020603050405020304" pitchFamily="18" charset="0"/>
              </a:rPr>
              <a:t>k</a:t>
            </a:r>
            <a:r>
              <a:rPr lang="zh-CN" altLang="en-US" sz="2400" dirty="0">
                <a:sym typeface="Times New Roman" panose="02020603050405020304" pitchFamily="18" charset="0"/>
              </a:rPr>
              <a:t>。</a:t>
            </a:r>
          </a:p>
          <a:p>
            <a:pPr marL="0" indent="0">
              <a:lnSpc>
                <a:spcPct val="130000"/>
              </a:lnSpc>
              <a:buNone/>
            </a:pPr>
            <a:r>
              <a:rPr lang="zh-CN" altLang="en-US" sz="2400">
                <a:sym typeface="Times New Roman" panose="02020603050405020304" pitchFamily="18" charset="0"/>
              </a:rPr>
              <a:t>输出：</a:t>
            </a:r>
            <a:r>
              <a:rPr lang="en-US" altLang="zh-CN" sz="2400" dirty="0">
                <a:sym typeface="Times New Roman" panose="02020603050405020304" pitchFamily="18" charset="0"/>
              </a:rPr>
              <a:t>k</a:t>
            </a:r>
            <a:r>
              <a:rPr lang="zh-CN" altLang="en-US" sz="2400" dirty="0">
                <a:sym typeface="Times New Roman" panose="02020603050405020304" pitchFamily="18" charset="0"/>
              </a:rPr>
              <a:t>个簇，达到终止条件规定的簇的数目。</a:t>
            </a:r>
          </a:p>
          <a:p>
            <a:pPr marL="457200" lvl="1" indent="0">
              <a:lnSpc>
                <a:spcPct val="130000"/>
              </a:lnSpc>
              <a:buNone/>
            </a:pPr>
            <a:r>
              <a:rPr lang="en-US" altLang="zh-CN" sz="2200" dirty="0">
                <a:sym typeface="Times New Roman" panose="02020603050405020304" pitchFamily="18" charset="0"/>
              </a:rPr>
              <a:t>(1)  </a:t>
            </a:r>
            <a:r>
              <a:rPr lang="zh-CN" altLang="en-US" sz="2200" dirty="0">
                <a:sym typeface="Times New Roman" panose="02020603050405020304" pitchFamily="18" charset="0"/>
              </a:rPr>
              <a:t>初始时，将每个样本当成一个簇；</a:t>
            </a:r>
          </a:p>
          <a:p>
            <a:pPr marL="457200" lvl="1" indent="0">
              <a:lnSpc>
                <a:spcPct val="130000"/>
              </a:lnSpc>
              <a:buNone/>
            </a:pPr>
            <a:r>
              <a:rPr lang="en-US" altLang="zh-CN" sz="2200" dirty="0">
                <a:sym typeface="Times New Roman" panose="02020603050405020304" pitchFamily="18" charset="0"/>
              </a:rPr>
              <a:t>(2)  REPEAT</a:t>
            </a:r>
          </a:p>
          <a:p>
            <a:pPr marL="457200" lvl="1" indent="0">
              <a:lnSpc>
                <a:spcPct val="130000"/>
              </a:lnSpc>
              <a:buNone/>
            </a:pPr>
            <a:r>
              <a:rPr lang="zh-CN" altLang="en-US" sz="2200" dirty="0">
                <a:sym typeface="Times New Roman" panose="02020603050405020304" pitchFamily="18" charset="0"/>
              </a:rPr>
              <a:t>         根据不同簇中最近样本间的距离找到最近的两个簇；</a:t>
            </a:r>
          </a:p>
          <a:p>
            <a:pPr marL="457200" lvl="1" indent="0">
              <a:lnSpc>
                <a:spcPct val="130000"/>
              </a:lnSpc>
              <a:buNone/>
            </a:pPr>
            <a:r>
              <a:rPr lang="zh-CN" altLang="en-US" sz="2200">
                <a:sym typeface="Times New Roman" panose="02020603050405020304" pitchFamily="18" charset="0"/>
              </a:rPr>
              <a:t>         合并</a:t>
            </a:r>
            <a:r>
              <a:rPr lang="zh-CN" altLang="en-US" sz="2200" dirty="0">
                <a:sym typeface="Times New Roman" panose="02020603050405020304" pitchFamily="18" charset="0"/>
              </a:rPr>
              <a:t>这两个簇，生成新的簇的集合；</a:t>
            </a:r>
          </a:p>
          <a:p>
            <a:pPr marL="457200" lvl="1" indent="0">
              <a:lnSpc>
                <a:spcPct val="130000"/>
              </a:lnSpc>
              <a:buNone/>
            </a:pPr>
            <a:r>
              <a:rPr lang="en-US" altLang="zh-CN" sz="2200" dirty="0">
                <a:sym typeface="Times New Roman" panose="02020603050405020304" pitchFamily="18" charset="0"/>
              </a:rPr>
              <a:t>(3)  UNTIL </a:t>
            </a:r>
            <a:r>
              <a:rPr lang="zh-CN" altLang="en-US" sz="2200" dirty="0">
                <a:sym typeface="Times New Roman" panose="02020603050405020304" pitchFamily="18" charset="0"/>
              </a:rPr>
              <a:t>达到定义的簇的数目。</a:t>
            </a:r>
          </a:p>
        </p:txBody>
      </p:sp>
      <p:sp>
        <p:nvSpPr>
          <p:cNvPr id="5" name="矩形 4"/>
          <p:cNvSpPr/>
          <p:nvPr/>
        </p:nvSpPr>
        <p:spPr bwMode="auto">
          <a:xfrm>
            <a:off x="5882696" y="3435656"/>
            <a:ext cx="1692124" cy="432000"/>
          </a:xfrm>
          <a:prstGeom prst="rect">
            <a:avLst/>
          </a:prstGeom>
          <a:noFill/>
          <a:ln w="19050" cap="flat" cmpd="sng" algn="ctr">
            <a:solidFill>
              <a:srgbClr val="FF67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TextBox 5"/>
          <p:cNvSpPr txBox="1"/>
          <p:nvPr/>
        </p:nvSpPr>
        <p:spPr>
          <a:xfrm>
            <a:off x="4932040" y="2853577"/>
            <a:ext cx="3240360" cy="461665"/>
          </a:xfrm>
          <a:prstGeom prst="rect">
            <a:avLst/>
          </a:prstGeom>
          <a:noFill/>
        </p:spPr>
        <p:txBody>
          <a:bodyPr wrap="square" rtlCol="0">
            <a:spAutoFit/>
          </a:bodyPr>
          <a:lstStyle/>
          <a:p>
            <a:r>
              <a:rPr lang="zh-CN" altLang="en-US" sz="2400" b="1">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簇之间的距离如何计算？</a:t>
            </a:r>
          </a:p>
        </p:txBody>
      </p:sp>
      <p:sp>
        <p:nvSpPr>
          <p:cNvPr id="7" name="标题 1">
            <a:extLst>
              <a:ext uri="{FF2B5EF4-FFF2-40B4-BE49-F238E27FC236}">
                <a16:creationId xmlns:a16="http://schemas.microsoft.com/office/drawing/2014/main" id="{F8292840-601B-4BB5-8D38-3400A401735C}"/>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2.2.1 AGNES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3694825705"/>
      </p:ext>
    </p:extLst>
  </p:cSld>
  <p:clrMapOvr>
    <a:masterClrMapping/>
  </p:clrMapOvr>
  <p:transition spd="med">
    <p:split orient="ver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3"/>
          <p:cNvSpPr>
            <a:spLocks noGrp="1" noChangeArrowheads="1"/>
          </p:cNvSpPr>
          <p:nvPr>
            <p:ph type="body" sz="half" idx="4294967295"/>
          </p:nvPr>
        </p:nvSpPr>
        <p:spPr>
          <a:xfrm>
            <a:off x="252000" y="756000"/>
            <a:ext cx="8640000" cy="3356303"/>
          </a:xfrm>
          <a:prstGeom prst="rect">
            <a:avLst/>
          </a:prstGeom>
          <a:noFill/>
        </p:spPr>
        <p:txBody>
          <a:bodyPr wrap="square" lIns="72000" rIns="72000">
            <a:spAutoFit/>
          </a:bodyPr>
          <a:lstStyle/>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单</a:t>
            </a:r>
            <a:r>
              <a:rPr lang="zh-CN" altLang="en-US" sz="2400" b="1">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链接（</a:t>
            </a:r>
            <a:r>
              <a:rPr lang="en-US" altLang="zh-CN" sz="24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single-link</a:t>
            </a:r>
            <a:r>
              <a:rPr lang="zh-CN" altLang="en-US" sz="2400" b="1">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）方法</a:t>
            </a:r>
            <a:endPar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其</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每个簇可以用簇中所有对象代表，簇间的相似度用属于不同簇中</a:t>
            </a:r>
            <a:r>
              <a:rPr lang="zh-CN" altLang="en-US" sz="22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最近的</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数据点对之间的相似度来度量</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也称为</a:t>
            </a:r>
            <a:r>
              <a:rPr lang="zh-CN" altLang="en-US" sz="2200" b="1" dirty="0">
                <a:solidFill>
                  <a:srgbClr val="FF6700"/>
                </a:solidFill>
                <a:latin typeface="Times New Roman" panose="02020603050405020304" pitchFamily="18" charset="0"/>
                <a:ea typeface="微软雅黑" panose="020B0503020204020204" pitchFamily="34" charset="-122"/>
                <a:cs typeface="+mn-ea"/>
                <a:sym typeface="Times New Roman" panose="02020603050405020304" pitchFamily="18" charset="0"/>
              </a:rPr>
              <a:t>最短距离法</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，定义簇的邻近度为取自不同簇的所有点对的俩个最近的点之间的邻近度</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设</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en-US" altLang="zh-CN" sz="2200" baseline="-25000">
                <a:latin typeface="Times New Roman" panose="02020603050405020304" pitchFamily="18" charset="0"/>
                <a:ea typeface="微软雅黑" panose="020B0503020204020204" pitchFamily="34" charset="-122"/>
                <a:cs typeface="+mn-ea"/>
                <a:sym typeface="Times New Roman" panose="02020603050405020304" pitchFamily="18" charset="0"/>
              </a:rPr>
              <a:t>ij</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表示样本</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X</a:t>
            </a:r>
            <a:r>
              <a:rPr lang="en-US" altLang="zh-CN" sz="2200" baseline="-25000">
                <a:latin typeface="Times New Roman" panose="02020603050405020304" pitchFamily="18" charset="0"/>
                <a:ea typeface="微软雅黑" panose="020B0503020204020204" pitchFamily="34" charset="-122"/>
                <a:cs typeface="+mn-ea"/>
                <a:sym typeface="Times New Roman" panose="02020603050405020304" pitchFamily="18" charset="0"/>
              </a:rPr>
              <a:t>(i)</a:t>
            </a:r>
            <a:r>
              <a:rPr lang="zh-CN" altLang="en-US" sz="2200" baseline="-250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X</a:t>
            </a:r>
            <a:r>
              <a:rPr lang="en-US" altLang="zh-CN" sz="2200" baseline="-25000">
                <a:latin typeface="Times New Roman" panose="02020603050405020304" pitchFamily="18" charset="0"/>
                <a:ea typeface="微软雅黑" panose="020B0503020204020204" pitchFamily="34" charset="-122"/>
                <a:cs typeface="+mn-ea"/>
                <a:sym typeface="Times New Roman" panose="02020603050405020304" pitchFamily="18" charset="0"/>
              </a:rPr>
              <a:t>(j)</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之间</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的</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距离，</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en-US" altLang="zh-CN" sz="2200" baseline="-25000">
                <a:latin typeface="Times New Roman" panose="02020603050405020304" pitchFamily="18" charset="0"/>
                <a:ea typeface="微软雅黑" panose="020B0503020204020204" pitchFamily="34" charset="-122"/>
                <a:cs typeface="+mn-ea"/>
                <a:sym typeface="Times New Roman" panose="02020603050405020304" pitchFamily="18" charset="0"/>
              </a:rPr>
              <a:t>ij</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表示类</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G</a:t>
            </a:r>
            <a:r>
              <a:rPr lang="en-US" altLang="zh-CN" sz="2200" baseline="-25000">
                <a:latin typeface="Times New Roman" panose="02020603050405020304" pitchFamily="18" charset="0"/>
                <a:ea typeface="微软雅黑" panose="020B0503020204020204" pitchFamily="34" charset="-122"/>
                <a:cs typeface="+mn-ea"/>
                <a:sym typeface="Times New Roman" panose="02020603050405020304" pitchFamily="18" charset="0"/>
              </a:rPr>
              <a:t>i</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G</a:t>
            </a:r>
            <a:r>
              <a:rPr lang="en-US" altLang="zh-CN" sz="2200" baseline="-25000">
                <a:latin typeface="Times New Roman" panose="02020603050405020304" pitchFamily="18" charset="0"/>
                <a:ea typeface="微软雅黑" panose="020B0503020204020204" pitchFamily="34" charset="-122"/>
                <a:cs typeface="+mn-ea"/>
                <a:sym typeface="Times New Roman" panose="02020603050405020304" pitchFamily="18" charset="0"/>
              </a:rPr>
              <a:t>j</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之间距离 </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aphicFrame>
        <p:nvGraphicFramePr>
          <p:cNvPr id="64522" name="Object 10"/>
          <p:cNvGraphicFramePr>
            <a:graphicFrameLocks/>
          </p:cNvGraphicFramePr>
          <p:nvPr>
            <p:extLst>
              <p:ext uri="{D42A27DB-BD31-4B8C-83A1-F6EECF244321}">
                <p14:modId xmlns:p14="http://schemas.microsoft.com/office/powerpoint/2010/main" val="407969690"/>
              </p:ext>
            </p:extLst>
          </p:nvPr>
        </p:nvGraphicFramePr>
        <p:xfrm>
          <a:off x="1006475" y="4941887"/>
          <a:ext cx="2309057" cy="816794"/>
        </p:xfrm>
        <a:graphic>
          <a:graphicData uri="http://schemas.openxmlformats.org/presentationml/2006/ole">
            <mc:AlternateContent xmlns:mc="http://schemas.openxmlformats.org/markup-compatibility/2006">
              <mc:Choice xmlns:v="urn:schemas-microsoft-com:vml" Requires="v">
                <p:oleObj r:id="rId2" imgW="1044822" imgH="369590" progId="Equation.DSMT4">
                  <p:embed/>
                </p:oleObj>
              </mc:Choice>
              <mc:Fallback>
                <p:oleObj r:id="rId2" imgW="1044822" imgH="369590" progId="Equation.DSMT4">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475" y="4941887"/>
                        <a:ext cx="2309057" cy="816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4044"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920" y="4416299"/>
            <a:ext cx="4371975" cy="176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3" name="标题 1">
            <a:extLst>
              <a:ext uri="{FF2B5EF4-FFF2-40B4-BE49-F238E27FC236}">
                <a16:creationId xmlns:a16="http://schemas.microsoft.com/office/drawing/2014/main" id="{D5535D99-E200-439A-AFCB-F04DA1BAAE7F}"/>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2.2.1 AGNES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 </a:t>
            </a: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最小距离</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4213421652"/>
      </p:ext>
    </p:extLst>
  </p:cSld>
  <p:clrMapOvr>
    <a:masterClrMapping/>
  </p:clrMapOvr>
  <p:transition spd="med">
    <p:split orient="ver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3"/>
          <p:cNvSpPr>
            <a:spLocks noGrp="1" noChangeArrowheads="1"/>
          </p:cNvSpPr>
          <p:nvPr>
            <p:ph type="body" sz="half" idx="4294967295"/>
          </p:nvPr>
        </p:nvSpPr>
        <p:spPr>
          <a:xfrm>
            <a:off x="252000" y="756000"/>
            <a:ext cx="8640000" cy="1678921"/>
          </a:xfrm>
          <a:prstGeom prst="rect">
            <a:avLst/>
          </a:prstGeom>
          <a:noFill/>
        </p:spPr>
        <p:txBody>
          <a:bodyPr wrap="square" lIns="72000" rIns="72000">
            <a:spAutoFit/>
          </a:bodyPr>
          <a:lstStyle/>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b="1">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全链</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取自不同簇中的俩个最远的点之间邻近度作为簇的邻近度，或者使用图的术语，不同的结点子集中俩个结点之间的最长边</a:t>
            </a:r>
          </a:p>
        </p:txBody>
      </p:sp>
      <p:graphicFrame>
        <p:nvGraphicFramePr>
          <p:cNvPr id="65540" name="Object 4"/>
          <p:cNvGraphicFramePr>
            <a:graphicFrameLocks noGrp="1" noChangeAspect="1"/>
          </p:cNvGraphicFramePr>
          <p:nvPr>
            <p:ph sz="half" idx="4294967295"/>
            <p:extLst>
              <p:ext uri="{D42A27DB-BD31-4B8C-83A1-F6EECF244321}">
                <p14:modId xmlns:p14="http://schemas.microsoft.com/office/powerpoint/2010/main" val="3915275260"/>
              </p:ext>
            </p:extLst>
          </p:nvPr>
        </p:nvGraphicFramePr>
        <p:xfrm>
          <a:off x="3317265" y="2616368"/>
          <a:ext cx="2509470" cy="853737"/>
        </p:xfrm>
        <a:graphic>
          <a:graphicData uri="http://schemas.openxmlformats.org/presentationml/2006/ole">
            <mc:AlternateContent xmlns:mc="http://schemas.openxmlformats.org/markup-compatibility/2006">
              <mc:Choice xmlns:v="urn:schemas-microsoft-com:vml" Requires="v">
                <p:oleObj r:id="rId2" imgW="1236192" imgH="420560" progId="Equation.3">
                  <p:embed/>
                </p:oleObj>
              </mc:Choice>
              <mc:Fallback>
                <p:oleObj r:id="rId2" imgW="1236192" imgH="42056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7265" y="2616368"/>
                        <a:ext cx="2509470" cy="853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2" name="Rectangle 5"/>
          <p:cNvSpPr>
            <a:spLocks noChangeArrowheads="1"/>
          </p:cNvSpPr>
          <p:nvPr/>
        </p:nvSpPr>
        <p:spPr bwMode="auto">
          <a:xfrm>
            <a:off x="2555875" y="3213100"/>
            <a:ext cx="290513" cy="457200"/>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5063" name="Rectangle 6"/>
          <p:cNvSpPr>
            <a:spLocks noChangeArrowheads="1"/>
          </p:cNvSpPr>
          <p:nvPr/>
        </p:nvSpPr>
        <p:spPr bwMode="auto">
          <a:xfrm>
            <a:off x="2735263" y="3392488"/>
            <a:ext cx="290512" cy="457200"/>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grpSp>
        <p:nvGrpSpPr>
          <p:cNvPr id="65543" name="Group 7"/>
          <p:cNvGrpSpPr>
            <a:grpSpLocks/>
          </p:cNvGrpSpPr>
          <p:nvPr/>
        </p:nvGrpSpPr>
        <p:grpSpPr bwMode="auto">
          <a:xfrm>
            <a:off x="1390650" y="3717925"/>
            <a:ext cx="6362700" cy="2335213"/>
            <a:chOff x="0" y="0"/>
            <a:chExt cx="4008" cy="1471"/>
          </a:xfrm>
        </p:grpSpPr>
        <p:sp>
          <p:nvSpPr>
            <p:cNvPr id="45065" name="Oval 8"/>
            <p:cNvSpPr>
              <a:spLocks noChangeArrowheads="1"/>
            </p:cNvSpPr>
            <p:nvPr/>
          </p:nvSpPr>
          <p:spPr bwMode="auto">
            <a:xfrm>
              <a:off x="0" y="46"/>
              <a:ext cx="1451" cy="1425"/>
            </a:xfrm>
            <a:prstGeom prst="ellipse">
              <a:avLst/>
            </a:prstGeom>
            <a:solidFill>
              <a:srgbClr val="00CCCC"/>
            </a:solidFill>
            <a:ln w="9525">
              <a:solidFill>
                <a:srgbClr val="FFFFFF"/>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lgn="ctr" eaLnBrk="1" hangingPunct="1">
                <a:spcBef>
                  <a:spcPct val="0"/>
                </a:spcBef>
                <a:buClrTx/>
                <a:buSzTx/>
                <a:buFontTx/>
                <a:buNone/>
                <a:defRPr/>
              </a:pPr>
              <a:endParaRPr lang="ja-JP" altLang="en-US" sz="24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5066" name="Oval 9"/>
            <p:cNvSpPr>
              <a:spLocks noChangeArrowheads="1"/>
            </p:cNvSpPr>
            <p:nvPr/>
          </p:nvSpPr>
          <p:spPr bwMode="auto">
            <a:xfrm>
              <a:off x="2517" y="0"/>
              <a:ext cx="1491" cy="1470"/>
            </a:xfrm>
            <a:prstGeom prst="ellipse">
              <a:avLst/>
            </a:prstGeom>
            <a:solidFill>
              <a:srgbClr val="00CCCC"/>
            </a:solidFill>
            <a:ln w="9525">
              <a:solidFill>
                <a:srgbClr val="FFFFFF"/>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endParaRPr lang="zh-CN" altLang="en-US" sz="18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5067" name="Line 10"/>
            <p:cNvSpPr>
              <a:spLocks noChangeShapeType="1"/>
            </p:cNvSpPr>
            <p:nvPr/>
          </p:nvSpPr>
          <p:spPr bwMode="auto">
            <a:xfrm>
              <a:off x="499" y="726"/>
              <a:ext cx="3220" cy="45"/>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5068" name="Rectangle 11"/>
            <p:cNvSpPr>
              <a:spLocks noChangeArrowheads="1"/>
            </p:cNvSpPr>
            <p:nvPr/>
          </p:nvSpPr>
          <p:spPr bwMode="auto">
            <a:xfrm>
              <a:off x="816" y="205"/>
              <a:ext cx="183" cy="288"/>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5069" name="Rectangle 12"/>
            <p:cNvSpPr>
              <a:spLocks noChangeArrowheads="1"/>
            </p:cNvSpPr>
            <p:nvPr/>
          </p:nvSpPr>
          <p:spPr bwMode="auto">
            <a:xfrm>
              <a:off x="884" y="1066"/>
              <a:ext cx="228" cy="288"/>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5070" name="Rectangle 13"/>
            <p:cNvSpPr>
              <a:spLocks noChangeArrowheads="1"/>
            </p:cNvSpPr>
            <p:nvPr/>
          </p:nvSpPr>
          <p:spPr bwMode="auto">
            <a:xfrm>
              <a:off x="3175" y="250"/>
              <a:ext cx="183" cy="288"/>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5071" name="Rectangle 14"/>
            <p:cNvSpPr>
              <a:spLocks noChangeArrowheads="1"/>
            </p:cNvSpPr>
            <p:nvPr/>
          </p:nvSpPr>
          <p:spPr bwMode="auto">
            <a:xfrm>
              <a:off x="521" y="930"/>
              <a:ext cx="183" cy="288"/>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5072" name="Rectangle 15"/>
            <p:cNvSpPr>
              <a:spLocks noChangeArrowheads="1"/>
            </p:cNvSpPr>
            <p:nvPr/>
          </p:nvSpPr>
          <p:spPr bwMode="auto">
            <a:xfrm>
              <a:off x="1450" y="90"/>
              <a:ext cx="183" cy="288"/>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5073" name="Rectangle 16"/>
            <p:cNvSpPr>
              <a:spLocks noChangeArrowheads="1"/>
            </p:cNvSpPr>
            <p:nvPr/>
          </p:nvSpPr>
          <p:spPr bwMode="auto">
            <a:xfrm>
              <a:off x="2971" y="908"/>
              <a:ext cx="183" cy="288"/>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5074" name="Rectangle 17"/>
            <p:cNvSpPr>
              <a:spLocks noChangeArrowheads="1"/>
            </p:cNvSpPr>
            <p:nvPr/>
          </p:nvSpPr>
          <p:spPr bwMode="auto">
            <a:xfrm>
              <a:off x="3334" y="953"/>
              <a:ext cx="183" cy="288"/>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5075" name="Rectangle 18"/>
            <p:cNvSpPr>
              <a:spLocks noChangeArrowheads="1"/>
            </p:cNvSpPr>
            <p:nvPr/>
          </p:nvSpPr>
          <p:spPr bwMode="auto">
            <a:xfrm>
              <a:off x="3628" y="635"/>
              <a:ext cx="183" cy="288"/>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5076" name="Rectangle 19"/>
            <p:cNvSpPr>
              <a:spLocks noChangeArrowheads="1"/>
            </p:cNvSpPr>
            <p:nvPr/>
          </p:nvSpPr>
          <p:spPr bwMode="auto">
            <a:xfrm>
              <a:off x="385" y="590"/>
              <a:ext cx="183" cy="288"/>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grpSp>
      <p:sp>
        <p:nvSpPr>
          <p:cNvPr id="21" name="标题 1">
            <a:extLst>
              <a:ext uri="{FF2B5EF4-FFF2-40B4-BE49-F238E27FC236}">
                <a16:creationId xmlns:a16="http://schemas.microsoft.com/office/drawing/2014/main" id="{2AF60E02-9065-438B-88B8-9CE637BDE926}"/>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2.2.1 AGNES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 </a:t>
            </a: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最大距离</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606763546"/>
      </p:ext>
    </p:extLst>
  </p:cSld>
  <p:clrMapOvr>
    <a:masterClrMapping/>
  </p:clrMapOvr>
  <p:transition spd="med">
    <p:split orient="ver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2.2.1 AGNES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算法 </a:t>
            </a: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平均</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距离</a:t>
            </a:r>
          </a:p>
        </p:txBody>
      </p:sp>
      <p:sp>
        <p:nvSpPr>
          <p:cNvPr id="46084" name="Rectangle 3"/>
          <p:cNvSpPr>
            <a:spLocks noGrp="1" noChangeArrowheads="1"/>
          </p:cNvSpPr>
          <p:nvPr>
            <p:ph type="body" idx="4294967295"/>
          </p:nvPr>
        </p:nvSpPr>
        <p:spPr>
          <a:xfrm>
            <a:off x="252000" y="756000"/>
            <a:ext cx="8748000" cy="1802032"/>
          </a:xfrm>
          <a:prstGeom prst="rect">
            <a:avLst/>
          </a:prstGeom>
          <a:noFill/>
        </p:spPr>
        <p:txBody>
          <a:bodyPr wrap="square" lIns="72000" rIns="72000">
            <a:spAutoFit/>
          </a:bodyPr>
          <a:lstStyle/>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组</a:t>
            </a:r>
            <a:r>
              <a:rPr lang="zh-CN" altLang="en-US" sz="2400" b="1">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平均（</a:t>
            </a:r>
            <a:r>
              <a:rPr lang="en-US" altLang="zh-CN" sz="24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average linkage </a:t>
            </a:r>
            <a:r>
              <a:rPr lang="en-US" altLang="zh-CN" sz="2400" b="1">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method</a:t>
            </a:r>
            <a:r>
              <a:rPr lang="zh-CN" altLang="en-US" sz="2400" b="1">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en-US" altLang="zh-CN" sz="2400" b="1">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类</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间所有样本点的平均距离</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该法利用了所有样本的信息，被认为是较好的系统聚类法</a:t>
            </a:r>
          </a:p>
        </p:txBody>
      </p:sp>
      <p:pic>
        <p:nvPicPr>
          <p:cNvPr id="665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456" y="2852736"/>
            <a:ext cx="4115089" cy="806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6565" name="Group 5"/>
          <p:cNvGrpSpPr>
            <a:grpSpLocks/>
          </p:cNvGrpSpPr>
          <p:nvPr/>
        </p:nvGrpSpPr>
        <p:grpSpPr bwMode="auto">
          <a:xfrm>
            <a:off x="1763713" y="3941413"/>
            <a:ext cx="5616575" cy="2160587"/>
            <a:chOff x="0" y="0"/>
            <a:chExt cx="3121" cy="1200"/>
          </a:xfrm>
        </p:grpSpPr>
        <p:sp>
          <p:nvSpPr>
            <p:cNvPr id="46087" name="Oval 6"/>
            <p:cNvSpPr>
              <a:spLocks noChangeArrowheads="1"/>
            </p:cNvSpPr>
            <p:nvPr/>
          </p:nvSpPr>
          <p:spPr bwMode="auto">
            <a:xfrm>
              <a:off x="0" y="33"/>
              <a:ext cx="1104" cy="1106"/>
            </a:xfrm>
            <a:prstGeom prst="ellipse">
              <a:avLst/>
            </a:prstGeom>
            <a:solidFill>
              <a:srgbClr val="00CCCC"/>
            </a:solidFill>
            <a:ln w="9525">
              <a:solidFill>
                <a:srgbClr val="FFFFFF"/>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lgn="ctr" eaLnBrk="1" hangingPunct="1">
                <a:spcBef>
                  <a:spcPct val="0"/>
                </a:spcBef>
                <a:buClrTx/>
                <a:buSzTx/>
                <a:buFontTx/>
                <a:buNone/>
                <a:defRPr/>
              </a:pPr>
              <a:endParaRPr lang="ja-JP" altLang="en-US" sz="24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088" name="Oval 7"/>
            <p:cNvSpPr>
              <a:spLocks noChangeArrowheads="1"/>
            </p:cNvSpPr>
            <p:nvPr/>
          </p:nvSpPr>
          <p:spPr bwMode="auto">
            <a:xfrm>
              <a:off x="1825" y="0"/>
              <a:ext cx="1296" cy="1200"/>
            </a:xfrm>
            <a:prstGeom prst="ellipse">
              <a:avLst/>
            </a:prstGeom>
            <a:solidFill>
              <a:srgbClr val="00CCCC"/>
            </a:solidFill>
            <a:ln w="9525">
              <a:solidFill>
                <a:srgbClr val="FFFFFF"/>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endParaRPr lang="zh-CN" altLang="en-US" sz="18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089" name="Rectangle 8"/>
            <p:cNvSpPr>
              <a:spLocks noChangeArrowheads="1"/>
            </p:cNvSpPr>
            <p:nvPr/>
          </p:nvSpPr>
          <p:spPr bwMode="auto">
            <a:xfrm>
              <a:off x="2495" y="56"/>
              <a:ext cx="161" cy="254"/>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6090" name="Rectangle 9"/>
            <p:cNvSpPr>
              <a:spLocks noChangeArrowheads="1"/>
            </p:cNvSpPr>
            <p:nvPr/>
          </p:nvSpPr>
          <p:spPr bwMode="auto">
            <a:xfrm>
              <a:off x="136" y="487"/>
              <a:ext cx="240" cy="254"/>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6091" name="Rectangle 10"/>
            <p:cNvSpPr>
              <a:spLocks noChangeArrowheads="1"/>
            </p:cNvSpPr>
            <p:nvPr/>
          </p:nvSpPr>
          <p:spPr bwMode="auto">
            <a:xfrm>
              <a:off x="2336" y="283"/>
              <a:ext cx="161" cy="254"/>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6092" name="Rectangle 11"/>
            <p:cNvSpPr>
              <a:spLocks noChangeArrowheads="1"/>
            </p:cNvSpPr>
            <p:nvPr/>
          </p:nvSpPr>
          <p:spPr bwMode="auto">
            <a:xfrm>
              <a:off x="865" y="240"/>
              <a:ext cx="311" cy="254"/>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6093" name="Rectangle 12"/>
            <p:cNvSpPr>
              <a:spLocks noChangeArrowheads="1"/>
            </p:cNvSpPr>
            <p:nvPr/>
          </p:nvSpPr>
          <p:spPr bwMode="auto">
            <a:xfrm>
              <a:off x="499" y="759"/>
              <a:ext cx="240" cy="254"/>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6094" name="Rectangle 13"/>
            <p:cNvSpPr>
              <a:spLocks noChangeArrowheads="1"/>
            </p:cNvSpPr>
            <p:nvPr/>
          </p:nvSpPr>
          <p:spPr bwMode="auto">
            <a:xfrm>
              <a:off x="2689" y="624"/>
              <a:ext cx="240" cy="254"/>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6095" name="Rectangle 14"/>
            <p:cNvSpPr>
              <a:spLocks noChangeArrowheads="1"/>
            </p:cNvSpPr>
            <p:nvPr/>
          </p:nvSpPr>
          <p:spPr bwMode="auto">
            <a:xfrm>
              <a:off x="2268" y="714"/>
              <a:ext cx="240" cy="254"/>
            </a:xfrm>
            <a:prstGeom prst="rect">
              <a:avLst/>
            </a:prstGeom>
            <a:noFill/>
            <a:ln>
              <a:noFill/>
            </a:ln>
            <a:effectLst/>
            <a:extLst>
              <a:ext uri="{909E8E84-426E-40DD-AFC4-6F175D3DCCD1}">
                <a14:hiddenFill xmlns:a14="http://schemas.microsoft.com/office/drawing/2010/main">
                  <a:solidFill>
                    <a:srgbClr val="00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r>
                <a:rPr lang="en-US" altLang="zh-CN" sz="240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46096" name="Line 15"/>
            <p:cNvSpPr>
              <a:spLocks noChangeShapeType="1"/>
            </p:cNvSpPr>
            <p:nvPr/>
          </p:nvSpPr>
          <p:spPr bwMode="auto">
            <a:xfrm flipV="1">
              <a:off x="953" y="192"/>
              <a:ext cx="1655" cy="181"/>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097" name="Line 16"/>
            <p:cNvSpPr>
              <a:spLocks noChangeShapeType="1"/>
            </p:cNvSpPr>
            <p:nvPr/>
          </p:nvSpPr>
          <p:spPr bwMode="auto">
            <a:xfrm>
              <a:off x="953" y="396"/>
              <a:ext cx="1474" cy="4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098" name="Line 17"/>
            <p:cNvSpPr>
              <a:spLocks noChangeShapeType="1"/>
            </p:cNvSpPr>
            <p:nvPr/>
          </p:nvSpPr>
          <p:spPr bwMode="auto">
            <a:xfrm>
              <a:off x="953" y="396"/>
              <a:ext cx="1815" cy="363"/>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099" name="Line 18"/>
            <p:cNvSpPr>
              <a:spLocks noChangeShapeType="1"/>
            </p:cNvSpPr>
            <p:nvPr/>
          </p:nvSpPr>
          <p:spPr bwMode="auto">
            <a:xfrm>
              <a:off x="930" y="396"/>
              <a:ext cx="1429" cy="4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100" name="Line 19"/>
            <p:cNvSpPr>
              <a:spLocks noChangeShapeType="1"/>
            </p:cNvSpPr>
            <p:nvPr/>
          </p:nvSpPr>
          <p:spPr bwMode="auto">
            <a:xfrm flipV="1">
              <a:off x="227" y="192"/>
              <a:ext cx="2361" cy="431"/>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101" name="Line 20"/>
            <p:cNvSpPr>
              <a:spLocks noChangeShapeType="1"/>
            </p:cNvSpPr>
            <p:nvPr/>
          </p:nvSpPr>
          <p:spPr bwMode="auto">
            <a:xfrm flipV="1">
              <a:off x="227" y="419"/>
              <a:ext cx="2200" cy="205"/>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102" name="Line 21"/>
            <p:cNvSpPr>
              <a:spLocks noChangeShapeType="1"/>
            </p:cNvSpPr>
            <p:nvPr/>
          </p:nvSpPr>
          <p:spPr bwMode="auto">
            <a:xfrm>
              <a:off x="227" y="623"/>
              <a:ext cx="2541" cy="1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103" name="Line 22"/>
            <p:cNvSpPr>
              <a:spLocks noChangeShapeType="1"/>
            </p:cNvSpPr>
            <p:nvPr/>
          </p:nvSpPr>
          <p:spPr bwMode="auto">
            <a:xfrm>
              <a:off x="227" y="623"/>
              <a:ext cx="2155" cy="249"/>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104" name="Line 23"/>
            <p:cNvSpPr>
              <a:spLocks noChangeShapeType="1"/>
            </p:cNvSpPr>
            <p:nvPr/>
          </p:nvSpPr>
          <p:spPr bwMode="auto">
            <a:xfrm flipV="1">
              <a:off x="590" y="192"/>
              <a:ext cx="2017" cy="726"/>
            </a:xfrm>
            <a:prstGeom prst="line">
              <a:avLst/>
            </a:prstGeom>
            <a:noFill/>
            <a:ln w="9525">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105" name="Line 24"/>
            <p:cNvSpPr>
              <a:spLocks noChangeShapeType="1"/>
            </p:cNvSpPr>
            <p:nvPr/>
          </p:nvSpPr>
          <p:spPr bwMode="auto">
            <a:xfrm flipV="1">
              <a:off x="590" y="441"/>
              <a:ext cx="1814" cy="477"/>
            </a:xfrm>
            <a:prstGeom prst="line">
              <a:avLst/>
            </a:prstGeom>
            <a:noFill/>
            <a:ln w="9525">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106" name="Line 25"/>
            <p:cNvSpPr>
              <a:spLocks noChangeShapeType="1"/>
            </p:cNvSpPr>
            <p:nvPr/>
          </p:nvSpPr>
          <p:spPr bwMode="auto">
            <a:xfrm flipV="1">
              <a:off x="590" y="759"/>
              <a:ext cx="2200" cy="181"/>
            </a:xfrm>
            <a:prstGeom prst="line">
              <a:avLst/>
            </a:prstGeom>
            <a:noFill/>
            <a:ln w="9525">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107" name="Line 26"/>
            <p:cNvSpPr>
              <a:spLocks noChangeShapeType="1"/>
            </p:cNvSpPr>
            <p:nvPr/>
          </p:nvSpPr>
          <p:spPr bwMode="auto">
            <a:xfrm flipV="1">
              <a:off x="590" y="872"/>
              <a:ext cx="1769" cy="68"/>
            </a:xfrm>
            <a:prstGeom prst="line">
              <a:avLst/>
            </a:prstGeom>
            <a:noFill/>
            <a:ln w="9525">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extLst>
      <p:ext uri="{BB962C8B-B14F-4D97-AF65-F5344CB8AC3E}">
        <p14:creationId xmlns:p14="http://schemas.microsoft.com/office/powerpoint/2010/main" val="1328664703"/>
      </p:ext>
    </p:extLst>
  </p:cSld>
  <p:clrMapOvr>
    <a:masterClrMapping/>
  </p:clrMapOvr>
  <p:transition spd="med">
    <p:split orient="ver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2.2.1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单</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连接算法</a:t>
            </a:r>
          </a:p>
        </p:txBody>
      </p:sp>
      <p:pic>
        <p:nvPicPr>
          <p:cNvPr id="44037" name="Picture 4"/>
          <p:cNvPicPr>
            <a:picLocks noChangeAspect="1" noChangeArrowheads="1"/>
          </p:cNvPicPr>
          <p:nvPr/>
        </p:nvPicPr>
        <p:blipFill>
          <a:blip r:embed="rId2">
            <a:extLst>
              <a:ext uri="{28A0092B-C50C-407E-A947-70E740481C1C}">
                <a14:useLocalDpi xmlns:a14="http://schemas.microsoft.com/office/drawing/2010/main" val="0"/>
              </a:ext>
            </a:extLst>
          </a:blip>
          <a:srcRect l="10001" r="3506" b="63669"/>
          <a:stretch>
            <a:fillRect/>
          </a:stretch>
        </p:blipFill>
        <p:spPr bwMode="auto">
          <a:xfrm>
            <a:off x="899592" y="2348880"/>
            <a:ext cx="7566388" cy="2520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1266261"/>
      </p:ext>
    </p:extLst>
  </p:cSld>
  <p:clrMapOvr>
    <a:masterClrMapping/>
  </p:clrMapOvr>
  <p:transition spd="med">
    <p:split orient="ver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4">
            <a:extLst>
              <a:ext uri="{FF2B5EF4-FFF2-40B4-BE49-F238E27FC236}">
                <a16:creationId xmlns:a16="http://schemas.microsoft.com/office/drawing/2014/main" id="{6B54CB06-2FAF-4BE5-A089-475FF7BBCB9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l="10001" r="3506" b="63669"/>
          <a:stretch>
            <a:fillRect/>
          </a:stretch>
        </p:blipFill>
        <p:spPr bwMode="auto">
          <a:xfrm>
            <a:off x="251520" y="3451310"/>
            <a:ext cx="4755487" cy="15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3">
            <a:extLst>
              <a:ext uri="{FF2B5EF4-FFF2-40B4-BE49-F238E27FC236}">
                <a16:creationId xmlns:a16="http://schemas.microsoft.com/office/drawing/2014/main" id="{6A14CB2A-AE92-41B2-BB26-8EF8DB0A6FA3}"/>
              </a:ext>
            </a:extLst>
          </p:cNvPr>
          <p:cNvSpPr txBox="1">
            <a:spLocks noChangeArrowheads="1"/>
          </p:cNvSpPr>
          <p:nvPr/>
        </p:nvSpPr>
        <p:spPr>
          <a:xfrm>
            <a:off x="252000" y="764704"/>
            <a:ext cx="8640000" cy="853375"/>
          </a:xfrm>
          <a:prstGeom prst="rect">
            <a:avLst/>
          </a:prstGeom>
          <a:noFill/>
        </p:spPr>
        <p:txBody>
          <a:bodyPr wrap="square" lIns="72000" rIns="7200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先将五个样本都分别看成是一个簇，最靠近的两个簇是</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，因为他们具有最小的簇间距离 </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rgbClr val="639EF4"/>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00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00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填空</a:t>
            </a:r>
            <a:r>
              <a:rPr lang="en-US" altLang="zh-CN" sz="200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1] </a:t>
            </a:r>
            <a:endParaRPr lang="en-US" altLang="zh-CN" sz="2000">
              <a:solidFill>
                <a:srgbClr val="0070C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8" name="圆角矩形 6">
            <a:extLst>
              <a:ext uri="{FF2B5EF4-FFF2-40B4-BE49-F238E27FC236}">
                <a16:creationId xmlns:a16="http://schemas.microsoft.com/office/drawing/2014/main" id="{D11293CB-C5B8-4028-A480-075F4D3CF88E}"/>
              </a:ext>
            </a:extLst>
          </p:cNvPr>
          <p:cNvSpPr/>
          <p:nvPr>
            <p:custDataLst>
              <p:tags r:id="rId2"/>
            </p:custDataLst>
          </p:nvPr>
        </p:nvSpPr>
        <p:spPr bwMode="auto">
          <a:xfrm>
            <a:off x="6989390" y="5790602"/>
            <a:ext cx="1543050" cy="411480"/>
          </a:xfrm>
          <a:prstGeom prst="roundRect">
            <a:avLst/>
          </a:prstGeom>
          <a:gradFill flip="none" rotWithShape="1">
            <a:gsLst>
              <a:gs pos="0">
                <a:srgbClr val="13548C">
                  <a:shade val="30000"/>
                  <a:satMod val="115000"/>
                </a:srgbClr>
              </a:gs>
              <a:gs pos="50000">
                <a:srgbClr val="13548C">
                  <a:shade val="67500"/>
                  <a:satMod val="115000"/>
                </a:srgbClr>
              </a:gs>
              <a:gs pos="100000">
                <a:srgbClr val="13548C">
                  <a:shade val="100000"/>
                  <a:satMod val="115000"/>
                </a:srgbClr>
              </a:gs>
            </a:gsLst>
            <a:lin ang="16200000" scaled="1"/>
            <a:tileRect/>
          </a:gradFill>
          <a:ln w="381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作答</a:t>
            </a:r>
          </a:p>
        </p:txBody>
      </p:sp>
      <p:sp>
        <p:nvSpPr>
          <p:cNvPr id="19" name="矩形 18">
            <a:extLst>
              <a:ext uri="{FF2B5EF4-FFF2-40B4-BE49-F238E27FC236}">
                <a16:creationId xmlns:a16="http://schemas.microsoft.com/office/drawing/2014/main" id="{749AA0B5-F452-4B1B-A5AD-D30724C79DEE}"/>
              </a:ext>
            </a:extLst>
          </p:cNvPr>
          <p:cNvSpPr/>
          <p:nvPr>
            <p:custDataLst>
              <p:tags r:id="rId3"/>
            </p:custDataLst>
          </p:nvPr>
        </p:nvSpPr>
        <p:spPr bwMode="auto">
          <a:xfrm>
            <a:off x="0" y="6452084"/>
            <a:ext cx="9144000" cy="365760"/>
          </a:xfrm>
          <a:prstGeom prst="rect">
            <a:avLst/>
          </a:prstGeom>
          <a:solidFill>
            <a:srgbClr val="FBFAE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kumimoji="0" lang="zh-CN" altLang="en-US" sz="1200" b="0" i="0" u="none" strike="noStrike" cap="none" normalizeH="0" baseline="0">
                <a:ln>
                  <a:noFill/>
                </a:ln>
                <a:solidFill>
                  <a:srgbClr val="F84F41"/>
                </a:solidFill>
                <a:effectLst/>
                <a:latin typeface="Times New Roman" panose="02020603050405020304" pitchFamily="18" charset="0"/>
                <a:ea typeface="微软雅黑" panose="020B0503020204020204" pitchFamily="34" charset="-122"/>
                <a:sym typeface="Times New Roman" panose="02020603050405020304" pitchFamily="18" charset="0"/>
              </a:rPr>
              <a:t>正常使用填空题需</a:t>
            </a:r>
            <a:r>
              <a:rPr kumimoji="0" lang="en-US" altLang="zh-CN" sz="1200" b="0" i="0" u="none" strike="noStrike" cap="none" normalizeH="0" baseline="0">
                <a:ln>
                  <a:noFill/>
                </a:ln>
                <a:solidFill>
                  <a:srgbClr val="F84F41"/>
                </a:solidFill>
                <a:effectLst/>
                <a:latin typeface="Times New Roman" panose="02020603050405020304" pitchFamily="18" charset="0"/>
                <a:ea typeface="微软雅黑" panose="020B0503020204020204" pitchFamily="34" charset="-122"/>
                <a:sym typeface="Times New Roman" panose="02020603050405020304" pitchFamily="18" charset="0"/>
              </a:rPr>
              <a:t>3.0</a:t>
            </a:r>
            <a:r>
              <a:rPr kumimoji="0" lang="zh-CN" altLang="en-US" sz="1200" b="0" i="0" u="none" strike="noStrike" cap="none" normalizeH="0" baseline="0">
                <a:ln>
                  <a:noFill/>
                </a:ln>
                <a:solidFill>
                  <a:srgbClr val="F84F41"/>
                </a:solidFill>
                <a:effectLst/>
                <a:latin typeface="Times New Roman" panose="02020603050405020304" pitchFamily="18" charset="0"/>
                <a:ea typeface="微软雅黑" panose="020B0503020204020204" pitchFamily="34" charset="-122"/>
                <a:sym typeface="Times New Roman" panose="02020603050405020304" pitchFamily="18" charset="0"/>
              </a:rPr>
              <a:t>以上版本雨课堂</a:t>
            </a:r>
          </a:p>
        </p:txBody>
      </p:sp>
      <p:grpSp>
        <p:nvGrpSpPr>
          <p:cNvPr id="12" name="组合 11"/>
          <p:cNvGrpSpPr/>
          <p:nvPr>
            <p:custDataLst>
              <p:tags r:id="rId4"/>
            </p:custDataLst>
          </p:nvPr>
        </p:nvGrpSpPr>
        <p:grpSpPr>
          <a:xfrm>
            <a:off x="0" y="0"/>
            <a:ext cx="9144000" cy="635000"/>
            <a:chOff x="0" y="0"/>
            <a:chExt cx="9144000" cy="635000"/>
          </a:xfrm>
        </p:grpSpPr>
        <p:sp>
          <p:nvSpPr>
            <p:cNvPr id="8" name="TitleBackground"/>
            <p:cNvSpPr/>
            <p:nvPr>
              <p:custDataLst>
                <p:tags r:id="rId6"/>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ColorBlock"/>
            <p:cNvSpPr/>
            <p:nvPr>
              <p:custDataLst>
                <p:tags r:id="rId7"/>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填空题</a:t>
              </a:r>
            </a:p>
          </p:txBody>
        </p:sp>
        <p:sp>
          <p:nvSpPr>
            <p:cNvPr id="11" name="TipText"/>
            <p:cNvSpPr txBox="1"/>
            <p:nvPr>
              <p:custDataLst>
                <p:tags r:id="rId9"/>
              </p:custDataLst>
            </p:nvPr>
          </p:nvSpPr>
          <p:spPr>
            <a:xfrm>
              <a:off x="1510030"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a:picLocks/>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084803242"/>
      </p:ext>
    </p:extLst>
  </p:cSld>
  <p:clrMapOvr>
    <a:masterClrMapping/>
  </p:clrMapOvr>
  <p:transition spd="med">
    <p:split orient="ver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7" name="Picture 4"/>
          <p:cNvPicPr>
            <a:picLocks noChangeAspect="1" noChangeArrowheads="1"/>
          </p:cNvPicPr>
          <p:nvPr/>
        </p:nvPicPr>
        <p:blipFill>
          <a:blip r:embed="rId2">
            <a:extLst>
              <a:ext uri="{28A0092B-C50C-407E-A947-70E740481C1C}">
                <a14:useLocalDpi xmlns:a14="http://schemas.microsoft.com/office/drawing/2010/main" val="0"/>
              </a:ext>
            </a:extLst>
          </a:blip>
          <a:srcRect l="10001" r="3506" b="63669"/>
          <a:stretch>
            <a:fillRect/>
          </a:stretch>
        </p:blipFill>
        <p:spPr bwMode="auto">
          <a:xfrm>
            <a:off x="251520" y="4819453"/>
            <a:ext cx="4755487" cy="15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588B20AD-C4F1-481D-A3E3-F54985C5A347}"/>
              </a:ext>
            </a:extLst>
          </p:cNvPr>
          <p:cNvSpPr txBox="1">
            <a:spLocks noChangeArrowheads="1"/>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2.2.1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单连接算法</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8" name="Rectangle 3">
            <a:extLst>
              <a:ext uri="{FF2B5EF4-FFF2-40B4-BE49-F238E27FC236}">
                <a16:creationId xmlns:a16="http://schemas.microsoft.com/office/drawing/2014/main" id="{94860DAC-8719-4BD8-9E94-C1152A88DF0B}"/>
              </a:ext>
            </a:extLst>
          </p:cNvPr>
          <p:cNvSpPr txBox="1">
            <a:spLocks noChangeArrowheads="1"/>
          </p:cNvSpPr>
          <p:nvPr/>
        </p:nvSpPr>
        <p:spPr>
          <a:xfrm>
            <a:off x="252000" y="764704"/>
            <a:ext cx="8640000" cy="853375"/>
          </a:xfrm>
          <a:prstGeom prst="rect">
            <a:avLst/>
          </a:prstGeom>
          <a:noFill/>
        </p:spPr>
        <p:txBody>
          <a:bodyPr wrap="square" lIns="72000" rIns="7200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先将五个样本都分别看成是一个簇，最靠近的两个簇是</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，因为他们具有最小的簇间距离 </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=5.0</a:t>
            </a:r>
          </a:p>
        </p:txBody>
      </p:sp>
    </p:spTree>
    <p:extLst>
      <p:ext uri="{BB962C8B-B14F-4D97-AF65-F5344CB8AC3E}">
        <p14:creationId xmlns:p14="http://schemas.microsoft.com/office/powerpoint/2010/main" val="2926524450"/>
      </p:ext>
    </p:extLst>
  </p:cSld>
  <p:clrMapOvr>
    <a:masterClrMapping/>
  </p:clrMapOvr>
  <p:transition spd="med">
    <p:split orient="ver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custDataLst>
              <p:tags r:id="rId2"/>
            </p:custDataLst>
          </p:nvPr>
        </p:nvSpPr>
        <p:spPr bwMode="auto">
          <a:xfrm>
            <a:off x="6989390" y="5790602"/>
            <a:ext cx="1543050" cy="411480"/>
          </a:xfrm>
          <a:prstGeom prst="roundRect">
            <a:avLst/>
          </a:prstGeom>
          <a:gradFill flip="none" rotWithShape="1">
            <a:gsLst>
              <a:gs pos="0">
                <a:srgbClr val="13548C">
                  <a:shade val="30000"/>
                  <a:satMod val="115000"/>
                </a:srgbClr>
              </a:gs>
              <a:gs pos="50000">
                <a:srgbClr val="13548C">
                  <a:shade val="67500"/>
                  <a:satMod val="115000"/>
                </a:srgbClr>
              </a:gs>
              <a:gs pos="100000">
                <a:srgbClr val="13548C">
                  <a:shade val="100000"/>
                  <a:satMod val="115000"/>
                </a:srgbClr>
              </a:gs>
            </a:gsLst>
            <a:lin ang="16200000" scaled="1"/>
            <a:tileRect/>
          </a:gradFill>
          <a:ln w="381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作答</a:t>
            </a:r>
          </a:p>
        </p:txBody>
      </p:sp>
      <p:sp>
        <p:nvSpPr>
          <p:cNvPr id="13" name="矩形 12"/>
          <p:cNvSpPr/>
          <p:nvPr>
            <p:custDataLst>
              <p:tags r:id="rId3"/>
            </p:custDataLst>
          </p:nvPr>
        </p:nvSpPr>
        <p:spPr bwMode="auto">
          <a:xfrm>
            <a:off x="0" y="6452084"/>
            <a:ext cx="9144000" cy="365760"/>
          </a:xfrm>
          <a:prstGeom prst="rect">
            <a:avLst/>
          </a:prstGeom>
          <a:solidFill>
            <a:srgbClr val="FBFAE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kumimoji="0" lang="zh-CN" altLang="en-US" sz="1200" b="0" i="0" u="none" strike="noStrike" cap="none" normalizeH="0" baseline="0">
                <a:ln>
                  <a:noFill/>
                </a:ln>
                <a:solidFill>
                  <a:srgbClr val="F84F41"/>
                </a:solidFill>
                <a:effectLst/>
                <a:latin typeface="Times New Roman" panose="02020603050405020304" pitchFamily="18" charset="0"/>
                <a:ea typeface="微软雅黑" panose="020B0503020204020204" pitchFamily="34" charset="-122"/>
                <a:sym typeface="Times New Roman" panose="02020603050405020304" pitchFamily="18" charset="0"/>
              </a:rPr>
              <a:t>正常使用填空题需</a:t>
            </a:r>
            <a:r>
              <a:rPr kumimoji="0" lang="en-US" altLang="zh-CN" sz="1200" b="0" i="0" u="none" strike="noStrike" cap="none" normalizeH="0" baseline="0">
                <a:ln>
                  <a:noFill/>
                </a:ln>
                <a:solidFill>
                  <a:srgbClr val="F84F41"/>
                </a:solidFill>
                <a:effectLst/>
                <a:latin typeface="Times New Roman" panose="02020603050405020304" pitchFamily="18" charset="0"/>
                <a:ea typeface="微软雅黑" panose="020B0503020204020204" pitchFamily="34" charset="-122"/>
                <a:sym typeface="Times New Roman" panose="02020603050405020304" pitchFamily="18" charset="0"/>
              </a:rPr>
              <a:t>3.0</a:t>
            </a:r>
            <a:r>
              <a:rPr kumimoji="0" lang="zh-CN" altLang="en-US" sz="1200" b="0" i="0" u="none" strike="noStrike" cap="none" normalizeH="0" baseline="0">
                <a:ln>
                  <a:noFill/>
                </a:ln>
                <a:solidFill>
                  <a:srgbClr val="F84F41"/>
                </a:solidFill>
                <a:effectLst/>
                <a:latin typeface="Times New Roman" panose="02020603050405020304" pitchFamily="18" charset="0"/>
                <a:ea typeface="微软雅黑" panose="020B0503020204020204" pitchFamily="34" charset="-122"/>
                <a:sym typeface="Times New Roman" panose="02020603050405020304" pitchFamily="18" charset="0"/>
              </a:rPr>
              <a:t>以上版本雨课堂</a:t>
            </a:r>
          </a:p>
        </p:txBody>
      </p:sp>
      <p:pic>
        <p:nvPicPr>
          <p:cNvPr id="21" name="Picture 4">
            <a:extLst>
              <a:ext uri="{FF2B5EF4-FFF2-40B4-BE49-F238E27FC236}">
                <a16:creationId xmlns:a16="http://schemas.microsoft.com/office/drawing/2014/main" id="{B6452181-74F0-4D21-BA39-3869EBC3E39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l="10001" r="3506" b="63669"/>
          <a:stretch>
            <a:fillRect/>
          </a:stretch>
        </p:blipFill>
        <p:spPr bwMode="auto">
          <a:xfrm>
            <a:off x="251520" y="3861784"/>
            <a:ext cx="4755487" cy="15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5">
            <a:extLst>
              <a:ext uri="{FF2B5EF4-FFF2-40B4-BE49-F238E27FC236}">
                <a16:creationId xmlns:a16="http://schemas.microsoft.com/office/drawing/2014/main" id="{66A67174-E00B-4713-8E7E-C49C410D3FD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78076" y="3866063"/>
            <a:ext cx="3824170" cy="15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3">
            <a:extLst>
              <a:ext uri="{FF2B5EF4-FFF2-40B4-BE49-F238E27FC236}">
                <a16:creationId xmlns:a16="http://schemas.microsoft.com/office/drawing/2014/main" id="{7632C0E4-4537-4A77-98D0-DBFD4D10C312}"/>
              </a:ext>
            </a:extLst>
          </p:cNvPr>
          <p:cNvSpPr txBox="1">
            <a:spLocks noChangeArrowheads="1"/>
          </p:cNvSpPr>
          <p:nvPr/>
        </p:nvSpPr>
        <p:spPr>
          <a:xfrm>
            <a:off x="252000" y="764704"/>
            <a:ext cx="8640000" cy="2760820"/>
          </a:xfrm>
          <a:prstGeom prst="rect">
            <a:avLst/>
          </a:prstGeom>
          <a:noFill/>
        </p:spPr>
        <p:txBody>
          <a:bodyPr wrap="square" lIns="72000" rIns="7200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先将五个样本都分别看成是一个簇，最靠近的两个簇是</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，因为他们具有最小的簇间距离 </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=5.0</a:t>
            </a: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合并簇</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，得到新簇集合</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34</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,5</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更新距离矩阵</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D(1,(34)) = min(D(1,3),D(1,4)) = min(20.6, 22.4) = </a:t>
            </a:r>
            <a:r>
              <a:rPr lang="zh-CN" altLang="en-US" sz="2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填空</a:t>
            </a:r>
            <a:r>
              <a:rPr lang="en-US" altLang="zh-CN" sz="2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1] </a:t>
            </a:r>
            <a:endParaRPr lang="en-US" altLang="zh-CN" sz="2000" dirty="0">
              <a:solidFill>
                <a:srgbClr val="0070C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D(2,(34)) = min(D(2,3),D(2,4)) = min(14.1, 11.2) = </a:t>
            </a:r>
            <a:r>
              <a:rPr lang="zh-CN" altLang="en-US" sz="2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填空</a:t>
            </a:r>
            <a:r>
              <a:rPr lang="en-US" altLang="zh-CN" sz="2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2] </a:t>
            </a:r>
            <a:endPar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D(5,(34)) = min(D(3,5),D(4,5)) = min(25.0, 25.5) = </a:t>
            </a:r>
            <a:r>
              <a:rPr lang="zh-CN" altLang="en-US" sz="2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填空</a:t>
            </a:r>
            <a:r>
              <a:rPr lang="en-US" altLang="zh-CN" sz="2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3] </a:t>
            </a:r>
            <a:endPar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2" name="组合 11"/>
          <p:cNvGrpSpPr/>
          <p:nvPr>
            <p:custDataLst>
              <p:tags r:id="rId4"/>
            </p:custDataLst>
          </p:nvPr>
        </p:nvGrpSpPr>
        <p:grpSpPr>
          <a:xfrm>
            <a:off x="0" y="0"/>
            <a:ext cx="9144000" cy="635000"/>
            <a:chOff x="0" y="0"/>
            <a:chExt cx="9144000" cy="635000"/>
          </a:xfrm>
        </p:grpSpPr>
        <p:sp>
          <p:nvSpPr>
            <p:cNvPr id="8" name="TitleBackground"/>
            <p:cNvSpPr/>
            <p:nvPr>
              <p:custDataLst>
                <p:tags r:id="rId6"/>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ColorBlock"/>
            <p:cNvSpPr/>
            <p:nvPr>
              <p:custDataLst>
                <p:tags r:id="rId7"/>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填空题</a:t>
              </a:r>
            </a:p>
          </p:txBody>
        </p:sp>
        <p:sp>
          <p:nvSpPr>
            <p:cNvPr id="11" name="TipText"/>
            <p:cNvSpPr txBox="1"/>
            <p:nvPr>
              <p:custDataLst>
                <p:tags r:id="rId9"/>
              </p:custDataLst>
            </p:nvPr>
          </p:nvSpPr>
          <p:spPr>
            <a:xfrm>
              <a:off x="1510030"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a:picLocks/>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306047262"/>
      </p:ext>
    </p:extLst>
  </p:cSld>
  <p:clrMapOvr>
    <a:masterClrMapping/>
  </p:clrMapOvr>
  <p:transition spd="med">
    <p:split orient="ver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7" name="Picture 4"/>
          <p:cNvPicPr>
            <a:picLocks noChangeAspect="1" noChangeArrowheads="1"/>
          </p:cNvPicPr>
          <p:nvPr/>
        </p:nvPicPr>
        <p:blipFill>
          <a:blip r:embed="rId2">
            <a:extLst>
              <a:ext uri="{28A0092B-C50C-407E-A947-70E740481C1C}">
                <a14:useLocalDpi xmlns:a14="http://schemas.microsoft.com/office/drawing/2010/main" val="0"/>
              </a:ext>
            </a:extLst>
          </a:blip>
          <a:srcRect l="10001" r="3506" b="63669"/>
          <a:stretch>
            <a:fillRect/>
          </a:stretch>
        </p:blipFill>
        <p:spPr bwMode="auto">
          <a:xfrm>
            <a:off x="251520" y="4819453"/>
            <a:ext cx="4755487" cy="15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8076" y="4823732"/>
            <a:ext cx="3824170" cy="15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588B20AD-C4F1-481D-A3E3-F54985C5A347}"/>
              </a:ext>
            </a:extLst>
          </p:cNvPr>
          <p:cNvSpPr txBox="1">
            <a:spLocks noChangeArrowheads="1"/>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2.2.1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单连接算法</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8" name="Rectangle 3">
            <a:extLst>
              <a:ext uri="{FF2B5EF4-FFF2-40B4-BE49-F238E27FC236}">
                <a16:creationId xmlns:a16="http://schemas.microsoft.com/office/drawing/2014/main" id="{94860DAC-8719-4BD8-9E94-C1152A88DF0B}"/>
              </a:ext>
            </a:extLst>
          </p:cNvPr>
          <p:cNvSpPr txBox="1">
            <a:spLocks noChangeArrowheads="1"/>
          </p:cNvSpPr>
          <p:nvPr/>
        </p:nvSpPr>
        <p:spPr>
          <a:xfrm>
            <a:off x="252000" y="764704"/>
            <a:ext cx="8640000" cy="2760820"/>
          </a:xfrm>
          <a:prstGeom prst="rect">
            <a:avLst/>
          </a:prstGeom>
          <a:noFill/>
        </p:spPr>
        <p:txBody>
          <a:bodyPr wrap="square" lIns="72000" rIns="7200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先将五个样本都分别看成是一个簇，最靠近的两个簇是</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，因为他们具有最小的簇间距离 </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=5.0</a:t>
            </a: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合并簇</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，得到新簇集合</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34</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,5</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更新距离矩阵</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D(1,(34)) = min(D(1,3),D(1,4)) = min(20.6, 22.4) = 20.6</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D(2,(34)) = min(D(2,3),D(2,4)) = min(14.1, 11.2) = 11.2</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D(5,(34)) = min(D(3,5),D(4,5)) = min(25.0, 25.5) = 25.0</a:t>
            </a:r>
          </a:p>
        </p:txBody>
      </p:sp>
    </p:spTree>
    <p:extLst>
      <p:ext uri="{BB962C8B-B14F-4D97-AF65-F5344CB8AC3E}">
        <p14:creationId xmlns:p14="http://schemas.microsoft.com/office/powerpoint/2010/main" val="818108268"/>
      </p:ext>
    </p:extLst>
  </p:cSld>
  <p:clrMapOvr>
    <a:masterClrMapping/>
  </p:clrMapOvr>
  <p:transition spd="med">
    <p:split orient="ver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7" name="Picture 4"/>
          <p:cNvPicPr>
            <a:picLocks noChangeAspect="1" noChangeArrowheads="1"/>
          </p:cNvPicPr>
          <p:nvPr/>
        </p:nvPicPr>
        <p:blipFill>
          <a:blip r:embed="rId2">
            <a:extLst>
              <a:ext uri="{28A0092B-C50C-407E-A947-70E740481C1C}">
                <a14:useLocalDpi xmlns:a14="http://schemas.microsoft.com/office/drawing/2010/main" val="0"/>
              </a:ext>
            </a:extLst>
          </a:blip>
          <a:srcRect l="10001" r="3506" b="63669"/>
          <a:stretch>
            <a:fillRect/>
          </a:stretch>
        </p:blipFill>
        <p:spPr bwMode="auto">
          <a:xfrm>
            <a:off x="251520" y="4810749"/>
            <a:ext cx="4755487" cy="15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8076" y="4815028"/>
            <a:ext cx="3824170" cy="15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588B20AD-C4F1-481D-A3E3-F54985C5A347}"/>
              </a:ext>
            </a:extLst>
          </p:cNvPr>
          <p:cNvSpPr txBox="1">
            <a:spLocks noChangeArrowheads="1"/>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2.2.1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单连接算法</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8" name="Rectangle 3">
            <a:extLst>
              <a:ext uri="{FF2B5EF4-FFF2-40B4-BE49-F238E27FC236}">
                <a16:creationId xmlns:a16="http://schemas.microsoft.com/office/drawing/2014/main" id="{94860DAC-8719-4BD8-9E94-C1152A88DF0B}"/>
              </a:ext>
            </a:extLst>
          </p:cNvPr>
          <p:cNvSpPr txBox="1">
            <a:spLocks noChangeArrowheads="1"/>
          </p:cNvSpPr>
          <p:nvPr/>
        </p:nvSpPr>
        <p:spPr>
          <a:xfrm>
            <a:off x="252000" y="756000"/>
            <a:ext cx="8640000" cy="3638753"/>
          </a:xfrm>
          <a:prstGeom prst="rect">
            <a:avLst/>
          </a:prstGeom>
          <a:noFill/>
        </p:spPr>
        <p:txBody>
          <a:bodyPr wrap="square" lIns="72000" rIns="7200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先将五个样本都分别看成是一个簇，最靠近的两个簇是</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，因为他们具有最小的簇间距离 </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=5.0</a:t>
            </a: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合并簇</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，得到新簇集合</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34</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,5</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更新距离矩阵</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D(1,(34)) = min(D(1,3),D(1,4)) = min(20.6, 22.4) = 20.6</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D(2,(34)) = min(D(2,3),D(2,4)) = min(14.1, 11.2) = 11.2</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D(5,(34)) = min(D(3,5),D(4,5)) = min(25.0, 25.5) = 25.0</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原有簇</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1,2,5</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间的距离不变，故在四个簇</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1,2,(34),5</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中，最靠近的两个簇是</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1</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5</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，它们具有最小簇间距离</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1,5</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7.07</a:t>
            </a:r>
            <a:endPar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3512478855"/>
      </p:ext>
    </p:extLst>
  </p:cSld>
  <p:clrMapOvr>
    <a:masterClrMapping/>
  </p:clrMapOvr>
  <p:transition spd="med">
    <p:split orient="ver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4"/>
          <p:cNvSpPr>
            <a:spLocks noGrp="1"/>
          </p:cNvSpPr>
          <p:nvPr>
            <p:ph type="sldNum" sz="quarter" idx="4294967295"/>
          </p:nvPr>
        </p:nvSpPr>
        <p:spPr>
          <a:xfrm>
            <a:off x="7010400" y="6069013"/>
            <a:ext cx="2133600" cy="457200"/>
          </a:xfrm>
          <a:prstGeom prst="rect">
            <a:avLst/>
          </a:prstGeom>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3200">
                <a:solidFill>
                  <a:schemeClr val="tx1"/>
                </a:solidFill>
                <a:latin typeface="Arial" charset="0"/>
                <a:ea typeface="楷体_GB2312" pitchFamily="49" charset="-122"/>
              </a:defRPr>
            </a:lvl1pPr>
            <a:lvl2pPr>
              <a:defRPr sz="2800">
                <a:solidFill>
                  <a:schemeClr val="tx1"/>
                </a:solidFill>
                <a:latin typeface="Arial" charset="0"/>
                <a:ea typeface="楷体_GB2312" pitchFamily="49" charset="-122"/>
              </a:defRPr>
            </a:lvl2pPr>
            <a:lvl3pPr>
              <a:defRPr sz="2400">
                <a:solidFill>
                  <a:schemeClr val="tx1"/>
                </a:solidFill>
                <a:latin typeface="Arial" charset="0"/>
                <a:ea typeface="楷体_GB2312" pitchFamily="49" charset="-122"/>
              </a:defRPr>
            </a:lvl3pPr>
            <a:lvl4pPr>
              <a:defRPr sz="2000">
                <a:solidFill>
                  <a:schemeClr val="tx1"/>
                </a:solidFill>
                <a:latin typeface="Arial" charset="0"/>
                <a:ea typeface="楷体_GB2312" pitchFamily="49" charset="-122"/>
              </a:defRPr>
            </a:lvl4pPr>
            <a:lvl5pPr>
              <a:defRPr sz="2000">
                <a:solidFill>
                  <a:schemeClr val="tx1"/>
                </a:solidFill>
                <a:latin typeface="Arial" charset="0"/>
                <a:ea typeface="楷体_GB2312" pitchFamily="49" charset="-122"/>
              </a:defRPr>
            </a:lvl5pPr>
            <a:lvl6pPr eaLnBrk="0" hangingPunct="0">
              <a:defRPr sz="2000">
                <a:solidFill>
                  <a:schemeClr val="tx1"/>
                </a:solidFill>
                <a:latin typeface="Arial" charset="0"/>
                <a:ea typeface="楷体_GB2312" pitchFamily="49" charset="-122"/>
              </a:defRPr>
            </a:lvl6pPr>
            <a:lvl7pPr eaLnBrk="0" hangingPunct="0">
              <a:defRPr sz="2000">
                <a:solidFill>
                  <a:schemeClr val="tx1"/>
                </a:solidFill>
                <a:latin typeface="Arial" charset="0"/>
                <a:ea typeface="楷体_GB2312" pitchFamily="49" charset="-122"/>
              </a:defRPr>
            </a:lvl7pPr>
            <a:lvl8pPr eaLnBrk="0" hangingPunct="0">
              <a:defRPr sz="2000">
                <a:solidFill>
                  <a:schemeClr val="tx1"/>
                </a:solidFill>
                <a:latin typeface="Arial" charset="0"/>
                <a:ea typeface="楷体_GB2312" pitchFamily="49" charset="-122"/>
              </a:defRPr>
            </a:lvl8pPr>
            <a:lvl9pPr eaLnBrk="0" hangingPunct="0">
              <a:defRPr sz="2000">
                <a:solidFill>
                  <a:schemeClr val="tx1"/>
                </a:solidFill>
                <a:latin typeface="Arial" charset="0"/>
                <a:ea typeface="楷体_GB2312" pitchFamily="49" charset="-122"/>
              </a:defRPr>
            </a:lvl9pPr>
          </a:lstStyle>
          <a:p>
            <a:pPr>
              <a:defRPr/>
            </a:pPr>
            <a:fld id="{30CE4127-B03C-4F33-BE7B-3F81199A7583}" type="slidenum">
              <a:rPr lang="zh-CN" altLang="en-US" sz="1200" smtClean="0">
                <a:latin typeface="Times New Roman" panose="02020603050405020304" pitchFamily="18" charset="0"/>
                <a:ea typeface="微软雅黑" panose="020B0503020204020204" pitchFamily="34" charset="-122"/>
                <a:sym typeface="Times New Roman" panose="02020603050405020304" pitchFamily="18" charset="0"/>
              </a:rPr>
              <a:pPr>
                <a:defRPr/>
              </a:pPr>
              <a:t>89</a:t>
            </a:fld>
            <a:endParaRPr lang="en-US" altLang="zh-CN" sz="12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8132" name="Rectangle 3"/>
          <p:cNvSpPr>
            <a:spLocks noGrp="1" noChangeArrowheads="1"/>
          </p:cNvSpPr>
          <p:nvPr>
            <p:ph type="body" idx="4294967295"/>
          </p:nvPr>
        </p:nvSpPr>
        <p:spPr>
          <a:xfrm>
            <a:off x="252000" y="756000"/>
            <a:ext cx="8640000" cy="3638753"/>
          </a:xfrm>
          <a:prstGeom prst="rect">
            <a:avLst/>
          </a:prstGeom>
          <a:noFill/>
        </p:spPr>
        <p:txBody>
          <a:bodyPr wrap="square" lIns="72000" rIns="72000">
            <a:spAutoFit/>
          </a:bodyPr>
          <a:lstStyle/>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先将五个样本都分别看成是一个簇，最靠近的两个</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簇是</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，因为他们具有最小的簇间</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距离 </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=5.0</a:t>
            </a: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合并簇</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，得到新</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簇集合</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34</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,5</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更新距离矩阵</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D(1,(34)) = min(D(1,3),D(1,4)) = min(20.6, 22.4) = 20.6</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D(2,(34)) = min(D(2,3),D(2,4)) = min(14.1, 11.2) = 11.2</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D(5,(34)) = min(D(3,5),D(4,5)) = min(25.0, 25.5) = 25.0</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原有簇</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1,2,5</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间的距离不变，故在四</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个簇</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1,2,(34),5</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中，最靠近的两个</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簇是</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1</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5</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，它们具有最小簇</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间距离</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1,5</a:t>
            </a:r>
            <a:r>
              <a:rPr lang="zh-CN" altLang="en-US"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00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7.07</a:t>
            </a:r>
            <a:endParaRPr lang="en-US" altLang="zh-CN" sz="2000" dirty="0">
              <a:solidFill>
                <a:schemeClr val="tx1">
                  <a:lumMod val="95000"/>
                  <a:lumOff val="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r="21683" b="6267"/>
          <a:stretch>
            <a:fillRect/>
          </a:stretch>
        </p:blipFill>
        <p:spPr bwMode="auto">
          <a:xfrm>
            <a:off x="6731129" y="4504060"/>
            <a:ext cx="2305367" cy="223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a:extLst>
              <a:ext uri="{FF2B5EF4-FFF2-40B4-BE49-F238E27FC236}">
                <a16:creationId xmlns:a16="http://schemas.microsoft.com/office/drawing/2014/main" id="{8E009317-42D2-4CAB-8F89-E4FC72606870}"/>
              </a:ext>
            </a:extLst>
          </p:cNvPr>
          <p:cNvSpPr txBox="1">
            <a:spLocks noChangeArrowheads="1"/>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2.2.1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单连接算法</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10" name="Picture 4">
            <a:extLst>
              <a:ext uri="{FF2B5EF4-FFF2-40B4-BE49-F238E27FC236}">
                <a16:creationId xmlns:a16="http://schemas.microsoft.com/office/drawing/2014/main" id="{D7895C3C-CB90-4A7C-97E7-678E22E3EA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001" r="3506" b="63669"/>
          <a:stretch>
            <a:fillRect/>
          </a:stretch>
        </p:blipFill>
        <p:spPr bwMode="auto">
          <a:xfrm>
            <a:off x="251520" y="4810749"/>
            <a:ext cx="4755487" cy="15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5">
            <a:extLst>
              <a:ext uri="{FF2B5EF4-FFF2-40B4-BE49-F238E27FC236}">
                <a16:creationId xmlns:a16="http://schemas.microsoft.com/office/drawing/2014/main" id="{48378BD6-DF9B-461F-8527-F060EEAEB9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2106" y="4815028"/>
            <a:ext cx="3824170" cy="15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3240785"/>
      </p:ext>
    </p:extLst>
  </p:cSld>
  <p:clrMapOvr>
    <a:masterClrMapping/>
  </p:clrMapOvr>
  <p:transition spd="med">
    <p:split orient="vert"/>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2.2.2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层次</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方法的问题及改进</a:t>
            </a:r>
          </a:p>
        </p:txBody>
      </p:sp>
      <p:sp>
        <p:nvSpPr>
          <p:cNvPr id="3" name="内容占位符 2"/>
          <p:cNvSpPr>
            <a:spLocks noGrp="1"/>
          </p:cNvSpPr>
          <p:nvPr>
            <p:ph idx="4294967295"/>
          </p:nvPr>
        </p:nvSpPr>
        <p:spPr>
          <a:xfrm>
            <a:off x="252000" y="756000"/>
            <a:ext cx="8640000" cy="5987088"/>
          </a:xfrm>
          <a:prstGeom prst="rect">
            <a:avLst/>
          </a:prstGeom>
          <a:noFill/>
        </p:spPr>
        <p:txBody>
          <a:bodyPr wrap="square" lIns="72000" rIns="72000">
            <a:spAutoFit/>
          </a:bodyPr>
          <a:lstStyle/>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层次聚类存在的主要问题</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合并或分裂的决定需要检查和估算大量的对象或簇</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一个步骤一旦完成便不能被撤消</a:t>
            </a:r>
          </a:p>
          <a:p>
            <a:pPr lvl="2">
              <a:lnSpc>
                <a:spcPct val="130000"/>
              </a:lnSpc>
              <a:spcBef>
                <a:spcPts val="600"/>
              </a:spcBef>
              <a:buClr>
                <a:srgbClr val="FF6700"/>
              </a:buClr>
            </a:pPr>
            <a:r>
              <a:rPr lang="zh-CN" altLang="en-US" sz="1800" dirty="0">
                <a:sym typeface="Times New Roman" panose="02020603050405020304" pitchFamily="18" charset="0"/>
              </a:rPr>
              <a:t>避免考虑选择不同的组合，减少计算代价</a:t>
            </a:r>
          </a:p>
          <a:p>
            <a:pPr lvl="2">
              <a:lnSpc>
                <a:spcPct val="130000"/>
              </a:lnSpc>
              <a:spcBef>
                <a:spcPts val="600"/>
              </a:spcBef>
              <a:buClr>
                <a:srgbClr val="FF6700"/>
              </a:buClr>
            </a:pPr>
            <a:r>
              <a:rPr lang="zh-CN" altLang="en-US" sz="1800" dirty="0">
                <a:sym typeface="Times New Roman" panose="02020603050405020304" pitchFamily="18" charset="0"/>
              </a:rPr>
              <a:t>不能更正错误的决定</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不具有很好的可伸缩性</a:t>
            </a: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改进方法：将层次聚类和其他的聚类技术进行集成，形成多阶段聚类</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BIRCH</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：使用</a:t>
            </a: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CF-tree </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对对象进行层次划分，然后采用其他的聚类算法对聚类结果进行求精</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CURE</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：采用固定数目的代表对象来表示每个簇，然后依据一个指定的收缩因子向着聚类中心对它们进行收缩</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CHAMELEON</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：使用动态模型进行</a:t>
            </a:r>
            <a:r>
              <a:rPr lang="zh-CN" altLang="en-US" sz="2000">
                <a:latin typeface="Times New Roman" panose="02020603050405020304" pitchFamily="18" charset="0"/>
                <a:ea typeface="微软雅黑" panose="020B0503020204020204" pitchFamily="34" charset="-122"/>
                <a:cs typeface="+mn-ea"/>
                <a:sym typeface="Times New Roman" panose="02020603050405020304" pitchFamily="18" charset="0"/>
              </a:rPr>
              <a:t>层次聚类</a:t>
            </a:r>
            <a:endPar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1638284785"/>
      </p:ext>
    </p:extLst>
  </p:cSld>
  <p:clrMapOvr>
    <a:masterClrMapping/>
  </p:clrMapOvr>
  <p:transition spd="med">
    <p:split orient="ver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756000" y="108000"/>
            <a:ext cx="758825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2.2.2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层次</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方法</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变形（</a:t>
            </a: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single-pass</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单遍聚类）</a:t>
            </a:r>
          </a:p>
        </p:txBody>
      </p:sp>
      <p:sp>
        <p:nvSpPr>
          <p:cNvPr id="5"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1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492521970"/>
              </p:ext>
            </p:extLst>
          </p:nvPr>
        </p:nvGraphicFramePr>
        <p:xfrm>
          <a:off x="120301" y="1708015"/>
          <a:ext cx="8903399" cy="1663408"/>
        </p:xfrm>
        <a:graphic>
          <a:graphicData uri="http://schemas.openxmlformats.org/presentationml/2006/ole">
            <mc:AlternateContent xmlns:mc="http://schemas.openxmlformats.org/markup-compatibility/2006">
              <mc:Choice xmlns:v="urn:schemas-microsoft-com:vml" Requires="v">
                <p:oleObj name="Visio" r:id="rId2" imgW="7419499" imgH="1386173" progId="Visio.Drawing.11">
                  <p:embed/>
                </p:oleObj>
              </mc:Choice>
              <mc:Fallback>
                <p:oleObj name="Visio" r:id="rId2" imgW="7419499" imgH="1386173" progId="Visio.Drawing.11">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r="3397"/>
                      <a:stretch>
                        <a:fillRect/>
                      </a:stretch>
                    </p:blipFill>
                    <p:spPr bwMode="auto">
                      <a:xfrm>
                        <a:off x="120301" y="1708015"/>
                        <a:ext cx="8903399" cy="1663408"/>
                      </a:xfrm>
                      <a:prstGeom prst="rect">
                        <a:avLst/>
                      </a:prstGeom>
                      <a:noFill/>
                    </p:spPr>
                  </p:pic>
                </p:oleObj>
              </mc:Fallback>
            </mc:AlternateContent>
          </a:graphicData>
        </a:graphic>
      </p:graphicFrame>
    </p:spTree>
    <p:extLst>
      <p:ext uri="{BB962C8B-B14F-4D97-AF65-F5344CB8AC3E}">
        <p14:creationId xmlns:p14="http://schemas.microsoft.com/office/powerpoint/2010/main" val="996215717"/>
      </p:ext>
    </p:extLst>
  </p:cSld>
  <p:clrMapOvr>
    <a:masterClrMapping/>
  </p:clrMapOvr>
  <p:transition spd="med">
    <p:split orient="ver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TextBox 6"/>
          <p:cNvSpPr txBox="1"/>
          <p:nvPr/>
        </p:nvSpPr>
        <p:spPr>
          <a:xfrm>
            <a:off x="1907704" y="3399453"/>
            <a:ext cx="5710507" cy="2242858"/>
          </a:xfrm>
          <a:prstGeom prst="rect">
            <a:avLst/>
          </a:prstGeom>
          <a:noFill/>
        </p:spPr>
        <p:txBody>
          <a:bodyPr wrap="square" rtlCol="0">
            <a:spAutoFit/>
          </a:bodyPr>
          <a:lstStyle/>
          <a:p>
            <a:pPr>
              <a:lnSpc>
                <a:spcPct val="150000"/>
              </a:lnSpc>
            </a:pPr>
            <a:r>
              <a:rPr lang="zh-CN" altLang="en-US" sz="2400" b="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讨论：</a:t>
            </a:r>
            <a:endParaRPr lang="en-US" altLang="zh-CN" sz="2400" b="1"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zh-CN" altLang="en-US" sz="24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sym typeface="Times New Roman" panose="02020603050405020304" pitchFamily="18" charset="0"/>
              </a:rPr>
              <a:t>）如何计算文档距离</a:t>
            </a:r>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zh-CN" altLang="en-US" sz="24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sym typeface="Times New Roman" panose="02020603050405020304" pitchFamily="18" charset="0"/>
              </a:rPr>
              <a:t>）如何计算文档与聚类的距离</a:t>
            </a:r>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zh-CN" altLang="en-US" sz="24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dirty="0">
                <a:latin typeface="Times New Roman" panose="02020603050405020304" pitchFamily="18" charset="0"/>
                <a:ea typeface="微软雅黑" panose="020B0503020204020204" pitchFamily="34" charset="-122"/>
                <a:sym typeface="Times New Roman" panose="02020603050405020304" pitchFamily="18" charset="0"/>
              </a:rPr>
              <a:t>）算法停止条件</a:t>
            </a:r>
          </a:p>
        </p:txBody>
      </p:sp>
      <p:sp>
        <p:nvSpPr>
          <p:cNvPr id="8" name="标题 3">
            <a:extLst>
              <a:ext uri="{FF2B5EF4-FFF2-40B4-BE49-F238E27FC236}">
                <a16:creationId xmlns:a16="http://schemas.microsoft.com/office/drawing/2014/main" id="{C9C79C27-68AA-4C31-AF8A-7C9137567715}"/>
              </a:ext>
            </a:extLst>
          </p:cNvPr>
          <p:cNvSpPr txBox="1">
            <a:spLocks/>
          </p:cNvSpPr>
          <p:nvPr/>
        </p:nvSpPr>
        <p:spPr>
          <a:xfrm>
            <a:off x="756000" y="108000"/>
            <a:ext cx="758825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2.2.2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层次方法变形（</a:t>
            </a: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single-pass</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单遍聚类）</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aphicFrame>
        <p:nvGraphicFramePr>
          <p:cNvPr id="9" name="对象 8">
            <a:extLst>
              <a:ext uri="{FF2B5EF4-FFF2-40B4-BE49-F238E27FC236}">
                <a16:creationId xmlns:a16="http://schemas.microsoft.com/office/drawing/2014/main" id="{D1BEC8FF-985C-4D26-977B-19AC7BCBAA57}"/>
              </a:ext>
            </a:extLst>
          </p:cNvPr>
          <p:cNvGraphicFramePr>
            <a:graphicFrameLocks noChangeAspect="1"/>
          </p:cNvGraphicFramePr>
          <p:nvPr>
            <p:extLst>
              <p:ext uri="{D42A27DB-BD31-4B8C-83A1-F6EECF244321}">
                <p14:modId xmlns:p14="http://schemas.microsoft.com/office/powerpoint/2010/main" val="2605764370"/>
              </p:ext>
            </p:extLst>
          </p:nvPr>
        </p:nvGraphicFramePr>
        <p:xfrm>
          <a:off x="120301" y="1708015"/>
          <a:ext cx="8903399" cy="1663408"/>
        </p:xfrm>
        <a:graphic>
          <a:graphicData uri="http://schemas.openxmlformats.org/presentationml/2006/ole">
            <mc:AlternateContent xmlns:mc="http://schemas.openxmlformats.org/markup-compatibility/2006">
              <mc:Choice xmlns:v="urn:schemas-microsoft-com:vml" Requires="v">
                <p:oleObj name="Visio" r:id="rId2" imgW="7419499" imgH="1386173" progId="Visio.Drawing.11">
                  <p:embed/>
                </p:oleObj>
              </mc:Choice>
              <mc:Fallback>
                <p:oleObj name="Visio" r:id="rId2" imgW="7419499" imgH="1386173" progId="Visio.Drawing.11">
                  <p:embed/>
                  <p:pic>
                    <p:nvPicPr>
                      <p:cNvPr id="7" name="对象 6"/>
                      <p:cNvPicPr>
                        <a:picLocks noChangeAspect="1" noChangeArrowheads="1"/>
                      </p:cNvPicPr>
                      <p:nvPr/>
                    </p:nvPicPr>
                    <p:blipFill>
                      <a:blip r:embed="rId3">
                        <a:extLst>
                          <a:ext uri="{28A0092B-C50C-407E-A947-70E740481C1C}">
                            <a14:useLocalDpi xmlns:a14="http://schemas.microsoft.com/office/drawing/2010/main" val="0"/>
                          </a:ext>
                        </a:extLst>
                      </a:blip>
                      <a:srcRect r="3397"/>
                      <a:stretch>
                        <a:fillRect/>
                      </a:stretch>
                    </p:blipFill>
                    <p:spPr bwMode="auto">
                      <a:xfrm>
                        <a:off x="120301" y="1708015"/>
                        <a:ext cx="8903399" cy="1663408"/>
                      </a:xfrm>
                      <a:prstGeom prst="rect">
                        <a:avLst/>
                      </a:prstGeom>
                      <a:noFill/>
                    </p:spPr>
                  </p:pic>
                </p:oleObj>
              </mc:Fallback>
            </mc:AlternateContent>
          </a:graphicData>
        </a:graphic>
      </p:graphicFrame>
    </p:spTree>
    <p:extLst>
      <p:ext uri="{BB962C8B-B14F-4D97-AF65-F5344CB8AC3E}">
        <p14:creationId xmlns:p14="http://schemas.microsoft.com/office/powerpoint/2010/main" val="1263852903"/>
      </p:ext>
    </p:extLst>
  </p:cSld>
  <p:clrMapOvr>
    <a:masterClrMapping/>
  </p:clrMapOvr>
  <p:transition spd="med">
    <p:split orient="vert"/>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层次聚类法计算</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个簇之间的距离有哪些方法</a:t>
            </a: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最小值</a:t>
            </a: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最大值</a:t>
            </a:r>
          </a:p>
        </p:txBody>
      </p:sp>
      <p:sp>
        <p:nvSpPr>
          <p:cNvPr id="9" name="TextBox 8"/>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平均值</a:t>
            </a:r>
          </a:p>
        </p:txBody>
      </p:sp>
      <p:sp>
        <p:nvSpPr>
          <p:cNvPr id="11" name="矩形 10"/>
          <p:cNvSpPr>
            <a:spLocks noChangeAspect="1"/>
          </p:cNvSpPr>
          <p:nvPr>
            <p:custDataLst>
              <p:tags r:id="rId6"/>
            </p:custDataLst>
          </p:nvPr>
        </p:nvSpPr>
        <p:spPr bwMode="auto">
          <a:xfrm>
            <a:off x="1114425" y="2850356"/>
            <a:ext cx="514350" cy="514350"/>
          </a:xfrm>
          <a:prstGeom prst="rect">
            <a:avLst/>
          </a:prstGeom>
          <a:solidFill>
            <a:srgbClr val="FF99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A</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矩形 11"/>
          <p:cNvSpPr>
            <a:spLocks noChangeAspect="1"/>
          </p:cNvSpPr>
          <p:nvPr>
            <p:custDataLst>
              <p:tags r:id="rId7"/>
            </p:custDataLst>
          </p:nvPr>
        </p:nvSpPr>
        <p:spPr bwMode="auto">
          <a:xfrm>
            <a:off x="1114425" y="3707606"/>
            <a:ext cx="514350" cy="514350"/>
          </a:xfrm>
          <a:prstGeom prst="rect">
            <a:avLst/>
          </a:prstGeom>
          <a:solidFill>
            <a:srgbClr val="FF99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B</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矩形 12"/>
          <p:cNvSpPr>
            <a:spLocks noChangeAspect="1"/>
          </p:cNvSpPr>
          <p:nvPr>
            <p:custDataLst>
              <p:tags r:id="rId8"/>
            </p:custDataLst>
          </p:nvPr>
        </p:nvSpPr>
        <p:spPr bwMode="auto">
          <a:xfrm>
            <a:off x="1114425" y="4564856"/>
            <a:ext cx="514350" cy="514350"/>
          </a:xfrm>
          <a:prstGeom prst="rect">
            <a:avLst/>
          </a:prstGeom>
          <a:solidFill>
            <a:srgbClr val="FF99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圆角矩形 14"/>
          <p:cNvSpPr/>
          <p:nvPr>
            <p:custDataLst>
              <p:tags r:id="rId9"/>
            </p:custDataLst>
          </p:nvPr>
        </p:nvSpPr>
        <p:spPr bwMode="auto">
          <a:xfrm>
            <a:off x="6172200" y="6215063"/>
            <a:ext cx="1543050" cy="411480"/>
          </a:xfrm>
          <a:prstGeom prst="roundRect">
            <a:avLst/>
          </a:prstGeom>
          <a:gradFill flip="none" rotWithShape="1">
            <a:gsLst>
              <a:gs pos="0">
                <a:srgbClr val="13548C">
                  <a:shade val="30000"/>
                  <a:satMod val="115000"/>
                </a:srgbClr>
              </a:gs>
              <a:gs pos="50000">
                <a:srgbClr val="13548C">
                  <a:shade val="67500"/>
                  <a:satMod val="115000"/>
                </a:srgbClr>
              </a:gs>
              <a:gs pos="100000">
                <a:srgbClr val="13548C">
                  <a:shade val="100000"/>
                  <a:satMod val="115000"/>
                </a:srgbClr>
              </a:gs>
            </a:gsLst>
            <a:lin ang="16200000" scaled="1"/>
            <a:tileRect/>
          </a:gradFill>
          <a:ln w="381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提交</a:t>
            </a:r>
          </a:p>
        </p:txBody>
      </p:sp>
      <p:grpSp>
        <p:nvGrpSpPr>
          <p:cNvPr id="20" name="组合 19"/>
          <p:cNvGrpSpPr/>
          <p:nvPr>
            <p:custDataLst>
              <p:tags r:id="rId10"/>
            </p:custDataLst>
          </p:nvPr>
        </p:nvGrpSpPr>
        <p:grpSpPr>
          <a:xfrm>
            <a:off x="0" y="0"/>
            <a:ext cx="9144000" cy="635000"/>
            <a:chOff x="0" y="0"/>
            <a:chExt cx="9144000" cy="635000"/>
          </a:xfrm>
        </p:grpSpPr>
        <p:sp>
          <p:nvSpPr>
            <p:cNvPr id="16" name="TitleBackground"/>
            <p:cNvSpPr/>
            <p:nvPr>
              <p:custDataLst>
                <p:tags r:id="rId12"/>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ColorBlock"/>
            <p:cNvSpPr/>
            <p:nvPr>
              <p:custDataLst>
                <p:tags r:id="rId13"/>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多选题</a:t>
              </a:r>
            </a:p>
          </p:txBody>
        </p:sp>
        <p:sp>
          <p:nvSpPr>
            <p:cNvPr id="19" name="TipText"/>
            <p:cNvSpPr txBox="1"/>
            <p:nvPr>
              <p:custDataLst>
                <p:tags r:id="rId15"/>
              </p:custDataLst>
            </p:nvPr>
          </p:nvSpPr>
          <p:spPr>
            <a:xfrm>
              <a:off x="1510030" y="109220"/>
              <a:ext cx="2286000" cy="508000"/>
            </a:xfrm>
            <a:prstGeom prst="rect">
              <a:avLst/>
            </a:prstGeom>
            <a:noFill/>
          </p:spPr>
          <p:txBody>
            <a:bodyPr vert="horz" wrap="none" rtlCol="0" anchor="ctr" anchorCtr="0">
              <a:noAutofit/>
            </a:bodyPr>
            <a:lstStyle/>
            <a:p>
              <a:r>
                <a:rPr lang="en-US" altLang="zh-CN"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分</a:t>
              </a:r>
            </a:p>
          </p:txBody>
        </p:sp>
      </p:grpSp>
      <p:pic>
        <p:nvPicPr>
          <p:cNvPr id="5" name="图片 4"/>
          <p:cNvPicPr>
            <a:picLocks/>
          </p:cNvPicPr>
          <p:nvPr>
            <p:custDataLst>
              <p:tags r:id="rId11"/>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935267796"/>
      </p:ext>
    </p:extLst>
  </p:cSld>
  <p:clrMapOvr>
    <a:masterClrMapping/>
  </p:clrMapOvr>
  <p:transition spd="med">
    <p:split orient="ver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基于</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密度的方法</a:t>
            </a:r>
          </a:p>
        </p:txBody>
      </p:sp>
      <p:sp>
        <p:nvSpPr>
          <p:cNvPr id="3" name="内容占位符 2"/>
          <p:cNvSpPr>
            <a:spLocks noGrp="1"/>
          </p:cNvSpPr>
          <p:nvPr>
            <p:ph idx="4294967295"/>
          </p:nvPr>
        </p:nvSpPr>
        <p:spPr>
          <a:xfrm>
            <a:off x="252000" y="720000"/>
            <a:ext cx="8640000" cy="4625882"/>
          </a:xfrm>
          <a:prstGeom prst="rect">
            <a:avLst/>
          </a:prstGeom>
          <a:noFill/>
        </p:spPr>
        <p:txBody>
          <a:bodyPr wrap="square" lIns="72000" rIns="72000">
            <a:spAutoFit/>
          </a:bodyPr>
          <a:lstStyle/>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基于密度聚类</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根据密度条件对邻近对象分组形成簇，簇的增长或者根据邻域密度，或者根据特定</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的密度函数</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只要临近区域的密度超过某个阈值，就</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继续聚类</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主要特点</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发现任意形状的聚类</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处理噪音</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一遍扫描</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需要密度参数作为</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终止条件</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object 5"/>
          <p:cNvSpPr>
            <a:spLocks noChangeArrowheads="1"/>
          </p:cNvSpPr>
          <p:nvPr/>
        </p:nvSpPr>
        <p:spPr bwMode="auto">
          <a:xfrm>
            <a:off x="5652120" y="2537540"/>
            <a:ext cx="2911437" cy="2055132"/>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endParaRPr lang="zh-CN" altLang="zh-CN">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object 6"/>
          <p:cNvSpPr>
            <a:spLocks noChangeArrowheads="1"/>
          </p:cNvSpPr>
          <p:nvPr/>
        </p:nvSpPr>
        <p:spPr bwMode="auto">
          <a:xfrm>
            <a:off x="5831421" y="4652450"/>
            <a:ext cx="2484996" cy="209755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endParaRPr lang="zh-CN" altLang="zh-CN">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515066240"/>
      </p:ext>
    </p:extLst>
  </p:cSld>
  <p:clrMapOvr>
    <a:masterClrMapping/>
  </p:clrMapOvr>
  <p:transition spd="med">
    <p:split orient="vert"/>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2.3.1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密度概念</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4294967295"/>
              </p:nvPr>
            </p:nvSpPr>
            <p:spPr>
              <a:xfrm>
                <a:off x="252000" y="756000"/>
                <a:ext cx="8640000" cy="4074962"/>
              </a:xfrm>
              <a:prstGeom prst="rect">
                <a:avLst/>
              </a:prstGeom>
              <a:noFill/>
            </p:spPr>
            <p:txBody>
              <a:bodyPr wrap="square" lIns="72000" rIns="72000">
                <a:spAutoFit/>
              </a:bodyPr>
              <a:lstStyle/>
              <a:p>
                <a:pPr marL="360000" indent="-360000" algn="just" fontAlgn="base">
                  <a:lnSpc>
                    <a:spcPct val="130000"/>
                  </a:lnSpc>
                  <a:spcBef>
                    <a:spcPts val="600"/>
                  </a:spcBef>
                  <a:buClr>
                    <a:srgbClr val="FF6600"/>
                  </a:buClr>
                  <a:buSzPct val="80000"/>
                  <a:buFont typeface="Wingdings" panose="05000000000000000000" pitchFamily="2" charset="2"/>
                  <a:buChar char="l"/>
                </a:pPr>
                <a14:m>
                  <m:oMath xmlns:m="http://schemas.openxmlformats.org/officeDocument/2006/math">
                    <m:r>
                      <a:rPr lang="zh-CN" altLang="en-US" sz="2400">
                        <a:latin typeface="Cambria Math" panose="02040503050406030204" pitchFamily="18" charset="0"/>
                        <a:cs typeface="+mn-ea"/>
                        <a:sym typeface="Times New Roman" panose="02020603050405020304" pitchFamily="18" charset="0"/>
                      </a:rPr>
                      <m:t>𝜀</m:t>
                    </m:r>
                  </m:oMath>
                </a14:m>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邻域</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给定对象半径</a:t>
                </a:r>
                <a14:m>
                  <m:oMath xmlns:m="http://schemas.openxmlformats.org/officeDocument/2006/math">
                    <m:r>
                      <a:rPr lang="zh-CN" altLang="en-US" sz="2200">
                        <a:latin typeface="Cambria Math" panose="02040503050406030204" pitchFamily="18" charset="0"/>
                        <a:cs typeface="+mn-ea"/>
                        <a:sym typeface="Times New Roman" panose="02020603050405020304" pitchFamily="18" charset="0"/>
                      </a:rPr>
                      <m:t>𝜀</m:t>
                    </m:r>
                  </m:oMath>
                </a14:m>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内的邻域称为该对象的</a:t>
                </a:r>
                <a14:m>
                  <m:oMath xmlns:m="http://schemas.openxmlformats.org/officeDocument/2006/math">
                    <m:r>
                      <a:rPr lang="zh-CN" altLang="en-US" sz="2200">
                        <a:latin typeface="Cambria Math" panose="02040503050406030204" pitchFamily="18" charset="0"/>
                        <a:cs typeface="+mn-ea"/>
                        <a:sym typeface="Times New Roman" panose="02020603050405020304" pitchFamily="18" charset="0"/>
                      </a:rPr>
                      <m:t>𝜀</m:t>
                    </m:r>
                  </m:oMath>
                </a14:m>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邻域</a:t>
                </a: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核心对象</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如果对象的</a:t>
                </a:r>
                <a14:m>
                  <m:oMath xmlns:m="http://schemas.openxmlformats.org/officeDocument/2006/math">
                    <m:r>
                      <a:rPr lang="zh-CN" altLang="en-US" sz="2200">
                        <a:latin typeface="Cambria Math" panose="02040503050406030204" pitchFamily="18" charset="0"/>
                        <a:cs typeface="+mn-ea"/>
                        <a:sym typeface="Times New Roman" panose="02020603050405020304" pitchFamily="18" charset="0"/>
                      </a:rPr>
                      <m:t>𝜀</m:t>
                    </m:r>
                  </m:oMath>
                </a14:m>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邻域至少包含</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最小数目</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MinPts</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个对象，则称该对象为</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核心对象</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直接密度可达</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给定</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对象集合</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，如果</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p </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是在</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q </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的</a:t>
                </a:r>
                <a14:m>
                  <m:oMath xmlns:m="http://schemas.openxmlformats.org/officeDocument/2006/math">
                    <m:r>
                      <a:rPr lang="zh-CN" altLang="en-US" sz="2200">
                        <a:latin typeface="Cambria Math" panose="02040503050406030204" pitchFamily="18" charset="0"/>
                        <a:cs typeface="+mn-ea"/>
                        <a:sym typeface="Times New Roman" panose="02020603050405020304" pitchFamily="18" charset="0"/>
                      </a:rPr>
                      <m:t>𝜀</m:t>
                    </m:r>
                  </m:oMath>
                </a14:m>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邻域内</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，而</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q </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是核心对象，则</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称对象</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p </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是</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从对象</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q </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关于</a:t>
                </a:r>
                <a14:m>
                  <m:oMath xmlns:m="http://schemas.openxmlformats.org/officeDocument/2006/math">
                    <m:r>
                      <a:rPr lang="zh-CN" altLang="en-US" sz="2200">
                        <a:latin typeface="Cambria Math" panose="02040503050406030204" pitchFamily="18" charset="0"/>
                        <a:cs typeface="+mn-ea"/>
                        <a:sym typeface="Times New Roman" panose="02020603050405020304" pitchFamily="18" charset="0"/>
                      </a:rPr>
                      <m:t>𝜀</m:t>
                    </m:r>
                  </m:oMath>
                </a14:m>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MinPts</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直接密度可达</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的 </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4294967295"/>
              </p:nvPr>
            </p:nvSpPr>
            <p:spPr>
              <a:xfrm>
                <a:off x="252000" y="756000"/>
                <a:ext cx="8640000" cy="4074962"/>
              </a:xfrm>
              <a:prstGeom prst="rect">
                <a:avLst/>
              </a:prstGeom>
              <a:blipFill>
                <a:blip r:embed="rId2"/>
                <a:stretch>
                  <a:fillRect l="-705" r="-1058" b="-2246"/>
                </a:stretch>
              </a:blipFill>
            </p:spPr>
            <p:txBody>
              <a:bodyPr/>
              <a:lstStyle/>
              <a:p>
                <a:r>
                  <a:rPr lang="zh-CN" altLang="en-US">
                    <a:noFill/>
                  </a:rPr>
                  <a:t> </a:t>
                </a:r>
              </a:p>
            </p:txBody>
          </p:sp>
        </mc:Fallback>
      </mc:AlternateContent>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b="11609"/>
          <a:stretch/>
        </p:blipFill>
        <p:spPr>
          <a:xfrm>
            <a:off x="2174240" y="4938243"/>
            <a:ext cx="4795520" cy="1875133"/>
          </a:xfrm>
          <a:prstGeom prst="rect">
            <a:avLst/>
          </a:prstGeom>
        </p:spPr>
      </p:pic>
    </p:spTree>
    <p:extLst>
      <p:ext uri="{BB962C8B-B14F-4D97-AF65-F5344CB8AC3E}">
        <p14:creationId xmlns:p14="http://schemas.microsoft.com/office/powerpoint/2010/main" val="3529258628"/>
      </p:ext>
    </p:extLst>
  </p:cSld>
  <p:clrMapOvr>
    <a:masterClrMapping/>
  </p:clrMapOvr>
  <p:transition spd="med">
    <p:split orient="vert"/>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4294967295"/>
              </p:nvPr>
            </p:nvSpPr>
            <p:spPr>
              <a:xfrm>
                <a:off x="251999" y="756000"/>
                <a:ext cx="5580000" cy="4468916"/>
              </a:xfrm>
              <a:prstGeom prst="rect">
                <a:avLst/>
              </a:prstGeom>
            </p:spPr>
            <p:txBody>
              <a:bodyPr>
                <a:spAutoFit/>
              </a:bodyPr>
              <a:lstStyle/>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密度可达</a:t>
                </a:r>
              </a:p>
              <a:p>
                <a:pPr marL="817200" lvl="1" indent="-360000" algn="just">
                  <a:lnSpc>
                    <a:spcPct val="130000"/>
                  </a:lnSpc>
                  <a:spcBef>
                    <a:spcPts val="600"/>
                  </a:spcBef>
                  <a:buClr>
                    <a:srgbClr val="FF6600"/>
                  </a:buClr>
                  <a:buSzPct val="6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如果存在一个对象链</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200" b="1" baseline="-25000" dirty="0">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 …, p</a:t>
                </a:r>
                <a:r>
                  <a:rPr lang="en-US" altLang="zh-CN" sz="2200" b="1" baseline="-25000" dirty="0">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200" b="1" baseline="-25000" dirty="0">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 = q, p</a:t>
                </a:r>
                <a:r>
                  <a:rPr lang="en-US" altLang="zh-CN" sz="2200" b="1" baseline="-25000" dirty="0">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 p</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，使得</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200" b="1" baseline="-25000" dirty="0">
                    <a:latin typeface="Times New Roman" panose="02020603050405020304" pitchFamily="18" charset="0"/>
                    <a:ea typeface="微软雅黑" panose="020B0503020204020204" pitchFamily="34" charset="-122"/>
                    <a:sym typeface="Times New Roman" panose="02020603050405020304" pitchFamily="18" charset="0"/>
                  </a:rPr>
                  <a:t>i+1</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是</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从</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200" b="1" baseline="-25000">
                    <a:latin typeface="Times New Roman" panose="02020603050405020304" pitchFamily="18" charset="0"/>
                    <a:ea typeface="微软雅黑" panose="020B0503020204020204" pitchFamily="34" charset="-122"/>
                    <a:sym typeface="Times New Roman" panose="02020603050405020304" pitchFamily="18" charset="0"/>
                  </a:rPr>
                  <a:t>i</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直接</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密度可达的，则称</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对象</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是</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从</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对象</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q</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关于</a:t>
                </a:r>
                <a14:m>
                  <m:oMath xmlns:m="http://schemas.openxmlformats.org/officeDocument/2006/math">
                    <m:r>
                      <a:rPr lang="zh-CN" altLang="en-US" sz="2200" i="1">
                        <a:latin typeface="Cambria Math" panose="02040503050406030204" pitchFamily="18" charset="0"/>
                        <a:sym typeface="Times New Roman" panose="02020603050405020304" pitchFamily="18" charset="0"/>
                      </a:rPr>
                      <m:t>𝜀</m:t>
                    </m:r>
                  </m:oMath>
                </a14:m>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MinPts(</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间接</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密度可达的</a:t>
                </a:r>
                <a:endParaRPr lang="en-US" altLang="zh-CN" sz="2200" dirty="0">
                  <a:latin typeface="Times New Roman" panose="02020603050405020304" pitchFamily="18" charset="0"/>
                  <a:ea typeface="微软雅黑" panose="020B0503020204020204" pitchFamily="34" charset="-122"/>
                  <a:sym typeface="Times New Roman" panose="02020603050405020304" pitchFamily="18" charset="0"/>
                </a:endParaRP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密度相连的</a:t>
                </a:r>
              </a:p>
              <a:p>
                <a:pPr marL="817200" lvl="1" indent="-360000" algn="just">
                  <a:lnSpc>
                    <a:spcPct val="130000"/>
                  </a:lnSpc>
                  <a:spcBef>
                    <a:spcPts val="600"/>
                  </a:spcBef>
                  <a:buClr>
                    <a:srgbClr val="FF6600"/>
                  </a:buClr>
                  <a:buSzPct val="6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如果存在对象</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o </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使得，</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p </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q </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都是</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从</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o</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关于</a:t>
                </a:r>
                <a14:m>
                  <m:oMath xmlns:m="http://schemas.openxmlformats.org/officeDocument/2006/math">
                    <m:r>
                      <a:rPr lang="zh-CN" altLang="en-US" sz="2200" i="1">
                        <a:latin typeface="Cambria Math" panose="02040503050406030204" pitchFamily="18" charset="0"/>
                        <a:sym typeface="Times New Roman" panose="02020603050405020304" pitchFamily="18" charset="0"/>
                      </a:rPr>
                      <m:t>𝜀</m:t>
                    </m:r>
                  </m:oMath>
                </a14:m>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MinPts</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密度可达的，则称</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对象</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与</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q</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关于</a:t>
                </a:r>
                <a14:m>
                  <m:oMath xmlns:m="http://schemas.openxmlformats.org/officeDocument/2006/math">
                    <m:r>
                      <a:rPr lang="zh-CN" altLang="en-US" sz="2200" i="1">
                        <a:latin typeface="Cambria Math" panose="02040503050406030204" pitchFamily="18" charset="0"/>
                        <a:sym typeface="Times New Roman" panose="02020603050405020304" pitchFamily="18" charset="0"/>
                      </a:rPr>
                      <m:t>𝜀</m:t>
                    </m:r>
                  </m:oMath>
                </a14:m>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MinPts</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是密度</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相连的</a:t>
                </a:r>
                <a:endParaRPr lang="zh-CN" altLang="en-US" sz="2200" dirty="0">
                  <a:latin typeface="Times New Roman" panose="02020603050405020304" pitchFamily="18" charset="0"/>
                  <a:ea typeface="微软雅黑" panose="020B0503020204020204" pitchFamily="34" charset="-122"/>
                  <a:sym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4294967295"/>
              </p:nvPr>
            </p:nvSpPr>
            <p:spPr>
              <a:xfrm>
                <a:off x="251999" y="756000"/>
                <a:ext cx="5580000" cy="4468916"/>
              </a:xfrm>
              <a:prstGeom prst="rect">
                <a:avLst/>
              </a:prstGeom>
              <a:blipFill>
                <a:blip r:embed="rId2"/>
                <a:stretch>
                  <a:fillRect l="-764" r="-2511"/>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6136773" y="1124744"/>
            <a:ext cx="2628000" cy="2067126"/>
          </a:xfrm>
          <a:prstGeom prst="rect">
            <a:avLst/>
          </a:prstGeom>
        </p:spPr>
      </p:pic>
      <p:pic>
        <p:nvPicPr>
          <p:cNvPr id="6" name="图片 5"/>
          <p:cNvPicPr>
            <a:picLocks noChangeAspect="1"/>
          </p:cNvPicPr>
          <p:nvPr/>
        </p:nvPicPr>
        <p:blipFill>
          <a:blip r:embed="rId4"/>
          <a:stretch>
            <a:fillRect/>
          </a:stretch>
        </p:blipFill>
        <p:spPr>
          <a:xfrm>
            <a:off x="6034569" y="3861048"/>
            <a:ext cx="2832409" cy="1732465"/>
          </a:xfrm>
          <a:prstGeom prst="rect">
            <a:avLst/>
          </a:prstGeom>
        </p:spPr>
      </p:pic>
      <p:sp>
        <p:nvSpPr>
          <p:cNvPr id="7" name="标题 1">
            <a:extLst>
              <a:ext uri="{FF2B5EF4-FFF2-40B4-BE49-F238E27FC236}">
                <a16:creationId xmlns:a16="http://schemas.microsoft.com/office/drawing/2014/main" id="{430F1238-707D-46B3-9CDE-0DD199E2F2DA}"/>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2.3.1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密度概念</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977701302"/>
      </p:ext>
    </p:extLst>
  </p:cSld>
  <p:clrMapOvr>
    <a:masterClrMapping/>
  </p:clrMapOvr>
  <p:transition spd="med">
    <p:split orient="vert"/>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4294967295"/>
              </p:nvPr>
            </p:nvSpPr>
            <p:spPr>
              <a:xfrm>
                <a:off x="251999" y="756000"/>
                <a:ext cx="5580000" cy="5319213"/>
              </a:xfrm>
              <a:prstGeom prst="rect">
                <a:avLst/>
              </a:prstGeom>
            </p:spPr>
            <p:txBody>
              <a:bodyPr>
                <a:spAutoFit/>
              </a:bodyPr>
              <a:lstStyle/>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密度可达</a:t>
                </a:r>
              </a:p>
              <a:p>
                <a:pPr marL="817200" lvl="1" indent="-360000" algn="just">
                  <a:lnSpc>
                    <a:spcPct val="130000"/>
                  </a:lnSpc>
                  <a:spcBef>
                    <a:spcPts val="600"/>
                  </a:spcBef>
                  <a:buClr>
                    <a:srgbClr val="FF6600"/>
                  </a:buClr>
                  <a:buSzPct val="6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如果存在一个对象链</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200" b="1" baseline="-25000" dirty="0">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 …, p</a:t>
                </a:r>
                <a:r>
                  <a:rPr lang="en-US" altLang="zh-CN" sz="2200" b="1" baseline="-25000" dirty="0">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200" b="1" baseline="-25000" dirty="0">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 = q, p</a:t>
                </a:r>
                <a:r>
                  <a:rPr lang="en-US" altLang="zh-CN" sz="2200" b="1" baseline="-25000" dirty="0">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 p</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，使得</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200" b="1" baseline="-25000" dirty="0">
                    <a:latin typeface="Times New Roman" panose="02020603050405020304" pitchFamily="18" charset="0"/>
                    <a:ea typeface="微软雅黑" panose="020B0503020204020204" pitchFamily="34" charset="-122"/>
                    <a:sym typeface="Times New Roman" panose="02020603050405020304" pitchFamily="18" charset="0"/>
                  </a:rPr>
                  <a:t>i+1</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是</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从</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200" b="1" baseline="-25000">
                    <a:latin typeface="Times New Roman" panose="02020603050405020304" pitchFamily="18" charset="0"/>
                    <a:ea typeface="微软雅黑" panose="020B0503020204020204" pitchFamily="34" charset="-122"/>
                    <a:sym typeface="Times New Roman" panose="02020603050405020304" pitchFamily="18" charset="0"/>
                  </a:rPr>
                  <a:t>i</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直接</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密度可达的，则称</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对象</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是</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从</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对象</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q</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关于</a:t>
                </a:r>
                <a14:m>
                  <m:oMath xmlns:m="http://schemas.openxmlformats.org/officeDocument/2006/math">
                    <m:r>
                      <a:rPr lang="zh-CN" altLang="en-US" sz="2200" i="1">
                        <a:latin typeface="Cambria Math" panose="02040503050406030204" pitchFamily="18" charset="0"/>
                        <a:sym typeface="Times New Roman" panose="02020603050405020304" pitchFamily="18" charset="0"/>
                      </a:rPr>
                      <m:t>𝜀</m:t>
                    </m:r>
                  </m:oMath>
                </a14:m>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MinPts(</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间接</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密度可</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达的</a:t>
                </a:r>
                <a:endParaRPr lang="en-US" altLang="zh-CN" sz="2200">
                  <a:latin typeface="Times New Roman" panose="02020603050405020304" pitchFamily="18" charset="0"/>
                  <a:ea typeface="微软雅黑" panose="020B0503020204020204" pitchFamily="34" charset="-122"/>
                  <a:sym typeface="Times New Roman" panose="02020603050405020304" pitchFamily="18" charset="0"/>
                </a:endParaRPr>
              </a:p>
              <a:p>
                <a:pPr marL="817200" lvl="1" indent="-360000" algn="just">
                  <a:lnSpc>
                    <a:spcPct val="130000"/>
                  </a:lnSpc>
                  <a:spcBef>
                    <a:spcPts val="600"/>
                  </a:spcBef>
                  <a:buClr>
                    <a:srgbClr val="FF6600"/>
                  </a:buClr>
                  <a:buSzPct val="60000"/>
                  <a:buFont typeface="Wingdings" panose="05000000000000000000" pitchFamily="2" charset="2"/>
                  <a:buChar char="l"/>
                </a:pPr>
                <a:r>
                  <a:rPr lang="zh-CN" altLang="en-US" sz="2200" b="1">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讨论：对称性？</a:t>
                </a:r>
                <a:endParaRPr lang="en-US" altLang="zh-CN" sz="2200" b="1">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endParaRP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密度</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相连的</a:t>
                </a:r>
              </a:p>
              <a:p>
                <a:pPr marL="817200" lvl="1" indent="-360000" algn="just">
                  <a:lnSpc>
                    <a:spcPct val="130000"/>
                  </a:lnSpc>
                  <a:spcBef>
                    <a:spcPts val="600"/>
                  </a:spcBef>
                  <a:buClr>
                    <a:srgbClr val="FF6600"/>
                  </a:buClr>
                  <a:buSzPct val="6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如果存在对象</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o </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使得，</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p </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q </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都是</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从</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o</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关于</a:t>
                </a:r>
                <a14:m>
                  <m:oMath xmlns:m="http://schemas.openxmlformats.org/officeDocument/2006/math">
                    <m:r>
                      <a:rPr lang="zh-CN" altLang="en-US" sz="2200" i="1">
                        <a:latin typeface="Cambria Math" panose="02040503050406030204" pitchFamily="18" charset="0"/>
                        <a:sym typeface="Times New Roman" panose="02020603050405020304" pitchFamily="18" charset="0"/>
                      </a:rPr>
                      <m:t>𝜀</m:t>
                    </m:r>
                  </m:oMath>
                </a14:m>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MinPts</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密度可达的，则称</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对象</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与</a:t>
                </a:r>
                <a:r>
                  <a:rPr lang="en-US" altLang="zh-CN" sz="2200" b="1">
                    <a:latin typeface="Times New Roman" panose="02020603050405020304" pitchFamily="18" charset="0"/>
                    <a:ea typeface="微软雅黑" panose="020B0503020204020204" pitchFamily="34" charset="-122"/>
                    <a:sym typeface="Times New Roman" panose="02020603050405020304" pitchFamily="18" charset="0"/>
                  </a:rPr>
                  <a:t>q</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关于</a:t>
                </a:r>
                <a14:m>
                  <m:oMath xmlns:m="http://schemas.openxmlformats.org/officeDocument/2006/math">
                    <m:r>
                      <a:rPr lang="zh-CN" altLang="en-US" sz="2200" i="1">
                        <a:latin typeface="Cambria Math" panose="02040503050406030204" pitchFamily="18" charset="0"/>
                        <a:sym typeface="Times New Roman" panose="02020603050405020304" pitchFamily="18" charset="0"/>
                      </a:rPr>
                      <m:t>𝜀</m:t>
                    </m:r>
                  </m:oMath>
                </a14:m>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200" b="1" dirty="0">
                    <a:latin typeface="Times New Roman" panose="02020603050405020304" pitchFamily="18" charset="0"/>
                    <a:ea typeface="微软雅黑" panose="020B0503020204020204" pitchFamily="34" charset="-122"/>
                    <a:sym typeface="Times New Roman" panose="02020603050405020304" pitchFamily="18" charset="0"/>
                  </a:rPr>
                  <a:t>MinPts</a:t>
                </a:r>
                <a:r>
                  <a:rPr lang="zh-CN" altLang="en-US" sz="2200" dirty="0">
                    <a:latin typeface="Times New Roman" panose="02020603050405020304" pitchFamily="18" charset="0"/>
                    <a:ea typeface="微软雅黑" panose="020B0503020204020204" pitchFamily="34" charset="-122"/>
                    <a:sym typeface="Times New Roman" panose="02020603050405020304" pitchFamily="18" charset="0"/>
                  </a:rPr>
                  <a:t>是密度</a:t>
                </a:r>
                <a:r>
                  <a:rPr lang="zh-CN" altLang="en-US" sz="2200">
                    <a:latin typeface="Times New Roman" panose="02020603050405020304" pitchFamily="18" charset="0"/>
                    <a:ea typeface="微软雅黑" panose="020B0503020204020204" pitchFamily="34" charset="-122"/>
                    <a:sym typeface="Times New Roman" panose="02020603050405020304" pitchFamily="18" charset="0"/>
                  </a:rPr>
                  <a:t>相连的</a:t>
                </a:r>
                <a:endParaRPr lang="en-US" altLang="zh-CN" sz="2200">
                  <a:latin typeface="Times New Roman" panose="02020603050405020304" pitchFamily="18" charset="0"/>
                  <a:ea typeface="微软雅黑" panose="020B0503020204020204" pitchFamily="34" charset="-122"/>
                  <a:sym typeface="Times New Roman" panose="02020603050405020304" pitchFamily="18" charset="0"/>
                </a:endParaRPr>
              </a:p>
              <a:p>
                <a:pPr marL="817200" lvl="1" indent="-360000" algn="just">
                  <a:lnSpc>
                    <a:spcPct val="130000"/>
                  </a:lnSpc>
                  <a:spcBef>
                    <a:spcPts val="600"/>
                  </a:spcBef>
                  <a:buClr>
                    <a:srgbClr val="FF6600"/>
                  </a:buClr>
                  <a:buSzPct val="60000"/>
                  <a:buFont typeface="Wingdings" panose="05000000000000000000" pitchFamily="2" charset="2"/>
                  <a:buChar char="l"/>
                </a:pPr>
                <a:r>
                  <a:rPr lang="zh-CN" altLang="en-US" sz="2200" b="1">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讨论：对称性？</a:t>
                </a:r>
                <a:endParaRPr lang="en-US" altLang="zh-CN" sz="2200" b="1">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4294967295"/>
              </p:nvPr>
            </p:nvSpPr>
            <p:spPr>
              <a:xfrm>
                <a:off x="251999" y="756000"/>
                <a:ext cx="5580000" cy="5319213"/>
              </a:xfrm>
              <a:prstGeom prst="rect">
                <a:avLst/>
              </a:prstGeom>
              <a:blipFill>
                <a:blip r:embed="rId2"/>
                <a:stretch>
                  <a:fillRect l="-764" r="-2511" b="-2062"/>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6136773" y="1124744"/>
            <a:ext cx="2628000" cy="2067126"/>
          </a:xfrm>
          <a:prstGeom prst="rect">
            <a:avLst/>
          </a:prstGeom>
        </p:spPr>
      </p:pic>
      <p:pic>
        <p:nvPicPr>
          <p:cNvPr id="6" name="图片 5"/>
          <p:cNvPicPr>
            <a:picLocks noChangeAspect="1"/>
          </p:cNvPicPr>
          <p:nvPr/>
        </p:nvPicPr>
        <p:blipFill>
          <a:blip r:embed="rId4"/>
          <a:stretch>
            <a:fillRect/>
          </a:stretch>
        </p:blipFill>
        <p:spPr>
          <a:xfrm>
            <a:off x="6034569" y="3861048"/>
            <a:ext cx="2832409" cy="1732465"/>
          </a:xfrm>
          <a:prstGeom prst="rect">
            <a:avLst/>
          </a:prstGeom>
        </p:spPr>
      </p:pic>
      <p:sp>
        <p:nvSpPr>
          <p:cNvPr id="7" name="标题 1">
            <a:extLst>
              <a:ext uri="{FF2B5EF4-FFF2-40B4-BE49-F238E27FC236}">
                <a16:creationId xmlns:a16="http://schemas.microsoft.com/office/drawing/2014/main" id="{430F1238-707D-46B3-9CDE-0DD199E2F2DA}"/>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2.3.1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密度概念</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1598753923"/>
      </p:ext>
    </p:extLst>
  </p:cSld>
  <p:clrMapOvr>
    <a:masterClrMapping/>
  </p:clrMapOvr>
  <p:transition spd="med">
    <p:split orient="ver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2.3.2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基于</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密度的簇</a:t>
            </a:r>
          </a:p>
        </p:txBody>
      </p:sp>
      <mc:AlternateContent xmlns:mc="http://schemas.openxmlformats.org/markup-compatibility/2006" xmlns:a14="http://schemas.microsoft.com/office/drawing/2010/main">
        <mc:Choice Requires="a14">
          <p:sp>
            <p:nvSpPr>
              <p:cNvPr id="3" name="内容占位符 2"/>
              <p:cNvSpPr>
                <a:spLocks noGrp="1"/>
              </p:cNvSpPr>
              <p:nvPr>
                <p:ph idx="4294967295"/>
              </p:nvPr>
            </p:nvSpPr>
            <p:spPr>
              <a:xfrm>
                <a:off x="252000" y="756000"/>
                <a:ext cx="8640000" cy="5592300"/>
              </a:xfrm>
              <a:prstGeom prst="rect">
                <a:avLst/>
              </a:prstGeom>
              <a:noFill/>
            </p:spPr>
            <p:txBody>
              <a:bodyPr wrap="square" lIns="72000" rIns="72000">
                <a:spAutoFit/>
              </a:bodyPr>
              <a:lstStyle/>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基于密度的簇是基于密度可达性的最大的密度相连对象的集合，</a:t>
                </a:r>
                <a:r>
                  <a:rPr lang="zh-CN" altLang="en-US" sz="2400">
                    <a:cs typeface="+mn-ea"/>
                    <a:sym typeface="Times New Roman" panose="02020603050405020304" pitchFamily="18" charset="0"/>
                  </a:rPr>
                  <a:t>即簇</a:t>
                </a:r>
                <a:r>
                  <a:rPr lang="en-US" altLang="zh-CN" sz="2400" dirty="0">
                    <a:cs typeface="+mn-ea"/>
                    <a:sym typeface="Times New Roman" panose="02020603050405020304" pitchFamily="18" charset="0"/>
                  </a:rPr>
                  <a:t>C </a:t>
                </a:r>
                <a:r>
                  <a:rPr lang="zh-CN" altLang="en-US" sz="2400" dirty="0">
                    <a:cs typeface="+mn-ea"/>
                    <a:sym typeface="Times New Roman" panose="02020603050405020304" pitchFamily="18" charset="0"/>
                  </a:rPr>
                  <a:t>满足</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连通性</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：对于</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C </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中</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任意的</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p </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q</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p </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与</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q </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是关于</a:t>
                </a:r>
                <a14:m>
                  <m:oMath xmlns:m="http://schemas.openxmlformats.org/officeDocument/2006/math">
                    <m:r>
                      <a:rPr lang="zh-CN" altLang="en-US" sz="2200">
                        <a:latin typeface="Cambria Math" panose="02040503050406030204" pitchFamily="18" charset="0"/>
                        <a:cs typeface="+mn-ea"/>
                        <a:sym typeface="Times New Roman" panose="02020603050405020304" pitchFamily="18" charset="0"/>
                      </a:rPr>
                      <m:t>𝜀</m:t>
                    </m:r>
                  </m:oMath>
                </a14:m>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MinPts</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密度相连的</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极大性：对于</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任意的</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p </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q</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，如果</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p </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属于</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C </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簇</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，并且</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q </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是从</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p </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出发关于</a:t>
                </a:r>
                <a14:m>
                  <m:oMath xmlns:m="http://schemas.openxmlformats.org/officeDocument/2006/math">
                    <m:r>
                      <a:rPr lang="zh-CN" altLang="en-US" sz="2200">
                        <a:latin typeface="Cambria Math" panose="02040503050406030204" pitchFamily="18" charset="0"/>
                        <a:cs typeface="+mn-ea"/>
                        <a:sym typeface="Times New Roman" panose="02020603050405020304" pitchFamily="18" charset="0"/>
                      </a:rPr>
                      <m:t>𝜀</m:t>
                    </m:r>
                  </m:oMath>
                </a14:m>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和</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MinPts</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密度可达的</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，则</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q </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也属于</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C </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簇</a:t>
                </a: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边界点</a:t>
                </a:r>
                <a:r>
                  <a:rPr lang="zh-CN" altLang="en-US" sz="2400">
                    <a:cs typeface="+mn-ea"/>
                    <a:sym typeface="Times New Roman" panose="02020603050405020304" pitchFamily="18" charset="0"/>
                  </a:rPr>
                  <a:t>（ </a:t>
                </a:r>
                <a:r>
                  <a:rPr lang="en-US" altLang="zh-CN" sz="2400" dirty="0">
                    <a:cs typeface="+mn-ea"/>
                    <a:sym typeface="Times New Roman" panose="02020603050405020304" pitchFamily="18" charset="0"/>
                  </a:rPr>
                  <a:t>Border point </a:t>
                </a:r>
                <a:r>
                  <a:rPr lang="zh-CN" altLang="en-US" sz="2400">
                    <a:cs typeface="+mn-ea"/>
                    <a:sym typeface="Times New Roman" panose="02020603050405020304" pitchFamily="18" charset="0"/>
                  </a:rPr>
                  <a:t>）的</a:t>
                </a:r>
                <a:r>
                  <a:rPr lang="en-US" altLang="zh-CN" sz="2400">
                    <a:cs typeface="+mn-ea"/>
                    <a:sym typeface="Times New Roman" panose="02020603050405020304" pitchFamily="18" charset="0"/>
                  </a:rPr>
                  <a:t>Eps</a:t>
                </a:r>
                <a:r>
                  <a:rPr lang="en-US" altLang="zh-CN" sz="2400" dirty="0">
                    <a:cs typeface="+mn-ea"/>
                    <a:sym typeface="Times New Roman" panose="02020603050405020304" pitchFamily="18" charset="0"/>
                  </a:rPr>
                  <a:t> </a:t>
                </a:r>
                <a:r>
                  <a:rPr lang="zh-CN" altLang="en-US" sz="2400" dirty="0">
                    <a:cs typeface="+mn-ea"/>
                    <a:sym typeface="Times New Roman" panose="02020603050405020304" pitchFamily="18" charset="0"/>
                  </a:rPr>
                  <a:t>邻域</a:t>
                </a:r>
                <a:r>
                  <a:rPr lang="zh-CN" altLang="en-US" sz="2400">
                    <a:cs typeface="+mn-ea"/>
                    <a:sym typeface="Times New Roman" panose="02020603050405020304" pitchFamily="18" charset="0"/>
                  </a:rPr>
                  <a:t>有少于</a:t>
                </a:r>
                <a:r>
                  <a:rPr lang="en-US" altLang="zh-CN" sz="2400">
                    <a:cs typeface="+mn-ea"/>
                    <a:sym typeface="Times New Roman" panose="02020603050405020304" pitchFamily="18" charset="0"/>
                  </a:rPr>
                  <a:t>MinPts</a:t>
                </a:r>
                <a:r>
                  <a:rPr lang="en-US" altLang="zh-CN" sz="2400" dirty="0">
                    <a:cs typeface="+mn-ea"/>
                    <a:sym typeface="Times New Roman" panose="02020603050405020304" pitchFamily="18" charset="0"/>
                  </a:rPr>
                  <a:t> </a:t>
                </a:r>
                <a:r>
                  <a:rPr lang="zh-CN" altLang="en-US" sz="2400">
                    <a:cs typeface="+mn-ea"/>
                    <a:sym typeface="Times New Roman" panose="02020603050405020304" pitchFamily="18" charset="0"/>
                  </a:rPr>
                  <a:t>个对象</a:t>
                </a:r>
                <a:r>
                  <a:rPr lang="en-US" altLang="zh-CN" sz="2400" dirty="0">
                    <a:cs typeface="+mn-ea"/>
                    <a:sym typeface="Times New Roman" panose="02020603050405020304" pitchFamily="18" charset="0"/>
                  </a:rPr>
                  <a:t>, </a:t>
                </a:r>
                <a:r>
                  <a:rPr lang="zh-CN" altLang="en-US" sz="2400" dirty="0">
                    <a:cs typeface="+mn-ea"/>
                    <a:sym typeface="Times New Roman" panose="02020603050405020304" pitchFamily="18" charset="0"/>
                  </a:rPr>
                  <a:t>但它的邻域中有核心对象</a:t>
                </a: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噪声点</a:t>
                </a:r>
                <a:r>
                  <a:rPr lang="zh-CN" altLang="en-US" sz="2400">
                    <a:cs typeface="+mn-ea"/>
                    <a:sym typeface="Times New Roman" panose="02020603050405020304" pitchFamily="18" charset="0"/>
                  </a:rPr>
                  <a:t>（ </a:t>
                </a:r>
                <a:r>
                  <a:rPr lang="en-US" altLang="zh-CN" sz="2400" dirty="0">
                    <a:cs typeface="+mn-ea"/>
                    <a:sym typeface="Times New Roman" panose="02020603050405020304" pitchFamily="18" charset="0"/>
                  </a:rPr>
                  <a:t>Noise point </a:t>
                </a:r>
                <a:r>
                  <a:rPr lang="zh-CN" altLang="en-US" sz="2400" dirty="0">
                    <a:cs typeface="+mn-ea"/>
                    <a:sym typeface="Times New Roman" panose="02020603050405020304" pitchFamily="18" charset="0"/>
                  </a:rPr>
                  <a:t>）是除核心对象和边界点之外的点 </a:t>
                </a:r>
              </a:p>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典型算法</a:t>
                </a:r>
              </a:p>
              <a:p>
                <a:pPr marL="817200" lvl="1" indent="-360000" algn="just" fontAlgn="base">
                  <a:lnSpc>
                    <a:spcPct val="130000"/>
                  </a:lnSpc>
                  <a:spcBef>
                    <a:spcPts val="600"/>
                  </a:spcBef>
                  <a:buClr>
                    <a:srgbClr val="FF6600"/>
                  </a:buClr>
                  <a:buSzPct val="80000"/>
                  <a:buFont typeface="Wingdings" panose="05000000000000000000" pitchFamily="2" charset="2"/>
                  <a:buChar char="l"/>
                </a:pP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DBSCAN</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DENCLUE</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 OPTICS</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4294967295"/>
              </p:nvPr>
            </p:nvSpPr>
            <p:spPr>
              <a:xfrm>
                <a:off x="252000" y="756000"/>
                <a:ext cx="8640000" cy="5592300"/>
              </a:xfrm>
              <a:prstGeom prst="rect">
                <a:avLst/>
              </a:prstGeom>
              <a:blipFill>
                <a:blip r:embed="rId2"/>
                <a:stretch>
                  <a:fillRect l="-705" r="-1269" b="-1418"/>
                </a:stretch>
              </a:blipFill>
            </p:spPr>
            <p:txBody>
              <a:bodyPr/>
              <a:lstStyle/>
              <a:p>
                <a:r>
                  <a:rPr lang="zh-CN" altLang="en-US">
                    <a:noFill/>
                  </a:rPr>
                  <a:t> </a:t>
                </a:r>
              </a:p>
            </p:txBody>
          </p:sp>
        </mc:Fallback>
      </mc:AlternateContent>
      <p:pic>
        <p:nvPicPr>
          <p:cNvPr id="327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5301208"/>
            <a:ext cx="2379296" cy="1448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4771932"/>
      </p:ext>
    </p:extLst>
  </p:cSld>
  <p:clrMapOvr>
    <a:masterClrMapping/>
  </p:clrMapOvr>
  <p:transition spd="med">
    <p:split orient="ver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idx="4294967295"/>
          </p:nvPr>
        </p:nvSpPr>
        <p:spPr>
          <a:xfrm>
            <a:off x="756000" y="108000"/>
            <a:ext cx="8229600" cy="492443"/>
          </a:xfrm>
          <a:prstGeom prst="rect">
            <a:avLst/>
          </a:prstGeom>
        </p:spPr>
        <p:txBody>
          <a:bodyPr wrap="square">
            <a:spAutoFit/>
          </a:bodyPr>
          <a:lstStyle/>
          <a:p>
            <a:pPr fontAlgn="base">
              <a:lnSpc>
                <a:spcPct val="100000"/>
              </a:lnSpc>
              <a:spcAft>
                <a:spcPct val="0"/>
              </a:spcAft>
            </a:pP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2.3.3</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基本</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概念理解</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542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2000" y="1188000"/>
            <a:ext cx="6480000" cy="466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3935541"/>
      </p:ext>
    </p:extLst>
  </p:cSld>
  <p:clrMapOvr>
    <a:masterClrMapping/>
  </p:clrMapOvr>
  <p:transition spd="med">
    <p:split orient="ver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p:cNvSpPr>
            <a:spLocks noGrp="1"/>
          </p:cNvSpPr>
          <p:nvPr>
            <p:ph type="sldNum" sz="quarter" idx="4294967295"/>
          </p:nvPr>
        </p:nvSpPr>
        <p:spPr>
          <a:xfrm>
            <a:off x="0" y="6356350"/>
            <a:ext cx="2895600" cy="365125"/>
          </a:xfrm>
          <a:prstGeom prst="rect">
            <a:avLst/>
          </a:prstGeom>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3200">
                <a:solidFill>
                  <a:schemeClr val="tx1"/>
                </a:solidFill>
                <a:latin typeface="Arial" charset="0"/>
                <a:ea typeface="楷体_GB2312" pitchFamily="49" charset="-122"/>
              </a:defRPr>
            </a:lvl1pPr>
            <a:lvl2pPr>
              <a:defRPr sz="2800">
                <a:solidFill>
                  <a:schemeClr val="tx1"/>
                </a:solidFill>
                <a:latin typeface="Arial" charset="0"/>
                <a:ea typeface="楷体_GB2312" pitchFamily="49" charset="-122"/>
              </a:defRPr>
            </a:lvl2pPr>
            <a:lvl3pPr>
              <a:defRPr sz="2400">
                <a:solidFill>
                  <a:schemeClr val="tx1"/>
                </a:solidFill>
                <a:latin typeface="Arial" charset="0"/>
                <a:ea typeface="楷体_GB2312" pitchFamily="49" charset="-122"/>
              </a:defRPr>
            </a:lvl3pPr>
            <a:lvl4pPr>
              <a:defRPr sz="2000">
                <a:solidFill>
                  <a:schemeClr val="tx1"/>
                </a:solidFill>
                <a:latin typeface="Arial" charset="0"/>
                <a:ea typeface="楷体_GB2312" pitchFamily="49" charset="-122"/>
              </a:defRPr>
            </a:lvl4pPr>
            <a:lvl5pPr>
              <a:defRPr sz="2000">
                <a:solidFill>
                  <a:schemeClr val="tx1"/>
                </a:solidFill>
                <a:latin typeface="Arial" charset="0"/>
                <a:ea typeface="楷体_GB2312" pitchFamily="49" charset="-122"/>
              </a:defRPr>
            </a:lvl5pPr>
            <a:lvl6pPr eaLnBrk="0" hangingPunct="0">
              <a:defRPr sz="2000">
                <a:solidFill>
                  <a:schemeClr val="tx1"/>
                </a:solidFill>
                <a:latin typeface="Arial" charset="0"/>
                <a:ea typeface="楷体_GB2312" pitchFamily="49" charset="-122"/>
              </a:defRPr>
            </a:lvl6pPr>
            <a:lvl7pPr eaLnBrk="0" hangingPunct="0">
              <a:defRPr sz="2000">
                <a:solidFill>
                  <a:schemeClr val="tx1"/>
                </a:solidFill>
                <a:latin typeface="Arial" charset="0"/>
                <a:ea typeface="楷体_GB2312" pitchFamily="49" charset="-122"/>
              </a:defRPr>
            </a:lvl7pPr>
            <a:lvl8pPr eaLnBrk="0" hangingPunct="0">
              <a:defRPr sz="2000">
                <a:solidFill>
                  <a:schemeClr val="tx1"/>
                </a:solidFill>
                <a:latin typeface="Arial" charset="0"/>
                <a:ea typeface="楷体_GB2312" pitchFamily="49" charset="-122"/>
              </a:defRPr>
            </a:lvl8pPr>
            <a:lvl9pPr eaLnBrk="0" hangingPunct="0">
              <a:defRPr sz="2000">
                <a:solidFill>
                  <a:schemeClr val="tx1"/>
                </a:solidFill>
                <a:latin typeface="Arial" charset="0"/>
                <a:ea typeface="楷体_GB2312" pitchFamily="49" charset="-122"/>
              </a:defRPr>
            </a:lvl9pPr>
          </a:lstStyle>
          <a:p>
            <a:pPr>
              <a:defRPr/>
            </a:pPr>
            <a:fld id="{04AD019A-75B6-4E5B-BAB1-CA8E3DC8588B}" type="slidenum">
              <a:rPr lang="zh-CN" altLang="en-US" sz="1200" smtClean="0">
                <a:latin typeface="Times New Roman" panose="02020603050405020304" pitchFamily="18" charset="0"/>
                <a:ea typeface="微软雅黑" panose="020B0503020204020204" pitchFamily="34" charset="-122"/>
                <a:sym typeface="Times New Roman" panose="02020603050405020304" pitchFamily="18" charset="0"/>
              </a:rPr>
              <a:pPr>
                <a:defRPr/>
              </a:pPr>
              <a:t>100</a:t>
            </a:fld>
            <a:endParaRPr lang="en-US" altLang="zh-CN" sz="1200">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552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2000" y="1188000"/>
            <a:ext cx="6480000" cy="466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815D6C2B-86B3-46B1-B36B-6B76D044F598}"/>
              </a:ext>
            </a:extLst>
          </p:cNvPr>
          <p:cNvSpPr txBox="1">
            <a:spLocks noChangeArrowheads="1"/>
          </p:cNvSpPr>
          <p:nvPr/>
        </p:nvSpPr>
        <p:spPr>
          <a:xfrm>
            <a:off x="756000" y="108000"/>
            <a:ext cx="82296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2.3.3</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基本概念理解</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735796098"/>
      </p:ext>
    </p:extLst>
  </p:cSld>
  <p:clrMapOvr>
    <a:masterClrMapping/>
  </p:clrMapOvr>
  <p:transition spd="med">
    <p:split orient="ver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a:spLocks noGrp="1"/>
          </p:cNvSpPr>
          <p:nvPr>
            <p:ph type="sldNum" sz="quarter" idx="4294967295"/>
          </p:nvPr>
        </p:nvSpPr>
        <p:spPr>
          <a:xfrm>
            <a:off x="0" y="6356350"/>
            <a:ext cx="2895600" cy="365125"/>
          </a:xfrm>
          <a:prstGeom prst="rect">
            <a:avLst/>
          </a:prstGeom>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3200">
                <a:solidFill>
                  <a:schemeClr val="tx1"/>
                </a:solidFill>
                <a:latin typeface="Arial" charset="0"/>
                <a:ea typeface="楷体_GB2312" pitchFamily="49" charset="-122"/>
              </a:defRPr>
            </a:lvl1pPr>
            <a:lvl2pPr>
              <a:defRPr sz="2800">
                <a:solidFill>
                  <a:schemeClr val="tx1"/>
                </a:solidFill>
                <a:latin typeface="Arial" charset="0"/>
                <a:ea typeface="楷体_GB2312" pitchFamily="49" charset="-122"/>
              </a:defRPr>
            </a:lvl2pPr>
            <a:lvl3pPr>
              <a:defRPr sz="2400">
                <a:solidFill>
                  <a:schemeClr val="tx1"/>
                </a:solidFill>
                <a:latin typeface="Arial" charset="0"/>
                <a:ea typeface="楷体_GB2312" pitchFamily="49" charset="-122"/>
              </a:defRPr>
            </a:lvl3pPr>
            <a:lvl4pPr>
              <a:defRPr sz="2000">
                <a:solidFill>
                  <a:schemeClr val="tx1"/>
                </a:solidFill>
                <a:latin typeface="Arial" charset="0"/>
                <a:ea typeface="楷体_GB2312" pitchFamily="49" charset="-122"/>
              </a:defRPr>
            </a:lvl4pPr>
            <a:lvl5pPr>
              <a:defRPr sz="2000">
                <a:solidFill>
                  <a:schemeClr val="tx1"/>
                </a:solidFill>
                <a:latin typeface="Arial" charset="0"/>
                <a:ea typeface="楷体_GB2312" pitchFamily="49" charset="-122"/>
              </a:defRPr>
            </a:lvl5pPr>
            <a:lvl6pPr eaLnBrk="0" hangingPunct="0">
              <a:defRPr sz="2000">
                <a:solidFill>
                  <a:schemeClr val="tx1"/>
                </a:solidFill>
                <a:latin typeface="Arial" charset="0"/>
                <a:ea typeface="楷体_GB2312" pitchFamily="49" charset="-122"/>
              </a:defRPr>
            </a:lvl6pPr>
            <a:lvl7pPr eaLnBrk="0" hangingPunct="0">
              <a:defRPr sz="2000">
                <a:solidFill>
                  <a:schemeClr val="tx1"/>
                </a:solidFill>
                <a:latin typeface="Arial" charset="0"/>
                <a:ea typeface="楷体_GB2312" pitchFamily="49" charset="-122"/>
              </a:defRPr>
            </a:lvl7pPr>
            <a:lvl8pPr eaLnBrk="0" hangingPunct="0">
              <a:defRPr sz="2000">
                <a:solidFill>
                  <a:schemeClr val="tx1"/>
                </a:solidFill>
                <a:latin typeface="Arial" charset="0"/>
                <a:ea typeface="楷体_GB2312" pitchFamily="49" charset="-122"/>
              </a:defRPr>
            </a:lvl8pPr>
            <a:lvl9pPr eaLnBrk="0" hangingPunct="0">
              <a:defRPr sz="2000">
                <a:solidFill>
                  <a:schemeClr val="tx1"/>
                </a:solidFill>
                <a:latin typeface="Arial" charset="0"/>
                <a:ea typeface="楷体_GB2312" pitchFamily="49" charset="-122"/>
              </a:defRPr>
            </a:lvl9pPr>
          </a:lstStyle>
          <a:p>
            <a:pPr>
              <a:defRPr/>
            </a:pPr>
            <a:fld id="{E23E4021-3098-4D16-9CB2-88B36CA34F79}" type="slidenum">
              <a:rPr lang="zh-CN" altLang="en-US" sz="1200" smtClean="0">
                <a:latin typeface="Times New Roman" panose="02020603050405020304" pitchFamily="18" charset="0"/>
                <a:ea typeface="微软雅黑" panose="020B0503020204020204" pitchFamily="34" charset="-122"/>
                <a:sym typeface="Times New Roman" panose="02020603050405020304" pitchFamily="18" charset="0"/>
              </a:rPr>
              <a:pPr>
                <a:defRPr/>
              </a:pPr>
              <a:t>101</a:t>
            </a:fld>
            <a:endParaRPr lang="en-US" altLang="zh-CN" sz="12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Rectangle 2">
            <a:extLst>
              <a:ext uri="{FF2B5EF4-FFF2-40B4-BE49-F238E27FC236}">
                <a16:creationId xmlns:a16="http://schemas.microsoft.com/office/drawing/2014/main" id="{E2A205F5-F8BD-44F4-8472-6F1BBCE562F4}"/>
              </a:ext>
            </a:extLst>
          </p:cNvPr>
          <p:cNvSpPr txBox="1">
            <a:spLocks noChangeArrowheads="1"/>
          </p:cNvSpPr>
          <p:nvPr/>
        </p:nvSpPr>
        <p:spPr>
          <a:xfrm>
            <a:off x="756000" y="108000"/>
            <a:ext cx="82296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2.3.3</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基本概念理解</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7" name="Picture 3">
            <a:extLst>
              <a:ext uri="{FF2B5EF4-FFF2-40B4-BE49-F238E27FC236}">
                <a16:creationId xmlns:a16="http://schemas.microsoft.com/office/drawing/2014/main" id="{B93BF8BF-1E03-4D4A-90DC-8E25296B51AE}"/>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21242" y="1177242"/>
            <a:ext cx="6948000" cy="4671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541676"/>
      </p:ext>
    </p:extLst>
  </p:cSld>
  <p:clrMapOvr>
    <a:masterClrMapping/>
  </p:clrMapOvr>
  <p:transition spd="med">
    <p:split orient="ver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5B8F4926-D682-4700-852F-04F0D9986D6E}"/>
              </a:ext>
            </a:extLst>
          </p:cNvPr>
          <p:cNvSpPr txBox="1">
            <a:spLocks noChangeArrowheads="1"/>
          </p:cNvSpPr>
          <p:nvPr/>
        </p:nvSpPr>
        <p:spPr>
          <a:xfrm>
            <a:off x="756000" y="108000"/>
            <a:ext cx="82296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2.3.3</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基本概念理解</a:t>
            </a:r>
            <a:endPar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7" name="Picture 3">
            <a:extLst>
              <a:ext uri="{FF2B5EF4-FFF2-40B4-BE49-F238E27FC236}">
                <a16:creationId xmlns:a16="http://schemas.microsoft.com/office/drawing/2014/main" id="{4CD9C9BE-2E6A-458E-A273-2C9DAB3CB65E}"/>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25384" y="1173315"/>
            <a:ext cx="6948000" cy="467168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8581212"/>
      </p:ext>
    </p:extLst>
  </p:cSld>
  <p:clrMapOvr>
    <a:masterClrMapping/>
  </p:clrMapOvr>
  <p:transition spd="med">
    <p:split orient="ver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2.3.4 DBSCAN</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a:spLocks noGrp="1"/>
          </p:cNvSpPr>
          <p:nvPr>
            <p:ph idx="4294967295"/>
          </p:nvPr>
        </p:nvSpPr>
        <p:spPr>
          <a:xfrm>
            <a:off x="252000" y="756000"/>
            <a:ext cx="7886700" cy="525465"/>
          </a:xfrm>
          <a:prstGeom prst="rect">
            <a:avLst/>
          </a:prstGeom>
          <a:noFill/>
        </p:spPr>
        <p:txBody>
          <a:bodyPr wrap="square" lIns="72000" rIns="72000">
            <a:spAutoFit/>
          </a:bodyPr>
          <a:lstStyle/>
          <a:p>
            <a:pPr marL="360000" indent="-360000" algn="just" fontAlgn="base">
              <a:lnSpc>
                <a:spcPct val="13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算法描述</a:t>
            </a:r>
          </a:p>
        </p:txBody>
      </p:sp>
      <p:sp>
        <p:nvSpPr>
          <p:cNvPr id="4" name="文本框 3"/>
          <p:cNvSpPr txBox="1"/>
          <p:nvPr/>
        </p:nvSpPr>
        <p:spPr>
          <a:xfrm>
            <a:off x="869424" y="1340768"/>
            <a:ext cx="7405153" cy="2862322"/>
          </a:xfrm>
          <a:prstGeom prst="rect">
            <a:avLst/>
          </a:prstGeom>
          <a:solidFill>
            <a:schemeClr val="accent1">
              <a:lumMod val="20000"/>
              <a:lumOff val="80000"/>
            </a:schemeClr>
          </a:solidFill>
          <a:ln>
            <a:solidFill>
              <a:srgbClr val="13548C"/>
            </a:solidFill>
          </a:ln>
        </p:spPr>
        <p:txBody>
          <a:bodyPr wrap="square" rtlCol="0">
            <a:spAutoFit/>
          </a:bodyPr>
          <a:lstStyle/>
          <a:p>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输入：包含</a:t>
            </a:r>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个对象的数据库，半径</a:t>
            </a:r>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ε</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，最少数目</a:t>
            </a:r>
            <a:r>
              <a:rPr lang="en-US" altLang="zh-CN" dirty="0" err="1">
                <a:latin typeface="Times New Roman" panose="02020603050405020304" pitchFamily="18" charset="0"/>
                <a:ea typeface="微软雅黑" panose="020B0503020204020204" pitchFamily="34" charset="-122"/>
                <a:sym typeface="Times New Roman" panose="02020603050405020304" pitchFamily="18" charset="0"/>
              </a:rPr>
              <a:t>MinPts</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p>
          <a:p>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输出：所有生成的簇，达到密度要求。</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REPEAT</a:t>
            </a:r>
          </a:p>
          <a:p>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从数据库中抽取一个未处理过的点；</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   IF </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抽出的点是核心点 </a:t>
            </a:r>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THEN</a:t>
            </a:r>
          </a:p>
          <a:p>
            <a:pPr lvl="1"/>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找出所有从该点密度可达的对象，形成一个簇</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lvl="1"/>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ELSE </a:t>
            </a:r>
          </a:p>
          <a:p>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抽出的点是边缘点</a:t>
            </a:r>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非核心对象</a:t>
            </a:r>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，跳出本次循环，寻找下一点；</a:t>
            </a:r>
          </a:p>
          <a:p>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UNTIL </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所有点都被</a:t>
            </a:r>
            <a:r>
              <a:rPr lang="zh-CN" altLang="en-US">
                <a:latin typeface="Times New Roman" panose="02020603050405020304" pitchFamily="18" charset="0"/>
                <a:ea typeface="微软雅黑" panose="020B0503020204020204" pitchFamily="34" charset="-122"/>
                <a:sym typeface="Times New Roman" panose="02020603050405020304" pitchFamily="18" charset="0"/>
              </a:rPr>
              <a:t>处理；</a:t>
            </a: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2560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12187" y="4239306"/>
            <a:ext cx="3719626" cy="2502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314759"/>
      </p:ext>
    </p:extLst>
  </p:cSld>
  <p:clrMapOvr>
    <a:masterClrMapping/>
  </p:clrMapOvr>
  <p:transition spd="med">
    <p:split orient="ver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2.3.5 DBSCAN</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优点</a:t>
            </a:r>
          </a:p>
        </p:txBody>
      </p:sp>
      <p:pic>
        <p:nvPicPr>
          <p:cNvPr id="63492" name="Picture 3"/>
          <p:cNvPicPr>
            <a:picLocks noChangeAspect="1" noChangeArrowheads="1"/>
          </p:cNvPicPr>
          <p:nvPr/>
        </p:nvPicPr>
        <p:blipFill>
          <a:blip r:embed="rId2"/>
          <a:srcRect/>
          <a:stretch>
            <a:fillRect/>
          </a:stretch>
        </p:blipFill>
        <p:spPr bwMode="auto">
          <a:xfrm>
            <a:off x="17842" y="718312"/>
            <a:ext cx="4872038" cy="365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63493" name="Text Box 4"/>
          <p:cNvSpPr txBox="1">
            <a:spLocks noChangeArrowheads="1"/>
          </p:cNvSpPr>
          <p:nvPr/>
        </p:nvSpPr>
        <p:spPr bwMode="auto">
          <a:xfrm>
            <a:off x="1277938" y="4006025"/>
            <a:ext cx="2514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lgn="ctr">
              <a:spcBef>
                <a:spcPct val="50000"/>
              </a:spcBef>
              <a:buClrTx/>
              <a:buSzTx/>
              <a:buFontTx/>
              <a:buNone/>
              <a:defRPr/>
            </a:pPr>
            <a:r>
              <a:rPr lang="en-US" altLang="zh-CN" sz="1800" b="1">
                <a:latin typeface="Times New Roman" panose="02020603050405020304" pitchFamily="18" charset="0"/>
                <a:ea typeface="微软雅黑" panose="020B0503020204020204" pitchFamily="34" charset="-122"/>
                <a:sym typeface="Times New Roman" panose="02020603050405020304" pitchFamily="18" charset="0"/>
              </a:rPr>
              <a:t>Original Points</a:t>
            </a:r>
          </a:p>
        </p:txBody>
      </p:sp>
      <p:pic>
        <p:nvPicPr>
          <p:cNvPr id="63494" name="Picture 5"/>
          <p:cNvPicPr>
            <a:picLocks noChangeAspect="1" noChangeArrowheads="1"/>
          </p:cNvPicPr>
          <p:nvPr/>
        </p:nvPicPr>
        <p:blipFill>
          <a:blip r:embed="rId3"/>
          <a:srcRect/>
          <a:stretch>
            <a:fillRect/>
          </a:stretch>
        </p:blipFill>
        <p:spPr bwMode="auto">
          <a:xfrm>
            <a:off x="4214813" y="718312"/>
            <a:ext cx="4872037" cy="365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63495" name="Text Box 6"/>
          <p:cNvSpPr txBox="1">
            <a:spLocks noChangeArrowheads="1"/>
          </p:cNvSpPr>
          <p:nvPr/>
        </p:nvSpPr>
        <p:spPr bwMode="auto">
          <a:xfrm>
            <a:off x="5393531" y="4003405"/>
            <a:ext cx="2514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lgn="ctr">
              <a:spcBef>
                <a:spcPct val="50000"/>
              </a:spcBef>
              <a:buClrTx/>
              <a:buSzTx/>
              <a:buFontTx/>
              <a:buNone/>
              <a:defRPr/>
            </a:pPr>
            <a:r>
              <a:rPr lang="en-US" altLang="zh-CN" sz="1800" b="1">
                <a:latin typeface="Times New Roman" panose="02020603050405020304" pitchFamily="18" charset="0"/>
                <a:ea typeface="微软雅黑" panose="020B0503020204020204" pitchFamily="34" charset="-122"/>
                <a:sym typeface="Times New Roman" panose="02020603050405020304" pitchFamily="18" charset="0"/>
              </a:rPr>
              <a:t>Clusters</a:t>
            </a:r>
          </a:p>
        </p:txBody>
      </p:sp>
      <p:sp>
        <p:nvSpPr>
          <p:cNvPr id="75783" name="Text Box 7"/>
          <p:cNvSpPr txBox="1">
            <a:spLocks noChangeArrowheads="1"/>
          </p:cNvSpPr>
          <p:nvPr/>
        </p:nvSpPr>
        <p:spPr bwMode="auto">
          <a:xfrm>
            <a:off x="900113" y="4653136"/>
            <a:ext cx="6629400" cy="1211807"/>
          </a:xfrm>
          <a:prstGeom prst="rect">
            <a:avLst/>
          </a:prstGeom>
          <a:noFill/>
        </p:spPr>
        <p:txBody>
          <a:bodyPr wrap="square" lIns="72000" rIns="72000">
            <a:spAutoFit/>
          </a:bodyPr>
          <a:lstStyle>
            <a:lvl1pPr marL="360000" indent="-360000" algn="just" fontAlgn="base">
              <a:lnSpc>
                <a:spcPct val="130000"/>
              </a:lnSpc>
              <a:spcBef>
                <a:spcPts val="600"/>
              </a:spcBef>
              <a:buClr>
                <a:srgbClr val="FF6600"/>
              </a:buClr>
              <a:buSzPct val="80000"/>
              <a:buFont typeface="Wingdings" panose="05000000000000000000" pitchFamily="2" charset="2"/>
              <a:buChar char="l"/>
              <a:defRPr sz="2400">
                <a:cs typeface="+mn-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50000"/>
              </a:lnSpc>
            </a:pPr>
            <a:r>
              <a:rPr lang="zh-CN" altLang="en-US">
                <a:sym typeface="Times New Roman" panose="02020603050405020304" pitchFamily="18" charset="0"/>
              </a:rPr>
              <a:t> 抗噪声</a:t>
            </a:r>
          </a:p>
          <a:p>
            <a:pPr>
              <a:lnSpc>
                <a:spcPct val="150000"/>
              </a:lnSpc>
            </a:pPr>
            <a:r>
              <a:rPr lang="zh-CN" altLang="en-US">
                <a:sym typeface="Times New Roman" panose="02020603050405020304" pitchFamily="18" charset="0"/>
              </a:rPr>
              <a:t> 能处理各种形状和大小集群</a:t>
            </a:r>
          </a:p>
        </p:txBody>
      </p:sp>
    </p:spTree>
    <p:extLst>
      <p:ext uri="{BB962C8B-B14F-4D97-AF65-F5344CB8AC3E}">
        <p14:creationId xmlns:p14="http://schemas.microsoft.com/office/powerpoint/2010/main" val="477415426"/>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57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3"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2.3.6 DBSCAN</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缺点</a:t>
            </a:r>
          </a:p>
        </p:txBody>
      </p:sp>
      <p:sp>
        <p:nvSpPr>
          <p:cNvPr id="3" name="内容占位符 2"/>
          <p:cNvSpPr>
            <a:spLocks noGrp="1"/>
          </p:cNvSpPr>
          <p:nvPr>
            <p:ph idx="4294967295"/>
          </p:nvPr>
        </p:nvSpPr>
        <p:spPr>
          <a:xfrm>
            <a:off x="252000" y="756000"/>
            <a:ext cx="8640000" cy="2186752"/>
          </a:xfrm>
          <a:prstGeom prst="rect">
            <a:avLst/>
          </a:prstGeom>
          <a:noFill/>
        </p:spPr>
        <p:txBody>
          <a:bodyPr wrap="square" lIns="72000" rIns="72000">
            <a:spAutoFit/>
          </a:bodyPr>
          <a:lstStyle/>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缺点</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对用户定义的参数是敏感的，参数</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难以确定</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特别是对于高</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维数据</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，设置的细微不同可能导致差别很大的聚类。全局密度参数不能刻画内在的</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聚类结构</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749409" y="3259843"/>
            <a:ext cx="7638366" cy="2842157"/>
          </a:xfrm>
          <a:prstGeom prst="rect">
            <a:avLst/>
          </a:prstGeom>
        </p:spPr>
      </p:pic>
    </p:spTree>
    <p:extLst>
      <p:ext uri="{BB962C8B-B14F-4D97-AF65-F5344CB8AC3E}">
        <p14:creationId xmlns:p14="http://schemas.microsoft.com/office/powerpoint/2010/main" val="622047739"/>
      </p:ext>
    </p:extLst>
  </p:cSld>
  <p:clrMapOvr>
    <a:masterClrMapping/>
  </p:clrMapOvr>
  <p:transition spd="med">
    <p:split orient="ver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2.3.6 DBSCAN</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缺点</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291" y="3132059"/>
            <a:ext cx="8599418" cy="16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3905" y="4980258"/>
            <a:ext cx="2056191" cy="1570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a:extLst>
              <a:ext uri="{FF2B5EF4-FFF2-40B4-BE49-F238E27FC236}">
                <a16:creationId xmlns:a16="http://schemas.microsoft.com/office/drawing/2014/main" id="{4522F33B-FC4B-489B-94B9-CF6C4B1E353D}"/>
              </a:ext>
            </a:extLst>
          </p:cNvPr>
          <p:cNvSpPr txBox="1">
            <a:spLocks/>
          </p:cNvSpPr>
          <p:nvPr/>
        </p:nvSpPr>
        <p:spPr>
          <a:xfrm>
            <a:off x="252000" y="756000"/>
            <a:ext cx="8640000" cy="2186752"/>
          </a:xfrm>
          <a:prstGeom prst="rect">
            <a:avLst/>
          </a:prstGeom>
          <a:noFill/>
        </p:spPr>
        <p:txBody>
          <a:bodyPr wrap="square" lIns="72000" rIns="7200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a:cs typeface="+mn-ea"/>
                <a:sym typeface="Times New Roman" panose="02020603050405020304" pitchFamily="18" charset="0"/>
              </a:rPr>
              <a:t>缺点</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对用户定义的参数是敏感的，参数难以确定</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特别是对于高维数据</a:t>
            </a:r>
            <a:r>
              <a:rPr lang="en-US" altLang="zh-CN" sz="22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，设置的细微不同可能导致差别很大的聚类。全局密度参数不能刻画内在的聚类结构</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1135244130"/>
      </p:ext>
    </p:extLst>
  </p:cSld>
  <p:clrMapOvr>
    <a:masterClrMapping/>
  </p:clrMapOvr>
  <p:transition spd="med">
    <p:split orient="vert"/>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custDataLst>
              <p:tags r:id="rId2"/>
            </p:custDataLst>
          </p:nvPr>
        </p:nvSpPr>
        <p:spPr>
          <a:xfrm>
            <a:off x="914400" y="635000"/>
            <a:ext cx="7315200" cy="1722437"/>
          </a:xfrm>
          <a:prstGeom prst="rect">
            <a:avLst/>
          </a:prstGeom>
          <a:noFill/>
        </p:spPr>
        <p:txBody>
          <a:bodyPr vert="horz" wrap="square" rtlCol="0" anchor="ctr" anchorCtr="0">
            <a:noAutofit/>
          </a:bodyPr>
          <a:lstStyle/>
          <a:p>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下列哪种聚类算法对聚簇的形状不敏感</a:t>
            </a:r>
          </a:p>
        </p:txBody>
      </p:sp>
      <p:sp>
        <p:nvSpPr>
          <p:cNvPr id="7" name="TextBox 6"/>
          <p:cNvSpPr txBox="1"/>
          <p:nvPr>
            <p:custDataLst>
              <p:tags r:id="rId3"/>
            </p:custDataLst>
          </p:nvPr>
        </p:nvSpPr>
        <p:spPr>
          <a:xfrm>
            <a:off x="1828800" y="2492896"/>
            <a:ext cx="64008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K-means</a:t>
            </a:r>
            <a:endPar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TextBox 7"/>
          <p:cNvSpPr txBox="1"/>
          <p:nvPr>
            <p:custDataLst>
              <p:tags r:id="rId4"/>
            </p:custDataLst>
          </p:nvPr>
        </p:nvSpPr>
        <p:spPr>
          <a:xfrm>
            <a:off x="1828800" y="3350146"/>
            <a:ext cx="64008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K-</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中心点</a:t>
            </a:r>
          </a:p>
        </p:txBody>
      </p:sp>
      <p:sp>
        <p:nvSpPr>
          <p:cNvPr id="9" name="TextBox 8"/>
          <p:cNvSpPr txBox="1"/>
          <p:nvPr>
            <p:custDataLst>
              <p:tags r:id="rId5"/>
            </p:custDataLst>
          </p:nvPr>
        </p:nvSpPr>
        <p:spPr>
          <a:xfrm>
            <a:off x="1828800" y="4207396"/>
            <a:ext cx="64008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AGNES</a:t>
            </a:r>
            <a:endPar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TextBox 9"/>
          <p:cNvSpPr txBox="1"/>
          <p:nvPr>
            <p:custDataLst>
              <p:tags r:id="rId6"/>
            </p:custDataLst>
          </p:nvPr>
        </p:nvSpPr>
        <p:spPr>
          <a:xfrm>
            <a:off x="1828800" y="5064646"/>
            <a:ext cx="64008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DBSCAN</a:t>
            </a:r>
            <a:endPar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椭圆 10"/>
          <p:cNvSpPr>
            <a:spLocks noChangeAspect="1"/>
          </p:cNvSpPr>
          <p:nvPr>
            <p:custDataLst>
              <p:tags r:id="rId7"/>
            </p:custDataLst>
          </p:nvPr>
        </p:nvSpPr>
        <p:spPr bwMode="auto">
          <a:xfrm>
            <a:off x="1114425" y="2557189"/>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A</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椭圆 11"/>
          <p:cNvSpPr>
            <a:spLocks noChangeAspect="1"/>
          </p:cNvSpPr>
          <p:nvPr>
            <p:custDataLst>
              <p:tags r:id="rId8"/>
            </p:custDataLst>
          </p:nvPr>
        </p:nvSpPr>
        <p:spPr bwMode="auto">
          <a:xfrm>
            <a:off x="1114425" y="3414439"/>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B</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椭圆 12"/>
          <p:cNvSpPr>
            <a:spLocks noChangeAspect="1"/>
          </p:cNvSpPr>
          <p:nvPr>
            <p:custDataLst>
              <p:tags r:id="rId9"/>
            </p:custDataLst>
          </p:nvPr>
        </p:nvSpPr>
        <p:spPr bwMode="auto">
          <a:xfrm>
            <a:off x="1114425" y="4271689"/>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椭圆 13"/>
          <p:cNvSpPr>
            <a:spLocks noChangeAspect="1"/>
          </p:cNvSpPr>
          <p:nvPr>
            <p:custDataLst>
              <p:tags r:id="rId10"/>
            </p:custDataLst>
          </p:nvPr>
        </p:nvSpPr>
        <p:spPr bwMode="auto">
          <a:xfrm>
            <a:off x="1114425" y="5128939"/>
            <a:ext cx="514350" cy="514350"/>
          </a:xfrm>
          <a:prstGeom prst="ellipse">
            <a:avLst/>
          </a:prstGeom>
          <a:solidFill>
            <a:srgbClr val="FF99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D</a:t>
            </a:r>
            <a:endPar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圆角矩形 14"/>
          <p:cNvSpPr/>
          <p:nvPr>
            <p:custDataLst>
              <p:tags r:id="rId11"/>
            </p:custDataLst>
          </p:nvPr>
        </p:nvSpPr>
        <p:spPr bwMode="auto">
          <a:xfrm>
            <a:off x="6172200" y="6215063"/>
            <a:ext cx="1543050" cy="411480"/>
          </a:xfrm>
          <a:prstGeom prst="roundRect">
            <a:avLst/>
          </a:prstGeom>
          <a:gradFill flip="none" rotWithShape="1">
            <a:gsLst>
              <a:gs pos="0">
                <a:srgbClr val="13548C">
                  <a:shade val="30000"/>
                  <a:satMod val="115000"/>
                </a:srgbClr>
              </a:gs>
              <a:gs pos="50000">
                <a:srgbClr val="13548C">
                  <a:shade val="67500"/>
                  <a:satMod val="115000"/>
                </a:srgbClr>
              </a:gs>
              <a:gs pos="100000">
                <a:srgbClr val="13548C">
                  <a:shade val="100000"/>
                  <a:satMod val="115000"/>
                </a:srgbClr>
              </a:gs>
            </a:gsLst>
            <a:lin ang="16200000" scaled="1"/>
            <a:tileRect/>
          </a:gradFill>
          <a:ln w="381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提交</a:t>
            </a:r>
          </a:p>
        </p:txBody>
      </p:sp>
      <p:grpSp>
        <p:nvGrpSpPr>
          <p:cNvPr id="20" name="组合 19"/>
          <p:cNvGrpSpPr/>
          <p:nvPr>
            <p:custDataLst>
              <p:tags r:id="rId12"/>
            </p:custDataLst>
          </p:nvPr>
        </p:nvGrpSpPr>
        <p:grpSpPr>
          <a:xfrm>
            <a:off x="0" y="0"/>
            <a:ext cx="9144000" cy="635000"/>
            <a:chOff x="0" y="0"/>
            <a:chExt cx="9144000" cy="635000"/>
          </a:xfrm>
        </p:grpSpPr>
        <p:sp>
          <p:nvSpPr>
            <p:cNvPr id="16" name="TitleBackground"/>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ColorBlock"/>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单选题</a:t>
              </a:r>
            </a:p>
          </p:txBody>
        </p:sp>
        <p:sp>
          <p:nvSpPr>
            <p:cNvPr id="19" name="TipText"/>
            <p:cNvSpPr txBox="1"/>
            <p:nvPr>
              <p:custDataLst>
                <p:tags r:id="rId17"/>
              </p:custDataLst>
            </p:nvPr>
          </p:nvSpPr>
          <p:spPr>
            <a:xfrm>
              <a:off x="1510030" y="109220"/>
              <a:ext cx="2286000" cy="508000"/>
            </a:xfrm>
            <a:prstGeom prst="rect">
              <a:avLst/>
            </a:prstGeom>
            <a:noFill/>
          </p:spPr>
          <p:txBody>
            <a:bodyPr vert="horz" wrap="none" rtlCol="0" anchor="ctr" anchorCtr="0">
              <a:noAutofit/>
            </a:bodyPr>
            <a:lstStyle/>
            <a:p>
              <a:r>
                <a:rPr lang="en-US" altLang="zh-CN"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000">
                  <a:solidFill>
                    <a:srgbClr val="808080"/>
                  </a:solidFill>
                  <a:latin typeface="Times New Roman" panose="02020603050405020304" pitchFamily="18" charset="0"/>
                  <a:ea typeface="微软雅黑" panose="020B0503020204020204" pitchFamily="34" charset="-122"/>
                  <a:sym typeface="Times New Roman" panose="02020603050405020304" pitchFamily="18" charset="0"/>
                </a:rPr>
                <a:t>分</a:t>
              </a:r>
            </a:p>
          </p:txBody>
        </p:sp>
      </p:grpSp>
      <p:pic>
        <p:nvPicPr>
          <p:cNvPr id="5" name="图片 4"/>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731019054"/>
      </p:ext>
    </p:extLst>
  </p:cSld>
  <p:clrMapOvr>
    <a:masterClrMapping/>
  </p:clrMapOvr>
  <p:transition spd="med">
    <p:split orient="ver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5076406"/>
      </p:ext>
    </p:extLst>
  </p:cSld>
  <p:clrMapOvr>
    <a:masterClrMapping/>
  </p:clrMapOvr>
  <p:transition spd="med">
    <p:split orient="ver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3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聚类</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评估</a:t>
            </a:r>
          </a:p>
        </p:txBody>
      </p:sp>
      <p:sp>
        <p:nvSpPr>
          <p:cNvPr id="3" name="内容占位符 2"/>
          <p:cNvSpPr>
            <a:spLocks noGrp="1"/>
          </p:cNvSpPr>
          <p:nvPr>
            <p:ph idx="4294967295"/>
          </p:nvPr>
        </p:nvSpPr>
        <p:spPr>
          <a:xfrm>
            <a:off x="252000" y="836712"/>
            <a:ext cx="8640000" cy="3525581"/>
          </a:xfrm>
          <a:prstGeom prst="rect">
            <a:avLst/>
          </a:prstGeom>
          <a:noFill/>
        </p:spPr>
        <p:txBody>
          <a:bodyPr wrap="square" lIns="72000" rIns="72000">
            <a:spAutoFit/>
          </a:bodyPr>
          <a:lstStyle/>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估计在数据集上</a:t>
            </a:r>
            <a:r>
              <a:rPr lang="zh-CN" altLang="en-US" sz="2400" b="1" dirty="0">
                <a:solidFill>
                  <a:srgbClr val="FF6600"/>
                </a:solidFill>
                <a:cs typeface="+mn-ea"/>
                <a:sym typeface="Times New Roman" panose="02020603050405020304" pitchFamily="18" charset="0"/>
              </a:rPr>
              <a:t>进行聚类的可行性和被聚类方法产生的结果的质量</a:t>
            </a:r>
          </a:p>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聚类评估的任务</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估计</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聚类趋势：评估数据集是否存在非随机结构</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确定</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数据集中的簇数：在聚类之前，估计簇数</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测定</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聚类质量：聚类之后，评估结果簇</a:t>
            </a: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的质量</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3624919428"/>
      </p:ext>
    </p:extLst>
  </p:cSld>
  <p:clrMapOvr>
    <a:masterClrMapping/>
  </p:clrMapOvr>
  <p:transition spd="med">
    <p:split orient="ver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15616" y="2026407"/>
            <a:ext cx="4588637" cy="1782934"/>
          </a:xfrm>
          <a:prstGeom prst="rect">
            <a:avLst/>
          </a:prstGeom>
          <a:solidFill>
            <a:schemeClr val="accent1">
              <a:lumMod val="20000"/>
              <a:lumOff val="80000"/>
            </a:schemeClr>
          </a:solidFill>
          <a:ln>
            <a:solidFill>
              <a:srgbClr val="13548C"/>
            </a:solidFill>
          </a:ln>
        </p:spPr>
        <p:txBody>
          <a:bodyPr wrap="square" rtlCol="0" anchor="ctr">
            <a:noAutofit/>
          </a:bodyPr>
          <a:lstStyle/>
          <a:p>
            <a:pPr eaLnBrk="1" fontAlgn="auto" hangingPunct="1">
              <a:lnSpc>
                <a:spcPct val="150000"/>
              </a:lnSpc>
              <a:spcBef>
                <a:spcPts val="0"/>
              </a:spcBef>
              <a:spcAft>
                <a:spcPts val="0"/>
              </a:spcAft>
            </a:pPr>
            <a:r>
              <a:rPr lang="zh-CN" altLang="en-US">
                <a:solidFill>
                  <a:prstClr val="black"/>
                </a:solidFill>
                <a:latin typeface="Times New Roman" panose="02020603050405020304" pitchFamily="18" charset="0"/>
                <a:ea typeface="微软雅黑" panose="020B0503020204020204" pitchFamily="34" charset="-122"/>
                <a:sym typeface="Times New Roman" panose="02020603050405020304" pitchFamily="18" charset="0"/>
              </a:rPr>
              <a:t>        如果</a:t>
            </a:r>
            <a:r>
              <a:rPr lang="zh-CN" altLang="en-US" dirty="0">
                <a:solidFill>
                  <a:prstClr val="black"/>
                </a:solidFill>
                <a:latin typeface="Times New Roman" panose="02020603050405020304" pitchFamily="18" charset="0"/>
                <a:ea typeface="微软雅黑" panose="020B0503020204020204" pitchFamily="34" charset="-122"/>
                <a:sym typeface="Times New Roman" panose="02020603050405020304" pitchFamily="18" charset="0"/>
              </a:rPr>
              <a:t>数据服从均匀分布，显然对其进行的聚类操作都是没有意义的</a:t>
            </a:r>
          </a:p>
        </p:txBody>
      </p:sp>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2.3.1 </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估计聚类趋势</a:t>
            </a:r>
          </a:p>
        </p:txBody>
      </p:sp>
      <p:sp>
        <p:nvSpPr>
          <p:cNvPr id="3" name="内容占位符 2"/>
          <p:cNvSpPr>
            <a:spLocks noGrp="1"/>
          </p:cNvSpPr>
          <p:nvPr>
            <p:ph idx="4294967295"/>
          </p:nvPr>
        </p:nvSpPr>
        <p:spPr>
          <a:xfrm>
            <a:off x="252000" y="756000"/>
            <a:ext cx="8578850" cy="580865"/>
          </a:xfrm>
          <a:prstGeom prst="rect">
            <a:avLst/>
          </a:prstGeom>
          <a:noFill/>
        </p:spPr>
        <p:txBody>
          <a:bodyPr wrap="square" lIns="72000" rIns="72000">
            <a:spAutoFit/>
          </a:bodyPr>
          <a:lstStyle/>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从统计学的角度，就是检测数据是否是随机或线性</a:t>
            </a:r>
            <a:r>
              <a:rPr lang="zh-CN" altLang="en-US" sz="2400">
                <a:cs typeface="+mn-ea"/>
                <a:sym typeface="Times New Roman" panose="02020603050405020304" pitchFamily="18" charset="0"/>
              </a:rPr>
              <a:t>分布的</a:t>
            </a:r>
            <a:endParaRPr lang="en-US" altLang="zh-CN" sz="2400" dirty="0">
              <a:cs typeface="+mn-ea"/>
              <a:sym typeface="Times New Roman" panose="02020603050405020304"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112" y="1700808"/>
            <a:ext cx="2468594" cy="2468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bject 7"/>
          <p:cNvSpPr/>
          <p:nvPr/>
        </p:nvSpPr>
        <p:spPr>
          <a:xfrm>
            <a:off x="1763688" y="4706746"/>
            <a:ext cx="3035685" cy="733286"/>
          </a:xfrm>
          <a:prstGeom prst="rect">
            <a:avLst/>
          </a:prstGeom>
          <a:blipFill>
            <a:blip r:embed="rId3" cstate="print"/>
            <a:stretch>
              <a:fillRect/>
            </a:stretch>
          </a:blip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pic>
        <p:nvPicPr>
          <p:cNvPr id="7" name="Picture 2">
            <a:extLst>
              <a:ext uri="{FF2B5EF4-FFF2-40B4-BE49-F238E27FC236}">
                <a16:creationId xmlns:a16="http://schemas.microsoft.com/office/drawing/2014/main" id="{0985BEC6-2D54-4F33-9178-260BDF61B7E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84032" y="4182742"/>
            <a:ext cx="2448272" cy="2514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p:cNvSpPr txBox="1"/>
          <p:nvPr/>
        </p:nvSpPr>
        <p:spPr>
          <a:xfrm>
            <a:off x="1979712" y="5733256"/>
            <a:ext cx="2592288" cy="461665"/>
          </a:xfrm>
          <a:prstGeom prst="rect">
            <a:avLst/>
          </a:prstGeom>
          <a:noFill/>
        </p:spPr>
        <p:txBody>
          <a:bodyPr wrap="square" rtlCol="0">
            <a:spAutoFit/>
          </a:bodyPr>
          <a:lstStyle/>
          <a:p>
            <a:r>
              <a:rPr lang="zh-CN" altLang="en-US" b="1" dirty="0">
                <a:solidFill>
                  <a:srgbClr val="FF0000"/>
                </a:solidFill>
              </a:rPr>
              <a:t>霍普金斯统计量</a:t>
            </a:r>
          </a:p>
        </p:txBody>
      </p:sp>
      <p:sp>
        <p:nvSpPr>
          <p:cNvPr id="9" name="椭圆 8"/>
          <p:cNvSpPr/>
          <p:nvPr/>
        </p:nvSpPr>
        <p:spPr>
          <a:xfrm>
            <a:off x="6228184" y="4797152"/>
            <a:ext cx="144016" cy="1440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47084557"/>
      </p:ext>
    </p:extLst>
  </p:cSld>
  <p:clrMapOvr>
    <a:masterClrMapping/>
  </p:clrMapOvr>
  <p:transition spd="med">
    <p:split orient="vert"/>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2.3.2 </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确定数据集中的簇数</a:t>
            </a:r>
          </a:p>
        </p:txBody>
      </p:sp>
      <mc:AlternateContent xmlns:mc="http://schemas.openxmlformats.org/markup-compatibility/2006" xmlns:a14="http://schemas.microsoft.com/office/drawing/2010/main">
        <mc:Choice Requires="a14">
          <p:sp>
            <p:nvSpPr>
              <p:cNvPr id="3" name="内容占位符 2"/>
              <p:cNvSpPr>
                <a:spLocks noGrp="1"/>
              </p:cNvSpPr>
              <p:nvPr>
                <p:ph idx="4294967295"/>
              </p:nvPr>
            </p:nvSpPr>
            <p:spPr>
              <a:xfrm>
                <a:off x="252000" y="756000"/>
                <a:ext cx="8640000" cy="3061800"/>
              </a:xfrm>
              <a:prstGeom prst="rect">
                <a:avLst/>
              </a:prstGeom>
              <a:noFill/>
            </p:spPr>
            <p:txBody>
              <a:bodyPr wrap="square" lIns="72000" rIns="72000">
                <a:spAutoFit/>
              </a:bodyPr>
              <a:lstStyle/>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实验方法</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对于</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n</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个点的数据集，簇数</a:t>
                </a:r>
                <a14:m>
                  <m:oMath xmlns:m="http://schemas.openxmlformats.org/officeDocument/2006/math">
                    <m:rad>
                      <m:radPr>
                        <m:degHide m:val="on"/>
                        <m:ctrlPr>
                          <a:rPr lang="zh-CN" altLang="en-US" sz="2200" i="1">
                            <a:latin typeface="Cambria Math" panose="02040503050406030204" pitchFamily="18" charset="0"/>
                            <a:cs typeface="+mn-ea"/>
                            <a:sym typeface="Times New Roman" panose="02020603050405020304" pitchFamily="18" charset="0"/>
                          </a:rPr>
                        </m:ctrlPr>
                      </m:radPr>
                      <m:deg/>
                      <m:e>
                        <m:r>
                          <a:rPr lang="en-US" altLang="zh-CN" sz="2200">
                            <a:latin typeface="Cambria Math" panose="02040503050406030204" pitchFamily="18" charset="0"/>
                            <a:cs typeface="+mn-ea"/>
                            <a:sym typeface="Times New Roman" panose="02020603050405020304" pitchFamily="18" charset="0"/>
                          </a:rPr>
                          <m:t>𝑛</m:t>
                        </m:r>
                        <m:r>
                          <a:rPr lang="en-US" altLang="zh-CN" sz="2200">
                            <a:latin typeface="Cambria Math" panose="02040503050406030204" pitchFamily="18" charset="0"/>
                            <a:cs typeface="+mn-ea"/>
                            <a:sym typeface="Times New Roman" panose="02020603050405020304" pitchFamily="18" charset="0"/>
                          </a:rPr>
                          <m:t>/2</m:t>
                        </m:r>
                      </m:e>
                    </m:rad>
                  </m:oMath>
                </a14:m>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，每个簇约有</a:t>
                </a:r>
                <a14:m>
                  <m:oMath xmlns:m="http://schemas.openxmlformats.org/officeDocument/2006/math">
                    <m:rad>
                      <m:radPr>
                        <m:degHide m:val="on"/>
                        <m:ctrlPr>
                          <a:rPr lang="zh-CN" altLang="en-US" sz="2200" i="1">
                            <a:latin typeface="Cambria Math" panose="02040503050406030204" pitchFamily="18" charset="0"/>
                            <a:cs typeface="+mn-ea"/>
                            <a:sym typeface="Times New Roman" panose="02020603050405020304" pitchFamily="18" charset="0"/>
                          </a:rPr>
                        </m:ctrlPr>
                      </m:radPr>
                      <m:deg/>
                      <m:e>
                        <m:r>
                          <a:rPr lang="en-US" altLang="zh-CN" sz="2200">
                            <a:latin typeface="Cambria Math" panose="02040503050406030204" pitchFamily="18" charset="0"/>
                            <a:cs typeface="+mn-ea"/>
                            <a:sym typeface="Times New Roman" panose="02020603050405020304" pitchFamily="18" charset="0"/>
                          </a:rPr>
                          <m:t>2</m:t>
                        </m:r>
                        <m:r>
                          <a:rPr lang="en-US" altLang="zh-CN" sz="2200">
                            <a:latin typeface="Cambria Math" panose="02040503050406030204" pitchFamily="18" charset="0"/>
                            <a:cs typeface="+mn-ea"/>
                            <a:sym typeface="Times New Roman" panose="02020603050405020304" pitchFamily="18" charset="0"/>
                          </a:rPr>
                          <m:t>𝑛</m:t>
                        </m:r>
                      </m:e>
                    </m:rad>
                  </m:oMath>
                </a14:m>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个点</a:t>
                </a:r>
              </a:p>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肘方法（</a:t>
                </a:r>
                <a:r>
                  <a:rPr lang="en-US" altLang="zh-CN" sz="2400" dirty="0">
                    <a:cs typeface="+mn-ea"/>
                    <a:sym typeface="Times New Roman" panose="02020603050405020304" pitchFamily="18" charset="0"/>
                  </a:rPr>
                  <a:t>Elbow method</a:t>
                </a:r>
                <a:r>
                  <a:rPr lang="zh-CN" altLang="en-US" sz="2400" dirty="0">
                    <a:cs typeface="+mn-ea"/>
                    <a:sym typeface="Times New Roman" panose="02020603050405020304" pitchFamily="18" charset="0"/>
                  </a:rPr>
                  <a:t>）</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增加簇数可以降低</a:t>
                </a:r>
                <a:r>
                  <a:rPr lang="zh-CN" altLang="en-US" sz="2200" b="1"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簇内方差</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之和，但是如果形成太多的簇，降低</a:t>
                </a:r>
                <a:r>
                  <a:rPr lang="zh-CN" altLang="en-US" sz="2200" b="1"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簇内方差之和的边缘效应</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可能下降。</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4294967295"/>
              </p:nvPr>
            </p:nvSpPr>
            <p:spPr>
              <a:xfrm>
                <a:off x="252000" y="756000"/>
                <a:ext cx="8640000" cy="3061800"/>
              </a:xfrm>
              <a:prstGeom prst="rect">
                <a:avLst/>
              </a:prstGeom>
              <a:blipFill>
                <a:blip r:embed="rId3"/>
                <a:stretch>
                  <a:fillRect l="-705" r="-1058" b="-1394"/>
                </a:stretch>
              </a:blipFill>
            </p:spPr>
            <p:txBody>
              <a:bodyPr/>
              <a:lstStyle/>
              <a:p>
                <a:r>
                  <a:rPr lang="zh-CN" altLang="en-US">
                    <a:noFill/>
                  </a:rPr>
                  <a:t> </a:t>
                </a:r>
              </a:p>
            </p:txBody>
          </p:sp>
        </mc:Fallback>
      </mc:AlternateContent>
      <p:pic>
        <p:nvPicPr>
          <p:cNvPr id="4" name="图片 3"/>
          <p:cNvPicPr>
            <a:picLocks noChangeAspect="1"/>
          </p:cNvPicPr>
          <p:nvPr/>
        </p:nvPicPr>
        <p:blipFill>
          <a:blip r:embed="rId4"/>
          <a:stretch>
            <a:fillRect/>
          </a:stretch>
        </p:blipFill>
        <p:spPr>
          <a:xfrm>
            <a:off x="4932040" y="3785729"/>
            <a:ext cx="3744416" cy="2883631"/>
          </a:xfrm>
          <a:prstGeom prst="rect">
            <a:avLst/>
          </a:prstGeom>
        </p:spPr>
      </p:pic>
      <p:pic>
        <p:nvPicPr>
          <p:cNvPr id="5" name="图片 4"/>
          <p:cNvPicPr>
            <a:picLocks noChangeAspect="1"/>
          </p:cNvPicPr>
          <p:nvPr/>
        </p:nvPicPr>
        <p:blipFill>
          <a:blip r:embed="rId5"/>
          <a:stretch>
            <a:fillRect/>
          </a:stretch>
        </p:blipFill>
        <p:spPr>
          <a:xfrm>
            <a:off x="684845" y="3786509"/>
            <a:ext cx="3744416" cy="1265354"/>
          </a:xfrm>
          <a:prstGeom prst="rect">
            <a:avLst/>
          </a:prstGeom>
        </p:spPr>
      </p:pic>
      <p:pic>
        <p:nvPicPr>
          <p:cNvPr id="7" name="图片 6"/>
          <p:cNvPicPr>
            <a:picLocks noChangeAspect="1"/>
          </p:cNvPicPr>
          <p:nvPr/>
        </p:nvPicPr>
        <p:blipFill>
          <a:blip r:embed="rId6"/>
          <a:stretch>
            <a:fillRect/>
          </a:stretch>
        </p:blipFill>
        <p:spPr>
          <a:xfrm>
            <a:off x="196835" y="5057527"/>
            <a:ext cx="1796616" cy="1617497"/>
          </a:xfrm>
          <a:prstGeom prst="rect">
            <a:avLst/>
          </a:prstGeom>
        </p:spPr>
      </p:pic>
      <p:pic>
        <p:nvPicPr>
          <p:cNvPr id="8" name="图片 7"/>
          <p:cNvPicPr>
            <a:picLocks noChangeAspect="1"/>
          </p:cNvPicPr>
          <p:nvPr/>
        </p:nvPicPr>
        <p:blipFill>
          <a:blip r:embed="rId7"/>
          <a:stretch>
            <a:fillRect/>
          </a:stretch>
        </p:blipFill>
        <p:spPr>
          <a:xfrm>
            <a:off x="2190490" y="5051863"/>
            <a:ext cx="1992706" cy="1617497"/>
          </a:xfrm>
          <a:prstGeom prst="rect">
            <a:avLst/>
          </a:prstGeom>
        </p:spPr>
      </p:pic>
      <p:sp>
        <p:nvSpPr>
          <p:cNvPr id="9" name="矩形 8"/>
          <p:cNvSpPr/>
          <p:nvPr/>
        </p:nvSpPr>
        <p:spPr>
          <a:xfrm>
            <a:off x="107504" y="3785729"/>
            <a:ext cx="4321757" cy="28836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47075089"/>
      </p:ext>
    </p:extLst>
  </p:cSld>
  <p:clrMapOvr>
    <a:masterClrMapping/>
  </p:clrMapOvr>
  <p:transition spd="med">
    <p:split orient="vert"/>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2.3.3 </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测定聚类质量</a:t>
            </a:r>
          </a:p>
        </p:txBody>
      </p:sp>
      <p:sp>
        <p:nvSpPr>
          <p:cNvPr id="3" name="内容占位符 2"/>
          <p:cNvSpPr>
            <a:spLocks noGrp="1"/>
          </p:cNvSpPr>
          <p:nvPr>
            <p:ph idx="4294967295"/>
          </p:nvPr>
        </p:nvSpPr>
        <p:spPr>
          <a:xfrm>
            <a:off x="252000" y="756000"/>
            <a:ext cx="8640000" cy="3556358"/>
          </a:xfrm>
          <a:prstGeom prst="rect">
            <a:avLst/>
          </a:prstGeom>
          <a:noFill/>
        </p:spPr>
        <p:txBody>
          <a:bodyPr wrap="square" lIns="72000" rIns="72000">
            <a:spAutoFit/>
          </a:bodyPr>
          <a:lstStyle/>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外在方法：有监督的</a:t>
            </a:r>
            <a:endParaRPr lang="en-US" altLang="zh-CN" sz="2400" dirty="0">
              <a:cs typeface="+mn-ea"/>
              <a:sym typeface="Times New Roman" panose="02020603050405020304" pitchFamily="18" charset="0"/>
            </a:endParaRP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用某种聚类质量度量对聚类结果和</a:t>
            </a:r>
            <a:r>
              <a:rPr lang="zh-CN" altLang="en-US" sz="2200" b="1"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基准</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进行比较</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基准：一种理想的聚类，由专家构建</a:t>
            </a:r>
            <a:endParaRPr lang="en-US" altLang="zh-CN" sz="2400" dirty="0">
              <a:cs typeface="+mn-ea"/>
              <a:sym typeface="Times New Roman" panose="02020603050405020304" pitchFamily="18" charset="0"/>
            </a:endParaRPr>
          </a:p>
          <a:p>
            <a:pPr marL="360000" indent="-360000" algn="just" fontAlgn="base">
              <a:lnSpc>
                <a:spcPct val="15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内在方法：无监督的</a:t>
            </a:r>
            <a:endParaRPr lang="en-US" altLang="zh-CN" sz="2400" dirty="0">
              <a:cs typeface="+mn-ea"/>
              <a:sym typeface="Times New Roman" panose="02020603050405020304" pitchFamily="18" charset="0"/>
            </a:endParaRP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通过考察簇的分离情况和簇的紧凑情况来评估聚类</a:t>
            </a:r>
          </a:p>
          <a:p>
            <a:pPr marL="817200" lvl="1" indent="-360000" algn="just" fontAlgn="base">
              <a:lnSpc>
                <a:spcPct val="150000"/>
              </a:lnSpc>
              <a:spcBef>
                <a:spcPts val="600"/>
              </a:spcBef>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例：轮廓系数</a:t>
            </a:r>
          </a:p>
        </p:txBody>
      </p:sp>
      <p:pic>
        <p:nvPicPr>
          <p:cNvPr id="6" name="图片 5"/>
          <p:cNvPicPr>
            <a:picLocks noChangeAspect="1"/>
          </p:cNvPicPr>
          <p:nvPr/>
        </p:nvPicPr>
        <p:blipFill>
          <a:blip r:embed="rId2"/>
          <a:stretch>
            <a:fillRect/>
          </a:stretch>
        </p:blipFill>
        <p:spPr>
          <a:xfrm>
            <a:off x="3457038" y="3645024"/>
            <a:ext cx="4646804" cy="3191991"/>
          </a:xfrm>
          <a:prstGeom prst="rect">
            <a:avLst/>
          </a:prstGeom>
        </p:spPr>
      </p:pic>
      <p:sp>
        <p:nvSpPr>
          <p:cNvPr id="7" name="矩形 6"/>
          <p:cNvSpPr/>
          <p:nvPr/>
        </p:nvSpPr>
        <p:spPr>
          <a:xfrm>
            <a:off x="3347864" y="6021288"/>
            <a:ext cx="2736304" cy="7920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92022" y="4636004"/>
            <a:ext cx="2595738" cy="2231124"/>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zh-CN" altLang="en-US" dirty="0"/>
              <a:t>值介于 </a:t>
            </a:r>
            <a:r>
              <a:rPr lang="en-US" altLang="zh-CN" dirty="0"/>
              <a:t>[-1,1] </a:t>
            </a:r>
          </a:p>
          <a:p>
            <a:pPr marL="342900" indent="-342900">
              <a:lnSpc>
                <a:spcPct val="150000"/>
              </a:lnSpc>
              <a:buFont typeface="Wingdings" panose="05000000000000000000" pitchFamily="2" charset="2"/>
              <a:buChar char="ü"/>
            </a:pPr>
            <a:r>
              <a:rPr lang="zh-CN" altLang="en-US" dirty="0"/>
              <a:t>越趋近于</a:t>
            </a:r>
            <a:r>
              <a:rPr lang="en-US" altLang="zh-CN" dirty="0"/>
              <a:t>1</a:t>
            </a:r>
            <a:r>
              <a:rPr lang="zh-CN" altLang="en-US" dirty="0"/>
              <a:t>代表内聚度和分离度都相对较优</a:t>
            </a:r>
          </a:p>
        </p:txBody>
      </p:sp>
    </p:spTree>
    <p:extLst>
      <p:ext uri="{BB962C8B-B14F-4D97-AF65-F5344CB8AC3E}">
        <p14:creationId xmlns:p14="http://schemas.microsoft.com/office/powerpoint/2010/main" val="1948479743"/>
      </p:ext>
    </p:extLst>
  </p:cSld>
  <p:clrMapOvr>
    <a:masterClrMapping/>
  </p:clrMapOvr>
  <p:transition spd="med">
    <p:split orient="vert"/>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2.3.4 </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测定聚类质量</a:t>
            </a:r>
          </a:p>
        </p:txBody>
      </p:sp>
      <p:sp>
        <p:nvSpPr>
          <p:cNvPr id="3" name="内容占位符 2"/>
          <p:cNvSpPr>
            <a:spLocks noGrp="1"/>
          </p:cNvSpPr>
          <p:nvPr>
            <p:ph idx="4294967295"/>
          </p:nvPr>
        </p:nvSpPr>
        <p:spPr>
          <a:xfrm>
            <a:off x="252000" y="756000"/>
            <a:ext cx="2528268" cy="3166188"/>
          </a:xfrm>
          <a:prstGeom prst="rect">
            <a:avLst/>
          </a:prstGeom>
          <a:noFill/>
        </p:spPr>
        <p:txBody>
          <a:bodyPr wrap="square" lIns="72000" rIns="72000">
            <a:spAutoFit/>
          </a:bodyPr>
          <a:lstStyle/>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簇</a:t>
            </a:r>
            <a:r>
              <a:rPr lang="zh-CN" altLang="en-US" sz="2400">
                <a:cs typeface="+mn-ea"/>
                <a:sym typeface="Times New Roman" panose="02020603050405020304" pitchFamily="18" charset="0"/>
              </a:rPr>
              <a:t>的同质性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簇</a:t>
            </a:r>
            <a:r>
              <a:rPr lang="zh-CN" altLang="en-US" sz="2400">
                <a:cs typeface="+mn-ea"/>
                <a:sym typeface="Times New Roman" panose="02020603050405020304" pitchFamily="18" charset="0"/>
              </a:rPr>
              <a:t>的完全性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碎</a:t>
            </a:r>
            <a:r>
              <a:rPr lang="zh-CN" altLang="en-US" sz="2400">
                <a:cs typeface="+mn-ea"/>
                <a:sym typeface="Times New Roman" panose="02020603050405020304" pitchFamily="18" charset="0"/>
              </a:rPr>
              <a:t>布袋性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小簇保持性</a:t>
            </a:r>
          </a:p>
        </p:txBody>
      </p:sp>
    </p:spTree>
    <p:extLst>
      <p:ext uri="{BB962C8B-B14F-4D97-AF65-F5344CB8AC3E}">
        <p14:creationId xmlns:p14="http://schemas.microsoft.com/office/powerpoint/2010/main" val="2776904591"/>
      </p:ext>
    </p:extLst>
  </p:cSld>
  <p:clrMapOvr>
    <a:masterClrMapping/>
  </p:clrMapOvr>
  <p:transition spd="med">
    <p:split orient="vert"/>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bwMode="auto">
          <a:xfrm>
            <a:off x="2915816" y="1196752"/>
            <a:ext cx="3591879" cy="1219518"/>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1" hangingPunct="1"/>
            <a:endParaRPr lang="zh-CN" altLang="en-US" sz="1800">
              <a:solidFill>
                <a:prstClr val="black"/>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椭圆 5"/>
          <p:cNvSpPr/>
          <p:nvPr/>
        </p:nvSpPr>
        <p:spPr bwMode="auto">
          <a:xfrm>
            <a:off x="3491880" y="1534384"/>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1" hangingPunct="1"/>
            <a:r>
              <a:rPr lang="en-US" altLang="zh-CN" sz="1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Li</a:t>
            </a:r>
            <a:endParaRPr lang="zh-CN" altLang="en-US" sz="1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椭圆 6"/>
          <p:cNvSpPr/>
          <p:nvPr/>
        </p:nvSpPr>
        <p:spPr bwMode="auto">
          <a:xfrm>
            <a:off x="4821946" y="1534384"/>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1" hangingPunct="1"/>
            <a:r>
              <a:rPr lang="en-US" altLang="zh-CN" sz="1800" b="1" dirty="0" err="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Lj</a:t>
            </a:r>
            <a:endParaRPr lang="zh-CN" altLang="en-US" sz="1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椭圆 7"/>
          <p:cNvSpPr/>
          <p:nvPr/>
        </p:nvSpPr>
        <p:spPr bwMode="auto">
          <a:xfrm>
            <a:off x="3491880" y="2732538"/>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1" hangingPunct="1"/>
            <a:r>
              <a:rPr lang="en-US" altLang="zh-CN" sz="1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Li</a:t>
            </a:r>
            <a:endParaRPr lang="zh-CN" altLang="en-US" sz="1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椭圆 8"/>
          <p:cNvSpPr/>
          <p:nvPr/>
        </p:nvSpPr>
        <p:spPr bwMode="auto">
          <a:xfrm>
            <a:off x="4821946" y="2732538"/>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1" hangingPunct="1"/>
            <a:r>
              <a:rPr lang="en-US" altLang="zh-CN" sz="1800" b="1" dirty="0" err="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Lj</a:t>
            </a:r>
            <a:endParaRPr lang="zh-CN" altLang="en-US" sz="1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标题 1">
            <a:extLst>
              <a:ext uri="{FF2B5EF4-FFF2-40B4-BE49-F238E27FC236}">
                <a16:creationId xmlns:a16="http://schemas.microsoft.com/office/drawing/2014/main" id="{EF20267C-13DF-4C06-82E9-69DCE1F01583}"/>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CN" sz="2600" b="1" spc="50" dirty="0">
                <a:solidFill>
                  <a:prstClr val="white"/>
                </a:solidFill>
                <a:cs typeface="+mn-ea"/>
                <a:sym typeface="Times New Roman" panose="02020603050405020304" pitchFamily="18" charset="0"/>
              </a:rPr>
              <a:t>2.3.4 </a:t>
            </a:r>
            <a:r>
              <a:rPr lang="zh-CN" altLang="en-US" sz="2600" b="1" spc="50" dirty="0">
                <a:solidFill>
                  <a:prstClr val="white"/>
                </a:solidFill>
                <a:cs typeface="+mn-ea"/>
                <a:sym typeface="Times New Roman" panose="02020603050405020304" pitchFamily="18" charset="0"/>
              </a:rPr>
              <a:t>测定聚类质量</a:t>
            </a:r>
          </a:p>
        </p:txBody>
      </p:sp>
      <p:sp>
        <p:nvSpPr>
          <p:cNvPr id="12" name="内容占位符 2">
            <a:extLst>
              <a:ext uri="{FF2B5EF4-FFF2-40B4-BE49-F238E27FC236}">
                <a16:creationId xmlns:a16="http://schemas.microsoft.com/office/drawing/2014/main" id="{81B9450A-1CC6-449C-B072-5B6898955D3B}"/>
              </a:ext>
            </a:extLst>
          </p:cNvPr>
          <p:cNvSpPr txBox="1">
            <a:spLocks/>
          </p:cNvSpPr>
          <p:nvPr/>
        </p:nvSpPr>
        <p:spPr>
          <a:xfrm>
            <a:off x="252000" y="756000"/>
            <a:ext cx="2528268" cy="4797404"/>
          </a:xfrm>
          <a:prstGeom prst="rect">
            <a:avLst/>
          </a:prstGeom>
          <a:noFill/>
        </p:spPr>
        <p:txBody>
          <a:bodyPr wrap="square" lIns="72000" rIns="7200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a:lnSpc>
                <a:spcPct val="200000"/>
              </a:lnSpc>
              <a:spcBef>
                <a:spcPts val="600"/>
              </a:spcBef>
              <a:spcAft>
                <a:spcPts val="0"/>
              </a:spcAft>
              <a:buClr>
                <a:srgbClr val="FF6600"/>
              </a:buClr>
              <a:buSzPct val="80000"/>
              <a:buFont typeface="Wingdings" panose="05000000000000000000" pitchFamily="2" charset="2"/>
              <a:buChar char="l"/>
            </a:pPr>
            <a:r>
              <a:rPr lang="zh-CN" altLang="en-US" sz="2400" b="1" dirty="0">
                <a:solidFill>
                  <a:srgbClr val="FF6600"/>
                </a:solidFill>
                <a:cs typeface="+mn-ea"/>
                <a:sym typeface="Times New Roman" panose="02020603050405020304" pitchFamily="18" charset="0"/>
              </a:rPr>
              <a:t>簇的同质性</a:t>
            </a:r>
            <a:endParaRPr lang="en-US" altLang="zh-CN" sz="2400" b="1" dirty="0">
              <a:solidFill>
                <a:srgbClr val="FF6600"/>
              </a:solidFill>
              <a:cs typeface="+mn-ea"/>
              <a:sym typeface="Times New Roman" panose="02020603050405020304" pitchFamily="18" charset="0"/>
            </a:endParaRPr>
          </a:p>
          <a:p>
            <a:pPr marL="360000" indent="-360000" algn="just">
              <a:lnSpc>
                <a:spcPct val="200000"/>
              </a:lnSpc>
              <a:spcBef>
                <a:spcPts val="600"/>
              </a:spcBef>
              <a:spcAft>
                <a:spcPts val="0"/>
              </a:spcAft>
              <a:buClr>
                <a:srgbClr val="FF6600"/>
              </a:buClr>
              <a:buSzPct val="80000"/>
              <a:buFont typeface="Wingdings" panose="05000000000000000000" pitchFamily="2" charset="2"/>
              <a:buChar char="l"/>
            </a:pPr>
            <a:endParaRPr lang="en-US" altLang="zh-CN" sz="2400" b="1" dirty="0">
              <a:solidFill>
                <a:srgbClr val="FF6600"/>
              </a:solidFill>
              <a:cs typeface="+mn-ea"/>
              <a:sym typeface="Times New Roman" panose="02020603050405020304" pitchFamily="18" charset="0"/>
            </a:endParaRPr>
          </a:p>
          <a:p>
            <a:pPr marL="0" indent="0" algn="just">
              <a:lnSpc>
                <a:spcPct val="200000"/>
              </a:lnSpc>
              <a:spcBef>
                <a:spcPts val="600"/>
              </a:spcBef>
              <a:spcAft>
                <a:spcPts val="0"/>
              </a:spcAft>
              <a:buClr>
                <a:srgbClr val="FF6600"/>
              </a:buClr>
              <a:buSzPct val="80000"/>
              <a:buFont typeface="Arial" panose="020B0604020202020204" pitchFamily="34" charset="0"/>
              <a:buNone/>
            </a:pPr>
            <a:endParaRPr lang="en-US" altLang="zh-CN" sz="2400" b="1" dirty="0">
              <a:solidFill>
                <a:srgbClr val="FF6600"/>
              </a:solidFill>
              <a:cs typeface="+mn-ea"/>
              <a:sym typeface="Times New Roman" panose="02020603050405020304" pitchFamily="18" charset="0"/>
            </a:endParaRPr>
          </a:p>
          <a:p>
            <a:pPr marL="360000" indent="-360000" algn="just">
              <a:lnSpc>
                <a:spcPct val="200000"/>
              </a:lnSpc>
              <a:spcBef>
                <a:spcPts val="600"/>
              </a:spcBef>
              <a:spcAft>
                <a:spcPts val="0"/>
              </a:spcAft>
              <a:buClr>
                <a:srgbClr val="FF6600"/>
              </a:buClr>
              <a:buSzPct val="80000"/>
              <a:buFont typeface="Wingdings" panose="05000000000000000000" pitchFamily="2" charset="2"/>
              <a:buChar char="l"/>
            </a:pPr>
            <a:r>
              <a:rPr lang="zh-CN" altLang="en-US" sz="2400" dirty="0">
                <a:solidFill>
                  <a:prstClr val="black"/>
                </a:solidFill>
                <a:cs typeface="+mn-ea"/>
                <a:sym typeface="Times New Roman" panose="02020603050405020304" pitchFamily="18" charset="0"/>
              </a:rPr>
              <a:t>簇的完全性</a:t>
            </a:r>
            <a:endParaRPr lang="en-US" altLang="zh-CN" sz="2400" dirty="0">
              <a:solidFill>
                <a:prstClr val="black"/>
              </a:solidFill>
              <a:cs typeface="+mn-ea"/>
              <a:sym typeface="Times New Roman" panose="02020603050405020304" pitchFamily="18" charset="0"/>
            </a:endParaRPr>
          </a:p>
          <a:p>
            <a:pPr marL="360000" indent="-360000" algn="just">
              <a:lnSpc>
                <a:spcPct val="200000"/>
              </a:lnSpc>
              <a:spcBef>
                <a:spcPts val="600"/>
              </a:spcBef>
              <a:spcAft>
                <a:spcPts val="0"/>
              </a:spcAft>
              <a:buClr>
                <a:srgbClr val="FF6600"/>
              </a:buClr>
              <a:buSzPct val="80000"/>
              <a:buFont typeface="Wingdings" panose="05000000000000000000" pitchFamily="2" charset="2"/>
              <a:buChar char="l"/>
            </a:pPr>
            <a:r>
              <a:rPr lang="zh-CN" altLang="en-US" sz="2400" dirty="0">
                <a:solidFill>
                  <a:prstClr val="black"/>
                </a:solidFill>
                <a:cs typeface="+mn-ea"/>
                <a:sym typeface="Times New Roman" panose="02020603050405020304" pitchFamily="18" charset="0"/>
              </a:rPr>
              <a:t>碎布袋性</a:t>
            </a:r>
            <a:endParaRPr lang="en-US" altLang="zh-CN" sz="2400" dirty="0">
              <a:solidFill>
                <a:prstClr val="black"/>
              </a:solidFill>
              <a:cs typeface="+mn-ea"/>
              <a:sym typeface="Times New Roman" panose="02020603050405020304" pitchFamily="18" charset="0"/>
            </a:endParaRPr>
          </a:p>
          <a:p>
            <a:pPr marL="360000" indent="-360000" algn="just">
              <a:lnSpc>
                <a:spcPct val="200000"/>
              </a:lnSpc>
              <a:spcBef>
                <a:spcPts val="600"/>
              </a:spcBef>
              <a:spcAft>
                <a:spcPts val="0"/>
              </a:spcAft>
              <a:buClr>
                <a:srgbClr val="FF6600"/>
              </a:buClr>
              <a:buSzPct val="80000"/>
              <a:buFont typeface="Wingdings" panose="05000000000000000000" pitchFamily="2" charset="2"/>
              <a:buChar char="l"/>
            </a:pPr>
            <a:r>
              <a:rPr lang="zh-CN" altLang="en-US" sz="2400" dirty="0">
                <a:solidFill>
                  <a:prstClr val="black"/>
                </a:solidFill>
                <a:cs typeface="+mn-ea"/>
                <a:sym typeface="Times New Roman" panose="02020603050405020304" pitchFamily="18" charset="0"/>
              </a:rPr>
              <a:t>小簇保持性</a:t>
            </a:r>
          </a:p>
        </p:txBody>
      </p:sp>
    </p:spTree>
    <p:extLst>
      <p:ext uri="{BB962C8B-B14F-4D97-AF65-F5344CB8AC3E}">
        <p14:creationId xmlns:p14="http://schemas.microsoft.com/office/powerpoint/2010/main" val="4054457727"/>
      </p:ext>
    </p:extLst>
  </p:cSld>
  <p:clrMapOvr>
    <a:masterClrMapping/>
  </p:clrMapOvr>
  <p:transition spd="med">
    <p:split orient="vert"/>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F684C479-707E-4C61-8DC5-529B1FCA3091}"/>
              </a:ext>
            </a:extLst>
          </p:cNvPr>
          <p:cNvGrpSpPr/>
          <p:nvPr/>
        </p:nvGrpSpPr>
        <p:grpSpPr>
          <a:xfrm>
            <a:off x="2627784" y="2420888"/>
            <a:ext cx="3591879" cy="2133233"/>
            <a:chOff x="3779912" y="1239853"/>
            <a:chExt cx="3591879" cy="2133233"/>
          </a:xfrm>
        </p:grpSpPr>
        <p:sp>
          <p:nvSpPr>
            <p:cNvPr id="5" name="椭圆 4"/>
            <p:cNvSpPr/>
            <p:nvPr/>
          </p:nvSpPr>
          <p:spPr bwMode="auto">
            <a:xfrm>
              <a:off x="3779912" y="2153568"/>
              <a:ext cx="3591879" cy="1219518"/>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1" hangingPunct="1"/>
              <a:endParaRPr lang="zh-CN" altLang="en-US" sz="1800">
                <a:solidFill>
                  <a:prstClr val="black"/>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椭圆 5"/>
            <p:cNvSpPr/>
            <p:nvPr/>
          </p:nvSpPr>
          <p:spPr bwMode="auto">
            <a:xfrm>
              <a:off x="4355976" y="1239853"/>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1" hangingPunct="1"/>
              <a:r>
                <a:rPr lang="en-US" altLang="zh-CN" sz="1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C1</a:t>
              </a:r>
              <a:endParaRPr lang="zh-CN" altLang="en-US" sz="1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椭圆 6"/>
            <p:cNvSpPr/>
            <p:nvPr/>
          </p:nvSpPr>
          <p:spPr bwMode="auto">
            <a:xfrm>
              <a:off x="5686042" y="1239853"/>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1" hangingPunct="1"/>
              <a:r>
                <a:rPr lang="en-US" altLang="zh-CN" sz="1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C2</a:t>
              </a:r>
              <a:endParaRPr lang="zh-CN" altLang="en-US" sz="1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椭圆 7"/>
            <p:cNvSpPr/>
            <p:nvPr/>
          </p:nvSpPr>
          <p:spPr bwMode="auto">
            <a:xfrm>
              <a:off x="4355976" y="2438007"/>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1" hangingPunct="1"/>
              <a:r>
                <a:rPr lang="en-US" altLang="zh-CN" sz="1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C1</a:t>
              </a:r>
              <a:endParaRPr lang="zh-CN" altLang="en-US" sz="1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椭圆 8"/>
            <p:cNvSpPr/>
            <p:nvPr/>
          </p:nvSpPr>
          <p:spPr bwMode="auto">
            <a:xfrm>
              <a:off x="5686042" y="2438007"/>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1" hangingPunct="1"/>
              <a:r>
                <a:rPr lang="en-US" altLang="zh-CN" sz="1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C2</a:t>
              </a:r>
              <a:endParaRPr lang="zh-CN" altLang="en-US" sz="1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1" name="标题 1">
            <a:extLst>
              <a:ext uri="{FF2B5EF4-FFF2-40B4-BE49-F238E27FC236}">
                <a16:creationId xmlns:a16="http://schemas.microsoft.com/office/drawing/2014/main" id="{EF20267C-13DF-4C06-82E9-69DCE1F01583}"/>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CN" sz="2600" b="1" spc="50" dirty="0">
                <a:solidFill>
                  <a:prstClr val="white"/>
                </a:solidFill>
                <a:cs typeface="+mn-ea"/>
                <a:sym typeface="Times New Roman" panose="02020603050405020304" pitchFamily="18" charset="0"/>
              </a:rPr>
              <a:t>2.3.4 </a:t>
            </a:r>
            <a:r>
              <a:rPr lang="zh-CN" altLang="en-US" sz="2600" b="1" spc="50" dirty="0">
                <a:solidFill>
                  <a:prstClr val="white"/>
                </a:solidFill>
                <a:cs typeface="+mn-ea"/>
                <a:sym typeface="Times New Roman" panose="02020603050405020304" pitchFamily="18" charset="0"/>
              </a:rPr>
              <a:t>测定聚类质量</a:t>
            </a:r>
          </a:p>
        </p:txBody>
      </p:sp>
      <p:sp>
        <p:nvSpPr>
          <p:cNvPr id="12" name="内容占位符 2">
            <a:extLst>
              <a:ext uri="{FF2B5EF4-FFF2-40B4-BE49-F238E27FC236}">
                <a16:creationId xmlns:a16="http://schemas.microsoft.com/office/drawing/2014/main" id="{81B9450A-1CC6-449C-B072-5B6898955D3B}"/>
              </a:ext>
            </a:extLst>
          </p:cNvPr>
          <p:cNvSpPr txBox="1">
            <a:spLocks/>
          </p:cNvSpPr>
          <p:nvPr/>
        </p:nvSpPr>
        <p:spPr>
          <a:xfrm>
            <a:off x="252000" y="756000"/>
            <a:ext cx="2528268" cy="5059014"/>
          </a:xfrm>
          <a:prstGeom prst="rect">
            <a:avLst/>
          </a:prstGeom>
          <a:noFill/>
        </p:spPr>
        <p:txBody>
          <a:bodyPr wrap="square" lIns="72000" rIns="7200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a:lnSpc>
                <a:spcPct val="200000"/>
              </a:lnSpc>
              <a:spcBef>
                <a:spcPts val="600"/>
              </a:spcBef>
              <a:spcAft>
                <a:spcPts val="0"/>
              </a:spcAft>
              <a:buClr>
                <a:srgbClr val="FF6600"/>
              </a:buClr>
              <a:buSzPct val="80000"/>
              <a:buFont typeface="Wingdings" panose="05000000000000000000" pitchFamily="2" charset="2"/>
              <a:buChar char="l"/>
            </a:pPr>
            <a:r>
              <a:rPr lang="zh-CN" altLang="en-US" sz="2400">
                <a:solidFill>
                  <a:prstClr val="black"/>
                </a:solidFill>
                <a:cs typeface="+mn-ea"/>
                <a:sym typeface="Times New Roman" panose="02020603050405020304" pitchFamily="18" charset="0"/>
              </a:rPr>
              <a:t>簇的同质性</a:t>
            </a:r>
            <a:endParaRPr lang="en-US" altLang="zh-CN" sz="2400">
              <a:solidFill>
                <a:prstClr val="black"/>
              </a:solidFill>
              <a:cs typeface="+mn-ea"/>
              <a:sym typeface="Times New Roman" panose="02020603050405020304" pitchFamily="18" charset="0"/>
            </a:endParaRPr>
          </a:p>
          <a:p>
            <a:pPr marL="360000" indent="-360000" algn="just">
              <a:lnSpc>
                <a:spcPct val="200000"/>
              </a:lnSpc>
              <a:spcBef>
                <a:spcPts val="600"/>
              </a:spcBef>
              <a:spcAft>
                <a:spcPts val="0"/>
              </a:spcAft>
              <a:buClr>
                <a:srgbClr val="FF6600"/>
              </a:buClr>
              <a:buSzPct val="80000"/>
              <a:buFont typeface="Wingdings" panose="05000000000000000000" pitchFamily="2" charset="2"/>
              <a:buChar char="l"/>
            </a:pPr>
            <a:r>
              <a:rPr lang="zh-CN" altLang="en-US" sz="2400" b="1">
                <a:solidFill>
                  <a:srgbClr val="FF6600"/>
                </a:solidFill>
                <a:cs typeface="+mn-ea"/>
                <a:sym typeface="Times New Roman" panose="02020603050405020304" pitchFamily="18" charset="0"/>
              </a:rPr>
              <a:t>簇的完全性</a:t>
            </a:r>
            <a:endParaRPr lang="en-US" altLang="zh-CN" sz="2400" b="1">
              <a:solidFill>
                <a:srgbClr val="FF6600"/>
              </a:solidFill>
              <a:cs typeface="+mn-ea"/>
              <a:sym typeface="Times New Roman" panose="02020603050405020304" pitchFamily="18" charset="0"/>
            </a:endParaRPr>
          </a:p>
          <a:p>
            <a:pPr marL="360000" indent="-360000" algn="just">
              <a:lnSpc>
                <a:spcPct val="150000"/>
              </a:lnSpc>
              <a:spcBef>
                <a:spcPts val="600"/>
              </a:spcBef>
              <a:spcAft>
                <a:spcPts val="0"/>
              </a:spcAft>
              <a:buClr>
                <a:srgbClr val="FF6600"/>
              </a:buClr>
              <a:buSzPct val="80000"/>
              <a:buFont typeface="Wingdings" panose="05000000000000000000" pitchFamily="2" charset="2"/>
              <a:buChar char="l"/>
            </a:pPr>
            <a:endParaRPr lang="en-US" altLang="zh-CN" sz="2400" b="1">
              <a:solidFill>
                <a:srgbClr val="FF6600"/>
              </a:solidFill>
              <a:cs typeface="+mn-ea"/>
              <a:sym typeface="Times New Roman" panose="02020603050405020304" pitchFamily="18" charset="0"/>
            </a:endParaRPr>
          </a:p>
          <a:p>
            <a:pPr marL="360000" indent="-360000" algn="just">
              <a:lnSpc>
                <a:spcPct val="150000"/>
              </a:lnSpc>
              <a:spcBef>
                <a:spcPts val="600"/>
              </a:spcBef>
              <a:spcAft>
                <a:spcPts val="0"/>
              </a:spcAft>
              <a:buClr>
                <a:srgbClr val="FF6600"/>
              </a:buClr>
              <a:buSzPct val="80000"/>
              <a:buFont typeface="Wingdings" panose="05000000000000000000" pitchFamily="2" charset="2"/>
              <a:buChar char="l"/>
            </a:pPr>
            <a:endParaRPr lang="en-US" altLang="zh-CN" sz="2400" b="1">
              <a:solidFill>
                <a:srgbClr val="FF6600"/>
              </a:solidFill>
              <a:cs typeface="+mn-ea"/>
              <a:sym typeface="Times New Roman" panose="02020603050405020304" pitchFamily="18" charset="0"/>
            </a:endParaRPr>
          </a:p>
          <a:p>
            <a:pPr marL="0" indent="0" algn="just">
              <a:lnSpc>
                <a:spcPct val="150000"/>
              </a:lnSpc>
              <a:spcBef>
                <a:spcPts val="600"/>
              </a:spcBef>
              <a:spcAft>
                <a:spcPts val="0"/>
              </a:spcAft>
              <a:buClr>
                <a:srgbClr val="FF6600"/>
              </a:buClr>
              <a:buSzPct val="80000"/>
              <a:buFont typeface="Arial" panose="020B0604020202020204" pitchFamily="34" charset="0"/>
              <a:buNone/>
            </a:pPr>
            <a:endParaRPr lang="en-US" altLang="zh-CN" sz="2400" b="1">
              <a:solidFill>
                <a:srgbClr val="FF6600"/>
              </a:solidFill>
              <a:cs typeface="+mn-ea"/>
              <a:sym typeface="Times New Roman" panose="02020603050405020304" pitchFamily="18" charset="0"/>
            </a:endParaRPr>
          </a:p>
          <a:p>
            <a:pPr marL="360000" indent="-360000" algn="just">
              <a:lnSpc>
                <a:spcPct val="200000"/>
              </a:lnSpc>
              <a:spcBef>
                <a:spcPts val="600"/>
              </a:spcBef>
              <a:spcAft>
                <a:spcPts val="0"/>
              </a:spcAft>
              <a:buClr>
                <a:srgbClr val="FF6600"/>
              </a:buClr>
              <a:buSzPct val="80000"/>
              <a:buFont typeface="Wingdings" panose="05000000000000000000" pitchFamily="2" charset="2"/>
              <a:buChar char="l"/>
            </a:pPr>
            <a:r>
              <a:rPr lang="zh-CN" altLang="en-US" sz="2400">
                <a:solidFill>
                  <a:prstClr val="black"/>
                </a:solidFill>
                <a:cs typeface="+mn-ea"/>
                <a:sym typeface="Times New Roman" panose="02020603050405020304" pitchFamily="18" charset="0"/>
              </a:rPr>
              <a:t>碎布袋性</a:t>
            </a:r>
            <a:endParaRPr lang="en-US" altLang="zh-CN" sz="2400">
              <a:solidFill>
                <a:prstClr val="black"/>
              </a:solidFill>
              <a:cs typeface="+mn-ea"/>
              <a:sym typeface="Times New Roman" panose="02020603050405020304" pitchFamily="18" charset="0"/>
            </a:endParaRPr>
          </a:p>
          <a:p>
            <a:pPr marL="360000" indent="-360000" algn="just">
              <a:lnSpc>
                <a:spcPct val="200000"/>
              </a:lnSpc>
              <a:spcBef>
                <a:spcPts val="600"/>
              </a:spcBef>
              <a:spcAft>
                <a:spcPts val="0"/>
              </a:spcAft>
              <a:buClr>
                <a:srgbClr val="FF6600"/>
              </a:buClr>
              <a:buSzPct val="80000"/>
              <a:buFont typeface="Wingdings" panose="05000000000000000000" pitchFamily="2" charset="2"/>
              <a:buChar char="l"/>
            </a:pPr>
            <a:r>
              <a:rPr lang="zh-CN" altLang="en-US" sz="2400">
                <a:solidFill>
                  <a:prstClr val="black"/>
                </a:solidFill>
                <a:cs typeface="+mn-ea"/>
                <a:sym typeface="Times New Roman" panose="02020603050405020304" pitchFamily="18" charset="0"/>
              </a:rPr>
              <a:t>小簇保持性</a:t>
            </a:r>
            <a:endParaRPr lang="zh-CN" altLang="en-US" sz="2400" dirty="0">
              <a:solidFill>
                <a:prstClr val="black"/>
              </a:solidFill>
              <a:cs typeface="+mn-ea"/>
              <a:sym typeface="Times New Roman" panose="02020603050405020304" pitchFamily="18" charset="0"/>
            </a:endParaRPr>
          </a:p>
        </p:txBody>
      </p:sp>
    </p:spTree>
    <p:extLst>
      <p:ext uri="{BB962C8B-B14F-4D97-AF65-F5344CB8AC3E}">
        <p14:creationId xmlns:p14="http://schemas.microsoft.com/office/powerpoint/2010/main" val="2855400571"/>
      </p:ext>
    </p:extLst>
  </p:cSld>
  <p:clrMapOvr>
    <a:masterClrMapping/>
  </p:clrMapOvr>
  <p:transition spd="med">
    <p:split orient="vert"/>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2.3.4 </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测定聚类质量</a:t>
            </a:r>
          </a:p>
        </p:txBody>
      </p:sp>
      <p:sp>
        <p:nvSpPr>
          <p:cNvPr id="3" name="内容占位符 2"/>
          <p:cNvSpPr>
            <a:spLocks noGrp="1"/>
          </p:cNvSpPr>
          <p:nvPr>
            <p:ph idx="4294967295"/>
          </p:nvPr>
        </p:nvSpPr>
        <p:spPr>
          <a:xfrm>
            <a:off x="252000" y="756000"/>
            <a:ext cx="8568472" cy="5705344"/>
          </a:xfrm>
          <a:prstGeom prst="rect">
            <a:avLst/>
          </a:prstGeom>
          <a:noFill/>
        </p:spPr>
        <p:txBody>
          <a:bodyPr wrap="square" lIns="72000" rIns="72000">
            <a:spAutoFit/>
          </a:bodyPr>
          <a:lstStyle/>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簇</a:t>
            </a:r>
            <a:r>
              <a:rPr lang="zh-CN" altLang="en-US" sz="2400">
                <a:cs typeface="+mn-ea"/>
                <a:sym typeface="Times New Roman" panose="02020603050405020304" pitchFamily="18" charset="0"/>
              </a:rPr>
              <a:t>的同质性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簇</a:t>
            </a:r>
            <a:r>
              <a:rPr lang="zh-CN" altLang="en-US" sz="2400">
                <a:cs typeface="+mn-ea"/>
                <a:sym typeface="Times New Roman" panose="02020603050405020304" pitchFamily="18" charset="0"/>
              </a:rPr>
              <a:t>的完全性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b="1" dirty="0">
                <a:solidFill>
                  <a:srgbClr val="FF6600"/>
                </a:solidFill>
                <a:cs typeface="+mn-ea"/>
                <a:sym typeface="Times New Roman" panose="02020603050405020304" pitchFamily="18" charset="0"/>
              </a:rPr>
              <a:t>碎</a:t>
            </a:r>
            <a:r>
              <a:rPr lang="zh-CN" altLang="en-US" sz="2400" b="1">
                <a:solidFill>
                  <a:srgbClr val="FF6600"/>
                </a:solidFill>
                <a:cs typeface="+mn-ea"/>
                <a:sym typeface="Times New Roman" panose="02020603050405020304" pitchFamily="18" charset="0"/>
              </a:rPr>
              <a:t>布袋性</a:t>
            </a:r>
            <a:endParaRPr lang="en-US" altLang="zh-CN" sz="2400" b="1">
              <a:solidFill>
                <a:srgbClr val="FF6600"/>
              </a:solidFill>
              <a:cs typeface="+mn-ea"/>
              <a:sym typeface="Times New Roman" panose="02020603050405020304" pitchFamily="18" charset="0"/>
            </a:endParaRPr>
          </a:p>
          <a:p>
            <a:pPr lvl="1" algn="just">
              <a:lnSpc>
                <a:spcPct val="150000"/>
              </a:lnSpc>
              <a:spcBef>
                <a:spcPts val="600"/>
              </a:spcBef>
              <a:buClr>
                <a:srgbClr val="FF6600"/>
              </a:buClr>
              <a:buSzPct val="60000"/>
              <a:buFont typeface="Wingdings" panose="05000000000000000000" pitchFamily="2" charset="2"/>
              <a:buChar char="l"/>
            </a:pPr>
            <a:r>
              <a:rPr lang="zh-CN" altLang="en-US" sz="2000">
                <a:sym typeface="Times New Roman" panose="02020603050405020304" pitchFamily="18" charset="0"/>
              </a:rPr>
              <a:t>把一个异构对象放到一个纯聚簇中要比把它放到一个碎布袋里（例如，“杂项”或“其他”类别）更糟糕</a:t>
            </a:r>
            <a:endParaRPr lang="en-US" altLang="zh-CN" sz="2000">
              <a:sym typeface="Times New Roman" panose="02020603050405020304" pitchFamily="18" charset="0"/>
            </a:endParaRPr>
          </a:p>
          <a:p>
            <a:pPr lvl="1" algn="just">
              <a:lnSpc>
                <a:spcPct val="150000"/>
              </a:lnSpc>
              <a:spcBef>
                <a:spcPts val="600"/>
              </a:spcBef>
              <a:buClr>
                <a:srgbClr val="FF6600"/>
              </a:buClr>
              <a:buSzPct val="60000"/>
              <a:buFont typeface="Wingdings" panose="05000000000000000000" pitchFamily="2" charset="2"/>
              <a:buChar char="l"/>
            </a:pPr>
            <a:r>
              <a:rPr lang="zh-CN" altLang="en-US" sz="2000">
                <a:sym typeface="Times New Roman" panose="02020603050405020304" pitchFamily="18" charset="0"/>
              </a:rPr>
              <a:t>也就是说更希望噪音不被聚到已存在的聚簇中</a:t>
            </a:r>
            <a:endParaRPr lang="en-US" altLang="zh-CN" sz="2000">
              <a:sym typeface="Times New Roman" panose="02020603050405020304" pitchFamily="18" charset="0"/>
            </a:endParaRPr>
          </a:p>
          <a:p>
            <a:pPr lvl="1" algn="just">
              <a:lnSpc>
                <a:spcPct val="150000"/>
              </a:lnSpc>
              <a:spcBef>
                <a:spcPts val="600"/>
              </a:spcBef>
              <a:buClr>
                <a:srgbClr val="FF6600"/>
              </a:buClr>
              <a:buSzPct val="60000"/>
              <a:buFont typeface="Wingdings" panose="05000000000000000000" pitchFamily="2" charset="2"/>
              <a:buChar char="l"/>
            </a:pPr>
            <a:r>
              <a:rPr lang="en-US" altLang="zh-CN" sz="2000">
                <a:sym typeface="Times New Roman" panose="02020603050405020304" pitchFamily="18" charset="0"/>
              </a:rPr>
              <a:t>putting a heterogeneous object into a pure  cluster should be penalized more than putting it into a  rag bag (i.e., “miscellaneous” or “other” category)</a:t>
            </a:r>
            <a:endParaRPr lang="en-US" altLang="zh-CN" sz="2000" b="1" dirty="0">
              <a:solidFill>
                <a:srgbClr val="FF6600"/>
              </a:solidFill>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小簇保持性</a:t>
            </a:r>
          </a:p>
        </p:txBody>
      </p:sp>
      <p:pic>
        <p:nvPicPr>
          <p:cNvPr id="4" name="Picture 2">
            <a:extLst>
              <a:ext uri="{FF2B5EF4-FFF2-40B4-BE49-F238E27FC236}">
                <a16:creationId xmlns:a16="http://schemas.microsoft.com/office/drawing/2014/main" id="{0985BEC6-2D54-4F33-9178-260BDF61B7E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64088" y="726390"/>
            <a:ext cx="2448272" cy="2514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154780"/>
      </p:ext>
    </p:extLst>
  </p:cSld>
  <p:clrMapOvr>
    <a:masterClrMapping/>
  </p:clrMapOvr>
  <p:transition spd="med">
    <p:split orient="vert"/>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2.3.4 </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测定聚类质量</a:t>
            </a:r>
          </a:p>
        </p:txBody>
      </p:sp>
      <p:sp>
        <p:nvSpPr>
          <p:cNvPr id="3" name="内容占位符 2"/>
          <p:cNvSpPr>
            <a:spLocks noGrp="1"/>
          </p:cNvSpPr>
          <p:nvPr>
            <p:ph idx="4294967295"/>
          </p:nvPr>
        </p:nvSpPr>
        <p:spPr>
          <a:xfrm>
            <a:off x="252000" y="756000"/>
            <a:ext cx="8568472" cy="5299977"/>
          </a:xfrm>
          <a:prstGeom prst="rect">
            <a:avLst/>
          </a:prstGeom>
          <a:noFill/>
        </p:spPr>
        <p:txBody>
          <a:bodyPr wrap="square" lIns="72000" rIns="72000">
            <a:spAutoFit/>
          </a:bodyPr>
          <a:lstStyle/>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簇</a:t>
            </a:r>
            <a:r>
              <a:rPr lang="zh-CN" altLang="en-US" sz="2400">
                <a:cs typeface="+mn-ea"/>
                <a:sym typeface="Times New Roman" panose="02020603050405020304" pitchFamily="18" charset="0"/>
              </a:rPr>
              <a:t>的同质性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簇</a:t>
            </a:r>
            <a:r>
              <a:rPr lang="zh-CN" altLang="en-US" sz="2400">
                <a:cs typeface="+mn-ea"/>
                <a:sym typeface="Times New Roman" panose="02020603050405020304" pitchFamily="18" charset="0"/>
              </a:rPr>
              <a:t>的完全性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碎</a:t>
            </a:r>
            <a:r>
              <a:rPr lang="zh-CN" altLang="en-US" sz="2400">
                <a:cs typeface="+mn-ea"/>
                <a:sym typeface="Times New Roman" panose="02020603050405020304" pitchFamily="18" charset="0"/>
              </a:rPr>
              <a:t>布袋性</a:t>
            </a:r>
            <a:endParaRPr lang="en-US" altLang="zh-CN" sz="240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b="1">
                <a:solidFill>
                  <a:srgbClr val="FF6600"/>
                </a:solidFill>
                <a:cs typeface="+mn-ea"/>
                <a:sym typeface="Times New Roman" panose="02020603050405020304" pitchFamily="18" charset="0"/>
              </a:rPr>
              <a:t>小簇保持性</a:t>
            </a:r>
            <a:endParaRPr lang="en-US" altLang="zh-CN" sz="2400" b="1">
              <a:solidFill>
                <a:srgbClr val="FF6600"/>
              </a:solidFill>
              <a:cs typeface="+mn-ea"/>
              <a:sym typeface="Times New Roman" panose="02020603050405020304" pitchFamily="18" charset="0"/>
            </a:endParaRPr>
          </a:p>
          <a:p>
            <a:pPr lvl="1" algn="just">
              <a:lnSpc>
                <a:spcPct val="150000"/>
              </a:lnSpc>
              <a:spcBef>
                <a:spcPts val="600"/>
              </a:spcBef>
              <a:buClr>
                <a:srgbClr val="FF6600"/>
              </a:buClr>
              <a:buSzPct val="60000"/>
              <a:buFont typeface="Wingdings" panose="05000000000000000000" pitchFamily="2" charset="2"/>
              <a:buChar char="l"/>
            </a:pPr>
            <a:r>
              <a:rPr lang="zh-CN" altLang="en-US" sz="2000">
                <a:sym typeface="Times New Roman" panose="02020603050405020304" pitchFamily="18" charset="0"/>
              </a:rPr>
              <a:t>把一个小类别聚簇分成更小的聚簇比把一个大类别分成小聚簇更有害</a:t>
            </a:r>
          </a:p>
          <a:p>
            <a:pPr lvl="1" algn="just">
              <a:lnSpc>
                <a:spcPct val="150000"/>
              </a:lnSpc>
              <a:spcBef>
                <a:spcPts val="600"/>
              </a:spcBef>
              <a:buClr>
                <a:srgbClr val="FF6600"/>
              </a:buClr>
              <a:buSzPct val="60000"/>
              <a:buFont typeface="Wingdings" panose="05000000000000000000" pitchFamily="2" charset="2"/>
              <a:buChar char="l"/>
            </a:pPr>
            <a:r>
              <a:rPr lang="zh-CN" altLang="en-US" sz="2000">
                <a:sym typeface="Times New Roman" panose="02020603050405020304" pitchFamily="18" charset="0"/>
              </a:rPr>
              <a:t>也就是我们希望小类别聚簇不再被划分</a:t>
            </a:r>
          </a:p>
          <a:p>
            <a:pPr lvl="1" algn="just">
              <a:lnSpc>
                <a:spcPct val="150000"/>
              </a:lnSpc>
              <a:spcBef>
                <a:spcPts val="600"/>
              </a:spcBef>
              <a:buClr>
                <a:srgbClr val="FF6600"/>
              </a:buClr>
              <a:buSzPct val="60000"/>
              <a:buFont typeface="Wingdings" panose="05000000000000000000" pitchFamily="2" charset="2"/>
              <a:buChar char="l"/>
            </a:pPr>
            <a:r>
              <a:rPr lang="en-US" altLang="zh-CN" sz="2000">
                <a:sym typeface="Times New Roman" panose="02020603050405020304" pitchFamily="18" charset="0"/>
              </a:rPr>
              <a:t>splitting a small category  into pieces is more harmful than splitting a large  category into pieces</a:t>
            </a:r>
          </a:p>
        </p:txBody>
      </p:sp>
      <p:pic>
        <p:nvPicPr>
          <p:cNvPr id="7" name="Picture 2">
            <a:extLst>
              <a:ext uri="{FF2B5EF4-FFF2-40B4-BE49-F238E27FC236}">
                <a16:creationId xmlns:a16="http://schemas.microsoft.com/office/drawing/2014/main" id="{C51ED48A-87CA-4023-B94E-BAD3CF4ACD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64088" y="726390"/>
            <a:ext cx="2448272" cy="2514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1546860"/>
      </p:ext>
    </p:extLst>
  </p:cSld>
  <p:clrMapOvr>
    <a:masterClrMapping/>
  </p:clrMapOvr>
  <p:transition spd="med">
    <p:split orient="vert"/>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3.4 </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测定聚类质量</a:t>
            </a:r>
          </a:p>
        </p:txBody>
      </p:sp>
      <p:sp>
        <p:nvSpPr>
          <p:cNvPr id="3" name="内容占位符 2"/>
          <p:cNvSpPr>
            <a:spLocks noGrp="1"/>
          </p:cNvSpPr>
          <p:nvPr>
            <p:ph idx="4294967295"/>
          </p:nvPr>
        </p:nvSpPr>
        <p:spPr>
          <a:xfrm>
            <a:off x="252000" y="756000"/>
            <a:ext cx="2528268" cy="3166188"/>
          </a:xfrm>
          <a:prstGeom prst="rect">
            <a:avLst/>
          </a:prstGeom>
          <a:noFill/>
        </p:spPr>
        <p:txBody>
          <a:bodyPr wrap="square" lIns="72000" rIns="72000">
            <a:spAutoFit/>
          </a:bodyPr>
          <a:lstStyle/>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簇</a:t>
            </a:r>
            <a:r>
              <a:rPr lang="zh-CN" altLang="en-US" sz="2400">
                <a:cs typeface="+mn-ea"/>
                <a:sym typeface="Times New Roman" panose="02020603050405020304" pitchFamily="18" charset="0"/>
              </a:rPr>
              <a:t>的同质性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簇</a:t>
            </a:r>
            <a:r>
              <a:rPr lang="zh-CN" altLang="en-US" sz="2400">
                <a:cs typeface="+mn-ea"/>
                <a:sym typeface="Times New Roman" panose="02020603050405020304" pitchFamily="18" charset="0"/>
              </a:rPr>
              <a:t>的完全性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碎</a:t>
            </a:r>
            <a:r>
              <a:rPr lang="zh-CN" altLang="en-US" sz="2400">
                <a:cs typeface="+mn-ea"/>
                <a:sym typeface="Times New Roman" panose="02020603050405020304" pitchFamily="18" charset="0"/>
              </a:rPr>
              <a:t>布袋性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小簇保持性</a:t>
            </a:r>
          </a:p>
        </p:txBody>
      </p:sp>
    </p:spTree>
    <p:extLst>
      <p:ext uri="{BB962C8B-B14F-4D97-AF65-F5344CB8AC3E}">
        <p14:creationId xmlns:p14="http://schemas.microsoft.com/office/powerpoint/2010/main" val="630152763"/>
      </p:ext>
    </p:extLst>
  </p:cSld>
  <p:clrMapOvr>
    <a:masterClrMapping/>
  </p:clrMapOvr>
  <p:transition spd="med">
    <p:split orient="vert"/>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a:spLocks noChangeAspect="1"/>
          </p:cNvSpPr>
          <p:nvPr/>
        </p:nvSpPr>
        <p:spPr>
          <a:xfrm>
            <a:off x="252000" y="1691125"/>
            <a:ext cx="8640000" cy="1597331"/>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椭圆 4"/>
          <p:cNvSpPr/>
          <p:nvPr/>
        </p:nvSpPr>
        <p:spPr bwMode="auto">
          <a:xfrm>
            <a:off x="3779912" y="3729586"/>
            <a:ext cx="3591879" cy="1219518"/>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椭圆 5"/>
          <p:cNvSpPr/>
          <p:nvPr/>
        </p:nvSpPr>
        <p:spPr bwMode="auto">
          <a:xfrm>
            <a:off x="4355976" y="4067218"/>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Li</a:t>
            </a:r>
            <a:endPar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椭圆 6"/>
          <p:cNvSpPr/>
          <p:nvPr/>
        </p:nvSpPr>
        <p:spPr bwMode="auto">
          <a:xfrm>
            <a:off x="5686042" y="4067218"/>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Lj</a:t>
            </a:r>
            <a:endPar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椭圆 7"/>
          <p:cNvSpPr/>
          <p:nvPr/>
        </p:nvSpPr>
        <p:spPr bwMode="auto">
          <a:xfrm>
            <a:off x="4355976" y="5265372"/>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Li</a:t>
            </a:r>
            <a:endPar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椭圆 8"/>
          <p:cNvSpPr/>
          <p:nvPr/>
        </p:nvSpPr>
        <p:spPr bwMode="auto">
          <a:xfrm>
            <a:off x="5686042" y="5265372"/>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Lj</a:t>
            </a:r>
            <a:endPar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标题 1">
            <a:extLst>
              <a:ext uri="{FF2B5EF4-FFF2-40B4-BE49-F238E27FC236}">
                <a16:creationId xmlns:a16="http://schemas.microsoft.com/office/drawing/2014/main" id="{EF20267C-13DF-4C06-82E9-69DCE1F01583}"/>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3.4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测定聚类质量</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2" name="内容占位符 2">
            <a:extLst>
              <a:ext uri="{FF2B5EF4-FFF2-40B4-BE49-F238E27FC236}">
                <a16:creationId xmlns:a16="http://schemas.microsoft.com/office/drawing/2014/main" id="{81B9450A-1CC6-449C-B072-5B6898955D3B}"/>
              </a:ext>
            </a:extLst>
          </p:cNvPr>
          <p:cNvSpPr txBox="1">
            <a:spLocks/>
          </p:cNvSpPr>
          <p:nvPr/>
        </p:nvSpPr>
        <p:spPr>
          <a:xfrm>
            <a:off x="252000" y="756000"/>
            <a:ext cx="2528268" cy="4797404"/>
          </a:xfrm>
          <a:prstGeom prst="rect">
            <a:avLst/>
          </a:prstGeom>
          <a:noFill/>
        </p:spPr>
        <p:txBody>
          <a:bodyPr wrap="square" lIns="72000" rIns="7200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b="1">
                <a:solidFill>
                  <a:srgbClr val="FF6600"/>
                </a:solidFill>
                <a:cs typeface="+mn-ea"/>
                <a:sym typeface="Times New Roman" panose="02020603050405020304" pitchFamily="18" charset="0"/>
              </a:rPr>
              <a:t>簇的同质性</a:t>
            </a:r>
            <a:endParaRPr lang="en-US" altLang="zh-CN" sz="2400" b="1">
              <a:solidFill>
                <a:srgbClr val="FF6600"/>
              </a:solidFill>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endParaRPr lang="en-US" altLang="zh-CN" sz="2400" b="1">
              <a:solidFill>
                <a:srgbClr val="FF6600"/>
              </a:solidFill>
              <a:cs typeface="+mn-ea"/>
              <a:sym typeface="Times New Roman" panose="02020603050405020304" pitchFamily="18" charset="0"/>
            </a:endParaRPr>
          </a:p>
          <a:p>
            <a:pPr marL="0" indent="0" algn="just" fontAlgn="base">
              <a:lnSpc>
                <a:spcPct val="200000"/>
              </a:lnSpc>
              <a:spcBef>
                <a:spcPts val="600"/>
              </a:spcBef>
              <a:buClr>
                <a:srgbClr val="FF6600"/>
              </a:buClr>
              <a:buSzPct val="80000"/>
              <a:buNone/>
            </a:pPr>
            <a:endParaRPr lang="en-US" altLang="zh-CN" sz="2400" b="1">
              <a:solidFill>
                <a:srgbClr val="FF6600"/>
              </a:solidFill>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a:cs typeface="+mn-ea"/>
                <a:sym typeface="Times New Roman" panose="02020603050405020304" pitchFamily="18" charset="0"/>
              </a:rPr>
              <a:t>簇的完全性</a:t>
            </a:r>
            <a:endParaRPr lang="en-US" altLang="zh-CN" sz="240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a:cs typeface="+mn-ea"/>
                <a:sym typeface="Times New Roman" panose="02020603050405020304" pitchFamily="18" charset="0"/>
              </a:rPr>
              <a:t>碎布袋性</a:t>
            </a:r>
            <a:endParaRPr lang="en-US" altLang="zh-CN" sz="240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a:cs typeface="+mn-ea"/>
                <a:sym typeface="Times New Roman" panose="02020603050405020304" pitchFamily="18" charset="0"/>
              </a:rPr>
              <a:t>小簇保持性</a:t>
            </a:r>
            <a:endParaRPr lang="zh-CN" altLang="en-US" sz="2400" dirty="0">
              <a:cs typeface="+mn-ea"/>
              <a:sym typeface="Times New Roman" panose="02020603050405020304" pitchFamily="18" charset="0"/>
            </a:endParaRPr>
          </a:p>
        </p:txBody>
      </p:sp>
    </p:spTree>
    <p:extLst>
      <p:ext uri="{BB962C8B-B14F-4D97-AF65-F5344CB8AC3E}">
        <p14:creationId xmlns:p14="http://schemas.microsoft.com/office/powerpoint/2010/main" val="1151306885"/>
      </p:ext>
    </p:extLst>
  </p:cSld>
  <p:clrMapOvr>
    <a:masterClrMapping/>
  </p:clrMapOvr>
  <p:transition spd="med">
    <p:split orient="vert"/>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F684C479-707E-4C61-8DC5-529B1FCA3091}"/>
              </a:ext>
            </a:extLst>
          </p:cNvPr>
          <p:cNvGrpSpPr/>
          <p:nvPr/>
        </p:nvGrpSpPr>
        <p:grpSpPr>
          <a:xfrm>
            <a:off x="3945921" y="4530636"/>
            <a:ext cx="3591879" cy="2133233"/>
            <a:chOff x="3779912" y="1239853"/>
            <a:chExt cx="3591879" cy="2133233"/>
          </a:xfrm>
        </p:grpSpPr>
        <p:sp>
          <p:nvSpPr>
            <p:cNvPr id="5" name="椭圆 4"/>
            <p:cNvSpPr/>
            <p:nvPr/>
          </p:nvSpPr>
          <p:spPr bwMode="auto">
            <a:xfrm>
              <a:off x="3779912" y="2153568"/>
              <a:ext cx="3591879" cy="1219518"/>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椭圆 5"/>
            <p:cNvSpPr/>
            <p:nvPr/>
          </p:nvSpPr>
          <p:spPr bwMode="auto">
            <a:xfrm>
              <a:off x="4355976" y="1239853"/>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C1</a:t>
              </a:r>
              <a:endPar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椭圆 6"/>
            <p:cNvSpPr/>
            <p:nvPr/>
          </p:nvSpPr>
          <p:spPr bwMode="auto">
            <a:xfrm>
              <a:off x="5686042" y="1239853"/>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C2</a:t>
              </a:r>
              <a:endPar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椭圆 7"/>
            <p:cNvSpPr/>
            <p:nvPr/>
          </p:nvSpPr>
          <p:spPr bwMode="auto">
            <a:xfrm>
              <a:off x="4355976" y="2438007"/>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C1</a:t>
              </a:r>
              <a:endPar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椭圆 8"/>
            <p:cNvSpPr/>
            <p:nvPr/>
          </p:nvSpPr>
          <p:spPr bwMode="auto">
            <a:xfrm>
              <a:off x="5686042" y="2438007"/>
              <a:ext cx="1080120" cy="576064"/>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C2</a:t>
              </a:r>
              <a:endPar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1" name="标题 1">
            <a:extLst>
              <a:ext uri="{FF2B5EF4-FFF2-40B4-BE49-F238E27FC236}">
                <a16:creationId xmlns:a16="http://schemas.microsoft.com/office/drawing/2014/main" id="{EF20267C-13DF-4C06-82E9-69DCE1F01583}"/>
              </a:ext>
            </a:extLst>
          </p:cNvPr>
          <p:cNvSpPr txBox="1">
            <a:spLocks/>
          </p:cNvSpPr>
          <p:nvPr/>
        </p:nvSpPr>
        <p:spPr>
          <a:xfrm>
            <a:off x="756000" y="108000"/>
            <a:ext cx="6781800" cy="492443"/>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lnSpc>
                <a:spcPct val="100000"/>
              </a:lnSpc>
              <a:spcAft>
                <a:spcPct val="0"/>
              </a:spcAft>
            </a:pPr>
            <a:r>
              <a:rPr lang="en-US" altLang="zh-CN"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3.4 </a:t>
            </a:r>
            <a:r>
              <a:rPr lang="zh-CN" altLang="en-US" sz="2600" b="1" spc="5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测定聚类质量</a:t>
            </a:r>
            <a:endPar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2" name="内容占位符 2">
            <a:extLst>
              <a:ext uri="{FF2B5EF4-FFF2-40B4-BE49-F238E27FC236}">
                <a16:creationId xmlns:a16="http://schemas.microsoft.com/office/drawing/2014/main" id="{81B9450A-1CC6-449C-B072-5B6898955D3B}"/>
              </a:ext>
            </a:extLst>
          </p:cNvPr>
          <p:cNvSpPr txBox="1">
            <a:spLocks/>
          </p:cNvSpPr>
          <p:nvPr/>
        </p:nvSpPr>
        <p:spPr>
          <a:xfrm>
            <a:off x="252000" y="756000"/>
            <a:ext cx="2528268" cy="5059014"/>
          </a:xfrm>
          <a:prstGeom prst="rect">
            <a:avLst/>
          </a:prstGeom>
          <a:noFill/>
        </p:spPr>
        <p:txBody>
          <a:bodyPr wrap="square" lIns="72000" rIns="7200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a:cs typeface="+mn-ea"/>
                <a:sym typeface="Times New Roman" panose="02020603050405020304" pitchFamily="18" charset="0"/>
              </a:rPr>
              <a:t>簇的同质性</a:t>
            </a:r>
            <a:endParaRPr lang="en-US" altLang="zh-CN" sz="240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b="1">
                <a:solidFill>
                  <a:srgbClr val="FF6600"/>
                </a:solidFill>
                <a:cs typeface="+mn-ea"/>
                <a:sym typeface="Times New Roman" panose="02020603050405020304" pitchFamily="18" charset="0"/>
              </a:rPr>
              <a:t>簇的完全性</a:t>
            </a:r>
            <a:endParaRPr lang="en-US" altLang="zh-CN" sz="2400" b="1">
              <a:solidFill>
                <a:srgbClr val="FF6600"/>
              </a:solidFill>
              <a:cs typeface="+mn-ea"/>
              <a:sym typeface="Times New Roman" panose="02020603050405020304" pitchFamily="18" charset="0"/>
            </a:endParaRPr>
          </a:p>
          <a:p>
            <a:pPr marL="360000" indent="-360000" algn="just" fontAlgn="base">
              <a:lnSpc>
                <a:spcPct val="150000"/>
              </a:lnSpc>
              <a:spcBef>
                <a:spcPts val="600"/>
              </a:spcBef>
              <a:buClr>
                <a:srgbClr val="FF6600"/>
              </a:buClr>
              <a:buSzPct val="80000"/>
              <a:buFont typeface="Wingdings" panose="05000000000000000000" pitchFamily="2" charset="2"/>
              <a:buChar char="l"/>
            </a:pPr>
            <a:endParaRPr lang="en-US" altLang="zh-CN" sz="2400" b="1">
              <a:solidFill>
                <a:srgbClr val="FF6600"/>
              </a:solidFill>
              <a:cs typeface="+mn-ea"/>
              <a:sym typeface="Times New Roman" panose="02020603050405020304" pitchFamily="18" charset="0"/>
            </a:endParaRPr>
          </a:p>
          <a:p>
            <a:pPr marL="360000" indent="-360000" algn="just" fontAlgn="base">
              <a:lnSpc>
                <a:spcPct val="150000"/>
              </a:lnSpc>
              <a:spcBef>
                <a:spcPts val="600"/>
              </a:spcBef>
              <a:buClr>
                <a:srgbClr val="FF6600"/>
              </a:buClr>
              <a:buSzPct val="80000"/>
              <a:buFont typeface="Wingdings" panose="05000000000000000000" pitchFamily="2" charset="2"/>
              <a:buChar char="l"/>
            </a:pPr>
            <a:endParaRPr lang="en-US" altLang="zh-CN" sz="2400" b="1">
              <a:solidFill>
                <a:srgbClr val="FF6600"/>
              </a:solidFill>
              <a:cs typeface="+mn-ea"/>
              <a:sym typeface="Times New Roman" panose="02020603050405020304" pitchFamily="18" charset="0"/>
            </a:endParaRPr>
          </a:p>
          <a:p>
            <a:pPr marL="0" indent="0" algn="just" fontAlgn="base">
              <a:lnSpc>
                <a:spcPct val="150000"/>
              </a:lnSpc>
              <a:spcBef>
                <a:spcPts val="600"/>
              </a:spcBef>
              <a:buClr>
                <a:srgbClr val="FF6600"/>
              </a:buClr>
              <a:buSzPct val="80000"/>
              <a:buNone/>
            </a:pPr>
            <a:endParaRPr lang="en-US" altLang="zh-CN" sz="2400" b="1">
              <a:solidFill>
                <a:srgbClr val="FF6600"/>
              </a:solidFill>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a:cs typeface="+mn-ea"/>
                <a:sym typeface="Times New Roman" panose="02020603050405020304" pitchFamily="18" charset="0"/>
              </a:rPr>
              <a:t>碎布袋性</a:t>
            </a:r>
            <a:endParaRPr lang="en-US" altLang="zh-CN" sz="240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a:cs typeface="+mn-ea"/>
                <a:sym typeface="Times New Roman" panose="02020603050405020304" pitchFamily="18" charset="0"/>
              </a:rPr>
              <a:t>小簇保持性</a:t>
            </a:r>
            <a:endParaRPr lang="zh-CN" altLang="en-US" sz="2400" dirty="0">
              <a:cs typeface="+mn-ea"/>
              <a:sym typeface="Times New Roman" panose="02020603050405020304" pitchFamily="18" charset="0"/>
            </a:endParaRPr>
          </a:p>
        </p:txBody>
      </p:sp>
      <p:sp>
        <p:nvSpPr>
          <p:cNvPr id="10" name="object 4">
            <a:extLst>
              <a:ext uri="{FF2B5EF4-FFF2-40B4-BE49-F238E27FC236}">
                <a16:creationId xmlns:a16="http://schemas.microsoft.com/office/drawing/2014/main" id="{4E99B440-0E30-454E-B989-4D3D78DD5DB6}"/>
              </a:ext>
            </a:extLst>
          </p:cNvPr>
          <p:cNvSpPr/>
          <p:nvPr/>
        </p:nvSpPr>
        <p:spPr>
          <a:xfrm>
            <a:off x="273820" y="2392196"/>
            <a:ext cx="8640000" cy="1962150"/>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702546469"/>
      </p:ext>
    </p:extLst>
  </p:cSld>
  <p:clrMapOvr>
    <a:masterClrMapping/>
  </p:clrMapOvr>
  <p:transition spd="med">
    <p:split orient="vert"/>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3.4 </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测定聚类质量</a:t>
            </a:r>
          </a:p>
        </p:txBody>
      </p:sp>
      <p:sp>
        <p:nvSpPr>
          <p:cNvPr id="3" name="内容占位符 2"/>
          <p:cNvSpPr>
            <a:spLocks noGrp="1"/>
          </p:cNvSpPr>
          <p:nvPr>
            <p:ph idx="4294967295"/>
          </p:nvPr>
        </p:nvSpPr>
        <p:spPr>
          <a:xfrm>
            <a:off x="252000" y="756000"/>
            <a:ext cx="8568472" cy="5705344"/>
          </a:xfrm>
          <a:prstGeom prst="rect">
            <a:avLst/>
          </a:prstGeom>
          <a:noFill/>
        </p:spPr>
        <p:txBody>
          <a:bodyPr wrap="square" lIns="72000" rIns="72000">
            <a:spAutoFit/>
          </a:bodyPr>
          <a:lstStyle/>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簇</a:t>
            </a:r>
            <a:r>
              <a:rPr lang="zh-CN" altLang="en-US" sz="2400">
                <a:cs typeface="+mn-ea"/>
                <a:sym typeface="Times New Roman" panose="02020603050405020304" pitchFamily="18" charset="0"/>
              </a:rPr>
              <a:t>的同质性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簇</a:t>
            </a:r>
            <a:r>
              <a:rPr lang="zh-CN" altLang="en-US" sz="2400">
                <a:cs typeface="+mn-ea"/>
                <a:sym typeface="Times New Roman" panose="02020603050405020304" pitchFamily="18" charset="0"/>
              </a:rPr>
              <a:t>的完全性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b="1" dirty="0">
                <a:solidFill>
                  <a:srgbClr val="FF6600"/>
                </a:solidFill>
                <a:cs typeface="+mn-ea"/>
                <a:sym typeface="Times New Roman" panose="02020603050405020304" pitchFamily="18" charset="0"/>
              </a:rPr>
              <a:t>碎</a:t>
            </a:r>
            <a:r>
              <a:rPr lang="zh-CN" altLang="en-US" sz="2400" b="1">
                <a:solidFill>
                  <a:srgbClr val="FF6600"/>
                </a:solidFill>
                <a:cs typeface="+mn-ea"/>
                <a:sym typeface="Times New Roman" panose="02020603050405020304" pitchFamily="18" charset="0"/>
              </a:rPr>
              <a:t>布袋性</a:t>
            </a:r>
            <a:endParaRPr lang="en-US" altLang="zh-CN" sz="2400" b="1">
              <a:solidFill>
                <a:srgbClr val="FF6600"/>
              </a:solidFill>
              <a:cs typeface="+mn-ea"/>
              <a:sym typeface="Times New Roman" panose="02020603050405020304" pitchFamily="18" charset="0"/>
            </a:endParaRPr>
          </a:p>
          <a:p>
            <a:pPr lvl="1" algn="just">
              <a:lnSpc>
                <a:spcPct val="150000"/>
              </a:lnSpc>
              <a:spcBef>
                <a:spcPts val="600"/>
              </a:spcBef>
              <a:buClr>
                <a:srgbClr val="FF6600"/>
              </a:buClr>
              <a:buSzPct val="60000"/>
              <a:buFont typeface="Wingdings" panose="05000000000000000000" pitchFamily="2" charset="2"/>
              <a:buChar char="l"/>
            </a:pPr>
            <a:r>
              <a:rPr lang="zh-CN" altLang="en-US" sz="2000">
                <a:sym typeface="Times New Roman" panose="02020603050405020304" pitchFamily="18" charset="0"/>
              </a:rPr>
              <a:t>把一个异构对象放到一个纯聚簇中要比把它放到一个碎布袋里（例如，“杂项”或“其他”类别）更糟糕</a:t>
            </a:r>
            <a:endParaRPr lang="en-US" altLang="zh-CN" sz="2000">
              <a:sym typeface="Times New Roman" panose="02020603050405020304" pitchFamily="18" charset="0"/>
            </a:endParaRPr>
          </a:p>
          <a:p>
            <a:pPr lvl="1" algn="just">
              <a:lnSpc>
                <a:spcPct val="150000"/>
              </a:lnSpc>
              <a:spcBef>
                <a:spcPts val="600"/>
              </a:spcBef>
              <a:buClr>
                <a:srgbClr val="FF6600"/>
              </a:buClr>
              <a:buSzPct val="60000"/>
              <a:buFont typeface="Wingdings" panose="05000000000000000000" pitchFamily="2" charset="2"/>
              <a:buChar char="l"/>
            </a:pPr>
            <a:r>
              <a:rPr lang="zh-CN" altLang="en-US" sz="2000">
                <a:sym typeface="Times New Roman" panose="02020603050405020304" pitchFamily="18" charset="0"/>
              </a:rPr>
              <a:t>也就是说更希望噪音不被聚到已存在的聚簇中</a:t>
            </a:r>
            <a:endParaRPr lang="en-US" altLang="zh-CN" sz="2000">
              <a:sym typeface="Times New Roman" panose="02020603050405020304" pitchFamily="18" charset="0"/>
            </a:endParaRPr>
          </a:p>
          <a:p>
            <a:pPr lvl="1" algn="just">
              <a:lnSpc>
                <a:spcPct val="150000"/>
              </a:lnSpc>
              <a:spcBef>
                <a:spcPts val="600"/>
              </a:spcBef>
              <a:buClr>
                <a:srgbClr val="FF6600"/>
              </a:buClr>
              <a:buSzPct val="60000"/>
              <a:buFont typeface="Wingdings" panose="05000000000000000000" pitchFamily="2" charset="2"/>
              <a:buChar char="l"/>
            </a:pPr>
            <a:r>
              <a:rPr lang="en-US" altLang="zh-CN" sz="2000">
                <a:sym typeface="Times New Roman" panose="02020603050405020304" pitchFamily="18" charset="0"/>
              </a:rPr>
              <a:t>putting a heterogeneous object into a pure  cluster should be penalized more than putting it into a  rag bag (i.e., “miscellaneous” or “other” category)</a:t>
            </a:r>
            <a:endParaRPr lang="en-US" altLang="zh-CN" sz="2000" b="1" dirty="0">
              <a:solidFill>
                <a:srgbClr val="FF6600"/>
              </a:solidFill>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小簇保持性</a:t>
            </a:r>
          </a:p>
        </p:txBody>
      </p:sp>
      <p:pic>
        <p:nvPicPr>
          <p:cNvPr id="4" name="Picture 2">
            <a:extLst>
              <a:ext uri="{FF2B5EF4-FFF2-40B4-BE49-F238E27FC236}">
                <a16:creationId xmlns:a16="http://schemas.microsoft.com/office/drawing/2014/main" id="{0985BEC6-2D54-4F33-9178-260BDF61B7E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64088" y="726390"/>
            <a:ext cx="2448272" cy="2514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5649937"/>
      </p:ext>
    </p:extLst>
  </p:cSld>
  <p:clrMapOvr>
    <a:masterClrMapping/>
  </p:clrMapOvr>
  <p:transition spd="med">
    <p:split orient="vert"/>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56000" y="108000"/>
            <a:ext cx="6781800" cy="492443"/>
          </a:xfrm>
          <a:prstGeom prst="rect">
            <a:avLst/>
          </a:prstGeom>
        </p:spPr>
        <p:txBody>
          <a:bodyPr wrap="square">
            <a:spAutoFit/>
          </a:bodyPr>
          <a:lstStyle/>
          <a:p>
            <a:pPr fontAlgn="base">
              <a:lnSpc>
                <a:spcPct val="100000"/>
              </a:lnSpc>
              <a:spcAft>
                <a:spcPct val="0"/>
              </a:spcAft>
            </a:pPr>
            <a:r>
              <a:rPr lang="en-US" altLang="zh-CN"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3.4 </a:t>
            </a:r>
            <a:r>
              <a:rPr lang="zh-CN" altLang="en-US" sz="2600" b="1" spc="5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测定聚类质量</a:t>
            </a:r>
          </a:p>
        </p:txBody>
      </p:sp>
      <p:sp>
        <p:nvSpPr>
          <p:cNvPr id="3" name="内容占位符 2"/>
          <p:cNvSpPr>
            <a:spLocks noGrp="1"/>
          </p:cNvSpPr>
          <p:nvPr>
            <p:ph idx="4294967295"/>
          </p:nvPr>
        </p:nvSpPr>
        <p:spPr>
          <a:xfrm>
            <a:off x="252000" y="756000"/>
            <a:ext cx="8568472" cy="5299977"/>
          </a:xfrm>
          <a:prstGeom prst="rect">
            <a:avLst/>
          </a:prstGeom>
          <a:noFill/>
        </p:spPr>
        <p:txBody>
          <a:bodyPr wrap="square" lIns="72000" rIns="72000">
            <a:spAutoFit/>
          </a:bodyPr>
          <a:lstStyle/>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簇</a:t>
            </a:r>
            <a:r>
              <a:rPr lang="zh-CN" altLang="en-US" sz="2400">
                <a:cs typeface="+mn-ea"/>
                <a:sym typeface="Times New Roman" panose="02020603050405020304" pitchFamily="18" charset="0"/>
              </a:rPr>
              <a:t>的同质性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簇</a:t>
            </a:r>
            <a:r>
              <a:rPr lang="zh-CN" altLang="en-US" sz="2400">
                <a:cs typeface="+mn-ea"/>
                <a:sym typeface="Times New Roman" panose="02020603050405020304" pitchFamily="18" charset="0"/>
              </a:rPr>
              <a:t>的完全性</a:t>
            </a:r>
            <a:endParaRPr lang="en-US" altLang="zh-CN" sz="2400" dirty="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dirty="0">
                <a:cs typeface="+mn-ea"/>
                <a:sym typeface="Times New Roman" panose="02020603050405020304" pitchFamily="18" charset="0"/>
              </a:rPr>
              <a:t>碎</a:t>
            </a:r>
            <a:r>
              <a:rPr lang="zh-CN" altLang="en-US" sz="2400">
                <a:cs typeface="+mn-ea"/>
                <a:sym typeface="Times New Roman" panose="02020603050405020304" pitchFamily="18" charset="0"/>
              </a:rPr>
              <a:t>布袋性</a:t>
            </a:r>
            <a:endParaRPr lang="en-US" altLang="zh-CN" sz="2400">
              <a:cs typeface="+mn-ea"/>
              <a:sym typeface="Times New Roman" panose="02020603050405020304" pitchFamily="18" charset="0"/>
            </a:endParaRPr>
          </a:p>
          <a:p>
            <a:pPr marL="360000" indent="-360000" algn="just" fontAlgn="base">
              <a:lnSpc>
                <a:spcPct val="200000"/>
              </a:lnSpc>
              <a:spcBef>
                <a:spcPts val="600"/>
              </a:spcBef>
              <a:buClr>
                <a:srgbClr val="FF6600"/>
              </a:buClr>
              <a:buSzPct val="80000"/>
              <a:buFont typeface="Wingdings" panose="05000000000000000000" pitchFamily="2" charset="2"/>
              <a:buChar char="l"/>
            </a:pPr>
            <a:r>
              <a:rPr lang="zh-CN" altLang="en-US" sz="2400" b="1">
                <a:solidFill>
                  <a:srgbClr val="FF6600"/>
                </a:solidFill>
                <a:cs typeface="+mn-ea"/>
                <a:sym typeface="Times New Roman" panose="02020603050405020304" pitchFamily="18" charset="0"/>
              </a:rPr>
              <a:t>小簇保持性</a:t>
            </a:r>
            <a:endParaRPr lang="en-US" altLang="zh-CN" sz="2400" b="1">
              <a:solidFill>
                <a:srgbClr val="FF6600"/>
              </a:solidFill>
              <a:cs typeface="+mn-ea"/>
              <a:sym typeface="Times New Roman" panose="02020603050405020304" pitchFamily="18" charset="0"/>
            </a:endParaRPr>
          </a:p>
          <a:p>
            <a:pPr lvl="1" algn="just">
              <a:lnSpc>
                <a:spcPct val="150000"/>
              </a:lnSpc>
              <a:spcBef>
                <a:spcPts val="600"/>
              </a:spcBef>
              <a:buClr>
                <a:srgbClr val="FF6600"/>
              </a:buClr>
              <a:buSzPct val="60000"/>
              <a:buFont typeface="Wingdings" panose="05000000000000000000" pitchFamily="2" charset="2"/>
              <a:buChar char="l"/>
            </a:pPr>
            <a:r>
              <a:rPr lang="zh-CN" altLang="en-US" sz="2000">
                <a:sym typeface="Times New Roman" panose="02020603050405020304" pitchFamily="18" charset="0"/>
              </a:rPr>
              <a:t>把一个小类别聚簇分成更小的聚簇比把一个大类别分成小聚簇更有害</a:t>
            </a:r>
          </a:p>
          <a:p>
            <a:pPr lvl="1" algn="just">
              <a:lnSpc>
                <a:spcPct val="150000"/>
              </a:lnSpc>
              <a:spcBef>
                <a:spcPts val="600"/>
              </a:spcBef>
              <a:buClr>
                <a:srgbClr val="FF6600"/>
              </a:buClr>
              <a:buSzPct val="60000"/>
              <a:buFont typeface="Wingdings" panose="05000000000000000000" pitchFamily="2" charset="2"/>
              <a:buChar char="l"/>
            </a:pPr>
            <a:r>
              <a:rPr lang="zh-CN" altLang="en-US" sz="2000">
                <a:sym typeface="Times New Roman" panose="02020603050405020304" pitchFamily="18" charset="0"/>
              </a:rPr>
              <a:t>也就是我们希望小类别聚簇不再被划分</a:t>
            </a:r>
          </a:p>
          <a:p>
            <a:pPr lvl="1" algn="just">
              <a:lnSpc>
                <a:spcPct val="150000"/>
              </a:lnSpc>
              <a:spcBef>
                <a:spcPts val="600"/>
              </a:spcBef>
              <a:buClr>
                <a:srgbClr val="FF6600"/>
              </a:buClr>
              <a:buSzPct val="60000"/>
              <a:buFont typeface="Wingdings" panose="05000000000000000000" pitchFamily="2" charset="2"/>
              <a:buChar char="l"/>
            </a:pPr>
            <a:r>
              <a:rPr lang="en-US" altLang="zh-CN" sz="2000">
                <a:sym typeface="Times New Roman" panose="02020603050405020304" pitchFamily="18" charset="0"/>
              </a:rPr>
              <a:t>splitting a small category  into pieces is more harmful than splitting a large  category into pieces</a:t>
            </a:r>
          </a:p>
        </p:txBody>
      </p:sp>
      <p:pic>
        <p:nvPicPr>
          <p:cNvPr id="7" name="Picture 2">
            <a:extLst>
              <a:ext uri="{FF2B5EF4-FFF2-40B4-BE49-F238E27FC236}">
                <a16:creationId xmlns:a16="http://schemas.microsoft.com/office/drawing/2014/main" id="{C51ED48A-87CA-4023-B94E-BAD3CF4ACD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64088" y="726390"/>
            <a:ext cx="2448272" cy="2514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0245136"/>
      </p:ext>
    </p:extLst>
  </p:cSld>
  <p:clrMapOvr>
    <a:masterClrMapping/>
  </p:clrMapOvr>
  <p:transition spd="med">
    <p:split orient="vert"/>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96925743"/>
      </p:ext>
    </p:extLst>
  </p:cSld>
  <p:clrMapOvr>
    <a:masterClrMapping/>
  </p:clrMapOvr>
  <p:transition spd="med">
    <p:split orient="vert"/>
  </p:transition>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Score&quot;:1.0,&quot;Answers&quot;:[&quot;196&quot;],&quot;CaseSensitive&quot;:false,&quot;FuzzyMatch&quot;:true},{&quot;Num&quot;:2,&quot;Score&quot;:1.0,&quot;Answers&quot;:[&quot;189.67&quot;],&quot;CaseSensitive&quot;:false,&quot;FuzzyMatch&quot;:true}]"/>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2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4.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6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0.0"/>
  <p:tag name="PROBLEMBLANK" val="[]"/>
</p:tagLst>
</file>

<file path=ppt/tags/tag7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80.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0.0"/>
  <p:tag name="PROBLEMBLANK" val="[]"/>
</p:tagLst>
</file>

<file path=ppt/tags/tag8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89.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6.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9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2_Office 主题​​">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qfomv45i">
      <a:majorFont>
        <a:latin typeface="Times New Roman"/>
        <a:ea typeface="微软雅黑"/>
        <a:cs typeface=""/>
      </a:majorFont>
      <a:minorFont>
        <a:latin typeface="Times New Roman"/>
        <a:ea typeface="微软雅黑"/>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26814</TotalTime>
  <Words>9337</Words>
  <Application>Microsoft Office PowerPoint</Application>
  <PresentationFormat>全屏显示(4:3)</PresentationFormat>
  <Paragraphs>1372</Paragraphs>
  <Slides>123</Slides>
  <Notes>2</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5</vt:i4>
      </vt:variant>
      <vt:variant>
        <vt:lpstr>幻灯片标题</vt:lpstr>
      </vt:variant>
      <vt:variant>
        <vt:i4>123</vt:i4>
      </vt:variant>
    </vt:vector>
  </HeadingPairs>
  <TitlesOfParts>
    <vt:vector size="139" baseType="lpstr">
      <vt:lpstr>等线</vt:lpstr>
      <vt:lpstr>Microsoft Yahei</vt:lpstr>
      <vt:lpstr>Microsoft Yahei</vt:lpstr>
      <vt:lpstr>微软雅黑 Light</vt:lpstr>
      <vt:lpstr>Arial</vt:lpstr>
      <vt:lpstr>Calibri</vt:lpstr>
      <vt:lpstr>Cambria Math</vt:lpstr>
      <vt:lpstr>Symbol</vt:lpstr>
      <vt:lpstr>Times New Roman</vt:lpstr>
      <vt:lpstr>Wingdings</vt:lpstr>
      <vt:lpstr>2_Office 主题​​</vt:lpstr>
      <vt:lpstr>Microsoft Word Picture</vt:lpstr>
      <vt:lpstr>Equation</vt:lpstr>
      <vt:lpstr>Equation.DSMT4</vt:lpstr>
      <vt:lpstr>Equation.3</vt:lpstr>
      <vt:lpstr>Visio</vt:lpstr>
      <vt:lpstr>PowerPoint 演示文稿</vt:lpstr>
      <vt:lpstr>物以类聚、人以群分</vt:lpstr>
      <vt:lpstr>聚类效果</vt:lpstr>
      <vt:lpstr>学习目标</vt:lpstr>
      <vt:lpstr>PowerPoint 演示文稿</vt:lpstr>
      <vt:lpstr>1 聚类分析概述</vt:lpstr>
      <vt:lpstr>分类 vs. 聚类</vt:lpstr>
      <vt:lpstr>聚类的应用</vt:lpstr>
      <vt:lpstr>数据挖掘对聚类的要求</vt:lpstr>
      <vt:lpstr>PowerPoint 演示文稿</vt:lpstr>
      <vt:lpstr>PowerPoint 演示文稿</vt:lpstr>
      <vt:lpstr>2 基本聚类方法</vt:lpstr>
      <vt:lpstr>2.1 划分方法</vt:lpstr>
      <vt:lpstr>PowerPoint 演示文稿</vt:lpstr>
      <vt:lpstr>2.1.1 KMeans</vt:lpstr>
      <vt:lpstr>PowerPoint 演示文稿</vt:lpstr>
      <vt:lpstr>PowerPoint 演示文稿</vt:lpstr>
      <vt:lpstr>PowerPoint 演示文稿</vt:lpstr>
      <vt:lpstr>PowerPoint 演示文稿</vt:lpstr>
      <vt:lpstr>PowerPoint 演示文稿</vt:lpstr>
      <vt:lpstr>2.1.1 k-means计算示例</vt:lpstr>
      <vt:lpstr>PowerPoint 演示文稿</vt:lpstr>
      <vt:lpstr>PowerPoint 演示文稿</vt:lpstr>
      <vt:lpstr>PowerPoint 演示文稿</vt:lpstr>
      <vt:lpstr>PowerPoint 演示文稿</vt:lpstr>
      <vt:lpstr>PowerPoint 演示文稿</vt:lpstr>
      <vt:lpstr>PowerPoint 演示文稿</vt:lpstr>
      <vt:lpstr>2.1.1 k-means算法效率分析</vt:lpstr>
      <vt:lpstr>2.1.1 k-means优缺点</vt:lpstr>
      <vt:lpstr>2.1.1 KMeans的问题</vt:lpstr>
      <vt:lpstr>PowerPoint 演示文稿</vt:lpstr>
      <vt:lpstr>PowerPoint 演示文稿</vt:lpstr>
      <vt:lpstr>PowerPoint 演示文稿</vt:lpstr>
      <vt:lpstr>PowerPoint 演示文稿</vt:lpstr>
      <vt:lpstr>PowerPoint 演示文稿</vt:lpstr>
      <vt:lpstr>PowerPoint 演示文稿</vt:lpstr>
      <vt:lpstr>2.1.2 k-modes算法 —— 解决数据敏感的问题</vt:lpstr>
      <vt:lpstr>2.1.3 KMeans++算法 —— 解决初始点选择问题</vt:lpstr>
      <vt:lpstr>2.1.3 KMeans++算法 —— 解决初始点选择问题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2.1.4 k-中心点PAM算法示例</vt:lpstr>
      <vt:lpstr>2.1.4 k-中心点PAM算法示例</vt:lpstr>
      <vt:lpstr>2.1.4 k-中心点PAM算法示例</vt:lpstr>
      <vt:lpstr>2.1.4 k-中心点PAM算法示例</vt:lpstr>
      <vt:lpstr>2.1.4 k-中心点方法</vt:lpstr>
      <vt:lpstr>2.1.4 PAM算法</vt:lpstr>
      <vt:lpstr>2.1.4 代价函数</vt:lpstr>
      <vt:lpstr>PowerPoint 演示文稿</vt:lpstr>
      <vt:lpstr>PowerPoint 演示文稿</vt:lpstr>
      <vt:lpstr>2.1.4 k-中心点PAM算法示例</vt:lpstr>
      <vt:lpstr>2.1.4 k-中心点PAM算法示例</vt:lpstr>
      <vt:lpstr>2.1.4 k-中心点PAM算法示例</vt:lpstr>
      <vt:lpstr>2.1.4 k-中心点PAM算法示例</vt:lpstr>
      <vt:lpstr>2.1.4 k-中心点PAM算法示例</vt:lpstr>
      <vt:lpstr>2.1.4 k-中心点PAM算法示例</vt:lpstr>
      <vt:lpstr>2.1.4 k-中心点PAM算法示例</vt:lpstr>
      <vt:lpstr>2.1.4 k-中心点PAM算法示例</vt:lpstr>
      <vt:lpstr>2.1.4 PAM算法</vt:lpstr>
      <vt:lpstr>2.1.4 PAM算法示意</vt:lpstr>
      <vt:lpstr>2.1.4 PAM算法</vt:lpstr>
      <vt:lpstr>2.1.4 PAM算法</vt:lpstr>
      <vt:lpstr>PowerPoint 演示文稿</vt:lpstr>
      <vt:lpstr>PowerPoint 演示文稿</vt:lpstr>
      <vt:lpstr>2.2 层次方法</vt:lpstr>
      <vt:lpstr>2.2 层次聚类过程图示</vt:lpstr>
      <vt:lpstr>2.2.1 AGNES算法</vt:lpstr>
      <vt:lpstr>PowerPoint 演示文稿</vt:lpstr>
      <vt:lpstr>PowerPoint 演示文稿</vt:lpstr>
      <vt:lpstr>PowerPoint 演示文稿</vt:lpstr>
      <vt:lpstr>PowerPoint 演示文稿</vt:lpstr>
      <vt:lpstr>PowerPoint 演示文稿</vt:lpstr>
      <vt:lpstr>PowerPoint 演示文稿</vt:lpstr>
      <vt:lpstr>2.2.1 AGNES算法 —— 平均距离</vt:lpstr>
      <vt:lpstr>2.2.1 单连接算法</vt:lpstr>
      <vt:lpstr>PowerPoint 演示文稿</vt:lpstr>
      <vt:lpstr>PowerPoint 演示文稿</vt:lpstr>
      <vt:lpstr>PowerPoint 演示文稿</vt:lpstr>
      <vt:lpstr>PowerPoint 演示文稿</vt:lpstr>
      <vt:lpstr>PowerPoint 演示文稿</vt:lpstr>
      <vt:lpstr>PowerPoint 演示文稿</vt:lpstr>
      <vt:lpstr>2.2.2 层次方法的问题及改进</vt:lpstr>
      <vt:lpstr>2.2.2 层次方法变形（single-pass单遍聚类）</vt:lpstr>
      <vt:lpstr>PowerPoint 演示文稿</vt:lpstr>
      <vt:lpstr>PowerPoint 演示文稿</vt:lpstr>
      <vt:lpstr>2.3 基于密度的方法</vt:lpstr>
      <vt:lpstr>2.3.1 密度概念</vt:lpstr>
      <vt:lpstr>PowerPoint 演示文稿</vt:lpstr>
      <vt:lpstr>PowerPoint 演示文稿</vt:lpstr>
      <vt:lpstr>2.3.2 基于密度的簇</vt:lpstr>
      <vt:lpstr>2.3.3 基本概念理解</vt:lpstr>
      <vt:lpstr>PowerPoint 演示文稿</vt:lpstr>
      <vt:lpstr>PowerPoint 演示文稿</vt:lpstr>
      <vt:lpstr>PowerPoint 演示文稿</vt:lpstr>
      <vt:lpstr>2.3.4 DBSCAN</vt:lpstr>
      <vt:lpstr>2.3.5 DBSCAN优点</vt:lpstr>
      <vt:lpstr>2.3.6 DBSCAN缺点</vt:lpstr>
      <vt:lpstr>2.3.6 DBSCAN缺点</vt:lpstr>
      <vt:lpstr>PowerPoint 演示文稿</vt:lpstr>
      <vt:lpstr>PowerPoint 演示文稿</vt:lpstr>
      <vt:lpstr>3 聚类评估</vt:lpstr>
      <vt:lpstr>2.3.1 估计聚类趋势</vt:lpstr>
      <vt:lpstr>2.3.2 确定数据集中的簇数</vt:lpstr>
      <vt:lpstr>2.3.3 测定聚类质量</vt:lpstr>
      <vt:lpstr>2.3.4 测定聚类质量</vt:lpstr>
      <vt:lpstr>PowerPoint 演示文稿</vt:lpstr>
      <vt:lpstr>PowerPoint 演示文稿</vt:lpstr>
      <vt:lpstr>2.3.4 测定聚类质量</vt:lpstr>
      <vt:lpstr>2.3.4 测定聚类质量</vt:lpstr>
      <vt:lpstr>3.4 测定聚类质量</vt:lpstr>
      <vt:lpstr>PowerPoint 演示文稿</vt:lpstr>
      <vt:lpstr>PowerPoint 演示文稿</vt:lpstr>
      <vt:lpstr>3.4 测定聚类质量</vt:lpstr>
      <vt:lpstr>3.4 测定聚类质量</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基于异构多源信息的安全分析、态势感知与决策关键技术与系统</dc:title>
  <dc:creator>Mirror</dc:creator>
  <cp:lastModifiedBy>永铭 田</cp:lastModifiedBy>
  <cp:revision>1005</cp:revision>
  <dcterms:created xsi:type="dcterms:W3CDTF">2017-03-02T08:29:50Z</dcterms:created>
  <dcterms:modified xsi:type="dcterms:W3CDTF">2024-11-26T03:34:06Z</dcterms:modified>
</cp:coreProperties>
</file>