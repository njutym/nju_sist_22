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  <p:sldMasterId id="2147483675" r:id="rId3"/>
  </p:sldMasterIdLst>
  <p:notesMasterIdLst>
    <p:notesMasterId r:id="rId67"/>
  </p:notesMasterIdLst>
  <p:handoutMasterIdLst>
    <p:handoutMasterId r:id="rId68"/>
  </p:handoutMasterIdLst>
  <p:sldIdLst>
    <p:sldId id="277" r:id="rId4"/>
    <p:sldId id="4284" r:id="rId5"/>
    <p:sldId id="4283" r:id="rId6"/>
    <p:sldId id="259" r:id="rId7"/>
    <p:sldId id="376" r:id="rId8"/>
    <p:sldId id="377" r:id="rId9"/>
    <p:sldId id="4292" r:id="rId10"/>
    <p:sldId id="4293" r:id="rId11"/>
    <p:sldId id="4294" r:id="rId12"/>
    <p:sldId id="4296" r:id="rId13"/>
    <p:sldId id="4297" r:id="rId14"/>
    <p:sldId id="4295" r:id="rId15"/>
    <p:sldId id="378" r:id="rId16"/>
    <p:sldId id="4291" r:id="rId17"/>
    <p:sldId id="4299" r:id="rId18"/>
    <p:sldId id="4298" r:id="rId19"/>
    <p:sldId id="4300" r:id="rId20"/>
    <p:sldId id="381" r:id="rId21"/>
    <p:sldId id="391" r:id="rId22"/>
    <p:sldId id="4303" r:id="rId23"/>
    <p:sldId id="4302" r:id="rId24"/>
    <p:sldId id="4304" r:id="rId25"/>
    <p:sldId id="4301" r:id="rId26"/>
    <p:sldId id="383" r:id="rId27"/>
    <p:sldId id="395" r:id="rId28"/>
    <p:sldId id="396" r:id="rId29"/>
    <p:sldId id="4305" r:id="rId30"/>
    <p:sldId id="4306" r:id="rId31"/>
    <p:sldId id="405" r:id="rId32"/>
    <p:sldId id="4308" r:id="rId33"/>
    <p:sldId id="406" r:id="rId34"/>
    <p:sldId id="4307" r:id="rId35"/>
    <p:sldId id="4309" r:id="rId36"/>
    <p:sldId id="4313" r:id="rId37"/>
    <p:sldId id="4310" r:id="rId38"/>
    <p:sldId id="4311" r:id="rId39"/>
    <p:sldId id="4312" r:id="rId40"/>
    <p:sldId id="4314" r:id="rId41"/>
    <p:sldId id="401" r:id="rId42"/>
    <p:sldId id="400" r:id="rId43"/>
    <p:sldId id="4315" r:id="rId44"/>
    <p:sldId id="4316" r:id="rId45"/>
    <p:sldId id="402" r:id="rId46"/>
    <p:sldId id="4317" r:id="rId47"/>
    <p:sldId id="4318" r:id="rId48"/>
    <p:sldId id="4333" r:id="rId49"/>
    <p:sldId id="4334" r:id="rId50"/>
    <p:sldId id="4335" r:id="rId51"/>
    <p:sldId id="4336" r:id="rId52"/>
    <p:sldId id="4376" r:id="rId53"/>
    <p:sldId id="4377" r:id="rId54"/>
    <p:sldId id="4378" r:id="rId55"/>
    <p:sldId id="4327" r:id="rId56"/>
    <p:sldId id="4328" r:id="rId57"/>
    <p:sldId id="4329" r:id="rId58"/>
    <p:sldId id="4379" r:id="rId59"/>
    <p:sldId id="4330" r:id="rId60"/>
    <p:sldId id="4332" r:id="rId61"/>
    <p:sldId id="4408" r:id="rId62"/>
    <p:sldId id="4410" r:id="rId63"/>
    <p:sldId id="4409" r:id="rId64"/>
    <p:sldId id="4331" r:id="rId65"/>
    <p:sldId id="4246" r:id="rId66"/>
  </p:sldIdLst>
  <p:sldSz cx="9144000" cy="5143500" type="screen16x9"/>
  <p:notesSz cx="6858000" cy="9144000"/>
  <p:custDataLst>
    <p:tags r:id="rId6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5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姚静" initials="yj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3E36"/>
    <a:srgbClr val="4B5DFE"/>
    <a:srgbClr val="F3DDDC"/>
    <a:srgbClr val="FFFFB5"/>
    <a:srgbClr val="F8F3EC"/>
    <a:srgbClr val="0012FE"/>
    <a:srgbClr val="EDEFE2"/>
    <a:srgbClr val="901F2A"/>
    <a:srgbClr val="F1F3E5"/>
    <a:srgbClr val="6E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54" autoAdjust="0"/>
    <p:restoredTop sz="66783" autoAdjust="0"/>
  </p:normalViewPr>
  <p:slideViewPr>
    <p:cSldViewPr showGuides="1">
      <p:cViewPr varScale="1">
        <p:scale>
          <a:sx n="107" d="100"/>
          <a:sy n="107" d="100"/>
        </p:scale>
        <p:origin x="1056" y="176"/>
      </p:cViewPr>
      <p:guideLst>
        <p:guide orient="horz" pos="1605"/>
        <p:guide pos="28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26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tags" Target="tags/tag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20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2BC39-128E-4521-A6D2-911A8F8A326A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1048821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22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898C2F-7AE5-4F56-A789-27C04C8D51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3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14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9ACB1-6B0E-4211-A950-E3155135F0F3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1048815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816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17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18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038D8-7CEE-471F-ADF0-B06B4F7278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" y="752475"/>
            <a:ext cx="6604000" cy="3716338"/>
          </a:xfrm>
        </p:spPr>
      </p:sp>
      <p:sp>
        <p:nvSpPr>
          <p:cNvPr id="10486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C6A98D-1D84-904C-7154-6BF197D62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2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894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3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778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347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567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669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545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709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696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92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612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778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499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6832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7122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9070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5959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23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4836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588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0399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8390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4505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671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425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1023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4001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1094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9570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5639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6106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5803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7263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38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7920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1990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888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8444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4705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4452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2358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0423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1117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6320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6644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70595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3499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98847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目前的算法容易产生伪彩现象（</a:t>
            </a:r>
            <a:r>
              <a:rPr lang="en" altLang="zh-CN" b="1" dirty="0"/>
              <a:t>False Color Artifacts</a:t>
            </a:r>
            <a:r>
              <a:rPr lang="zh-CN" altLang="en" b="1" dirty="0"/>
              <a:t>）</a:t>
            </a:r>
            <a:r>
              <a:rPr lang="zh-CN" altLang="en-US" dirty="0"/>
              <a:t>手机厂商还没有很好的解决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3577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76210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33214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3858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" altLang="zh-CN" b="0" i="0" dirty="0">
              <a:effectLst/>
              <a:latin typeface="Georgia" panose="02040502050405020303" pitchFamily="18" charset="0"/>
            </a:endParaRP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30144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1877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784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标题 1"/>
          <p:cNvSpPr>
            <a:spLocks noGrp="1"/>
          </p:cNvSpPr>
          <p:nvPr>
            <p:ph type="ctrTitle"/>
          </p:nvPr>
        </p:nvSpPr>
        <p:spPr>
          <a:xfrm>
            <a:off x="685804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2" name="副标题 2"/>
          <p:cNvSpPr>
            <a:spLocks noGrp="1"/>
          </p:cNvSpPr>
          <p:nvPr>
            <p:ph type="subTitle" idx="1"/>
          </p:nvPr>
        </p:nvSpPr>
        <p:spPr>
          <a:xfrm>
            <a:off x="1371604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863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72EF7-4B8F-D949-9E85-32B8EDF30677}" type="datetime1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104863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9FCBBE2-63E4-4E90-8897-D61F1A357E4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C391D-732F-C149-B6A1-9A5FCB4F6FEF}" type="datetime1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10487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标题 1"/>
          <p:cNvSpPr>
            <a:spLocks noGrp="1"/>
          </p:cNvSpPr>
          <p:nvPr>
            <p:ph type="title"/>
          </p:nvPr>
        </p:nvSpPr>
        <p:spPr>
          <a:xfrm>
            <a:off x="722317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31" name="文本占位符 2"/>
          <p:cNvSpPr>
            <a:spLocks noGrp="1"/>
          </p:cNvSpPr>
          <p:nvPr>
            <p:ph type="body" idx="1"/>
          </p:nvPr>
        </p:nvSpPr>
        <p:spPr>
          <a:xfrm>
            <a:off x="722317" y="2180038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3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2B8A-0A79-8043-B90B-DA6CB2165651}" type="datetime1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104873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36" name="内容占位符 2"/>
          <p:cNvSpPr>
            <a:spLocks noGrp="1"/>
          </p:cNvSpPr>
          <p:nvPr>
            <p:ph sz="half" idx="1"/>
          </p:nvPr>
        </p:nvSpPr>
        <p:spPr>
          <a:xfrm>
            <a:off x="457204" y="1200155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37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5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3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27DF-44AA-4A47-A7FF-46D24A50165C}" type="datetime1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104873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4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42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9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43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60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44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9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45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60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46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6FD5D-87FF-724E-A018-904C8DA36E87}" type="datetime1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1048747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48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0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22B6-D467-7141-A8DD-2AFCB88D0744}" type="datetime1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104870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0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13F8F-DDBB-4540-BE30-2278200C1FF4}" type="datetime1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104875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标题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5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5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30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5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1402-2884-9841-8197-B48C1D99F3B2}" type="datetime1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104875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5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20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21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8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2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CD2D3-6E35-8F47-9F4E-F4E7FAAA04F0}" type="datetime1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104872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2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2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D7DA0-C247-CF44-A6D3-C3AD2340489F}" type="datetime1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104872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10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4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1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804CB-4BEC-B94D-98FC-70D720F9BAFD}" type="datetime1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104871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59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6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C6458-6531-C542-B4F8-05C98E657C6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3" name="任意多边形: 形状 9"/>
          <p:cNvSpPr/>
          <p:nvPr userDrawn="1"/>
        </p:nvSpPr>
        <p:spPr>
          <a:xfrm>
            <a:off x="-1561715" y="5080642"/>
            <a:ext cx="9144000" cy="62865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26" tIns="45712" rIns="91426" bIns="45712" rtlCol="0" anchor="ctr">
            <a:noAutofit/>
          </a:bodyPr>
          <a:lstStyle/>
          <a:p>
            <a:pPr algn="ctr" defTabSz="914400"/>
            <a:endParaRPr lang="zh-CN" altLang="en-US" sz="170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标题 1"/>
          <p:cNvSpPr>
            <a:spLocks noGrp="1"/>
          </p:cNvSpPr>
          <p:nvPr>
            <p:ph type="ctrTitle"/>
          </p:nvPr>
        </p:nvSpPr>
        <p:spPr>
          <a:xfrm>
            <a:off x="685804" y="1597820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65" name="副标题 2"/>
          <p:cNvSpPr>
            <a:spLocks noGrp="1"/>
          </p:cNvSpPr>
          <p:nvPr>
            <p:ph type="subTitle" idx="1"/>
          </p:nvPr>
        </p:nvSpPr>
        <p:spPr>
          <a:xfrm>
            <a:off x="1371604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876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DA66B-676E-CD4E-B081-91080642D49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9" name="任意多边形: 形状 9"/>
          <p:cNvSpPr/>
          <p:nvPr userDrawn="1"/>
        </p:nvSpPr>
        <p:spPr>
          <a:xfrm>
            <a:off x="-1561715" y="5080642"/>
            <a:ext cx="9144000" cy="62865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26" tIns="45712" rIns="91426" bIns="45712" rtlCol="0" anchor="ctr">
            <a:noAutofit/>
          </a:bodyPr>
          <a:lstStyle/>
          <a:p>
            <a:pPr algn="ctr" defTabSz="914400"/>
            <a:endParaRPr lang="zh-CN" altLang="en-US" sz="1700" dirty="0">
              <a:solidFill>
                <a:prstClr val="white"/>
              </a:solidFill>
            </a:endParaRPr>
          </a:p>
        </p:txBody>
      </p:sp>
      <p:pic>
        <p:nvPicPr>
          <p:cNvPr id="2097182" name="图片 8" descr="图片包含 剪贴画  已生成极高可信度的说明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12380" y="4679162"/>
            <a:ext cx="1238492" cy="393855"/>
          </a:xfrm>
          <a:prstGeom prst="rect">
            <a:avLst/>
          </a:prstGeom>
        </p:spPr>
      </p:pic>
      <p:cxnSp>
        <p:nvCxnSpPr>
          <p:cNvPr id="3145735" name="直接连接符 10"/>
          <p:cNvCxnSpPr/>
          <p:nvPr/>
        </p:nvCxnSpPr>
        <p:spPr>
          <a:xfrm>
            <a:off x="1270033" y="-835836"/>
            <a:ext cx="7190906" cy="0"/>
          </a:xfrm>
          <a:prstGeom prst="line">
            <a:avLst/>
          </a:prstGeom>
          <a:ln w="28575">
            <a:solidFill>
              <a:srgbClr val="80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Heiti SC Medium" pitchFamily="2" charset="-128"/>
                <a:ea typeface="Heiti SC Medium" pitchFamily="2" charset="-128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771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iti SC Medium" pitchFamily="2" charset="-128"/>
                <a:ea typeface="Heiti SC Medium" pitchFamily="2" charset="-128"/>
              </a:defRPr>
            </a:lvl1pPr>
            <a:lvl2pPr>
              <a:defRPr>
                <a:latin typeface="Heiti SC Medium" pitchFamily="2" charset="-128"/>
                <a:ea typeface="Heiti SC Medium" pitchFamily="2" charset="-128"/>
              </a:defRPr>
            </a:lvl2pPr>
            <a:lvl3pPr>
              <a:defRPr>
                <a:latin typeface="Heiti SC Medium" pitchFamily="2" charset="-128"/>
                <a:ea typeface="Heiti SC Medium" pitchFamily="2" charset="-128"/>
              </a:defRPr>
            </a:lvl3pPr>
            <a:lvl4pPr>
              <a:defRPr>
                <a:latin typeface="Heiti SC Medium" pitchFamily="2" charset="-128"/>
                <a:ea typeface="Heiti SC Medium" pitchFamily="2" charset="-128"/>
              </a:defRPr>
            </a:lvl4pPr>
            <a:lvl5pPr>
              <a:defRPr>
                <a:latin typeface="Heiti SC Medium" pitchFamily="2" charset="-128"/>
                <a:ea typeface="Heiti SC Medium" pitchFamily="2" charset="-128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7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BCDC-368C-B043-A278-5DB4B1E7C84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5" name="任意多边形: 形状 9"/>
          <p:cNvSpPr/>
          <p:nvPr userDrawn="1"/>
        </p:nvSpPr>
        <p:spPr>
          <a:xfrm>
            <a:off x="-1561715" y="5080642"/>
            <a:ext cx="9144000" cy="62865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26" tIns="45712" rIns="91426" bIns="45712" rtlCol="0" anchor="ctr">
            <a:noAutofit/>
          </a:bodyPr>
          <a:lstStyle/>
          <a:p>
            <a:pPr algn="ctr" defTabSz="914400"/>
            <a:endParaRPr lang="zh-CN" altLang="en-US" sz="1700" dirty="0">
              <a:solidFill>
                <a:prstClr val="white"/>
              </a:solidFill>
            </a:endParaRPr>
          </a:p>
        </p:txBody>
      </p:sp>
      <p:pic>
        <p:nvPicPr>
          <p:cNvPr id="2097184" name="图片 9" descr="图片包含 剪贴画  已生成极高可信度的说明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12380" y="4679162"/>
            <a:ext cx="1238492" cy="3938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CB42-62F7-154E-8340-E5ABC877155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1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3" name="组合 30"/>
          <p:cNvGrpSpPr>
            <a:grpSpLocks noGrp="1"/>
          </p:cNvGrpSpPr>
          <p:nvPr userDrawn="1"/>
        </p:nvGrpSpPr>
        <p:grpSpPr>
          <a:xfrm>
            <a:off x="323528" y="308459"/>
            <a:ext cx="8496944" cy="463083"/>
            <a:chOff x="5282161" y="1404744"/>
            <a:chExt cx="3543196" cy="233762"/>
          </a:xfrm>
        </p:grpSpPr>
        <p:cxnSp>
          <p:nvCxnSpPr>
            <p:cNvPr id="3145730" name="直接连接符 8"/>
            <p:cNvCxnSpPr/>
            <p:nvPr/>
          </p:nvCxnSpPr>
          <p:spPr>
            <a:xfrm>
              <a:off x="5282161" y="1638506"/>
              <a:ext cx="3536170" cy="0"/>
            </a:xfrm>
            <a:prstGeom prst="line">
              <a:avLst/>
            </a:prstGeom>
            <a:ln w="28575">
              <a:solidFill>
                <a:srgbClr val="8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13" name="TextBox 8"/>
            <p:cNvSpPr txBox="1"/>
            <p:nvPr/>
          </p:nvSpPr>
          <p:spPr>
            <a:xfrm>
              <a:off x="5522378" y="1404744"/>
              <a:ext cx="3302979" cy="233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endParaRPr lang="zh-CN" altLang="en-US" sz="2400" b="1" dirty="0">
                <a:solidFill>
                  <a:srgbClr val="800080"/>
                </a:solidFill>
                <a:latin typeface="HEITI SC MEDIUM" pitchFamily="2" charset="-128"/>
                <a:ea typeface="HEITI SC MEDIUM" pitchFamily="2" charset="-128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1863000"/>
            <a:ext cx="7349400" cy="7641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4500" b="1" i="0" u="none" strike="noStrike" kern="1200" cap="none" spc="225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2670300"/>
            <a:ext cx="7349400" cy="3537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31217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2" name="图片 17" descr="sy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37085"/>
            <a:ext cx="9144000" cy="18907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800" name="矩形 6"/>
          <p:cNvSpPr/>
          <p:nvPr/>
        </p:nvSpPr>
        <p:spPr>
          <a:xfrm>
            <a:off x="294085" y="222647"/>
            <a:ext cx="2520554" cy="9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97193" name="Picture 2" descr="D:\My Pictures\nju\南京大学视觉形象规范化标准(jpeg格式文件)\03校标，中、英文校名组合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1254" y="395288"/>
            <a:ext cx="2106215" cy="6274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801" name="矩形 7"/>
          <p:cNvSpPr>
            <a:spLocks noChangeArrowheads="1"/>
          </p:cNvSpPr>
          <p:nvPr/>
        </p:nvSpPr>
        <p:spPr bwMode="auto">
          <a:xfrm>
            <a:off x="5661422" y="357188"/>
            <a:ext cx="3482579" cy="507831"/>
          </a:xfrm>
          <a:prstGeom prst="rect">
            <a:avLst/>
          </a:prstGeom>
          <a:solidFill>
            <a:srgbClr val="630D5F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诚朴雄伟   励学敦行</a:t>
            </a:r>
          </a:p>
        </p:txBody>
      </p:sp>
      <p:sp>
        <p:nvSpPr>
          <p:cNvPr id="1048802" name="标题 1"/>
          <p:cNvSpPr>
            <a:spLocks noGrp="1"/>
          </p:cNvSpPr>
          <p:nvPr>
            <p:ph type="ctrTitle"/>
          </p:nvPr>
        </p:nvSpPr>
        <p:spPr>
          <a:xfrm>
            <a:off x="251520" y="1799332"/>
            <a:ext cx="5112568" cy="1107996"/>
          </a:xfrm>
        </p:spPr>
        <p:txBody>
          <a:bodyPr/>
          <a:lstStyle>
            <a:lvl1pPr algn="ctr">
              <a:defRPr sz="3300" b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03" name="副标题 2"/>
          <p:cNvSpPr>
            <a:spLocks noGrp="1"/>
          </p:cNvSpPr>
          <p:nvPr>
            <p:ph type="subTitle" idx="1"/>
          </p:nvPr>
        </p:nvSpPr>
        <p:spPr>
          <a:xfrm>
            <a:off x="287526" y="3813889"/>
            <a:ext cx="8568952" cy="46166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7030A0"/>
                </a:solidFill>
                <a:effectLst/>
                <a:latin typeface="方正小标宋简体" panose="02000000000000000000" pitchFamily="2" charset="-122"/>
                <a:ea typeface="方正小标宋简体" panose="02000000000000000000" pitchFamily="2" charset="-122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1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847850"/>
            <a:ext cx="2228850" cy="2219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790" name="矩形 6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 w="38100"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91" name="标题 1"/>
          <p:cNvSpPr>
            <a:spLocks noGrp="1"/>
          </p:cNvSpPr>
          <p:nvPr>
            <p:ph type="title"/>
          </p:nvPr>
        </p:nvSpPr>
        <p:spPr>
          <a:xfrm>
            <a:off x="0" y="403771"/>
            <a:ext cx="8686800" cy="46166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92" name="内容占位符 4"/>
          <p:cNvSpPr>
            <a:spLocks noGrp="1"/>
          </p:cNvSpPr>
          <p:nvPr>
            <p:ph sz="quarter" idx="10"/>
          </p:nvPr>
        </p:nvSpPr>
        <p:spPr>
          <a:xfrm>
            <a:off x="3437874" y="1793454"/>
            <a:ext cx="5248926" cy="415498"/>
          </a:xfrm>
        </p:spPr>
        <p:txBody>
          <a:bodyPr/>
          <a:lstStyle>
            <a:lvl1pPr marL="540385" indent="-540385">
              <a:buFont typeface="+mj-ea"/>
              <a:buAutoNum type="ea1JpnChsDbPeriod"/>
              <a:defRPr>
                <a:solidFill>
                  <a:schemeClr val="accent6">
                    <a:lumMod val="75000"/>
                  </a:schemeClr>
                </a:solidFill>
              </a:defRPr>
            </a:lvl1pPr>
            <a:lvl2pPr marL="771525" indent="-428625">
              <a:buFont typeface="+mj-ea"/>
              <a:buAutoNum type="ea1JpnChsDbPeriod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4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05" name="标题 1"/>
          <p:cNvSpPr>
            <a:spLocks noGrp="1"/>
          </p:cNvSpPr>
          <p:nvPr>
            <p:ph type="title"/>
          </p:nvPr>
        </p:nvSpPr>
        <p:spPr>
          <a:xfrm>
            <a:off x="0" y="403771"/>
            <a:ext cx="8676456" cy="461665"/>
          </a:xfrm>
        </p:spPr>
        <p:txBody>
          <a:bodyPr/>
          <a:lstStyle>
            <a:lvl1pPr algn="r">
              <a:defRPr sz="2400">
                <a:ln>
                  <a:noFill/>
                </a:ln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06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191095"/>
          </a:xfrm>
        </p:spPr>
        <p:txBody>
          <a:bodyPr/>
          <a:lstStyle>
            <a:lvl1pPr marL="257175" indent="-257175">
              <a:buFont typeface="Wingdings" panose="05000000000000000000" pitchFamily="2" charset="2"/>
              <a:buChar char="Ø"/>
              <a:defRPr sz="210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58445" indent="-258445">
              <a:buFont typeface="Arial" panose="020B0604020202020204" pitchFamily="34" charset="0"/>
              <a:buChar char="•"/>
              <a:defRPr sz="21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814705" indent="-342900">
              <a:buFont typeface="Wingdings" panose="05000000000000000000" pitchFamily="2" charset="2"/>
              <a:buChar char="ü"/>
              <a:defRPr lang="zh-CN" altLang="en-US" sz="2100" b="0" kern="12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  <a:endParaRPr lang="en-US" altLang="zh-CN" noProof="1"/>
          </a:p>
          <a:p>
            <a:pPr lvl="2"/>
            <a:r>
              <a:rPr lang="zh-CN" altLang="en-US" noProof="1"/>
              <a:t>第三级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08" name="标题 1"/>
          <p:cNvSpPr>
            <a:spLocks noGrp="1"/>
          </p:cNvSpPr>
          <p:nvPr>
            <p:ph type="title"/>
          </p:nvPr>
        </p:nvSpPr>
        <p:spPr>
          <a:xfrm>
            <a:off x="2555874" y="403771"/>
            <a:ext cx="6120582" cy="461665"/>
          </a:xfrm>
        </p:spPr>
        <p:txBody>
          <a:bodyPr/>
          <a:lstStyle>
            <a:lvl1pPr algn="r">
              <a:defRPr sz="2400">
                <a:ln>
                  <a:noFill/>
                </a:ln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09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191095"/>
          </a:xfrm>
        </p:spPr>
        <p:txBody>
          <a:bodyPr/>
          <a:lstStyle>
            <a:lvl1pPr marL="257175" indent="-257175">
              <a:buFont typeface="Wingdings" panose="05000000000000000000" pitchFamily="2" charset="2"/>
              <a:buChar char="Ø"/>
              <a:defRPr sz="210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539750" indent="-258445">
              <a:buFont typeface="Arial" panose="020B0604020202020204" pitchFamily="34" charset="0"/>
              <a:buChar char="•"/>
              <a:defRPr sz="21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814705" indent="-342900">
              <a:buFont typeface="Wingdings" panose="05000000000000000000" pitchFamily="2" charset="2"/>
              <a:buChar char="ü"/>
              <a:defRPr lang="zh-CN" altLang="en-US" sz="2100" b="0" kern="12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  <a:endParaRPr lang="en-US" altLang="zh-CN" noProof="1"/>
          </a:p>
          <a:p>
            <a:pPr lvl="2"/>
            <a:r>
              <a:rPr lang="zh-CN" altLang="en-US" noProof="1"/>
              <a:t>第三级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0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11" name="标题 1"/>
          <p:cNvSpPr>
            <a:spLocks noGrp="1"/>
          </p:cNvSpPr>
          <p:nvPr>
            <p:ph type="title"/>
          </p:nvPr>
        </p:nvSpPr>
        <p:spPr>
          <a:xfrm>
            <a:off x="2555874" y="403772"/>
            <a:ext cx="6120582" cy="461665"/>
          </a:xfrm>
        </p:spPr>
        <p:txBody>
          <a:bodyPr/>
          <a:lstStyle>
            <a:lvl1pPr algn="r">
              <a:defRPr sz="2400">
                <a:ln>
                  <a:noFill/>
                </a:ln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12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803297"/>
          </a:xfrm>
        </p:spPr>
        <p:txBody>
          <a:bodyPr/>
          <a:lstStyle>
            <a:lvl1pPr>
              <a:defRPr sz="21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01345" indent="-258445">
              <a:buFont typeface="Wingdings" panose="05000000000000000000" pitchFamily="2" charset="2"/>
              <a:buChar char="Ø"/>
              <a:defRPr sz="2100"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779" name="标题 1"/>
          <p:cNvSpPr>
            <a:spLocks noGrp="1"/>
          </p:cNvSpPr>
          <p:nvPr>
            <p:ph type="title"/>
          </p:nvPr>
        </p:nvSpPr>
        <p:spPr>
          <a:xfrm>
            <a:off x="2555776" y="403771"/>
            <a:ext cx="6131024" cy="461665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80" name="内容占位符 3"/>
          <p:cNvSpPr>
            <a:spLocks noGrp="1"/>
          </p:cNvSpPr>
          <p:nvPr>
            <p:ph sz="quarter" idx="10"/>
          </p:nvPr>
        </p:nvSpPr>
        <p:spPr>
          <a:xfrm>
            <a:off x="457200" y="1200151"/>
            <a:ext cx="4006788" cy="1191095"/>
          </a:xfrm>
        </p:spPr>
        <p:txBody>
          <a:bodyPr/>
          <a:lstStyle>
            <a:lvl1pPr>
              <a:defRPr sz="2100"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270510" indent="-260985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539750" indent="-269240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</p:txBody>
      </p:sp>
      <p:sp>
        <p:nvSpPr>
          <p:cNvPr id="1048781" name="内容占位符 5"/>
          <p:cNvSpPr>
            <a:spLocks noGrp="1"/>
          </p:cNvSpPr>
          <p:nvPr>
            <p:ph sz="quarter" idx="11"/>
          </p:nvPr>
        </p:nvSpPr>
        <p:spPr>
          <a:xfrm>
            <a:off x="4572000" y="1200151"/>
            <a:ext cx="4114800" cy="1191095"/>
          </a:xfrm>
        </p:spPr>
        <p:txBody>
          <a:bodyPr/>
          <a:lstStyle>
            <a:lvl1pPr>
              <a:defRPr sz="2100"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270510" indent="-260985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539750" indent="-269240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标题 1"/>
          <p:cNvSpPr>
            <a:spLocks noGrp="1"/>
          </p:cNvSpPr>
          <p:nvPr>
            <p:ph type="title"/>
          </p:nvPr>
        </p:nvSpPr>
        <p:spPr>
          <a:xfrm>
            <a:off x="2541984" y="4210006"/>
            <a:ext cx="5486400" cy="415498"/>
          </a:xfrm>
        </p:spPr>
        <p:txBody>
          <a:bodyPr anchor="b"/>
          <a:lstStyle>
            <a:lvl1pPr algn="ctr">
              <a:defRPr sz="2100" b="1">
                <a:solidFill>
                  <a:srgbClr val="630D5F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83" name="图片占位符 2"/>
          <p:cNvSpPr>
            <a:spLocks noGrp="1"/>
          </p:cNvSpPr>
          <p:nvPr>
            <p:ph type="pic" idx="1"/>
          </p:nvPr>
        </p:nvSpPr>
        <p:spPr>
          <a:xfrm>
            <a:off x="2541984" y="1059582"/>
            <a:ext cx="5486400" cy="30861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矩形 5"/>
          <p:cNvSpPr/>
          <p:nvPr/>
        </p:nvSpPr>
        <p:spPr>
          <a:xfrm>
            <a:off x="521494" y="1524000"/>
            <a:ext cx="8101013" cy="118824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98" name="标题 1"/>
          <p:cNvSpPr>
            <a:spLocks noGrp="1"/>
          </p:cNvSpPr>
          <p:nvPr>
            <p:ph type="title"/>
          </p:nvPr>
        </p:nvSpPr>
        <p:spPr>
          <a:xfrm>
            <a:off x="522001" y="1795421"/>
            <a:ext cx="8099999" cy="646331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99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50082" y="2973817"/>
            <a:ext cx="7918363" cy="369332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矩形 5"/>
          <p:cNvSpPr/>
          <p:nvPr/>
        </p:nvSpPr>
        <p:spPr>
          <a:xfrm>
            <a:off x="521494" y="1524000"/>
            <a:ext cx="8101013" cy="118824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94" name="标题 1"/>
          <p:cNvSpPr>
            <a:spLocks noGrp="1"/>
          </p:cNvSpPr>
          <p:nvPr>
            <p:ph type="title"/>
          </p:nvPr>
        </p:nvSpPr>
        <p:spPr>
          <a:xfrm>
            <a:off x="522001" y="1864670"/>
            <a:ext cx="8099999" cy="507831"/>
          </a:xfrm>
        </p:spPr>
        <p:txBody>
          <a:bodyPr/>
          <a:lstStyle>
            <a:lvl1pPr algn="ctr">
              <a:defRPr sz="27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95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50082" y="2973817"/>
            <a:ext cx="3165835" cy="646331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048796" name="内容占位符 4"/>
          <p:cNvSpPr>
            <a:spLocks noGrp="1"/>
          </p:cNvSpPr>
          <p:nvPr>
            <p:ph sz="quarter" idx="11"/>
          </p:nvPr>
        </p:nvSpPr>
        <p:spPr>
          <a:xfrm>
            <a:off x="4626006" y="2973817"/>
            <a:ext cx="3996500" cy="369332"/>
          </a:xfrm>
        </p:spPr>
        <p:txBody>
          <a:bodyPr/>
          <a:lstStyle>
            <a:lvl1pPr>
              <a:defRPr lang="zh-CN" altLang="en-US" sz="18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Rectangle 46"/>
          <p:cNvSpPr>
            <a:spLocks noChangeArrowheads="1"/>
          </p:cNvSpPr>
          <p:nvPr/>
        </p:nvSpPr>
        <p:spPr bwMode="auto">
          <a:xfrm>
            <a:off x="3048000" y="2288382"/>
            <a:ext cx="1524000" cy="1088231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88" name="Rectangle 47"/>
          <p:cNvSpPr>
            <a:spLocks noChangeArrowheads="1"/>
          </p:cNvSpPr>
          <p:nvPr/>
        </p:nvSpPr>
        <p:spPr bwMode="gray">
          <a:xfrm>
            <a:off x="4572000" y="3374231"/>
            <a:ext cx="1524000" cy="10858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97187" name="Picture 5" descr="C:\Documents and Settings\Administrator\桌面\1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537097" y="2286001"/>
            <a:ext cx="1522809" cy="108823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88" name="Picture 6" descr="C:\Documents and Settings\Administrator\桌面\2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0" y="2288382"/>
            <a:ext cx="1522810" cy="108823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89" name="Picture 7" descr="C:\Documents and Settings\Administrator\桌面\3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0" y="3369469"/>
            <a:ext cx="1522810" cy="108823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90" name="Picture 8" descr="C:\Documents and Settings\Administrator\桌面\4.jpg"/>
          <p:cNvPicPr/>
          <p:nvPr/>
        </p:nvPicPr>
        <p:blipFill>
          <a:blip r:embed="rId5"/>
          <a:stretch>
            <a:fillRect/>
          </a:stretch>
        </p:blipFill>
        <p:spPr>
          <a:xfrm>
            <a:off x="3049191" y="3374232"/>
            <a:ext cx="1522809" cy="108823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789" name="标题 1"/>
          <p:cNvSpPr>
            <a:spLocks noGrp="1"/>
          </p:cNvSpPr>
          <p:nvPr>
            <p:ph type="title"/>
          </p:nvPr>
        </p:nvSpPr>
        <p:spPr>
          <a:xfrm>
            <a:off x="683568" y="1426083"/>
            <a:ext cx="8154906" cy="553998"/>
          </a:xfrm>
        </p:spPr>
        <p:txBody>
          <a:bodyPr/>
          <a:lstStyle>
            <a:lvl1pPr algn="ctr">
              <a:defRPr sz="3000">
                <a:solidFill>
                  <a:srgbClr val="630D5F"/>
                </a:solidFill>
              </a:defRPr>
            </a:lvl1pPr>
          </a:lstStyle>
          <a:p>
            <a:endParaRPr lang="zh-CN" altLang="en-US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</p:spPr>
        <p:txBody>
          <a:bodyPr/>
          <a:lstStyle>
            <a:lvl1pPr eaLnBrk="1" hangingPunct="1">
              <a:defRPr noProof="1"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A6E3F11-7CA2-7C46-9D23-E4B03D42F68A}" type="datetime1">
              <a:rPr kumimoji="0" lang="zh-CN" altLang="en-US" sz="135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2024/12/30</a:t>
            </a:fld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85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</p:spPr>
        <p:txBody>
          <a:bodyPr/>
          <a:lstStyle>
            <a:lvl1pPr eaLnBrk="1" hangingPunct="1">
              <a:defRPr noProof="1"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86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E2D1913-7E4E-494B-BB9D-C7D6A017BB24}" type="slidenum">
              <a:rPr kumimoji="0" lang="zh-CN" altLang="en-US" sz="13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26" tIns="45712" rIns="91426" bIns="45712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vert="horz" lIns="91426" tIns="45712" rIns="91426" bIns="45712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2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BFDC3-E906-A94A-8665-3FF24AC55B08}" type="datetime1">
              <a:rPr lang="zh-CN" altLang="en-US" smtClean="0"/>
              <a:t>2024/12/30</a:t>
            </a:fld>
            <a:endParaRPr lang="zh-CN" altLang="en-US"/>
          </a:p>
        </p:txBody>
      </p:sp>
      <p:sp>
        <p:nvSpPr>
          <p:cNvPr id="10486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4" y="4767263"/>
            <a:ext cx="2895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26" tIns="45712" rIns="91426" bIns="45712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05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vert="horz" lIns="91426" tIns="45712" rIns="91426" bIns="45712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06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3C6AE5CD-E0DB-BC4D-AEAA-335A36D705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2024/12/30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07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4" y="4767264"/>
            <a:ext cx="2895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0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89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标题占位符 1"/>
          <p:cNvSpPr>
            <a:spLocks noGrp="1"/>
          </p:cNvSpPr>
          <p:nvPr>
            <p:ph type="title"/>
          </p:nvPr>
        </p:nvSpPr>
        <p:spPr>
          <a:xfrm>
            <a:off x="2556273" y="403772"/>
            <a:ext cx="6130528" cy="46166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48777" name="文本占位符 2"/>
          <p:cNvSpPr>
            <a:spLocks noGrp="1"/>
          </p:cNvSpPr>
          <p:nvPr>
            <p:ph type="body"/>
          </p:nvPr>
        </p:nvSpPr>
        <p:spPr>
          <a:xfrm>
            <a:off x="457200" y="1200150"/>
            <a:ext cx="8229600" cy="11910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 lang="en-US" altLang="en-US" dirty="0"/>
              <a:t>单击此处编辑母版文本样式</a:t>
            </a:r>
          </a:p>
          <a:p>
            <a:pPr lvl="1"/>
            <a:r>
              <a:rPr lang="en-US" altLang="en-US" dirty="0"/>
              <a:t>第二级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en-US" altLang="en-US" dirty="0"/>
              <a:t>第三级</a:t>
            </a:r>
          </a:p>
        </p:txBody>
      </p:sp>
      <p:pic>
        <p:nvPicPr>
          <p:cNvPr id="2097186" name="Picture 11"/>
          <p:cNvPicPr/>
          <p:nvPr/>
        </p:nvPicPr>
        <p:blipFill>
          <a:blip r:embed="rId14"/>
          <a:stretch>
            <a:fillRect/>
          </a:stretch>
        </p:blipFill>
        <p:spPr>
          <a:xfrm>
            <a:off x="6238875" y="2343150"/>
            <a:ext cx="2600325" cy="26003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100" b="1" kern="1200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3885" indent="-260985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1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2100" b="1" kern="1200">
          <a:solidFill>
            <a:srgbClr val="E46C0A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1.wmf"/><Relationship Id="rId21" Type="http://schemas.openxmlformats.org/officeDocument/2006/relationships/image" Target="../media/image20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8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5" Type="http://schemas.openxmlformats.org/officeDocument/2006/relationships/image" Target="../media/image17.wmf"/><Relationship Id="rId23" Type="http://schemas.openxmlformats.org/officeDocument/2006/relationships/image" Target="../media/image21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emf"/><Relationship Id="rId11" Type="http://schemas.openxmlformats.org/officeDocument/2006/relationships/image" Target="../media/image30.jpeg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9.emf"/><Relationship Id="rId4" Type="http://schemas.openxmlformats.org/officeDocument/2006/relationships/image" Target="../media/image26.emf"/><Relationship Id="rId9" Type="http://schemas.openxmlformats.org/officeDocument/2006/relationships/oleObject" Target="../embeddings/oleObject1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1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0.png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3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4.jpe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9" Type="http://schemas.openxmlformats.org/officeDocument/2006/relationships/image" Target="../media/image61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e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95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92.emf"/><Relationship Id="rId17" Type="http://schemas.openxmlformats.org/officeDocument/2006/relationships/oleObject" Target="../embeddings/oleObject30.bin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94.emf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9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91.emf"/><Relationship Id="rId4" Type="http://schemas.openxmlformats.org/officeDocument/2006/relationships/image" Target="../media/image88.e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93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2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B2B4312-8799-E3FD-3B66-D2A3424C86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48636" name="矩形 2"/>
          <p:cNvSpPr/>
          <p:nvPr/>
        </p:nvSpPr>
        <p:spPr>
          <a:xfrm>
            <a:off x="2705" y="769023"/>
            <a:ext cx="9144000" cy="1538522"/>
          </a:xfrm>
          <a:prstGeom prst="rect">
            <a:avLst/>
          </a:prstGeom>
          <a:solidFill>
            <a:srgbClr val="6E0F6D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90" tIns="37495" rIns="74990" bIns="37495" rtlCol="0" anchor="ctr"/>
          <a:lstStyle/>
          <a:p>
            <a:pPr algn="ctr" defTabSz="914400"/>
            <a:endParaRPr lang="zh-CN" altLang="en-US">
              <a:solidFill>
                <a:srgbClr val="6E0F6D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4863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95736" y="3280283"/>
            <a:ext cx="4879340" cy="1856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176"/>
              </a:spcBef>
              <a:spcAft>
                <a:spcPts val="1200"/>
              </a:spcAft>
            </a:pPr>
            <a:r>
              <a:rPr lang="zh-CN" altLang="en-US" sz="2400" b="1" dirty="0">
                <a:solidFill>
                  <a:srgbClr val="690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南 京 大 学</a:t>
            </a:r>
          </a:p>
          <a:p>
            <a:pPr>
              <a:lnSpc>
                <a:spcPct val="100000"/>
              </a:lnSpc>
              <a:spcBef>
                <a:spcPts val="1176"/>
              </a:spcBef>
              <a:spcAft>
                <a:spcPts val="1200"/>
              </a:spcAft>
            </a:pPr>
            <a:r>
              <a:rPr lang="zh-CN" altLang="en-US" sz="2000" b="1" dirty="0">
                <a:solidFill>
                  <a:srgbClr val="690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张 凯</a:t>
            </a:r>
            <a:endParaRPr lang="en-US" altLang="zh-CN" sz="2000" b="1" dirty="0">
              <a:solidFill>
                <a:srgbClr val="69006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8638" name="矩形 1"/>
          <p:cNvSpPr/>
          <p:nvPr/>
        </p:nvSpPr>
        <p:spPr>
          <a:xfrm>
            <a:off x="611560" y="1275606"/>
            <a:ext cx="7776864" cy="639979"/>
          </a:xfrm>
          <a:prstGeom prst="rect">
            <a:avLst/>
          </a:prstGeom>
        </p:spPr>
        <p:txBody>
          <a:bodyPr wrap="square" lIns="74990" tIns="37495" rIns="74990" bIns="37495">
            <a:spAutoFit/>
          </a:bodyPr>
          <a:lstStyle/>
          <a:p>
            <a:pPr algn="ctr" defTabSz="571500">
              <a:lnSpc>
                <a:spcPts val="4375"/>
              </a:lnSpc>
            </a:pPr>
            <a:r>
              <a:rPr lang="zh-CN" altLang="en-US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数 学 建 模</a:t>
            </a:r>
            <a:endParaRPr lang="en-US" altLang="zh-CN" sz="5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5D1DC8-7D77-FFA4-0486-67CEDD216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D16A5F2-E52C-469D-6225-32B8BBB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6255A93-734C-33B6-F1A5-01914C2F2F83}"/>
              </a:ext>
            </a:extLst>
          </p:cNvPr>
          <p:cNvSpPr txBox="1">
            <a:spLocks noRot="1"/>
          </p:cNvSpPr>
          <p:nvPr/>
        </p:nvSpPr>
        <p:spPr>
          <a:xfrm>
            <a:off x="2051720" y="1203598"/>
            <a:ext cx="4752528" cy="3287264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插值方法简介</a:t>
            </a: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一维插值方法</a:t>
            </a: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拉格朗日多项式插值</a:t>
            </a: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分段线性插值</a:t>
            </a: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三次样条插值</a:t>
            </a: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应用</a:t>
            </a:r>
            <a:endParaRPr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二维插值方法</a:t>
            </a: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节点均匀（网格）</a:t>
            </a: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节点不均匀（散点）  </a:t>
            </a: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C3F127-824D-711F-7F88-09B4CAAF1DA5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插值算法</a:t>
            </a:r>
          </a:p>
        </p:txBody>
      </p:sp>
    </p:spTree>
    <p:extLst>
      <p:ext uri="{BB962C8B-B14F-4D97-AF65-F5344CB8AC3E}">
        <p14:creationId xmlns:p14="http://schemas.microsoft.com/office/powerpoint/2010/main" val="3495381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引例</a:t>
            </a:r>
          </a:p>
        </p:txBody>
      </p:sp>
      <p:graphicFrame>
        <p:nvGraphicFramePr>
          <p:cNvPr id="2" name="Group 72">
            <a:extLst>
              <a:ext uri="{FF2B5EF4-FFF2-40B4-BE49-F238E27FC236}">
                <a16:creationId xmlns:a16="http://schemas.microsoft.com/office/drawing/2014/main" id="{D272C786-040E-F219-BECC-DA5CDBC19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277686"/>
              </p:ext>
            </p:extLst>
          </p:nvPr>
        </p:nvGraphicFramePr>
        <p:xfrm>
          <a:off x="914537" y="1689300"/>
          <a:ext cx="6761162" cy="1368426"/>
        </p:xfrm>
        <a:graphic>
          <a:graphicData uri="http://schemas.openxmlformats.org/drawingml/2006/table">
            <a:tbl>
              <a:tblPr/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2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2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4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深度（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）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隶书" pitchFamily="49" charset="-122"/>
                        </a:rPr>
                        <a:t>466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隶书" pitchFamily="49" charset="-122"/>
                        </a:rPr>
                        <a:t>741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隶书" pitchFamily="49" charset="-122"/>
                        </a:rPr>
                        <a:t>950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隶书" pitchFamily="49" charset="-122"/>
                        </a:rPr>
                        <a:t>1422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隶书" pitchFamily="49" charset="-122"/>
                        </a:rPr>
                        <a:t>1634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水温（</a:t>
                      </a:r>
                      <a:r>
                        <a:rPr kumimoji="0" lang="en-US" altLang="zh-CN" sz="1800" b="0" i="0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o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）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隶书" pitchFamily="49" charset="-122"/>
                        </a:rPr>
                        <a:t>7.04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隶书" pitchFamily="49" charset="-122"/>
                        </a:rPr>
                        <a:t>4.28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隶书" pitchFamily="49" charset="-122"/>
                        </a:rPr>
                        <a:t>3.40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隶书" pitchFamily="49" charset="-122"/>
                        </a:rPr>
                        <a:t>2.54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隶书" pitchFamily="49" charset="-122"/>
                        </a:rPr>
                        <a:t>2.13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Rectangle 48">
            <a:extLst>
              <a:ext uri="{FF2B5EF4-FFF2-40B4-BE49-F238E27FC236}">
                <a16:creationId xmlns:a16="http://schemas.microsoft.com/office/drawing/2014/main" id="{4C5E437C-C7AB-1952-ACFF-2E8290145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134140"/>
            <a:ext cx="42485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1600" b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已经测得在某处海洋不同深度处的水温如下：</a:t>
            </a:r>
          </a:p>
        </p:txBody>
      </p:sp>
      <p:sp>
        <p:nvSpPr>
          <p:cNvPr id="4" name="Rectangle 73">
            <a:extLst>
              <a:ext uri="{FF2B5EF4-FFF2-40B4-BE49-F238E27FC236}">
                <a16:creationId xmlns:a16="http://schemas.microsoft.com/office/drawing/2014/main" id="{1425DE5C-363D-651C-57C0-195E8BCB4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74332"/>
            <a:ext cx="8229600" cy="368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5000"/>
              </a:lnSpc>
            </a:pPr>
            <a:r>
              <a:rPr lang="zh-CN" altLang="en-US" sz="1600" b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根据这些数据，希望合理地估计出其它深度（如</a:t>
            </a:r>
            <a:r>
              <a:rPr lang="en-US" altLang="zh-CN" sz="1600" b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500</a:t>
            </a:r>
            <a:r>
              <a:rPr lang="zh-CN" altLang="en-US" sz="1600" b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米，</a:t>
            </a:r>
            <a:r>
              <a:rPr lang="en-US" altLang="zh-CN" sz="1600" b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600</a:t>
            </a:r>
            <a:r>
              <a:rPr lang="zh-CN" altLang="en-US" sz="1600" b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米，</a:t>
            </a:r>
            <a:r>
              <a:rPr lang="en-US" altLang="zh-CN" sz="1600" b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1000</a:t>
            </a:r>
            <a:r>
              <a:rPr lang="zh-CN" altLang="en-US" sz="1600" b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米</a:t>
            </a:r>
            <a:r>
              <a:rPr lang="en-US" altLang="zh-CN" sz="1600" b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zh-CN" altLang="en-US" sz="1600" b="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）处的水温。</a:t>
            </a:r>
          </a:p>
        </p:txBody>
      </p:sp>
    </p:spTree>
    <p:extLst>
      <p:ext uri="{BB962C8B-B14F-4D97-AF65-F5344CB8AC3E}">
        <p14:creationId xmlns:p14="http://schemas.microsoft.com/office/powerpoint/2010/main" val="2272643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41" name="Rectangle 9">
            <a:extLst>
              <a:ext uri="{FF2B5EF4-FFF2-40B4-BE49-F238E27FC236}">
                <a16:creationId xmlns:a16="http://schemas.microsoft.com/office/drawing/2014/main" id="{850CC8DD-7685-A978-EB9D-2E1F420A5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48" y="1851670"/>
            <a:ext cx="8136904" cy="17016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 eaLnBrk="1" hangingPunct="1">
              <a:lnSpc>
                <a:spcPct val="15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插值法是根据一组数据点</a:t>
            </a:r>
            <a:r>
              <a:rPr lang="zh-CN" altLang="en-US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b="1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b="1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,…, </a:t>
            </a:r>
            <a:r>
              <a:rPr lang="zh-CN" altLang="en-US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800" b="1" baseline="-250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1800" b="1" baseline="-250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1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建立一个便于计算的初等函数或曲线 </a:t>
            </a:r>
            <a:r>
              <a:rPr lang="en-US" altLang="zh-CN" sz="18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en-US" altLang="zh-CN" sz="1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8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f</a:t>
            </a:r>
            <a:r>
              <a:rPr lang="en-US" altLang="zh-CN" sz="1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，使它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通过这些给定的数据点</a:t>
            </a:r>
            <a:r>
              <a:rPr lang="zh-CN" altLang="en-US" sz="1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algn="l" eaLnBrk="1" hangingPunct="1">
              <a:lnSpc>
                <a:spcPct val="150000"/>
              </a:lnSpc>
            </a:pPr>
            <a:r>
              <a:rPr lang="zh-CN" altLang="en-US" sz="18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800" b="1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 = </a:t>
            </a:r>
            <a:r>
              <a:rPr lang="en-US" altLang="zh-CN" sz="1800" b="1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800" b="1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1800" b="1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 = </a:t>
            </a:r>
            <a:r>
              <a:rPr lang="en-US" altLang="zh-CN" sz="1800" b="1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b="1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zh-CN" altLang="en-US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1800" b="1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800" b="1" baseline="-250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 = </a:t>
            </a:r>
            <a:r>
              <a:rPr lang="en-US" altLang="zh-CN" sz="1800" b="1" i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1800" b="1" baseline="-250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endParaRPr lang="en-US" altLang="zh-CN" sz="1800" b="1" baseline="-250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15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用这种方法所得的近似公式叫插值公式，已知的数据点叫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lang="zh-CN" altLang="en-US" sz="1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33ED3A-4499-455C-2625-FE2904C8C849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插值方法的概念</a:t>
            </a: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721C9F78-9846-69C9-B44A-E7AA986B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731" name="Group 3">
            <a:extLst>
              <a:ext uri="{FF2B5EF4-FFF2-40B4-BE49-F238E27FC236}">
                <a16:creationId xmlns:a16="http://schemas.microsoft.com/office/drawing/2014/main" id="{CE1D0C10-8997-F175-A52B-8A6C68853DAE}"/>
              </a:ext>
            </a:extLst>
          </p:cNvPr>
          <p:cNvGrpSpPr>
            <a:grpSpLocks/>
          </p:cNvGrpSpPr>
          <p:nvPr/>
        </p:nvGrpSpPr>
        <p:grpSpPr bwMode="auto">
          <a:xfrm>
            <a:off x="802878" y="1265239"/>
            <a:ext cx="6921103" cy="1084661"/>
            <a:chOff x="-99" y="935"/>
            <a:chExt cx="5813" cy="911"/>
          </a:xfrm>
        </p:grpSpPr>
        <p:sp>
          <p:nvSpPr>
            <p:cNvPr id="201732" name="Text Box 4">
              <a:extLst>
                <a:ext uri="{FF2B5EF4-FFF2-40B4-BE49-F238E27FC236}">
                  <a16:creationId xmlns:a16="http://schemas.microsoft.com/office/drawing/2014/main" id="{AB874A11-92BF-A304-85EF-5BAC6045E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99" y="959"/>
              <a:ext cx="5813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zh-CN" altLang="en-US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构造</a:t>
              </a:r>
              <a:r>
                <a:rPr kumimoji="1"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相对简单的插值函数</a:t>
              </a:r>
            </a:p>
          </p:txBody>
        </p:sp>
        <p:graphicFrame>
          <p:nvGraphicFramePr>
            <p:cNvPr id="201733" name="Object 5">
              <a:extLst>
                <a:ext uri="{FF2B5EF4-FFF2-40B4-BE49-F238E27FC236}">
                  <a16:creationId xmlns:a16="http://schemas.microsoft.com/office/drawing/2014/main" id="{F0B10DE4-FE57-EEB3-2E7D-96ECB03C96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1725552"/>
                </p:ext>
              </p:extLst>
            </p:nvPr>
          </p:nvGraphicFramePr>
          <p:xfrm>
            <a:off x="2205" y="935"/>
            <a:ext cx="1012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22080" imgH="203040" progId="Equation.DSMT4">
                    <p:embed/>
                  </p:oleObj>
                </mc:Choice>
                <mc:Fallback>
                  <p:oleObj name="Equation" r:id="rId2" imgW="622080" imgH="203040" progId="Equation.DSMT4">
                    <p:embed/>
                    <p:pic>
                      <p:nvPicPr>
                        <p:cNvPr id="201733" name="Object 5">
                          <a:extLst>
                            <a:ext uri="{FF2B5EF4-FFF2-40B4-BE49-F238E27FC236}">
                              <a16:creationId xmlns:a16="http://schemas.microsoft.com/office/drawing/2014/main" id="{F0B10DE4-FE57-EEB3-2E7D-96ECB03C96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5" y="935"/>
                          <a:ext cx="1012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1734" name="Text Box 6">
              <a:extLst>
                <a:ext uri="{FF2B5EF4-FFF2-40B4-BE49-F238E27FC236}">
                  <a16:creationId xmlns:a16="http://schemas.microsoft.com/office/drawing/2014/main" id="{98446C0F-399D-81ED-2F3E-7BE186D5E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7" y="969"/>
              <a:ext cx="2064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通过</a:t>
              </a:r>
              <a:r>
                <a:rPr kumimoji="1"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全部节点</a:t>
              </a:r>
              <a:r>
                <a:rPr kumimoji="1"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, </a:t>
              </a:r>
              <a:r>
                <a:rPr kumimoji="1"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即</a:t>
              </a:r>
            </a:p>
          </p:txBody>
        </p:sp>
        <p:graphicFrame>
          <p:nvGraphicFramePr>
            <p:cNvPr id="201735" name="Object 7">
              <a:extLst>
                <a:ext uri="{FF2B5EF4-FFF2-40B4-BE49-F238E27FC236}">
                  <a16:creationId xmlns:a16="http://schemas.microsoft.com/office/drawing/2014/main" id="{042AAD91-108F-1203-80AE-A87891F6E8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2174125"/>
                </p:ext>
              </p:extLst>
            </p:nvPr>
          </p:nvGraphicFramePr>
          <p:xfrm>
            <a:off x="1999" y="1500"/>
            <a:ext cx="2437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49080" imgH="241200" progId="Equation.3">
                    <p:embed/>
                  </p:oleObj>
                </mc:Choice>
                <mc:Fallback>
                  <p:oleObj name="公式" r:id="rId4" imgW="1549080" imgH="241200" progId="Equation.3">
                    <p:embed/>
                    <p:pic>
                      <p:nvPicPr>
                        <p:cNvPr id="201735" name="Object 7">
                          <a:extLst>
                            <a:ext uri="{FF2B5EF4-FFF2-40B4-BE49-F238E27FC236}">
                              <a16:creationId xmlns:a16="http://schemas.microsoft.com/office/drawing/2014/main" id="{042AAD91-108F-1203-80AE-A87891F6E8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9" y="1500"/>
                          <a:ext cx="2437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1736" name="Group 8">
            <a:extLst>
              <a:ext uri="{FF2B5EF4-FFF2-40B4-BE49-F238E27FC236}">
                <a16:creationId xmlns:a16="http://schemas.microsoft.com/office/drawing/2014/main" id="{5E95567A-C62D-4957-FC11-FD881652FC98}"/>
              </a:ext>
            </a:extLst>
          </p:cNvPr>
          <p:cNvGrpSpPr>
            <a:grpSpLocks/>
          </p:cNvGrpSpPr>
          <p:nvPr/>
        </p:nvGrpSpPr>
        <p:grpSpPr bwMode="auto">
          <a:xfrm>
            <a:off x="959138" y="2628628"/>
            <a:ext cx="3624094" cy="852761"/>
            <a:chOff x="240" y="1872"/>
            <a:chExt cx="3087" cy="875"/>
          </a:xfrm>
        </p:grpSpPr>
        <p:sp>
          <p:nvSpPr>
            <p:cNvPr id="201737" name="Text Box 9">
              <a:extLst>
                <a:ext uri="{FF2B5EF4-FFF2-40B4-BE49-F238E27FC236}">
                  <a16:creationId xmlns:a16="http://schemas.microsoft.com/office/drawing/2014/main" id="{A5E2F36D-9261-8827-88D7-CAF4449F6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872"/>
              <a:ext cx="624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再</a:t>
              </a:r>
              <a:r>
                <a:rPr kumimoji="1"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用</a:t>
              </a:r>
            </a:p>
          </p:txBody>
        </p:sp>
        <p:graphicFrame>
          <p:nvGraphicFramePr>
            <p:cNvPr id="201738" name="Object 10">
              <a:extLst>
                <a:ext uri="{FF2B5EF4-FFF2-40B4-BE49-F238E27FC236}">
                  <a16:creationId xmlns:a16="http://schemas.microsoft.com/office/drawing/2014/main" id="{C07180EB-1D95-CCDD-F4DE-4C7CD87262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6" y="1872"/>
            <a:ext cx="540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42720" imgH="203040" progId="Equation.3">
                    <p:embed/>
                  </p:oleObj>
                </mc:Choice>
                <mc:Fallback>
                  <p:oleObj name="公式" r:id="rId6" imgW="342720" imgH="203040" progId="Equation.3">
                    <p:embed/>
                    <p:pic>
                      <p:nvPicPr>
                        <p:cNvPr id="201738" name="Object 10">
                          <a:extLst>
                            <a:ext uri="{FF2B5EF4-FFF2-40B4-BE49-F238E27FC236}">
                              <a16:creationId xmlns:a16="http://schemas.microsoft.com/office/drawing/2014/main" id="{C07180EB-1D95-CCDD-F4DE-4C7CD87262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6" y="1872"/>
                          <a:ext cx="540" cy="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1739" name="Text Box 11">
              <a:extLst>
                <a:ext uri="{FF2B5EF4-FFF2-40B4-BE49-F238E27FC236}">
                  <a16:creationId xmlns:a16="http://schemas.microsoft.com/office/drawing/2014/main" id="{DAD78ADE-5EC1-8C92-59EC-56A119B1F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72"/>
              <a:ext cx="2079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计算插值，即</a:t>
              </a:r>
            </a:p>
          </p:txBody>
        </p:sp>
        <p:graphicFrame>
          <p:nvGraphicFramePr>
            <p:cNvPr id="201740" name="Object 12">
              <a:extLst>
                <a:ext uri="{FF2B5EF4-FFF2-40B4-BE49-F238E27FC236}">
                  <a16:creationId xmlns:a16="http://schemas.microsoft.com/office/drawing/2014/main" id="{688FC273-C3A4-4DDB-FDD0-1B5F201355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2817682"/>
                </p:ext>
              </p:extLst>
            </p:nvPr>
          </p:nvGraphicFramePr>
          <p:xfrm>
            <a:off x="853" y="2298"/>
            <a:ext cx="1219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723600" imgH="228600" progId="Equation.3">
                    <p:embed/>
                  </p:oleObj>
                </mc:Choice>
                <mc:Fallback>
                  <p:oleObj name="公式" r:id="rId8" imgW="723600" imgH="228600" progId="Equation.3">
                    <p:embed/>
                    <p:pic>
                      <p:nvPicPr>
                        <p:cNvPr id="201740" name="Object 12">
                          <a:extLst>
                            <a:ext uri="{FF2B5EF4-FFF2-40B4-BE49-F238E27FC236}">
                              <a16:creationId xmlns:a16="http://schemas.microsoft.com/office/drawing/2014/main" id="{688FC273-C3A4-4DDB-FDD0-1B5F201355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3" y="2298"/>
                          <a:ext cx="1219" cy="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B89003E-D314-2B57-6DCB-5299AB5C9B44}"/>
              </a:ext>
            </a:extLst>
          </p:cNvPr>
          <p:cNvGrpSpPr/>
          <p:nvPr/>
        </p:nvGrpSpPr>
        <p:grpSpPr>
          <a:xfrm>
            <a:off x="4654957" y="2545019"/>
            <a:ext cx="3314700" cy="2085975"/>
            <a:chOff x="2627710" y="2787254"/>
            <a:chExt cx="3314700" cy="2085975"/>
          </a:xfrm>
        </p:grpSpPr>
        <p:grpSp>
          <p:nvGrpSpPr>
            <p:cNvPr id="201741" name="Group 13">
              <a:extLst>
                <a:ext uri="{FF2B5EF4-FFF2-40B4-BE49-F238E27FC236}">
                  <a16:creationId xmlns:a16="http://schemas.microsoft.com/office/drawing/2014/main" id="{F3EE8D53-C924-F563-034F-A28E2FD22E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7710" y="2787254"/>
              <a:ext cx="3314700" cy="2085975"/>
              <a:chOff x="1152" y="1872"/>
              <a:chExt cx="2784" cy="1752"/>
            </a:xfrm>
          </p:grpSpPr>
          <p:grpSp>
            <p:nvGrpSpPr>
              <p:cNvPr id="201742" name="Group 14">
                <a:extLst>
                  <a:ext uri="{FF2B5EF4-FFF2-40B4-BE49-F238E27FC236}">
                    <a16:creationId xmlns:a16="http://schemas.microsoft.com/office/drawing/2014/main" id="{49135BFD-C62B-DC49-3C43-24BA583D79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1872"/>
                <a:ext cx="2784" cy="1752"/>
                <a:chOff x="624" y="2352"/>
                <a:chExt cx="2784" cy="1752"/>
              </a:xfrm>
            </p:grpSpPr>
            <p:sp>
              <p:nvSpPr>
                <p:cNvPr id="201743" name="Line 15">
                  <a:extLst>
                    <a:ext uri="{FF2B5EF4-FFF2-40B4-BE49-F238E27FC236}">
                      <a16:creationId xmlns:a16="http://schemas.microsoft.com/office/drawing/2014/main" id="{85F4E4F5-F9AC-CDCD-B7BD-B70E25285B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60" y="2352"/>
                  <a:ext cx="0" cy="13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1744" name="Line 16">
                  <a:extLst>
                    <a:ext uri="{FF2B5EF4-FFF2-40B4-BE49-F238E27FC236}">
                      <a16:creationId xmlns:a16="http://schemas.microsoft.com/office/drawing/2014/main" id="{C9FED63D-85AD-0F0B-608D-B57CC69432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3744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1745" name="Text Box 17">
                  <a:extLst>
                    <a:ext uri="{FF2B5EF4-FFF2-40B4-BE49-F238E27FC236}">
                      <a16:creationId xmlns:a16="http://schemas.microsoft.com/office/drawing/2014/main" id="{BFE48FD7-38E0-A103-3C8E-69AB4D2575C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2" y="3216"/>
                  <a:ext cx="384" cy="3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>
                      <a:latin typeface="Times New Roman" panose="02020603050405020304" pitchFamily="18" charset="0"/>
                      <a:ea typeface="隶书" panose="02010509060101010101" pitchFamily="49" charset="-122"/>
                      <a:sym typeface="Symbol" panose="05050102010706020507" pitchFamily="18" charset="2"/>
                    </a:rPr>
                    <a:t></a:t>
                  </a:r>
                  <a:endParaRPr kumimoji="1" lang="en-US" altLang="zh-CN">
                    <a:latin typeface="Times New Roman" panose="02020603050405020304" pitchFamily="18" charset="0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201746" name="Text Box 18">
                  <a:extLst>
                    <a:ext uri="{FF2B5EF4-FFF2-40B4-BE49-F238E27FC236}">
                      <a16:creationId xmlns:a16="http://schemas.microsoft.com/office/drawing/2014/main" id="{D157FDEF-4490-EEB9-3468-CEF51BBE33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88" y="2928"/>
                  <a:ext cx="384" cy="3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>
                      <a:latin typeface="Times New Roman" panose="02020603050405020304" pitchFamily="18" charset="0"/>
                      <a:ea typeface="隶书" panose="02010509060101010101" pitchFamily="49" charset="-122"/>
                      <a:sym typeface="Symbol" panose="05050102010706020507" pitchFamily="18" charset="2"/>
                    </a:rPr>
                    <a:t></a:t>
                  </a:r>
                  <a:endParaRPr kumimoji="1" lang="en-US" altLang="zh-CN">
                    <a:latin typeface="Times New Roman" panose="02020603050405020304" pitchFamily="18" charset="0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201747" name="Text Box 19">
                  <a:extLst>
                    <a:ext uri="{FF2B5EF4-FFF2-40B4-BE49-F238E27FC236}">
                      <a16:creationId xmlns:a16="http://schemas.microsoft.com/office/drawing/2014/main" id="{AB8BFE22-5FED-DD81-1D7D-EC0042ABD1A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784"/>
                  <a:ext cx="384" cy="3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>
                      <a:latin typeface="Times New Roman" panose="02020603050405020304" pitchFamily="18" charset="0"/>
                      <a:ea typeface="隶书" panose="02010509060101010101" pitchFamily="49" charset="-122"/>
                      <a:sym typeface="Symbol" panose="05050102010706020507" pitchFamily="18" charset="2"/>
                    </a:rPr>
                    <a:t></a:t>
                  </a:r>
                  <a:endParaRPr kumimoji="1" lang="en-US" altLang="zh-CN">
                    <a:latin typeface="Times New Roman" panose="02020603050405020304" pitchFamily="18" charset="0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201748" name="Text Box 20">
                  <a:extLst>
                    <a:ext uri="{FF2B5EF4-FFF2-40B4-BE49-F238E27FC236}">
                      <a16:creationId xmlns:a16="http://schemas.microsoft.com/office/drawing/2014/main" id="{17B8953D-AAFD-5C63-069D-9A643DAF33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2928"/>
                  <a:ext cx="384" cy="3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>
                      <a:latin typeface="Times New Roman" panose="02020603050405020304" pitchFamily="18" charset="0"/>
                      <a:ea typeface="隶书" panose="02010509060101010101" pitchFamily="49" charset="-122"/>
                      <a:sym typeface="Symbol" panose="05050102010706020507" pitchFamily="18" charset="2"/>
                    </a:rPr>
                    <a:t></a:t>
                  </a:r>
                  <a:endParaRPr kumimoji="1" lang="en-US" altLang="zh-CN">
                    <a:latin typeface="Times New Roman" panose="02020603050405020304" pitchFamily="18" charset="0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201749" name="Text Box 21">
                  <a:extLst>
                    <a:ext uri="{FF2B5EF4-FFF2-40B4-BE49-F238E27FC236}">
                      <a16:creationId xmlns:a16="http://schemas.microsoft.com/office/drawing/2014/main" id="{96FBFA9F-E14A-E5C9-773C-33CE86F01F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8" y="2784"/>
                  <a:ext cx="384" cy="3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>
                      <a:latin typeface="Times New Roman" panose="02020603050405020304" pitchFamily="18" charset="0"/>
                      <a:ea typeface="隶书" panose="02010509060101010101" pitchFamily="49" charset="-122"/>
                      <a:sym typeface="Symbol" panose="05050102010706020507" pitchFamily="18" charset="2"/>
                    </a:rPr>
                    <a:t></a:t>
                  </a:r>
                  <a:endParaRPr kumimoji="1" lang="en-US" altLang="zh-CN">
                    <a:latin typeface="Times New Roman" panose="02020603050405020304" pitchFamily="18" charset="0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201750" name="Line 22">
                  <a:extLst>
                    <a:ext uri="{FF2B5EF4-FFF2-40B4-BE49-F238E27FC236}">
                      <a16:creationId xmlns:a16="http://schemas.microsoft.com/office/drawing/2014/main" id="{9E8E5D8B-C23B-2821-5846-B36CCC41F0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3360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1751" name="Line 23">
                  <a:extLst>
                    <a:ext uri="{FF2B5EF4-FFF2-40B4-BE49-F238E27FC236}">
                      <a16:creationId xmlns:a16="http://schemas.microsoft.com/office/drawing/2014/main" id="{9020A17B-452B-0ADB-D02C-3F8C1574AE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84" y="3072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1752" name="Line 24">
                  <a:extLst>
                    <a:ext uri="{FF2B5EF4-FFF2-40B4-BE49-F238E27FC236}">
                      <a16:creationId xmlns:a16="http://schemas.microsoft.com/office/drawing/2014/main" id="{1A8BB143-A683-4BB3-BF12-A708D21873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3072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1753" name="Line 25">
                  <a:extLst>
                    <a:ext uri="{FF2B5EF4-FFF2-40B4-BE49-F238E27FC236}">
                      <a16:creationId xmlns:a16="http://schemas.microsoft.com/office/drawing/2014/main" id="{F94AA78B-0E6B-65A5-BAB5-C0A4ED18FE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60" y="3360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1754" name="Line 26">
                  <a:extLst>
                    <a:ext uri="{FF2B5EF4-FFF2-40B4-BE49-F238E27FC236}">
                      <a16:creationId xmlns:a16="http://schemas.microsoft.com/office/drawing/2014/main" id="{F887764B-8850-0F66-58F1-74DD93E4B5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60" y="3072"/>
                  <a:ext cx="62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1755" name="Text Box 27">
                  <a:extLst>
                    <a:ext uri="{FF2B5EF4-FFF2-40B4-BE49-F238E27FC236}">
                      <a16:creationId xmlns:a16="http://schemas.microsoft.com/office/drawing/2014/main" id="{6516CBC2-54A2-0403-8C04-F0C3AADBFF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2" y="3744"/>
                  <a:ext cx="192" cy="3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kumimoji="1" lang="zh-CN" altLang="zh-CN">
                    <a:latin typeface="Times New Roman" panose="02020603050405020304" pitchFamily="18" charset="0"/>
                    <a:ea typeface="隶书" panose="02010509060101010101" pitchFamily="49" charset="-122"/>
                  </a:endParaRPr>
                </a:p>
              </p:txBody>
            </p:sp>
            <p:graphicFrame>
              <p:nvGraphicFramePr>
                <p:cNvPr id="201756" name="Object 28">
                  <a:extLst>
                    <a:ext uri="{FF2B5EF4-FFF2-40B4-BE49-F238E27FC236}">
                      <a16:creationId xmlns:a16="http://schemas.microsoft.com/office/drawing/2014/main" id="{427B242E-4B50-CD33-8F91-9AEAE3C95B6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065" y="3648"/>
                <a:ext cx="327" cy="45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0" imgW="164880" imgH="228600" progId="Equation.3">
                        <p:embed/>
                      </p:oleObj>
                    </mc:Choice>
                    <mc:Fallback>
                      <p:oleObj name="公式" r:id="rId10" imgW="164880" imgH="228600" progId="Equation.3">
                        <p:embed/>
                        <p:pic>
                          <p:nvPicPr>
                            <p:cNvPr id="201756" name="Object 28">
                              <a:extLst>
                                <a:ext uri="{FF2B5EF4-FFF2-40B4-BE49-F238E27FC236}">
                                  <a16:creationId xmlns:a16="http://schemas.microsoft.com/office/drawing/2014/main" id="{427B242E-4B50-CD33-8F91-9AEAE3C95B6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65" y="3648"/>
                              <a:ext cx="327" cy="45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01757" name="Object 29">
                  <a:extLst>
                    <a:ext uri="{FF2B5EF4-FFF2-40B4-BE49-F238E27FC236}">
                      <a16:creationId xmlns:a16="http://schemas.microsoft.com/office/drawing/2014/main" id="{0D352CD1-3C31-9F3C-5386-620DAFA3104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461" y="3662"/>
                <a:ext cx="302" cy="42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2" imgW="152280" imgH="215640" progId="Equation.3">
                        <p:embed/>
                      </p:oleObj>
                    </mc:Choice>
                    <mc:Fallback>
                      <p:oleObj name="公式" r:id="rId12" imgW="152280" imgH="215640" progId="Equation.3">
                        <p:embed/>
                        <p:pic>
                          <p:nvPicPr>
                            <p:cNvPr id="201757" name="Object 29">
                              <a:extLst>
                                <a:ext uri="{FF2B5EF4-FFF2-40B4-BE49-F238E27FC236}">
                                  <a16:creationId xmlns:a16="http://schemas.microsoft.com/office/drawing/2014/main" id="{0D352CD1-3C31-9F3C-5386-620DAFA3104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461" y="3662"/>
                              <a:ext cx="302" cy="42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01758" name="Object 30">
                  <a:extLst>
                    <a:ext uri="{FF2B5EF4-FFF2-40B4-BE49-F238E27FC236}">
                      <a16:creationId xmlns:a16="http://schemas.microsoft.com/office/drawing/2014/main" id="{6DCDF44B-3A16-C25E-BEA8-F181E8F9D37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20" y="3648"/>
                <a:ext cx="352" cy="45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4" imgW="177480" imgH="228600" progId="Equation.3">
                        <p:embed/>
                      </p:oleObj>
                    </mc:Choice>
                    <mc:Fallback>
                      <p:oleObj name="公式" r:id="rId14" imgW="177480" imgH="228600" progId="Equation.3">
                        <p:embed/>
                        <p:pic>
                          <p:nvPicPr>
                            <p:cNvPr id="201758" name="Object 30">
                              <a:extLst>
                                <a:ext uri="{FF2B5EF4-FFF2-40B4-BE49-F238E27FC236}">
                                  <a16:creationId xmlns:a16="http://schemas.microsoft.com/office/drawing/2014/main" id="{6DCDF44B-3A16-C25E-BEA8-F181E8F9D37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20" y="3648"/>
                              <a:ext cx="352" cy="45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01759" name="Object 31">
                  <a:extLst>
                    <a:ext uri="{FF2B5EF4-FFF2-40B4-BE49-F238E27FC236}">
                      <a16:creationId xmlns:a16="http://schemas.microsoft.com/office/drawing/2014/main" id="{FE2DF810-BA37-80F0-6317-DAC88152945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24" y="3168"/>
                <a:ext cx="336" cy="43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6" imgW="177480" imgH="228600" progId="Equation.3">
                        <p:embed/>
                      </p:oleObj>
                    </mc:Choice>
                    <mc:Fallback>
                      <p:oleObj name="公式" r:id="rId16" imgW="177480" imgH="228600" progId="Equation.3">
                        <p:embed/>
                        <p:pic>
                          <p:nvPicPr>
                            <p:cNvPr id="201759" name="Object 31">
                              <a:extLst>
                                <a:ext uri="{FF2B5EF4-FFF2-40B4-BE49-F238E27FC236}">
                                  <a16:creationId xmlns:a16="http://schemas.microsoft.com/office/drawing/2014/main" id="{FE2DF810-BA37-80F0-6317-DAC88152945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24" y="3168"/>
                              <a:ext cx="336" cy="43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01760" name="Object 32">
                  <a:extLst>
                    <a:ext uri="{FF2B5EF4-FFF2-40B4-BE49-F238E27FC236}">
                      <a16:creationId xmlns:a16="http://schemas.microsoft.com/office/drawing/2014/main" id="{F5F242C2-984E-C4F2-2D00-43E6A36CF12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36" y="2846"/>
                <a:ext cx="328" cy="42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8" imgW="164880" imgH="215640" progId="Equation.3">
                        <p:embed/>
                      </p:oleObj>
                    </mc:Choice>
                    <mc:Fallback>
                      <p:oleObj name="公式" r:id="rId18" imgW="164880" imgH="215640" progId="Equation.3">
                        <p:embed/>
                        <p:pic>
                          <p:nvPicPr>
                            <p:cNvPr id="201760" name="Object 32">
                              <a:extLst>
                                <a:ext uri="{FF2B5EF4-FFF2-40B4-BE49-F238E27FC236}">
                                  <a16:creationId xmlns:a16="http://schemas.microsoft.com/office/drawing/2014/main" id="{F5F242C2-984E-C4F2-2D00-43E6A36CF12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36" y="2846"/>
                              <a:ext cx="328" cy="42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01761" name="Freeform 33">
                <a:extLst>
                  <a:ext uri="{FF2B5EF4-FFF2-40B4-BE49-F238E27FC236}">
                    <a16:creationId xmlns:a16="http://schemas.microsoft.com/office/drawing/2014/main" id="{5730AF08-926D-8EE8-F866-AE80B394EE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6" y="2424"/>
                <a:ext cx="1728" cy="456"/>
              </a:xfrm>
              <a:custGeom>
                <a:avLst/>
                <a:gdLst>
                  <a:gd name="T0" fmla="*/ 0 w 1728"/>
                  <a:gd name="T1" fmla="*/ 456 h 456"/>
                  <a:gd name="T2" fmla="*/ 336 w 1728"/>
                  <a:gd name="T3" fmla="*/ 168 h 456"/>
                  <a:gd name="T4" fmla="*/ 816 w 1728"/>
                  <a:gd name="T5" fmla="*/ 24 h 456"/>
                  <a:gd name="T6" fmla="*/ 1296 w 1728"/>
                  <a:gd name="T7" fmla="*/ 24 h 456"/>
                  <a:gd name="T8" fmla="*/ 1728 w 1728"/>
                  <a:gd name="T9" fmla="*/ 168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28" h="456">
                    <a:moveTo>
                      <a:pt x="0" y="456"/>
                    </a:moveTo>
                    <a:cubicBezTo>
                      <a:pt x="100" y="348"/>
                      <a:pt x="200" y="240"/>
                      <a:pt x="336" y="168"/>
                    </a:cubicBezTo>
                    <a:cubicBezTo>
                      <a:pt x="472" y="96"/>
                      <a:pt x="656" y="48"/>
                      <a:pt x="816" y="24"/>
                    </a:cubicBezTo>
                    <a:cubicBezTo>
                      <a:pt x="976" y="0"/>
                      <a:pt x="1144" y="0"/>
                      <a:pt x="1296" y="24"/>
                    </a:cubicBezTo>
                    <a:cubicBezTo>
                      <a:pt x="1448" y="48"/>
                      <a:pt x="1656" y="144"/>
                      <a:pt x="1728" y="168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1762" name="Group 34">
              <a:extLst>
                <a:ext uri="{FF2B5EF4-FFF2-40B4-BE49-F238E27FC236}">
                  <a16:creationId xmlns:a16="http://schemas.microsoft.com/office/drawing/2014/main" id="{FF6CD847-AEA3-4C78-B810-E19ACBA534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3473" y="2967648"/>
              <a:ext cx="1428750" cy="1889521"/>
              <a:chOff x="960" y="2521"/>
              <a:chExt cx="1200" cy="1587"/>
            </a:xfrm>
          </p:grpSpPr>
          <p:sp>
            <p:nvSpPr>
              <p:cNvPr id="201763" name="Line 35">
                <a:extLst>
                  <a:ext uri="{FF2B5EF4-FFF2-40B4-BE49-F238E27FC236}">
                    <a16:creationId xmlns:a16="http://schemas.microsoft.com/office/drawing/2014/main" id="{9E7054D5-61EA-C555-0C75-257FBBAEE4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976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1764" name="Text Box 36">
                <a:extLst>
                  <a:ext uri="{FF2B5EF4-FFF2-40B4-BE49-F238E27FC236}">
                    <a16:creationId xmlns:a16="http://schemas.microsoft.com/office/drawing/2014/main" id="{7234B8F5-1381-A372-622E-7715ED6422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5" y="2815"/>
                <a:ext cx="288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  <a:sym typeface="Wingdings" panose="05000000000000000000" pitchFamily="2" charset="2"/>
                  </a:rPr>
                  <a:t></a:t>
                </a:r>
                <a:endParaRPr kumimoji="1"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1765" name="Line 37">
                <a:extLst>
                  <a:ext uri="{FF2B5EF4-FFF2-40B4-BE49-F238E27FC236}">
                    <a16:creationId xmlns:a16="http://schemas.microsoft.com/office/drawing/2014/main" id="{1A024987-9228-D7D0-394C-EF46FED606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60" y="2976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1766" name="Text Box 38">
                <a:extLst>
                  <a:ext uri="{FF2B5EF4-FFF2-40B4-BE49-F238E27FC236}">
                    <a16:creationId xmlns:a16="http://schemas.microsoft.com/office/drawing/2014/main" id="{82529F7E-FA45-E94C-590E-53962AA0F2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3744"/>
                <a:ext cx="384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kumimoji="1" lang="zh-CN" altLang="zh-CN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graphicFrame>
            <p:nvGraphicFramePr>
              <p:cNvPr id="201767" name="Object 39">
                <a:extLst>
                  <a:ext uri="{FF2B5EF4-FFF2-40B4-BE49-F238E27FC236}">
                    <a16:creationId xmlns:a16="http://schemas.microsoft.com/office/drawing/2014/main" id="{A33AFC2D-F979-47E6-00F7-0485628D1AE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96633131"/>
                  </p:ext>
                </p:extLst>
              </p:nvPr>
            </p:nvGraphicFramePr>
            <p:xfrm>
              <a:off x="1715" y="3724"/>
              <a:ext cx="384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164880" imgH="203040" progId="Equation.3">
                      <p:embed/>
                    </p:oleObj>
                  </mc:Choice>
                  <mc:Fallback>
                    <p:oleObj name="公式" r:id="rId20" imgW="164880" imgH="203040" progId="Equation.3">
                      <p:embed/>
                      <p:pic>
                        <p:nvPicPr>
                          <p:cNvPr id="201767" name="Object 39">
                            <a:extLst>
                              <a:ext uri="{FF2B5EF4-FFF2-40B4-BE49-F238E27FC236}">
                                <a16:creationId xmlns:a16="http://schemas.microsoft.com/office/drawing/2014/main" id="{A33AFC2D-F979-47E6-00F7-0485628D1AE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15" y="3724"/>
                            <a:ext cx="384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1768" name="Object 40">
                <a:extLst>
                  <a:ext uri="{FF2B5EF4-FFF2-40B4-BE49-F238E27FC236}">
                    <a16:creationId xmlns:a16="http://schemas.microsoft.com/office/drawing/2014/main" id="{65DEBAE7-822E-5DD7-5FF8-F54A902ED9E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72" y="2521"/>
              <a:ext cx="414" cy="4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77480" imgH="228600" progId="Equation.DSMT4">
                      <p:embed/>
                    </p:oleObj>
                  </mc:Choice>
                  <mc:Fallback>
                    <p:oleObj name="Equation" r:id="rId22" imgW="177480" imgH="228600" progId="Equation.DSMT4">
                      <p:embed/>
                      <p:pic>
                        <p:nvPicPr>
                          <p:cNvPr id="201768" name="Object 40">
                            <a:extLst>
                              <a:ext uri="{FF2B5EF4-FFF2-40B4-BE49-F238E27FC236}">
                                <a16:creationId xmlns:a16="http://schemas.microsoft.com/office/drawing/2014/main" id="{65DEBAE7-822E-5DD7-5FF8-F54A902ED9E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72" y="2521"/>
                            <a:ext cx="414" cy="4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C9488DE4-222C-3A9C-7205-A15692EA6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F48A8D-8E56-37FA-9428-51544696DFCA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求解插值问题的基本思路</a:t>
            </a:r>
          </a:p>
        </p:txBody>
      </p:sp>
    </p:spTree>
    <p:extLst>
      <p:ext uri="{BB962C8B-B14F-4D97-AF65-F5344CB8AC3E}">
        <p14:creationId xmlns:p14="http://schemas.microsoft.com/office/powerpoint/2010/main" val="3482585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8" name="Text Box 6">
            <a:extLst>
              <a:ext uri="{FF2B5EF4-FFF2-40B4-BE49-F238E27FC236}">
                <a16:creationId xmlns:a16="http://schemas.microsoft.com/office/drawing/2014/main" id="{FC6E84DC-7966-DBF1-93EF-FD8FFA417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66" y="2481098"/>
            <a:ext cx="5906818" cy="870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已知函数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在互不相同的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个点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…, </a:t>
            </a:r>
            <a:r>
              <a:rPr kumimoji="1" lang="en-US" altLang="zh-CN" i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i="1" baseline="-250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处的函数值为 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…, </a:t>
            </a:r>
            <a:r>
              <a:rPr kumimoji="1" lang="en-US" altLang="zh-CN" i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i="1" baseline="-250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求一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次多项式函数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1" lang="en-US" altLang="zh-CN" i="1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，使其满足：</a:t>
            </a:r>
            <a:endParaRPr kumimoji="1"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036431-D291-EE74-182A-2D04CA3B4F0C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拉格朗日多项式插值法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E856F7-C8B8-4E21-B3A1-19452B0E61BC}"/>
              </a:ext>
            </a:extLst>
          </p:cNvPr>
          <p:cNvSpPr txBox="1"/>
          <p:nvPr/>
        </p:nvSpPr>
        <p:spPr>
          <a:xfrm>
            <a:off x="2474131" y="3471880"/>
            <a:ext cx="246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i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i="1" baseline="-250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L</a:t>
            </a:r>
            <a:r>
              <a:rPr kumimoji="1" lang="en-US" altLang="zh-CN" i="1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i="1" baseline="-250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kumimoji="1" lang="zh-CN" altLang="en-US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k=0,1,2,…,n</a:t>
            </a:r>
            <a:endParaRPr lang="zh-CN" altLang="en-US" dirty="0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E8E214EF-C417-5C32-3C34-3196364C0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66" y="3861302"/>
            <a:ext cx="5906818" cy="87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1" lang="en-US" altLang="zh-CN" i="1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称为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的插值函数，也称为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次拉格朗日插值多项式。</a:t>
            </a:r>
            <a:endParaRPr kumimoji="1"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5374762F-6863-43DB-C6B0-3BABA8878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66" y="1013292"/>
            <a:ext cx="5906818" cy="12738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拉格朗日插值法可以找到一个多项式，其恰好在</a:t>
            </a:r>
            <a:r>
              <a:rPr kumimoji="1"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各个观测的点取到观测到的值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从理论和计算角度看，多项式是</a:t>
            </a:r>
            <a:r>
              <a:rPr lang="zh-CN" altLang="en-US" sz="18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最简单的函数之一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Picture 6" descr="函数插值示意图副本">
            <a:extLst>
              <a:ext uri="{FF2B5EF4-FFF2-40B4-BE49-F238E27FC236}">
                <a16:creationId xmlns:a16="http://schemas.microsoft.com/office/drawing/2014/main" id="{3B66B58B-1B73-BBA7-E30D-BBFBE02AD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624" y="2853436"/>
            <a:ext cx="2110241" cy="175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C19A3E92-2D3F-D437-C4C7-9AF7585FC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610" y="164480"/>
            <a:ext cx="1959255" cy="219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036431-D291-EE74-182A-2D04CA3B4F0C}"/>
              </a:ext>
            </a:extLst>
          </p:cNvPr>
          <p:cNvSpPr/>
          <p:nvPr/>
        </p:nvSpPr>
        <p:spPr>
          <a:xfrm>
            <a:off x="395536" y="194945"/>
            <a:ext cx="3672408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i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线性插值</a:t>
            </a:r>
          </a:p>
        </p:txBody>
      </p:sp>
      <p:pic>
        <p:nvPicPr>
          <p:cNvPr id="2" name="Picture 11">
            <a:extLst>
              <a:ext uri="{FF2B5EF4-FFF2-40B4-BE49-F238E27FC236}">
                <a16:creationId xmlns:a16="http://schemas.microsoft.com/office/drawing/2014/main" id="{75FE3F21-2B02-4A6A-B838-14D7F481E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654783"/>
            <a:ext cx="3411683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ject 15">
            <a:extLst>
              <a:ext uri="{FF2B5EF4-FFF2-40B4-BE49-F238E27FC236}">
                <a16:creationId xmlns:a16="http://schemas.microsoft.com/office/drawing/2014/main" id="{B92E8944-151C-EB0B-48D0-9BACC30E55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040790"/>
              </p:ext>
            </p:extLst>
          </p:nvPr>
        </p:nvGraphicFramePr>
        <p:xfrm>
          <a:off x="755576" y="2178868"/>
          <a:ext cx="3672408" cy="7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520100" imgH="9944100" progId="Equation.DSMT4">
                  <p:embed/>
                </p:oleObj>
              </mc:Choice>
              <mc:Fallback>
                <p:oleObj name="Equation" r:id="rId4" imgW="46520100" imgH="9944100" progId="Equation.DSMT4">
                  <p:embed/>
                  <p:pic>
                    <p:nvPicPr>
                      <p:cNvPr id="3075" name="Object 15">
                        <a:extLst>
                          <a:ext uri="{FF2B5EF4-FFF2-40B4-BE49-F238E27FC236}">
                            <a16:creationId xmlns:a16="http://schemas.microsoft.com/office/drawing/2014/main" id="{0F94D333-3163-1E3D-4002-6620DB56F8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2178868"/>
                        <a:ext cx="3672408" cy="785763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  <a:alpha val="7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8147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036431-D291-EE74-182A-2D04CA3B4F0C}"/>
              </a:ext>
            </a:extLst>
          </p:cNvPr>
          <p:cNvSpPr/>
          <p:nvPr/>
        </p:nvSpPr>
        <p:spPr>
          <a:xfrm>
            <a:off x="395536" y="194945"/>
            <a:ext cx="3672408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i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=2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抛物线插值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06F0FB-145C-1A3A-8A11-99288D0501E9}"/>
              </a:ext>
            </a:extLst>
          </p:cNvPr>
          <p:cNvSpPr txBox="1"/>
          <p:nvPr/>
        </p:nvSpPr>
        <p:spPr>
          <a:xfrm>
            <a:off x="297267" y="948665"/>
            <a:ext cx="8406496" cy="398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>
              <a:lnSpc>
                <a:spcPct val="120000"/>
              </a:lnSpc>
            </a:pPr>
            <a:r>
              <a:rPr lang="en-US" altLang="zh-CN" sz="1800" i="1" dirty="0">
                <a:latin typeface="Times New Roman" panose="02020603050405020304" pitchFamily="18" charset="0"/>
              </a:rPr>
              <a:t>n</a:t>
            </a:r>
            <a:r>
              <a:rPr lang="en-US" altLang="zh-CN" sz="1800" dirty="0">
                <a:latin typeface="Times New Roman" panose="02020603050405020304" pitchFamily="18" charset="0"/>
              </a:rPr>
              <a:t> = 2 </a:t>
            </a:r>
            <a:r>
              <a:rPr lang="zh-CN" altLang="en-US" sz="1800" dirty="0">
                <a:latin typeface="Times New Roman" panose="02020603050405020304" pitchFamily="18" charset="0"/>
              </a:rPr>
              <a:t>时，构造通过三个点 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x</a:t>
            </a:r>
            <a:r>
              <a:rPr lang="en-US" altLang="zh-CN" sz="1800" baseline="-10000" dirty="0">
                <a:latin typeface="Times New Roman" panose="02020603050405020304" pitchFamily="18" charset="0"/>
              </a:rPr>
              <a:t>0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y</a:t>
            </a:r>
            <a:r>
              <a:rPr lang="en-US" altLang="zh-CN" sz="1800" baseline="-10000" dirty="0">
                <a:latin typeface="Times New Roman" panose="02020603050405020304" pitchFamily="18" charset="0"/>
              </a:rPr>
              <a:t>0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zh-CN" altLang="en-US" sz="1800" dirty="0">
                <a:latin typeface="Times New Roman" panose="02020603050405020304" pitchFamily="18" charset="0"/>
              </a:rPr>
              <a:t>， 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x</a:t>
            </a:r>
            <a:r>
              <a:rPr lang="en-US" altLang="zh-CN" sz="1800" baseline="-10000" dirty="0">
                <a:latin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y</a:t>
            </a:r>
            <a:r>
              <a:rPr lang="en-US" altLang="zh-CN" sz="1800" baseline="-10000" dirty="0">
                <a:latin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Times New Roman" panose="02020603050405020304" pitchFamily="18" charset="0"/>
              </a:rPr>
              <a:t>) </a:t>
            </a:r>
            <a:r>
              <a:rPr lang="zh-CN" altLang="en-US" sz="1800" dirty="0">
                <a:latin typeface="Times New Roman" panose="02020603050405020304" pitchFamily="18" charset="0"/>
              </a:rPr>
              <a:t>和 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x</a:t>
            </a:r>
            <a:r>
              <a:rPr lang="en-US" altLang="zh-CN" sz="1800" baseline="-10000" dirty="0">
                <a:latin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y</a:t>
            </a:r>
            <a:r>
              <a:rPr lang="en-US" altLang="zh-CN" sz="1800" baseline="-10000" dirty="0">
                <a:latin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zh-CN" altLang="en-US" sz="1800" dirty="0">
                <a:latin typeface="Times New Roman" panose="02020603050405020304" pitchFamily="18" charset="0"/>
              </a:rPr>
              <a:t>的多项式如下</a:t>
            </a:r>
            <a:endParaRPr lang="zh-CN" altLang="en-US" dirty="0"/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DEB27979-5639-F17C-953C-08076B6F6A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94504"/>
              </p:ext>
            </p:extLst>
          </p:nvPr>
        </p:nvGraphicFramePr>
        <p:xfrm>
          <a:off x="3547537" y="1441235"/>
          <a:ext cx="3093721" cy="345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7104300" imgH="5270500" progId="Equation.DSMT4">
                  <p:embed/>
                </p:oleObj>
              </mc:Choice>
              <mc:Fallback>
                <p:oleObj name="Equation" r:id="rId3" imgW="47104300" imgH="5270500" progId="Equation.DSMT4">
                  <p:embed/>
                  <p:pic>
                    <p:nvPicPr>
                      <p:cNvPr id="5122" name="Object 4">
                        <a:extLst>
                          <a:ext uri="{FF2B5EF4-FFF2-40B4-BE49-F238E27FC236}">
                            <a16:creationId xmlns:a16="http://schemas.microsoft.com/office/drawing/2014/main" id="{3D0B2B4F-62F5-B2DC-89D4-5D9F822789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7537" y="1441235"/>
                        <a:ext cx="3093721" cy="345656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  <a:alpha val="5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8C314D31-CA3E-44F7-B8DF-BF7A11C5EA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02432"/>
              </p:ext>
            </p:extLst>
          </p:nvPr>
        </p:nvGraphicFramePr>
        <p:xfrm>
          <a:off x="982037" y="1941953"/>
          <a:ext cx="2166339" cy="624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518600" imgH="9944100" progId="Equation.DSMT4">
                  <p:embed/>
                </p:oleObj>
              </mc:Choice>
              <mc:Fallback>
                <p:oleObj name="Equation" r:id="rId5" imgW="34518600" imgH="9944100" progId="Equation.DSMT4">
                  <p:embed/>
                  <p:pic>
                    <p:nvPicPr>
                      <p:cNvPr id="5123" name="Object 8">
                        <a:extLst>
                          <a:ext uri="{FF2B5EF4-FFF2-40B4-BE49-F238E27FC236}">
                            <a16:creationId xmlns:a16="http://schemas.microsoft.com/office/drawing/2014/main" id="{066C2768-8C61-2ADC-0067-D5D2D72D5A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037" y="1941953"/>
                        <a:ext cx="2166339" cy="624372"/>
                      </a:xfrm>
                      <a:prstGeom prst="rect">
                        <a:avLst/>
                      </a:prstGeom>
                      <a:solidFill>
                        <a:schemeClr val="bg1">
                          <a:alpha val="7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085E31FA-0BD1-F78C-D7FC-4F06648938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334704"/>
              </p:ext>
            </p:extLst>
          </p:nvPr>
        </p:nvGraphicFramePr>
        <p:xfrm>
          <a:off x="3417345" y="1936528"/>
          <a:ext cx="2166339" cy="635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934400" imgH="9944100" progId="Equation.DSMT4">
                  <p:embed/>
                </p:oleObj>
              </mc:Choice>
              <mc:Fallback>
                <p:oleObj name="Equation" r:id="rId7" imgW="33934400" imgH="9944100" progId="Equation.DSMT4">
                  <p:embed/>
                  <p:pic>
                    <p:nvPicPr>
                      <p:cNvPr id="5124" name="Object 9">
                        <a:extLst>
                          <a:ext uri="{FF2B5EF4-FFF2-40B4-BE49-F238E27FC236}">
                            <a16:creationId xmlns:a16="http://schemas.microsoft.com/office/drawing/2014/main" id="{F892ABD9-90C3-ACBD-4E23-6B76C92841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345" y="1936528"/>
                        <a:ext cx="2166339" cy="635222"/>
                      </a:xfrm>
                      <a:prstGeom prst="rect">
                        <a:avLst/>
                      </a:prstGeom>
                      <a:solidFill>
                        <a:schemeClr val="bg1">
                          <a:alpha val="7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643B63B3-5471-116B-50F5-C145B85614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226515"/>
              </p:ext>
            </p:extLst>
          </p:nvPr>
        </p:nvGraphicFramePr>
        <p:xfrm>
          <a:off x="5852653" y="1944596"/>
          <a:ext cx="2166339" cy="619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4810700" imgH="9944100" progId="Equation.DSMT4">
                  <p:embed/>
                </p:oleObj>
              </mc:Choice>
              <mc:Fallback>
                <p:oleObj name="Equation" r:id="rId9" imgW="34810700" imgH="9944100" progId="Equation.DSMT4">
                  <p:embed/>
                  <p:pic>
                    <p:nvPicPr>
                      <p:cNvPr id="5125" name="Object 10">
                        <a:extLst>
                          <a:ext uri="{FF2B5EF4-FFF2-40B4-BE49-F238E27FC236}">
                            <a16:creationId xmlns:a16="http://schemas.microsoft.com/office/drawing/2014/main" id="{42FCF598-D557-F268-8689-2FA7C53779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2653" y="1944596"/>
                        <a:ext cx="2166339" cy="619085"/>
                      </a:xfrm>
                      <a:prstGeom prst="rect">
                        <a:avLst/>
                      </a:prstGeom>
                      <a:solidFill>
                        <a:schemeClr val="bg1">
                          <a:alpha val="7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3">
            <a:extLst>
              <a:ext uri="{FF2B5EF4-FFF2-40B4-BE49-F238E27FC236}">
                <a16:creationId xmlns:a16="http://schemas.microsoft.com/office/drawing/2014/main" id="{3270B5ED-34B5-58A8-7E5B-2333FD7C3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267" y="2021812"/>
            <a:ext cx="655949" cy="392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+mn-ea"/>
              </a:rPr>
              <a:t>其中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752DAC9-978D-D49C-6F14-C74871548FD9}"/>
              </a:ext>
            </a:extLst>
          </p:cNvPr>
          <p:cNvSpPr txBox="1"/>
          <p:nvPr/>
        </p:nvSpPr>
        <p:spPr>
          <a:xfrm>
            <a:off x="395536" y="3639768"/>
            <a:ext cx="6304003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二次函数（</a:t>
            </a:r>
            <a:r>
              <a:rPr lang="en" altLang="zh-CN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quadratic function</a:t>
            </a:r>
            <a:r>
              <a:rPr lang="zh-CN" altLang="en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的基本表示形式为</a:t>
            </a:r>
            <a:r>
              <a:rPr lang="en" altLang="zh-CN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y=ax²+bx+c</a:t>
            </a:r>
            <a:r>
              <a:rPr lang="zh-CN" altLang="en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" altLang="zh-CN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a≠0</a:t>
            </a:r>
            <a:r>
              <a:rPr lang="zh-CN" altLang="en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）。</a:t>
            </a:r>
            <a:r>
              <a:rPr lang="zh-CN" altLang="en-US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二次函数最高次必须为二次， 二次函数的图像是一条对称轴与</a:t>
            </a:r>
            <a:r>
              <a:rPr lang="en" altLang="zh-CN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轴平行或重合于</a:t>
            </a:r>
            <a:r>
              <a:rPr lang="en" altLang="zh-CN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轴的抛物线。</a:t>
            </a:r>
            <a:endParaRPr lang="zh-CN" alt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4E4E2E7-198A-A515-7789-A9C17B340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445" y="2510903"/>
            <a:ext cx="1928019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D1ECEF8-3A16-CE9F-33B7-C2F84F9937C4}"/>
              </a:ext>
            </a:extLst>
          </p:cNvPr>
          <p:cNvSpPr txBox="1"/>
          <p:nvPr/>
        </p:nvSpPr>
        <p:spPr>
          <a:xfrm>
            <a:off x="395536" y="2921093"/>
            <a:ext cx="6304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x=x</a:t>
            </a:r>
            <a:r>
              <a:rPr lang="en-US" altLang="zh-CN" i="1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时等于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i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706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036431-D291-EE74-182A-2D04CA3B4F0C}"/>
              </a:ext>
            </a:extLst>
          </p:cNvPr>
          <p:cNvSpPr/>
          <p:nvPr/>
        </p:nvSpPr>
        <p:spPr>
          <a:xfrm>
            <a:off x="395536" y="194945"/>
            <a:ext cx="4824536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推广到一般情形</a:t>
            </a: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4CB69F15-6B72-A9DB-A3DB-0C65E978B1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316705"/>
              </p:ext>
            </p:extLst>
          </p:nvPr>
        </p:nvGraphicFramePr>
        <p:xfrm>
          <a:off x="1763688" y="927865"/>
          <a:ext cx="5184700" cy="661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533500" imgH="9944100" progId="Equation.DSMT4">
                  <p:embed/>
                </p:oleObj>
              </mc:Choice>
              <mc:Fallback>
                <p:oleObj name="Equation" r:id="rId3" imgW="77533500" imgH="9944100" progId="Equation.DSMT4">
                  <p:embed/>
                  <p:pic>
                    <p:nvPicPr>
                      <p:cNvPr id="6146" name="Object 4">
                        <a:extLst>
                          <a:ext uri="{FF2B5EF4-FFF2-40B4-BE49-F238E27FC236}">
                            <a16:creationId xmlns:a16="http://schemas.microsoft.com/office/drawing/2014/main" id="{5A6D36BE-33A7-C9F4-5D41-FEED7ECD15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927865"/>
                        <a:ext cx="5184700" cy="6614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4">
            <a:extLst>
              <a:ext uri="{FF2B5EF4-FFF2-40B4-BE49-F238E27FC236}">
                <a16:creationId xmlns:a16="http://schemas.microsoft.com/office/drawing/2014/main" id="{8B2C1C5C-EB79-7DF0-AF5C-21A5CE8C00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152395"/>
              </p:ext>
            </p:extLst>
          </p:nvPr>
        </p:nvGraphicFramePr>
        <p:xfrm>
          <a:off x="1331640" y="2746388"/>
          <a:ext cx="6264598" cy="891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0398600" imgH="12877800" progId="Equation.DSMT4">
                  <p:embed/>
                </p:oleObj>
              </mc:Choice>
              <mc:Fallback>
                <p:oleObj name="Equation" r:id="rId5" imgW="90398600" imgH="12877800" progId="Equation.DSMT4">
                  <p:embed/>
                  <p:pic>
                    <p:nvPicPr>
                      <p:cNvPr id="6147" name="Object 14">
                        <a:extLst>
                          <a:ext uri="{FF2B5EF4-FFF2-40B4-BE49-F238E27FC236}">
                            <a16:creationId xmlns:a16="http://schemas.microsoft.com/office/drawing/2014/main" id="{FF6FCE65-B650-8B2D-BFA5-5BA03BD66D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2746388"/>
                        <a:ext cx="6264598" cy="891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8">
            <a:extLst>
              <a:ext uri="{FF2B5EF4-FFF2-40B4-BE49-F238E27FC236}">
                <a16:creationId xmlns:a16="http://schemas.microsoft.com/office/drawing/2014/main" id="{E359B590-252C-433B-6E68-F2B80F61E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3632961"/>
            <a:ext cx="16866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i="1" dirty="0">
                <a:latin typeface="Times New Roman" panose="02020603050405020304" pitchFamily="18" charset="0"/>
              </a:rPr>
              <a:t>k</a:t>
            </a:r>
            <a:r>
              <a:rPr lang="en-US" altLang="zh-CN" b="0" dirty="0">
                <a:latin typeface="Times New Roman" panose="02020603050405020304" pitchFamily="18" charset="0"/>
              </a:rPr>
              <a:t> = 0, 1, 2, …, </a:t>
            </a:r>
            <a:r>
              <a:rPr lang="en-US" altLang="zh-CN" b="0" i="1" dirty="0">
                <a:latin typeface="Times New Roman" panose="02020603050405020304" pitchFamily="18" charset="0"/>
              </a:rPr>
              <a:t>n</a:t>
            </a:r>
            <a:endParaRPr lang="en-US" altLang="en-US" b="0" i="1" dirty="0">
              <a:latin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545EC4-7B1E-FD61-79F1-5735229F8D24}"/>
              </a:ext>
            </a:extLst>
          </p:cNvPr>
          <p:cNvSpPr txBox="1"/>
          <p:nvPr/>
        </p:nvSpPr>
        <p:spPr>
          <a:xfrm>
            <a:off x="2567051" y="4155612"/>
            <a:ext cx="400989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eaLnBrk="1" hangingPunct="1"/>
            <a:r>
              <a:rPr lang="zh-CN" altLang="en-US" sz="1800" dirty="0"/>
              <a:t>拉格朗日插值基函数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basis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376C0B-D7B5-11FB-2A95-D27B787CBF06}"/>
              </a:ext>
            </a:extLst>
          </p:cNvPr>
          <p:cNvSpPr txBox="1"/>
          <p:nvPr/>
        </p:nvSpPr>
        <p:spPr>
          <a:xfrm>
            <a:off x="3527883" y="1586657"/>
            <a:ext cx="20882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800" dirty="0"/>
              <a:t>拉格朗日插值公式</a:t>
            </a:r>
          </a:p>
        </p:txBody>
      </p:sp>
    </p:spTree>
    <p:extLst>
      <p:ext uri="{BB962C8B-B14F-4D97-AF65-F5344CB8AC3E}">
        <p14:creationId xmlns:p14="http://schemas.microsoft.com/office/powerpoint/2010/main" val="2537733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036431-D291-EE74-182A-2D04CA3B4F0C}"/>
              </a:ext>
            </a:extLst>
          </p:cNvPr>
          <p:cNvSpPr/>
          <p:nvPr/>
        </p:nvSpPr>
        <p:spPr>
          <a:xfrm>
            <a:off x="395536" y="194945"/>
            <a:ext cx="4824536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关于基函数的理解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1B2901D9-3D77-F7B6-CAD7-499DD4B62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35646"/>
            <a:ext cx="2689553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53BA9D45-F60C-1538-070C-95639BD19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789" y="1633921"/>
            <a:ext cx="2689553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036ADAFF-F49C-F95C-D633-9B1FE7F7F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043" y="1669255"/>
            <a:ext cx="2649560" cy="234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B842426-8CE7-FA90-FF43-4CA5ABCB6E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851670"/>
            <a:ext cx="495300" cy="330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8883877-D7CB-5956-75A0-D3642F3C0F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3651870"/>
            <a:ext cx="495300" cy="2921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61E403A-A05F-1143-602F-C0D2F6D052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766" y="3075806"/>
            <a:ext cx="482600" cy="2921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3705032-A046-AF68-7695-76EDD22FE28E}"/>
              </a:ext>
            </a:extLst>
          </p:cNvPr>
          <p:cNvSpPr txBox="1"/>
          <p:nvPr/>
        </p:nvSpPr>
        <p:spPr>
          <a:xfrm>
            <a:off x="1259632" y="4299942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1,0,0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392444-124C-9DE1-5487-EDBCEFB9EBBF}"/>
              </a:ext>
            </a:extLst>
          </p:cNvPr>
          <p:cNvSpPr txBox="1"/>
          <p:nvPr/>
        </p:nvSpPr>
        <p:spPr>
          <a:xfrm>
            <a:off x="4322995" y="429994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0,1,0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9A3397-2A61-F897-D881-26235AC66684}"/>
              </a:ext>
            </a:extLst>
          </p:cNvPr>
          <p:cNvSpPr txBox="1"/>
          <p:nvPr/>
        </p:nvSpPr>
        <p:spPr>
          <a:xfrm>
            <a:off x="7213657" y="429994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0,0,1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966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036431-D291-EE74-182A-2D04CA3B4F0C}"/>
              </a:ext>
            </a:extLst>
          </p:cNvPr>
          <p:cNvSpPr/>
          <p:nvPr/>
        </p:nvSpPr>
        <p:spPr>
          <a:xfrm>
            <a:off x="395536" y="194945"/>
            <a:ext cx="4824536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关于基函数的理解</a:t>
            </a:r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77D88F35-5E21-814B-0A56-FE19FC5F4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339" y="1275606"/>
            <a:ext cx="3537322" cy="3125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2B0F8329-B169-B1FB-58C0-ED43E92709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641123"/>
              </p:ext>
            </p:extLst>
          </p:nvPr>
        </p:nvGraphicFramePr>
        <p:xfrm>
          <a:off x="3025139" y="4602899"/>
          <a:ext cx="3093721" cy="345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104300" imgH="5270500" progId="Equation.DSMT4">
                  <p:embed/>
                </p:oleObj>
              </mc:Choice>
              <mc:Fallback>
                <p:oleObj name="Equation" r:id="rId4" imgW="47104300" imgH="5270500" progId="Equation.DSMT4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DEB27979-5639-F17C-953C-08076B6F6A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139" y="4602899"/>
                        <a:ext cx="3093721" cy="345656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  <a:alpha val="5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815417FC-8DC8-6E39-21F1-8729376F26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139" y="3881639"/>
            <a:ext cx="5715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04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87D3968-E4F7-85B2-2170-258326A4FA96}"/>
              </a:ext>
            </a:extLst>
          </p:cNvPr>
          <p:cNvSpPr/>
          <p:nvPr/>
        </p:nvSpPr>
        <p:spPr>
          <a:xfrm>
            <a:off x="6444208" y="2499742"/>
            <a:ext cx="1152030" cy="9556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036431-D291-EE74-182A-2D04CA3B4F0C}"/>
              </a:ext>
            </a:extLst>
          </p:cNvPr>
          <p:cNvSpPr/>
          <p:nvPr/>
        </p:nvSpPr>
        <p:spPr>
          <a:xfrm>
            <a:off x="395536" y="194945"/>
            <a:ext cx="4824536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推广到一般情形</a:t>
            </a: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4CB69F15-6B72-A9DB-A3DB-0C65E978B1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688" y="927865"/>
          <a:ext cx="5184700" cy="661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533500" imgH="9944100" progId="Equation.DSMT4">
                  <p:embed/>
                </p:oleObj>
              </mc:Choice>
              <mc:Fallback>
                <p:oleObj name="Equation" r:id="rId3" imgW="77533500" imgH="994410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4CB69F15-6B72-A9DB-A3DB-0C65E978B1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927865"/>
                        <a:ext cx="5184700" cy="6614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4">
            <a:extLst>
              <a:ext uri="{FF2B5EF4-FFF2-40B4-BE49-F238E27FC236}">
                <a16:creationId xmlns:a16="http://schemas.microsoft.com/office/drawing/2014/main" id="{8B2C1C5C-EB79-7DF0-AF5C-21A5CE8C00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640" y="2568800"/>
          <a:ext cx="6264598" cy="891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0398600" imgH="12877800" progId="Equation.DSMT4">
                  <p:embed/>
                </p:oleObj>
              </mc:Choice>
              <mc:Fallback>
                <p:oleObj name="Equation" r:id="rId5" imgW="90398600" imgH="12877800" progId="Equation.DSMT4">
                  <p:embed/>
                  <p:pic>
                    <p:nvPicPr>
                      <p:cNvPr id="4" name="Object 14">
                        <a:extLst>
                          <a:ext uri="{FF2B5EF4-FFF2-40B4-BE49-F238E27FC236}">
                            <a16:creationId xmlns:a16="http://schemas.microsoft.com/office/drawing/2014/main" id="{8B2C1C5C-EB79-7DF0-AF5C-21A5CE8C00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2568800"/>
                        <a:ext cx="6264598" cy="891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8">
            <a:extLst>
              <a:ext uri="{FF2B5EF4-FFF2-40B4-BE49-F238E27FC236}">
                <a16:creationId xmlns:a16="http://schemas.microsoft.com/office/drawing/2014/main" id="{E359B590-252C-433B-6E68-F2B80F61E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3455373"/>
            <a:ext cx="16866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i="1" dirty="0">
                <a:latin typeface="Times New Roman" panose="02020603050405020304" pitchFamily="18" charset="0"/>
              </a:rPr>
              <a:t>k</a:t>
            </a:r>
            <a:r>
              <a:rPr lang="en-US" altLang="zh-CN" b="0" dirty="0">
                <a:latin typeface="Times New Roman" panose="02020603050405020304" pitchFamily="18" charset="0"/>
              </a:rPr>
              <a:t> = 0, 1, 2, …, </a:t>
            </a:r>
            <a:r>
              <a:rPr lang="en-US" altLang="zh-CN" b="0" i="1" dirty="0">
                <a:latin typeface="Times New Roman" panose="02020603050405020304" pitchFamily="18" charset="0"/>
              </a:rPr>
              <a:t>n</a:t>
            </a:r>
            <a:endParaRPr lang="en-US" altLang="en-US" b="0" i="1" dirty="0">
              <a:latin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545EC4-7B1E-FD61-79F1-5735229F8D24}"/>
              </a:ext>
            </a:extLst>
          </p:cNvPr>
          <p:cNvSpPr txBox="1"/>
          <p:nvPr/>
        </p:nvSpPr>
        <p:spPr>
          <a:xfrm>
            <a:off x="3320963" y="3969046"/>
            <a:ext cx="2502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zh-CN" altLang="en-US" sz="1800" dirty="0"/>
              <a:t>拉格朗日插值基函数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376C0B-D7B5-11FB-2A95-D27B787CBF06}"/>
              </a:ext>
            </a:extLst>
          </p:cNvPr>
          <p:cNvSpPr txBox="1"/>
          <p:nvPr/>
        </p:nvSpPr>
        <p:spPr>
          <a:xfrm>
            <a:off x="3527883" y="1586657"/>
            <a:ext cx="2088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800" dirty="0"/>
              <a:t>拉格朗日插值公式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12559F-D826-7CE9-7023-A90BF344F808}"/>
              </a:ext>
            </a:extLst>
          </p:cNvPr>
          <p:cNvSpPr txBox="1"/>
          <p:nvPr/>
        </p:nvSpPr>
        <p:spPr>
          <a:xfrm>
            <a:off x="6176883" y="3692047"/>
            <a:ext cx="1686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如何构造结果为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1,0,0</a:t>
            </a:r>
            <a:r>
              <a:rPr kumimoji="1" lang="zh-CN" altLang="en-US" dirty="0"/>
              <a:t>形式的函数</a:t>
            </a:r>
          </a:p>
        </p:txBody>
      </p:sp>
    </p:spTree>
    <p:extLst>
      <p:ext uri="{BB962C8B-B14F-4D97-AF65-F5344CB8AC3E}">
        <p14:creationId xmlns:p14="http://schemas.microsoft.com/office/powerpoint/2010/main" val="412399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F1FFF1F5-E0E6-5EBF-C9B2-2955056D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24D351-6888-55C3-6130-D0DD0AC83004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EF0D35-6B1D-3122-745E-1F3557340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558" y="1132619"/>
            <a:ext cx="4716884" cy="36697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036431-D291-EE74-182A-2D04CA3B4F0C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90ACD1-6B90-ADDF-199E-9B0C548D3B90}"/>
              </a:ext>
            </a:extLst>
          </p:cNvPr>
          <p:cNvSpPr txBox="1"/>
          <p:nvPr/>
        </p:nvSpPr>
        <p:spPr>
          <a:xfrm>
            <a:off x="323528" y="1203598"/>
            <a:ext cx="3600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x0=0:1:10;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y0=x0.^2-20*x0-5;</a:t>
            </a:r>
          </a:p>
          <a:p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x=0:0.1:10;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z=lagr1(x0,y0,x);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plot(x,z,</a:t>
            </a:r>
            <a:r>
              <a:rPr lang="en" altLang="zh-CN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':'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,x0,y0,</a:t>
            </a:r>
            <a:r>
              <a:rPr lang="en" altLang="zh-CN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'ko'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);</a:t>
            </a:r>
          </a:p>
          <a:p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hold </a:t>
            </a:r>
            <a:r>
              <a:rPr lang="en" altLang="zh-CN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;</a:t>
            </a:r>
          </a:p>
          <a:p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y0(5)=-50;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z=lagr1(x0,y0,x);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plot(x,z,</a:t>
            </a:r>
            <a:r>
              <a:rPr lang="en" altLang="zh-CN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'-</a:t>
            </a:r>
            <a:r>
              <a:rPr lang="en" altLang="zh-CN" b="0" i="0" dirty="0" err="1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ro</a:t>
            </a:r>
            <a:r>
              <a:rPr lang="en" altLang="zh-CN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);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6753F91-E29F-133E-9DA5-A39E4727B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222573"/>
            <a:ext cx="4241561" cy="341632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7957E2E-7FFD-98F2-A160-4C2542762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552" y="1050836"/>
            <a:ext cx="4666920" cy="3721844"/>
          </a:xfrm>
          <a:prstGeom prst="rect">
            <a:avLst/>
          </a:prstGeom>
        </p:spPr>
      </p:pic>
      <p:sp>
        <p:nvSpPr>
          <p:cNvPr id="13" name="下箭头 12">
            <a:extLst>
              <a:ext uri="{FF2B5EF4-FFF2-40B4-BE49-F238E27FC236}">
                <a16:creationId xmlns:a16="http://schemas.microsoft.com/office/drawing/2014/main" id="{41DFF846-1C15-991E-57E3-F3FC7DF118D2}"/>
              </a:ext>
            </a:extLst>
          </p:cNvPr>
          <p:cNvSpPr/>
          <p:nvPr/>
        </p:nvSpPr>
        <p:spPr>
          <a:xfrm rot="14343741">
            <a:off x="3927383" y="3232807"/>
            <a:ext cx="288032" cy="792088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下箭头 13">
            <a:extLst>
              <a:ext uri="{FF2B5EF4-FFF2-40B4-BE49-F238E27FC236}">
                <a16:creationId xmlns:a16="http://schemas.microsoft.com/office/drawing/2014/main" id="{353AC304-5481-F2D6-A4A8-FCC4392FB4EE}"/>
              </a:ext>
            </a:extLst>
          </p:cNvPr>
          <p:cNvSpPr/>
          <p:nvPr/>
        </p:nvSpPr>
        <p:spPr>
          <a:xfrm rot="14343741">
            <a:off x="7967776" y="4087452"/>
            <a:ext cx="288032" cy="792088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370A4F3-CD42-27B3-D2BD-07CC9E49B38E}"/>
              </a:ext>
            </a:extLst>
          </p:cNvPr>
          <p:cNvSpPr txBox="1"/>
          <p:nvPr/>
        </p:nvSpPr>
        <p:spPr>
          <a:xfrm>
            <a:off x="5412054" y="377132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Runge's phenomenon</a:t>
            </a:r>
            <a:endParaRPr lang="zh-CN" altLang="en-US" dirty="0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E128B956-A928-6929-B86A-701CD79E0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054" y="322834"/>
            <a:ext cx="2286000" cy="3314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14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036431-D291-EE74-182A-2D04CA3B4F0C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76C455-75A0-1C7E-8619-1DE80F6CF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80" y="922001"/>
            <a:ext cx="3240360" cy="186518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5465079-9316-C448-4C73-DE8028DFA8CB}"/>
              </a:ext>
            </a:extLst>
          </p:cNvPr>
          <p:cNvSpPr txBox="1"/>
          <p:nvPr/>
        </p:nvSpPr>
        <p:spPr>
          <a:xfrm>
            <a:off x="2771800" y="4747839"/>
            <a:ext cx="324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高次多项式并不总是最佳选择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EAB646E-EFE0-BE4D-BF40-E832D0C4C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573" y="3086423"/>
            <a:ext cx="6372708" cy="161789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64D5D55-13A3-E6AA-F07D-F93CABA3B3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916602"/>
            <a:ext cx="2358894" cy="191410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89A1B5FF-0A86-9C97-B475-3BD7CD1AE429}"/>
              </a:ext>
            </a:extLst>
          </p:cNvPr>
          <p:cNvSpPr txBox="1"/>
          <p:nvPr/>
        </p:nvSpPr>
        <p:spPr>
          <a:xfrm>
            <a:off x="5462950" y="2901757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f(x)=x(x-1)(x-2)(x-3)</a:t>
            </a:r>
            <a:endParaRPr kumimoji="1"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A1629A5-260A-EC4E-EF50-946CA45EA509}"/>
              </a:ext>
            </a:extLst>
          </p:cNvPr>
          <p:cNvSpPr txBox="1"/>
          <p:nvPr/>
        </p:nvSpPr>
        <p:spPr>
          <a:xfrm>
            <a:off x="1028094" y="1537541"/>
            <a:ext cx="2811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节点越多龙格现象越严重</a:t>
            </a:r>
          </a:p>
        </p:txBody>
      </p:sp>
    </p:spTree>
    <p:extLst>
      <p:ext uri="{BB962C8B-B14F-4D97-AF65-F5344CB8AC3E}">
        <p14:creationId xmlns:p14="http://schemas.microsoft.com/office/powerpoint/2010/main" val="2877967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036431-D291-EE74-182A-2D04CA3B4F0C}"/>
              </a:ext>
            </a:extLst>
          </p:cNvPr>
          <p:cNvSpPr/>
          <p:nvPr/>
        </p:nvSpPr>
        <p:spPr>
          <a:xfrm>
            <a:off x="395536" y="194945"/>
            <a:ext cx="6336704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拉格朗日多项式插值法的优缺点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CD685386-B60E-E114-5F27-8E97238A0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727063"/>
            <a:ext cx="3528392" cy="21048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8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优点</a:t>
            </a:r>
            <a:endParaRPr kumimoji="1" lang="en-US" altLang="zh-CN" sz="18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简单易用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不需要解线性方程组</a:t>
            </a:r>
            <a:endParaRPr kumimoji="1" lang="en-US" altLang="zh-CN" sz="1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灵活性</a:t>
            </a:r>
            <a:endParaRPr kumimoji="1" lang="en-US" altLang="zh-CN" sz="1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全局插值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CA71D931-3573-0FF2-35CE-E096E336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044" y="1727063"/>
            <a:ext cx="3528392" cy="21048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8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缺点</a:t>
            </a:r>
            <a:endParaRPr kumimoji="1" lang="en-US" altLang="zh-CN" sz="18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计算复杂度高</a:t>
            </a:r>
            <a:endParaRPr kumimoji="1" lang="en-US" altLang="zh-CN" sz="1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不稳定性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Runge's phenomenon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不适合高维插值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不具备局部控制性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9412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E52BDB1D-AC67-6E06-DD2A-FE1B09AC848D}"/>
              </a:ext>
            </a:extLst>
          </p:cNvPr>
          <p:cNvSpPr>
            <a:spLocks noChangeArrowheads="1"/>
          </p:cNvSpPr>
          <p:nvPr/>
        </p:nvSpPr>
        <p:spPr bwMode="white">
          <a:xfrm>
            <a:off x="426368" y="1075877"/>
            <a:ext cx="8291264" cy="1800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由于高次插值多项式存在的振荡缺陷和计算复杂度高等缺点，促使人们转而寻求简单的</a:t>
            </a:r>
            <a:r>
              <a:rPr lang="zh-CN" altLang="en-US" sz="1800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分段低次多形式插值</a:t>
            </a:r>
            <a:r>
              <a:rPr lang="zh-CN" altLang="en-US" sz="1800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US" altLang="zh-CN" sz="1800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分段低次插值的基本思想是将插值区间划分为若干个小区间，然后在每个小区间上做满足一定条件的低次插值。</a:t>
            </a:r>
            <a:endParaRPr lang="en-US" altLang="zh-CN" sz="1800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4ED78E-39A6-1FD4-E4A8-E24BD5C6258D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分段低次插值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ABA94DC-4A9E-AD75-8B52-B06F9EFB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46987F-7A9B-3BC8-3EC0-F6D8CE4905B1}"/>
              </a:ext>
            </a:extLst>
          </p:cNvPr>
          <p:cNvSpPr txBox="1"/>
          <p:nvPr/>
        </p:nvSpPr>
        <p:spPr>
          <a:xfrm>
            <a:off x="611560" y="3679038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拉格朗日多项式插值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BE8FD3-3C9E-05E3-8A8F-ED2EA85CCFE9}"/>
              </a:ext>
            </a:extLst>
          </p:cNvPr>
          <p:cNvSpPr txBox="1"/>
          <p:nvPr/>
        </p:nvSpPr>
        <p:spPr>
          <a:xfrm>
            <a:off x="5940152" y="3667744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分段低次插值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9ECE1C88-8A7A-9325-BF47-43A42002293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2884939" y="3852410"/>
            <a:ext cx="3055213" cy="112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7868472-0741-C1AB-C4C4-08C40808A765}"/>
              </a:ext>
            </a:extLst>
          </p:cNvPr>
          <p:cNvSpPr txBox="1"/>
          <p:nvPr/>
        </p:nvSpPr>
        <p:spPr>
          <a:xfrm>
            <a:off x="3858547" y="345233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龙格现象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31869D-66BB-E398-95D4-1F519AFE2039}"/>
              </a:ext>
            </a:extLst>
          </p:cNvPr>
          <p:cNvSpPr txBox="1"/>
          <p:nvPr/>
        </p:nvSpPr>
        <p:spPr>
          <a:xfrm>
            <a:off x="3858547" y="390174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复杂度高</a:t>
            </a:r>
          </a:p>
        </p:txBody>
      </p:sp>
    </p:spTree>
    <p:extLst>
      <p:ext uri="{BB962C8B-B14F-4D97-AF65-F5344CB8AC3E}">
        <p14:creationId xmlns:p14="http://schemas.microsoft.com/office/powerpoint/2010/main" val="1603456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4" name="Rectangle 4">
            <a:extLst>
              <a:ext uri="{FF2B5EF4-FFF2-40B4-BE49-F238E27FC236}">
                <a16:creationId xmlns:a16="http://schemas.microsoft.com/office/drawing/2014/main" id="{6C1E7E10-08E4-B0E9-7093-E70BFBB69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868967"/>
            <a:ext cx="3759693" cy="2117183"/>
          </a:xfrm>
          <a:prstGeom prst="rect">
            <a:avLst/>
          </a:prstGeom>
          <a:noFill/>
          <a:ln w="19050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设函数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个节点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＜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＜ 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＜</a:t>
            </a:r>
            <a:r>
              <a:rPr kumimoji="1"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i="1" baseline="-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处的函数值已知，为 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,…,</a:t>
            </a:r>
            <a:r>
              <a:rPr kumimoji="1"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i="1" baseline="-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i="1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若要计算点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处函数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的近似值，可以在包含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的区间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i="1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i-1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x</a:t>
            </a:r>
            <a:r>
              <a:rPr kumimoji="1" lang="en-US" altLang="zh-CN" i="1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作线性插值。</a:t>
            </a:r>
            <a:endParaRPr kumimoji="1"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04805" name="Group 5">
            <a:extLst>
              <a:ext uri="{FF2B5EF4-FFF2-40B4-BE49-F238E27FC236}">
                <a16:creationId xmlns:a16="http://schemas.microsoft.com/office/drawing/2014/main" id="{2092864F-93EC-517E-ACA7-EED4DD28A0DA}"/>
              </a:ext>
            </a:extLst>
          </p:cNvPr>
          <p:cNvGrpSpPr>
            <a:grpSpLocks/>
          </p:cNvGrpSpPr>
          <p:nvPr/>
        </p:nvGrpSpPr>
        <p:grpSpPr bwMode="auto">
          <a:xfrm>
            <a:off x="4488656" y="1914336"/>
            <a:ext cx="4129088" cy="2026444"/>
            <a:chOff x="1344" y="480"/>
            <a:chExt cx="3468" cy="1702"/>
          </a:xfrm>
        </p:grpSpPr>
        <p:grpSp>
          <p:nvGrpSpPr>
            <p:cNvPr id="204806" name="Group 6">
              <a:extLst>
                <a:ext uri="{FF2B5EF4-FFF2-40B4-BE49-F238E27FC236}">
                  <a16:creationId xmlns:a16="http://schemas.microsoft.com/office/drawing/2014/main" id="{9ADC70D3-715B-618B-18F5-D42F43263F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624"/>
              <a:ext cx="3120" cy="1558"/>
              <a:chOff x="1536" y="864"/>
              <a:chExt cx="3120" cy="1558"/>
            </a:xfrm>
          </p:grpSpPr>
          <p:sp>
            <p:nvSpPr>
              <p:cNvPr id="204807" name="Text Box 7">
                <a:extLst>
                  <a:ext uri="{FF2B5EF4-FFF2-40B4-BE49-F238E27FC236}">
                    <a16:creationId xmlns:a16="http://schemas.microsoft.com/office/drawing/2014/main" id="{77374B30-4E27-DE5A-408F-846C876791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1104"/>
                <a:ext cx="336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09" name="Text Box 9">
                <a:extLst>
                  <a:ext uri="{FF2B5EF4-FFF2-40B4-BE49-F238E27FC236}">
                    <a16:creationId xmlns:a16="http://schemas.microsoft.com/office/drawing/2014/main" id="{69B2509B-28A2-3D2D-C170-F863690102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1776"/>
                <a:ext cx="336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10" name="Text Box 10">
                <a:extLst>
                  <a:ext uri="{FF2B5EF4-FFF2-40B4-BE49-F238E27FC236}">
                    <a16:creationId xmlns:a16="http://schemas.microsoft.com/office/drawing/2014/main" id="{0F777817-FD24-4B68-2F9C-B5C9E45988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4" y="960"/>
                <a:ext cx="336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11" name="Text Box 11">
                <a:extLst>
                  <a:ext uri="{FF2B5EF4-FFF2-40B4-BE49-F238E27FC236}">
                    <a16:creationId xmlns:a16="http://schemas.microsoft.com/office/drawing/2014/main" id="{91F820C2-1337-B5BC-9EDE-A686F6ED40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1142"/>
                <a:ext cx="336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dirty="0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12" name="Text Box 12">
                <a:extLst>
                  <a:ext uri="{FF2B5EF4-FFF2-40B4-BE49-F238E27FC236}">
                    <a16:creationId xmlns:a16="http://schemas.microsoft.com/office/drawing/2014/main" id="{20E7AC9B-2F66-BADD-BC0A-3A9F65E119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1296"/>
                <a:ext cx="336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13" name="Line 13">
                <a:extLst>
                  <a:ext uri="{FF2B5EF4-FFF2-40B4-BE49-F238E27FC236}">
                    <a16:creationId xmlns:a16="http://schemas.microsoft.com/office/drawing/2014/main" id="{E577C1FF-F33A-C015-3ED4-4EFD1A4F04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16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4814" name="Line 14">
                <a:extLst>
                  <a:ext uri="{FF2B5EF4-FFF2-40B4-BE49-F238E27FC236}">
                    <a16:creationId xmlns:a16="http://schemas.microsoft.com/office/drawing/2014/main" id="{E52128E5-CDAD-4B93-7DA8-E5BCF39BF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6" y="864"/>
                <a:ext cx="0" cy="12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4815" name="Line 15">
                <a:extLst>
                  <a:ext uri="{FF2B5EF4-FFF2-40B4-BE49-F238E27FC236}">
                    <a16:creationId xmlns:a16="http://schemas.microsoft.com/office/drawing/2014/main" id="{68598CC3-F8A0-A1A5-955B-F7AEB7D36F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1104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 dirty="0"/>
              </a:p>
            </p:txBody>
          </p:sp>
          <p:sp>
            <p:nvSpPr>
              <p:cNvPr id="204816" name="Line 16">
                <a:extLst>
                  <a:ext uri="{FF2B5EF4-FFF2-40B4-BE49-F238E27FC236}">
                    <a16:creationId xmlns:a16="http://schemas.microsoft.com/office/drawing/2014/main" id="{585FA6B8-B13E-6991-9DCF-340EAC8CA7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1440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4818" name="Text Box 18">
                <a:extLst>
                  <a:ext uri="{FF2B5EF4-FFF2-40B4-BE49-F238E27FC236}">
                    <a16:creationId xmlns:a16="http://schemas.microsoft.com/office/drawing/2014/main" id="{79998485-BCAF-4B33-897C-6CFAD97E40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2112"/>
                <a:ext cx="432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</a:p>
            </p:txBody>
          </p:sp>
          <p:sp>
            <p:nvSpPr>
              <p:cNvPr id="204819" name="Text Box 19">
                <a:extLst>
                  <a:ext uri="{FF2B5EF4-FFF2-40B4-BE49-F238E27FC236}">
                    <a16:creationId xmlns:a16="http://schemas.microsoft.com/office/drawing/2014/main" id="{017CF4F1-F370-D3A8-1BCD-AD5183DC6F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112"/>
                <a:ext cx="432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i="1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kumimoji="1" lang="en-US" altLang="zh-CN" i="1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i-1</a:t>
                </a:r>
                <a:endParaRPr kumimoji="1" lang="en-US" altLang="zh-CN" i="1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20" name="Text Box 20">
                <a:extLst>
                  <a:ext uri="{FF2B5EF4-FFF2-40B4-BE49-F238E27FC236}">
                    <a16:creationId xmlns:a16="http://schemas.microsoft.com/office/drawing/2014/main" id="{8518E8AF-4391-C153-48E5-A45CD3F864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2112"/>
                <a:ext cx="432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i="1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kumimoji="1" lang="en-US" altLang="zh-CN" i="1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i</a:t>
                </a:r>
                <a:endParaRPr kumimoji="1" lang="en-US" altLang="zh-CN" i="1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23" name="Text Box 23">
                <a:extLst>
                  <a:ext uri="{FF2B5EF4-FFF2-40B4-BE49-F238E27FC236}">
                    <a16:creationId xmlns:a16="http://schemas.microsoft.com/office/drawing/2014/main" id="{80E5EE8F-4A46-796D-C9C1-D05DBA2F83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2112"/>
                <a:ext cx="384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i="1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kumimoji="1" lang="en-US" altLang="zh-CN" i="1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0</a:t>
                </a:r>
                <a:endParaRPr kumimoji="1" lang="en-US" altLang="zh-CN" i="1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24" name="Text Box 24">
                <a:extLst>
                  <a:ext uri="{FF2B5EF4-FFF2-40B4-BE49-F238E27FC236}">
                    <a16:creationId xmlns:a16="http://schemas.microsoft.com/office/drawing/2014/main" id="{8B7816B2-F992-3124-9869-D8F4EC513A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112"/>
                <a:ext cx="384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i="1" dirty="0" err="1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kumimoji="1" lang="en-US" altLang="zh-CN" i="1" baseline="-25000" dirty="0" err="1">
                    <a:latin typeface="Times New Roman" panose="02020603050405020304" pitchFamily="18" charset="0"/>
                    <a:ea typeface="隶书" panose="02010509060101010101" pitchFamily="49" charset="-122"/>
                  </a:rPr>
                  <a:t>n</a:t>
                </a:r>
                <a:endParaRPr kumimoji="1" lang="en-US" altLang="zh-CN" i="1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</p:grpSp>
        <p:sp>
          <p:nvSpPr>
            <p:cNvPr id="204825" name="Text Box 25">
              <a:extLst>
                <a:ext uri="{FF2B5EF4-FFF2-40B4-BE49-F238E27FC236}">
                  <a16:creationId xmlns:a16="http://schemas.microsoft.com/office/drawing/2014/main" id="{14C44B7A-6D10-6F5B-1B30-CCEEB42A33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872"/>
              <a:ext cx="25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dirty="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04826" name="Text Box 26">
              <a:extLst>
                <a:ext uri="{FF2B5EF4-FFF2-40B4-BE49-F238E27FC236}">
                  <a16:creationId xmlns:a16="http://schemas.microsoft.com/office/drawing/2014/main" id="{922C70E5-C95B-3EF2-0001-83411439F0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824"/>
              <a:ext cx="25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04827" name="Text Box 27">
              <a:extLst>
                <a:ext uri="{FF2B5EF4-FFF2-40B4-BE49-F238E27FC236}">
                  <a16:creationId xmlns:a16="http://schemas.microsoft.com/office/drawing/2014/main" id="{323D68BD-A68C-39C6-2E26-331E7BEC2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480"/>
              <a:ext cx="25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E4ED78E-39A6-1FD4-E4A8-E24BD5C6258D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分段线性插值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ABA94DC-4A9E-AD75-8B52-B06F9EFB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BFC0A065-C646-C421-306E-1CAB862FFE24}"/>
              </a:ext>
            </a:extLst>
          </p:cNvPr>
          <p:cNvCxnSpPr>
            <a:cxnSpLocks/>
          </p:cNvCxnSpPr>
          <p:nvPr/>
        </p:nvCxnSpPr>
        <p:spPr>
          <a:xfrm flipV="1">
            <a:off x="6117431" y="2405031"/>
            <a:ext cx="1085850" cy="40005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24">
            <a:extLst>
              <a:ext uri="{FF2B5EF4-FFF2-40B4-BE49-F238E27FC236}">
                <a16:creationId xmlns:a16="http://schemas.microsoft.com/office/drawing/2014/main" id="{E0432FE9-D36B-CA17-5CFA-C23EA0AC7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4869" y="2165356"/>
            <a:ext cx="6286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i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y</a:t>
            </a:r>
            <a:r>
              <a:rPr kumimoji="1" lang="en-US" altLang="zh-CN" i="1" baseline="-25000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endParaRPr kumimoji="1" lang="en-US" altLang="zh-CN" i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" name="Text Box 24">
            <a:extLst>
              <a:ext uri="{FF2B5EF4-FFF2-40B4-BE49-F238E27FC236}">
                <a16:creationId xmlns:a16="http://schemas.microsoft.com/office/drawing/2014/main" id="{AD6A7FFB-EDA4-D4C8-3076-7250576BA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786" y="2620413"/>
            <a:ext cx="6286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i="1" dirty="0">
                <a:latin typeface="Times New Roman" panose="02020603050405020304" pitchFamily="18" charset="0"/>
                <a:ea typeface="隶书" panose="02010509060101010101" pitchFamily="49" charset="-122"/>
              </a:rPr>
              <a:t>y</a:t>
            </a:r>
            <a:r>
              <a:rPr kumimoji="1" lang="en-US" altLang="zh-CN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i-1</a:t>
            </a:r>
            <a:endParaRPr kumimoji="1" lang="en-US" altLang="zh-CN" i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9" name="Line 15">
            <a:extLst>
              <a:ext uri="{FF2B5EF4-FFF2-40B4-BE49-F238E27FC236}">
                <a16:creationId xmlns:a16="http://schemas.microsoft.com/office/drawing/2014/main" id="{40319225-EB7E-0B0F-5079-A36B1D6E6F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7255" y="2371535"/>
            <a:ext cx="2465645" cy="222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dirty="0"/>
          </a:p>
        </p:txBody>
      </p:sp>
      <p:sp>
        <p:nvSpPr>
          <p:cNvPr id="10" name="Line 15">
            <a:extLst>
              <a:ext uri="{FF2B5EF4-FFF2-40B4-BE49-F238E27FC236}">
                <a16:creationId xmlns:a16="http://schemas.microsoft.com/office/drawing/2014/main" id="{9A38F341-DDE2-DE9D-ED5D-BE77D2AD0D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7254" y="2805079"/>
            <a:ext cx="1428739" cy="1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321112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>
            <a:extLst>
              <a:ext uri="{FF2B5EF4-FFF2-40B4-BE49-F238E27FC236}">
                <a16:creationId xmlns:a16="http://schemas.microsoft.com/office/drawing/2014/main" id="{15464F9E-E843-71AB-CEDE-B864FAAD7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65" y="882758"/>
            <a:ext cx="5328592" cy="128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  简单的说，将每两个相邻节点用直线连接起来，如此形成的一条折线就是分段线性插值函数。插值函数在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i="1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i="1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上的表达式为： </a:t>
            </a:r>
          </a:p>
        </p:txBody>
      </p:sp>
      <p:pic>
        <p:nvPicPr>
          <p:cNvPr id="217093" name="Picture 5">
            <a:extLst>
              <a:ext uri="{FF2B5EF4-FFF2-40B4-BE49-F238E27FC236}">
                <a16:creationId xmlns:a16="http://schemas.microsoft.com/office/drawing/2014/main" id="{E48CB425-681C-B97B-B9A3-0429E5D0454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639" y="2304194"/>
            <a:ext cx="2800350" cy="620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</a:extLst>
        </p:spPr>
      </p:pic>
      <p:sp>
        <p:nvSpPr>
          <p:cNvPr id="217100" name="Rectangle 12">
            <a:extLst>
              <a:ext uri="{FF2B5EF4-FFF2-40B4-BE49-F238E27FC236}">
                <a16:creationId xmlns:a16="http://schemas.microsoft.com/office/drawing/2014/main" id="{9EE96036-B8D9-FE2D-A094-B2DC2368A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532" y="3465845"/>
            <a:ext cx="8291264" cy="12738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 用分段线性插值计算时，只用到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左右两个节点，计算量与节点个数无关。但是</a:t>
            </a:r>
            <a:r>
              <a:rPr kumimoji="1" lang="en-US" altLang="zh-CN" i="1" dirty="0">
                <a:solidFill>
                  <a:srgbClr val="E03E3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dirty="0">
                <a:solidFill>
                  <a:srgbClr val="E03E3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越大，分段越多，插值误差越小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实际上用函数表作插值计算时，分段线性插值就足够了。</a:t>
            </a:r>
          </a:p>
        </p:txBody>
      </p:sp>
      <p:pic>
        <p:nvPicPr>
          <p:cNvPr id="217102" name="Picture 14">
            <a:extLst>
              <a:ext uri="{FF2B5EF4-FFF2-40B4-BE49-F238E27FC236}">
                <a16:creationId xmlns:a16="http://schemas.microsoft.com/office/drawing/2014/main" id="{49560FFC-8F34-31E9-ADDD-399B3B54DB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1" b="5457"/>
          <a:stretch/>
        </p:blipFill>
        <p:spPr bwMode="auto">
          <a:xfrm>
            <a:off x="5839375" y="922024"/>
            <a:ext cx="3001373" cy="2071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BC67E7-B477-CAF0-29A5-0E8AAD474F28}"/>
              </a:ext>
            </a:extLst>
          </p:cNvPr>
          <p:cNvSpPr/>
          <p:nvPr/>
        </p:nvSpPr>
        <p:spPr>
          <a:xfrm>
            <a:off x="395536" y="194945"/>
            <a:ext cx="5328592" cy="574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分段线性插值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DB0C965-9FE3-4E9E-3FAA-DA4C16D50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84087DE-526B-CA80-216E-87A9C6ECBC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781450"/>
              </p:ext>
            </p:extLst>
          </p:nvPr>
        </p:nvGraphicFramePr>
        <p:xfrm>
          <a:off x="3426470" y="2445740"/>
          <a:ext cx="221138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49080" imgH="228600" progId="Equation.DSMT4">
                  <p:embed/>
                </p:oleObj>
              </mc:Choice>
              <mc:Fallback>
                <p:oleObj name="Equation" r:id="rId5" imgW="1549080" imgH="228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84087DE-526B-CA80-216E-87A9C6ECBC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26470" y="2445740"/>
                        <a:ext cx="2211388" cy="32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CBC67E7-B477-CAF0-29A5-0E8AAD474F28}"/>
              </a:ext>
            </a:extLst>
          </p:cNvPr>
          <p:cNvSpPr/>
          <p:nvPr/>
        </p:nvSpPr>
        <p:spPr>
          <a:xfrm>
            <a:off x="395536" y="194945"/>
            <a:ext cx="5328592" cy="574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DB0C965-9FE3-4E9E-3FAA-DA4C16D50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486814-B729-A946-B229-B2D6B08136EE}"/>
              </a:ext>
            </a:extLst>
          </p:cNvPr>
          <p:cNvSpPr txBox="1"/>
          <p:nvPr/>
        </p:nvSpPr>
        <p:spPr>
          <a:xfrm>
            <a:off x="323528" y="987574"/>
            <a:ext cx="8496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i="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中，分段线性插值命令为：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interp1(x0,y0,x)</a:t>
            </a:r>
            <a:r>
              <a:rPr lang="zh-CN" altLang="e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其中 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x0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y0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为已知节点数组，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为待计算的插值点数组。</a:t>
            </a:r>
            <a:endParaRPr lang="zh-CN" alt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B31A7A-43FB-A07A-0B1C-6B9CCE942F04}"/>
              </a:ext>
            </a:extLst>
          </p:cNvPr>
          <p:cNvSpPr txBox="1"/>
          <p:nvPr/>
        </p:nvSpPr>
        <p:spPr>
          <a:xfrm>
            <a:off x="397312" y="2283718"/>
            <a:ext cx="35886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x0=0:1:20;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y0=sin(x0);</a:t>
            </a:r>
          </a:p>
          <a:p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x=0:0.1:20;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y=interp1(x0,y0,x);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plot(x0,y0,</a:t>
            </a:r>
            <a:r>
              <a:rPr lang="en" altLang="zh-CN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'o'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,x,y,</a:t>
            </a:r>
            <a:r>
              <a:rPr lang="en" altLang="zh-CN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'-r'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);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D15AF74-49E3-CC68-9FC7-D16CCB004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50582" y="1634871"/>
            <a:ext cx="3716838" cy="29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74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CBC67E7-B477-CAF0-29A5-0E8AAD474F28}"/>
              </a:ext>
            </a:extLst>
          </p:cNvPr>
          <p:cNvSpPr/>
          <p:nvPr/>
        </p:nvSpPr>
        <p:spPr>
          <a:xfrm>
            <a:off x="395536" y="194945"/>
            <a:ext cx="5328592" cy="574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DB0C965-9FE3-4E9E-3FAA-DA4C16D50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21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486814-B729-A946-B229-B2D6B08136EE}"/>
              </a:ext>
            </a:extLst>
          </p:cNvPr>
          <p:cNvSpPr txBox="1"/>
          <p:nvPr/>
        </p:nvSpPr>
        <p:spPr>
          <a:xfrm>
            <a:off x="323528" y="987574"/>
            <a:ext cx="8496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i="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中，分段线性插值命令为：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interp1(x0,y0,x)</a:t>
            </a:r>
            <a:r>
              <a:rPr lang="zh-CN" altLang="e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其中 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x0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y0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为已知节点数组，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为待计算的插值点数组。</a:t>
            </a:r>
            <a:endParaRPr lang="zh-CN" alt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B31A7A-43FB-A07A-0B1C-6B9CCE942F04}"/>
              </a:ext>
            </a:extLst>
          </p:cNvPr>
          <p:cNvSpPr txBox="1"/>
          <p:nvPr/>
        </p:nvSpPr>
        <p:spPr>
          <a:xfrm>
            <a:off x="397312" y="2283718"/>
            <a:ext cx="358860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x0=0:1:10;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y0=x0.^2-20*x0-5;</a:t>
            </a:r>
          </a:p>
          <a:p>
            <a:br>
              <a:rPr lang="en" altLang="zh-CN" b="0" i="0" dirty="0">
                <a:effectLst/>
                <a:latin typeface="Menlo" panose="020B0609030804020204" pitchFamily="49" charset="0"/>
              </a:rPr>
            </a:br>
            <a:r>
              <a:rPr lang="en" altLang="zh-CN" b="0" i="0" dirty="0">
                <a:effectLst/>
                <a:latin typeface="Menlo" panose="020B0609030804020204" pitchFamily="49" charset="0"/>
              </a:rPr>
              <a:t>z1=interp1(x0,y0,x);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plot(x,z1,</a:t>
            </a:r>
            <a:r>
              <a:rPr lang="en" altLang="zh-CN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'-b'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);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D15AF74-49E3-CC68-9FC7-D16CCB004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634871"/>
            <a:ext cx="3762034" cy="298449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F2D6DE6-6D32-C0A0-47D1-83824E684C33}"/>
              </a:ext>
            </a:extLst>
          </p:cNvPr>
          <p:cNvSpPr txBox="1"/>
          <p:nvPr/>
        </p:nvSpPr>
        <p:spPr>
          <a:xfrm>
            <a:off x="4831673" y="3579847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E03E36"/>
                </a:solidFill>
              </a:rPr>
              <a:t>红色</a:t>
            </a:r>
            <a:r>
              <a:rPr kumimoji="1" lang="zh-CN" altLang="en-US" dirty="0"/>
              <a:t>：拉格朗日多项式插值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rgbClr val="4B5DFE"/>
                </a:solidFill>
              </a:rPr>
              <a:t>蓝色</a:t>
            </a:r>
            <a:r>
              <a:rPr kumimoji="1" lang="zh-CN" altLang="en-US" dirty="0"/>
              <a:t>：分段线性插值</a:t>
            </a:r>
          </a:p>
        </p:txBody>
      </p:sp>
    </p:spTree>
    <p:extLst>
      <p:ext uri="{BB962C8B-B14F-4D97-AF65-F5344CB8AC3E}">
        <p14:creationId xmlns:p14="http://schemas.microsoft.com/office/powerpoint/2010/main" val="3423248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036431-D291-EE74-182A-2D04CA3B4F0C}"/>
              </a:ext>
            </a:extLst>
          </p:cNvPr>
          <p:cNvSpPr/>
          <p:nvPr/>
        </p:nvSpPr>
        <p:spPr>
          <a:xfrm>
            <a:off x="395536" y="194945"/>
            <a:ext cx="6336704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分段线性插值法的优缺点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CD685386-B60E-E114-5F27-8E97238A0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059582"/>
            <a:ext cx="3528392" cy="21048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8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优点</a:t>
            </a:r>
            <a:endParaRPr kumimoji="1" lang="en-US" altLang="zh-CN" sz="18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实现简单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计算效率高</a:t>
            </a:r>
            <a:endParaRPr kumimoji="1" lang="en-US" altLang="zh-CN" sz="1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局部控制好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无震荡现象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CA71D931-3573-0FF2-35CE-E096E336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044" y="1059582"/>
            <a:ext cx="3528392" cy="21048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8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缺点</a:t>
            </a:r>
            <a:endParaRPr kumimoji="1" lang="en-US" altLang="zh-CN" sz="18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插值精度低</a:t>
            </a:r>
            <a:endParaRPr kumimoji="1" lang="en-US" altLang="zh-CN" sz="1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插值点处导数不连续</a:t>
            </a:r>
            <a:endParaRPr kumimoji="1" lang="en-US" altLang="zh-CN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只能对局部区域进行线性拟合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无法捕捉复杂趋势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B1F322-84B7-3E3D-A206-07EFEBACD1D8}"/>
              </a:ext>
            </a:extLst>
          </p:cNvPr>
          <p:cNvSpPr txBox="1"/>
          <p:nvPr/>
        </p:nvSpPr>
        <p:spPr>
          <a:xfrm>
            <a:off x="611560" y="3860343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拉格朗日多项式插值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B1690B-7A39-15F4-C1E0-21252294AC47}"/>
              </a:ext>
            </a:extLst>
          </p:cNvPr>
          <p:cNvSpPr txBox="1"/>
          <p:nvPr/>
        </p:nvSpPr>
        <p:spPr>
          <a:xfrm>
            <a:off x="4211960" y="3849049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分段低次插值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6DC35945-8B78-F9A5-3AC2-837D8DCB90C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2884939" y="4033715"/>
            <a:ext cx="1327021" cy="112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AE41719-3A09-507A-1516-CA2A5EBB115B}"/>
              </a:ext>
            </a:extLst>
          </p:cNvPr>
          <p:cNvSpPr txBox="1"/>
          <p:nvPr/>
        </p:nvSpPr>
        <p:spPr>
          <a:xfrm>
            <a:off x="2987824" y="36336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龙格现象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B40A73-0AF3-ADD4-6E3F-A5D2F4E3B2FC}"/>
              </a:ext>
            </a:extLst>
          </p:cNvPr>
          <p:cNvSpPr txBox="1"/>
          <p:nvPr/>
        </p:nvSpPr>
        <p:spPr>
          <a:xfrm>
            <a:off x="3031956" y="408304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复杂度高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8C0A7D-0473-DE06-8328-217DD822030E}"/>
              </a:ext>
            </a:extLst>
          </p:cNvPr>
          <p:cNvSpPr txBox="1"/>
          <p:nvPr/>
        </p:nvSpPr>
        <p:spPr>
          <a:xfrm>
            <a:off x="6335033" y="349101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分段线性插值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991AD8-0C20-B887-68AC-1E22662AB434}"/>
              </a:ext>
            </a:extLst>
          </p:cNvPr>
          <p:cNvSpPr txBox="1"/>
          <p:nvPr/>
        </p:nvSpPr>
        <p:spPr>
          <a:xfrm>
            <a:off x="6335033" y="4229675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分段二次插值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rgbClr val="C00000"/>
                </a:solidFill>
              </a:rPr>
              <a:t>三次样条插值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D597B941-92E8-B456-9FF8-644DE70D698C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5792842" y="3675677"/>
            <a:ext cx="542191" cy="358038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97EDC989-46CE-F328-ABC3-3D63452EC6D6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5792842" y="4033715"/>
            <a:ext cx="542191" cy="519126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59BEB55-C60A-3EBA-A7C1-BD65D242450A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7119863" y="3860343"/>
            <a:ext cx="0" cy="3693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18B8F21D-FBAF-5FE3-608E-957C1A0D86E9}"/>
              </a:ext>
            </a:extLst>
          </p:cNvPr>
          <p:cNvSpPr txBox="1"/>
          <p:nvPr/>
        </p:nvSpPr>
        <p:spPr>
          <a:xfrm>
            <a:off x="7156485" y="38603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光滑性差</a:t>
            </a:r>
          </a:p>
        </p:txBody>
      </p:sp>
    </p:spTree>
    <p:extLst>
      <p:ext uri="{BB962C8B-B14F-4D97-AF65-F5344CB8AC3E}">
        <p14:creationId xmlns:p14="http://schemas.microsoft.com/office/powerpoint/2010/main" val="370036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  <p:bldP spid="6" grpId="0"/>
      <p:bldP spid="8" grpId="0"/>
      <p:bldP spid="9" grpId="0"/>
      <p:bldP spid="10" grpId="0"/>
      <p:bldP spid="11" grpId="0"/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4" name="Rectangle 4">
            <a:extLst>
              <a:ext uri="{FF2B5EF4-FFF2-40B4-BE49-F238E27FC236}">
                <a16:creationId xmlns:a16="http://schemas.microsoft.com/office/drawing/2014/main" id="{6C1E7E10-08E4-B0E9-7093-E70BFBB69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868967"/>
            <a:ext cx="3759693" cy="2117183"/>
          </a:xfrm>
          <a:prstGeom prst="rect">
            <a:avLst/>
          </a:prstGeom>
          <a:noFill/>
          <a:ln w="19050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设函数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个节点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＜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＜ 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＜</a:t>
            </a:r>
            <a:r>
              <a:rPr kumimoji="1"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i="1" baseline="-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处的函数值已知，为 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,…,</a:t>
            </a:r>
            <a:r>
              <a:rPr kumimoji="1"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i="1" baseline="-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i="1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若要计算点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处函数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的近似值，可以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选取距离</a:t>
            </a:r>
            <a:r>
              <a:rPr kumimoji="1"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最近的</a:t>
            </a: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个节点</a:t>
            </a:r>
            <a:r>
              <a:rPr kumimoji="1"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i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i-1</a:t>
            </a:r>
            <a:r>
              <a:rPr kumimoji="1"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x</a:t>
            </a:r>
            <a:r>
              <a:rPr kumimoji="1" lang="en-US" altLang="zh-CN" i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,x</a:t>
            </a:r>
            <a:r>
              <a:rPr kumimoji="1" lang="en-US" altLang="zh-CN" i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i+1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进行二次插值</a:t>
            </a: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1"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04805" name="Group 5">
            <a:extLst>
              <a:ext uri="{FF2B5EF4-FFF2-40B4-BE49-F238E27FC236}">
                <a16:creationId xmlns:a16="http://schemas.microsoft.com/office/drawing/2014/main" id="{2092864F-93EC-517E-ACA7-EED4DD28A0DA}"/>
              </a:ext>
            </a:extLst>
          </p:cNvPr>
          <p:cNvGrpSpPr>
            <a:grpSpLocks/>
          </p:cNvGrpSpPr>
          <p:nvPr/>
        </p:nvGrpSpPr>
        <p:grpSpPr bwMode="auto">
          <a:xfrm>
            <a:off x="4488656" y="1914336"/>
            <a:ext cx="4129088" cy="2026444"/>
            <a:chOff x="1344" y="480"/>
            <a:chExt cx="3468" cy="1702"/>
          </a:xfrm>
        </p:grpSpPr>
        <p:grpSp>
          <p:nvGrpSpPr>
            <p:cNvPr id="204806" name="Group 6">
              <a:extLst>
                <a:ext uri="{FF2B5EF4-FFF2-40B4-BE49-F238E27FC236}">
                  <a16:creationId xmlns:a16="http://schemas.microsoft.com/office/drawing/2014/main" id="{9ADC70D3-715B-618B-18F5-D42F43263F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624"/>
              <a:ext cx="3120" cy="1558"/>
              <a:chOff x="1536" y="864"/>
              <a:chExt cx="3120" cy="1558"/>
            </a:xfrm>
          </p:grpSpPr>
          <p:sp>
            <p:nvSpPr>
              <p:cNvPr id="204807" name="Text Box 7">
                <a:extLst>
                  <a:ext uri="{FF2B5EF4-FFF2-40B4-BE49-F238E27FC236}">
                    <a16:creationId xmlns:a16="http://schemas.microsoft.com/office/drawing/2014/main" id="{77374B30-4E27-DE5A-408F-846C876791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1104"/>
                <a:ext cx="336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09" name="Text Box 9">
                <a:extLst>
                  <a:ext uri="{FF2B5EF4-FFF2-40B4-BE49-F238E27FC236}">
                    <a16:creationId xmlns:a16="http://schemas.microsoft.com/office/drawing/2014/main" id="{69B2509B-28A2-3D2D-C170-F863690102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1776"/>
                <a:ext cx="336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10" name="Text Box 10">
                <a:extLst>
                  <a:ext uri="{FF2B5EF4-FFF2-40B4-BE49-F238E27FC236}">
                    <a16:creationId xmlns:a16="http://schemas.microsoft.com/office/drawing/2014/main" id="{0F777817-FD24-4B68-2F9C-B5C9E45988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4" y="960"/>
                <a:ext cx="336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11" name="Text Box 11">
                <a:extLst>
                  <a:ext uri="{FF2B5EF4-FFF2-40B4-BE49-F238E27FC236}">
                    <a16:creationId xmlns:a16="http://schemas.microsoft.com/office/drawing/2014/main" id="{91F820C2-1337-B5BC-9EDE-A686F6ED40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1142"/>
                <a:ext cx="336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dirty="0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12" name="Text Box 12">
                <a:extLst>
                  <a:ext uri="{FF2B5EF4-FFF2-40B4-BE49-F238E27FC236}">
                    <a16:creationId xmlns:a16="http://schemas.microsoft.com/office/drawing/2014/main" id="{20E7AC9B-2F66-BADD-BC0A-3A9F65E119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1296"/>
                <a:ext cx="336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13" name="Line 13">
                <a:extLst>
                  <a:ext uri="{FF2B5EF4-FFF2-40B4-BE49-F238E27FC236}">
                    <a16:creationId xmlns:a16="http://schemas.microsoft.com/office/drawing/2014/main" id="{E577C1FF-F33A-C015-3ED4-4EFD1A4F04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160"/>
                <a:ext cx="3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4814" name="Line 14">
                <a:extLst>
                  <a:ext uri="{FF2B5EF4-FFF2-40B4-BE49-F238E27FC236}">
                    <a16:creationId xmlns:a16="http://schemas.microsoft.com/office/drawing/2014/main" id="{E52128E5-CDAD-4B93-7DA8-E5BCF39BF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6" y="864"/>
                <a:ext cx="0" cy="12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4815" name="Line 15">
                <a:extLst>
                  <a:ext uri="{FF2B5EF4-FFF2-40B4-BE49-F238E27FC236}">
                    <a16:creationId xmlns:a16="http://schemas.microsoft.com/office/drawing/2014/main" id="{68598CC3-F8A0-A1A5-955B-F7AEB7D36F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1104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 dirty="0"/>
              </a:p>
            </p:txBody>
          </p:sp>
          <p:sp>
            <p:nvSpPr>
              <p:cNvPr id="204816" name="Line 16">
                <a:extLst>
                  <a:ext uri="{FF2B5EF4-FFF2-40B4-BE49-F238E27FC236}">
                    <a16:creationId xmlns:a16="http://schemas.microsoft.com/office/drawing/2014/main" id="{585FA6B8-B13E-6991-9DCF-340EAC8CA7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1440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4818" name="Text Box 18">
                <a:extLst>
                  <a:ext uri="{FF2B5EF4-FFF2-40B4-BE49-F238E27FC236}">
                    <a16:creationId xmlns:a16="http://schemas.microsoft.com/office/drawing/2014/main" id="{79998485-BCAF-4B33-897C-6CFAD97E40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2112"/>
                <a:ext cx="432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</a:p>
            </p:txBody>
          </p:sp>
          <p:sp>
            <p:nvSpPr>
              <p:cNvPr id="204819" name="Text Box 19">
                <a:extLst>
                  <a:ext uri="{FF2B5EF4-FFF2-40B4-BE49-F238E27FC236}">
                    <a16:creationId xmlns:a16="http://schemas.microsoft.com/office/drawing/2014/main" id="{017CF4F1-F370-D3A8-1BCD-AD5183DC6F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112"/>
                <a:ext cx="432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i="1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kumimoji="1" lang="en-US" altLang="zh-CN" i="1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i-1</a:t>
                </a:r>
                <a:endParaRPr kumimoji="1" lang="en-US" altLang="zh-CN" i="1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20" name="Text Box 20">
                <a:extLst>
                  <a:ext uri="{FF2B5EF4-FFF2-40B4-BE49-F238E27FC236}">
                    <a16:creationId xmlns:a16="http://schemas.microsoft.com/office/drawing/2014/main" id="{8518E8AF-4391-C153-48E5-A45CD3F864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2112"/>
                <a:ext cx="432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i="1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kumimoji="1" lang="en-US" altLang="zh-CN" i="1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i</a:t>
                </a:r>
                <a:endParaRPr kumimoji="1" lang="en-US" altLang="zh-CN" i="1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23" name="Text Box 23">
                <a:extLst>
                  <a:ext uri="{FF2B5EF4-FFF2-40B4-BE49-F238E27FC236}">
                    <a16:creationId xmlns:a16="http://schemas.microsoft.com/office/drawing/2014/main" id="{80E5EE8F-4A46-796D-C9C1-D05DBA2F83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2112"/>
                <a:ext cx="384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i="1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kumimoji="1" lang="en-US" altLang="zh-CN" i="1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0</a:t>
                </a:r>
                <a:endParaRPr kumimoji="1" lang="en-US" altLang="zh-CN" i="1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04824" name="Text Box 24">
                <a:extLst>
                  <a:ext uri="{FF2B5EF4-FFF2-40B4-BE49-F238E27FC236}">
                    <a16:creationId xmlns:a16="http://schemas.microsoft.com/office/drawing/2014/main" id="{8B7816B2-F992-3124-9869-D8F4EC513A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112"/>
                <a:ext cx="528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i="1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  <a:r>
                  <a:rPr kumimoji="1" lang="en-US" altLang="zh-CN" i="1" baseline="-25000" dirty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i+1</a:t>
                </a:r>
                <a:endParaRPr kumimoji="1" lang="en-US" altLang="zh-CN" i="1" dirty="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</p:grpSp>
        <p:sp>
          <p:nvSpPr>
            <p:cNvPr id="204825" name="Text Box 25">
              <a:extLst>
                <a:ext uri="{FF2B5EF4-FFF2-40B4-BE49-F238E27FC236}">
                  <a16:creationId xmlns:a16="http://schemas.microsoft.com/office/drawing/2014/main" id="{14C44B7A-6D10-6F5B-1B30-CCEEB42A33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872"/>
              <a:ext cx="25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 dirty="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04826" name="Text Box 26">
              <a:extLst>
                <a:ext uri="{FF2B5EF4-FFF2-40B4-BE49-F238E27FC236}">
                  <a16:creationId xmlns:a16="http://schemas.microsoft.com/office/drawing/2014/main" id="{922C70E5-C95B-3EF2-0001-83411439F0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824"/>
              <a:ext cx="25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04827" name="Text Box 27">
              <a:extLst>
                <a:ext uri="{FF2B5EF4-FFF2-40B4-BE49-F238E27FC236}">
                  <a16:creationId xmlns:a16="http://schemas.microsoft.com/office/drawing/2014/main" id="{323D68BD-A68C-39C6-2E26-331E7BEC2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480"/>
              <a:ext cx="25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E4ED78E-39A6-1FD4-E4A8-E24BD5C6258D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分段二次插值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ABA94DC-4A9E-AD75-8B52-B06F9EFB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 Box 24">
            <a:extLst>
              <a:ext uri="{FF2B5EF4-FFF2-40B4-BE49-F238E27FC236}">
                <a16:creationId xmlns:a16="http://schemas.microsoft.com/office/drawing/2014/main" id="{E0432FE9-D36B-CA17-5CFA-C23EA0AC7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4869" y="2165356"/>
            <a:ext cx="6286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i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y</a:t>
            </a:r>
            <a:r>
              <a:rPr kumimoji="1" lang="en-US" altLang="zh-CN" i="1" baseline="-25000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endParaRPr kumimoji="1" lang="en-US" altLang="zh-CN" i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" name="Text Box 24">
            <a:extLst>
              <a:ext uri="{FF2B5EF4-FFF2-40B4-BE49-F238E27FC236}">
                <a16:creationId xmlns:a16="http://schemas.microsoft.com/office/drawing/2014/main" id="{AD6A7FFB-EDA4-D4C8-3076-7250576BA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786" y="2620413"/>
            <a:ext cx="6286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i="1" dirty="0">
                <a:latin typeface="Times New Roman" panose="02020603050405020304" pitchFamily="18" charset="0"/>
                <a:ea typeface="隶书" panose="02010509060101010101" pitchFamily="49" charset="-122"/>
              </a:rPr>
              <a:t>y</a:t>
            </a:r>
            <a:r>
              <a:rPr kumimoji="1" lang="en-US" altLang="zh-CN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i-1</a:t>
            </a:r>
            <a:endParaRPr kumimoji="1" lang="en-US" altLang="zh-CN" i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9" name="Line 15">
            <a:extLst>
              <a:ext uri="{FF2B5EF4-FFF2-40B4-BE49-F238E27FC236}">
                <a16:creationId xmlns:a16="http://schemas.microsoft.com/office/drawing/2014/main" id="{40319225-EB7E-0B0F-5079-A36B1D6E6F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7252" y="2371535"/>
            <a:ext cx="2465648" cy="42509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dirty="0"/>
          </a:p>
        </p:txBody>
      </p:sp>
      <p:sp>
        <p:nvSpPr>
          <p:cNvPr id="10" name="Line 15">
            <a:extLst>
              <a:ext uri="{FF2B5EF4-FFF2-40B4-BE49-F238E27FC236}">
                <a16:creationId xmlns:a16="http://schemas.microsoft.com/office/drawing/2014/main" id="{9A38F341-DDE2-DE9D-ED5D-BE77D2AD0D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7254" y="2805079"/>
            <a:ext cx="1428739" cy="1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dirty="0"/>
          </a:p>
        </p:txBody>
      </p:sp>
      <p:sp>
        <p:nvSpPr>
          <p:cNvPr id="4" name="Line 15">
            <a:extLst>
              <a:ext uri="{FF2B5EF4-FFF2-40B4-BE49-F238E27FC236}">
                <a16:creationId xmlns:a16="http://schemas.microsoft.com/office/drawing/2014/main" id="{B87E2973-6090-8923-746E-4237350DE5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7252" y="2571749"/>
            <a:ext cx="3023097" cy="42509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dirty="0"/>
          </a:p>
        </p:txBody>
      </p:sp>
      <p:sp>
        <p:nvSpPr>
          <p:cNvPr id="5" name="Line 15">
            <a:extLst>
              <a:ext uri="{FF2B5EF4-FFF2-40B4-BE49-F238E27FC236}">
                <a16:creationId xmlns:a16="http://schemas.microsoft.com/office/drawing/2014/main" id="{C92BC1BB-98A1-2E63-A6B4-9E94049470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2256" y="2534687"/>
            <a:ext cx="1" cy="1094139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dirty="0"/>
          </a:p>
        </p:txBody>
      </p:sp>
      <p:sp>
        <p:nvSpPr>
          <p:cNvPr id="11" name="Text Box 24">
            <a:extLst>
              <a:ext uri="{FF2B5EF4-FFF2-40B4-BE49-F238E27FC236}">
                <a16:creationId xmlns:a16="http://schemas.microsoft.com/office/drawing/2014/main" id="{3831F20B-0F98-97BB-FE5A-FEE1B6490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479" y="2380368"/>
            <a:ext cx="6286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i="1" dirty="0">
                <a:latin typeface="Times New Roman" panose="02020603050405020304" pitchFamily="18" charset="0"/>
                <a:ea typeface="隶书" panose="02010509060101010101" pitchFamily="49" charset="-122"/>
              </a:rPr>
              <a:t>y</a:t>
            </a:r>
            <a:r>
              <a:rPr kumimoji="1" lang="en-US" altLang="zh-CN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i+1</a:t>
            </a:r>
            <a:endParaRPr kumimoji="1" lang="en-US" altLang="zh-CN" i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3" name="任意形状 12">
            <a:extLst>
              <a:ext uri="{FF2B5EF4-FFF2-40B4-BE49-F238E27FC236}">
                <a16:creationId xmlns:a16="http://schemas.microsoft.com/office/drawing/2014/main" id="{0AABE2A5-A068-8CE8-6B5E-2CA95EFE36EE}"/>
              </a:ext>
            </a:extLst>
          </p:cNvPr>
          <p:cNvSpPr/>
          <p:nvPr/>
        </p:nvSpPr>
        <p:spPr>
          <a:xfrm>
            <a:off x="6134582" y="2372732"/>
            <a:ext cx="1689904" cy="439916"/>
          </a:xfrm>
          <a:custGeom>
            <a:avLst/>
            <a:gdLst>
              <a:gd name="connsiteX0" fmla="*/ 0 w 1689904"/>
              <a:gd name="connsiteY0" fmla="*/ 439916 h 439916"/>
              <a:gd name="connsiteX1" fmla="*/ 532436 w 1689904"/>
              <a:gd name="connsiteY1" fmla="*/ 208422 h 439916"/>
              <a:gd name="connsiteX2" fmla="*/ 1088021 w 1689904"/>
              <a:gd name="connsiteY2" fmla="*/ 78 h 439916"/>
              <a:gd name="connsiteX3" fmla="*/ 1689904 w 1689904"/>
              <a:gd name="connsiteY3" fmla="*/ 231572 h 439916"/>
              <a:gd name="connsiteX4" fmla="*/ 1689904 w 1689904"/>
              <a:gd name="connsiteY4" fmla="*/ 231572 h 439916"/>
              <a:gd name="connsiteX5" fmla="*/ 1643605 w 1689904"/>
              <a:gd name="connsiteY5" fmla="*/ 208422 h 439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9904" h="439916">
                <a:moveTo>
                  <a:pt x="0" y="439916"/>
                </a:moveTo>
                <a:cubicBezTo>
                  <a:pt x="175549" y="360822"/>
                  <a:pt x="351099" y="281728"/>
                  <a:pt x="532436" y="208422"/>
                </a:cubicBezTo>
                <a:cubicBezTo>
                  <a:pt x="713773" y="135116"/>
                  <a:pt x="895110" y="-3780"/>
                  <a:pt x="1088021" y="78"/>
                </a:cubicBezTo>
                <a:cubicBezTo>
                  <a:pt x="1280932" y="3936"/>
                  <a:pt x="1689904" y="231572"/>
                  <a:pt x="1689904" y="231572"/>
                </a:cubicBezTo>
                <a:lnTo>
                  <a:pt x="1689904" y="231572"/>
                </a:lnTo>
                <a:lnTo>
                  <a:pt x="1643605" y="208422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6405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47" name="Text Box 31">
            <a:extLst>
              <a:ext uri="{FF2B5EF4-FFF2-40B4-BE49-F238E27FC236}">
                <a16:creationId xmlns:a16="http://schemas.microsoft.com/office/drawing/2014/main" id="{AE7715CE-E830-20D5-06C1-7E76EC964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953865"/>
            <a:ext cx="5112568" cy="1689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分段插值虽然计算简单，但是光滑性较差。</a:t>
            </a:r>
            <a:endParaRPr kumimoji="1" lang="en-US" altLang="zh-CN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在数学上，光滑程度的定量描述是：函数</a:t>
            </a: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曲线</a:t>
            </a: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阶导数存在且连续，则称</a:t>
            </a:r>
            <a:r>
              <a:rPr kumimoji="1" lang="zh-CN" altLang="en-US" dirty="0">
                <a:solidFill>
                  <a:srgbClr val="E03E3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该曲线具有</a:t>
            </a:r>
            <a:r>
              <a:rPr kumimoji="1" lang="en-US" altLang="zh-CN" i="1" dirty="0">
                <a:solidFill>
                  <a:srgbClr val="E03E3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zh-CN" altLang="en-US" dirty="0">
                <a:solidFill>
                  <a:srgbClr val="E03E3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阶光滑性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。光滑性的阶次越高，则越光滑。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C682CB-65CE-CD98-1865-A02259089A70}"/>
              </a:ext>
            </a:extLst>
          </p:cNvPr>
          <p:cNvSpPr/>
          <p:nvPr/>
        </p:nvSpPr>
        <p:spPr>
          <a:xfrm>
            <a:off x="395536" y="194945"/>
            <a:ext cx="691276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三次样条插值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Cubic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Spline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Interpolation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7F1BB9-3319-2AB5-85F2-6ABC8F055B50}"/>
              </a:ext>
            </a:extLst>
          </p:cNvPr>
          <p:cNvSpPr txBox="1"/>
          <p:nvPr/>
        </p:nvSpPr>
        <p:spPr>
          <a:xfrm>
            <a:off x="383178" y="2738117"/>
            <a:ext cx="3189699" cy="858377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是否存在较低次的分段多项式达到较高阶光滑性的方法？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68E562-1679-9E04-86AB-8430306A89C8}"/>
              </a:ext>
            </a:extLst>
          </p:cNvPr>
          <p:cNvSpPr txBox="1"/>
          <p:nvPr/>
        </p:nvSpPr>
        <p:spPr>
          <a:xfrm>
            <a:off x="395536" y="3729253"/>
            <a:ext cx="3744416" cy="4603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三次样条插值就是一个很好的例子</a:t>
            </a: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!</a:t>
            </a:r>
            <a:endParaRPr lang="zh-CN" altLang="en-US" dirty="0"/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3348CBB-136B-5503-298A-460413D7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BC0B403E-A6AB-7275-47CE-F0EA2BA1D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4756" y="1042938"/>
            <a:ext cx="3002044" cy="3200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75C501A-C723-237D-2FD1-1AD5D2B38A76}"/>
              </a:ext>
            </a:extLst>
          </p:cNvPr>
          <p:cNvSpPr txBox="1"/>
          <p:nvPr/>
        </p:nvSpPr>
        <p:spPr>
          <a:xfrm>
            <a:off x="6521951" y="4534854"/>
            <a:ext cx="1327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样条的由来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7" name="Rectangle 3">
            <a:extLst>
              <a:ext uri="{FF2B5EF4-FFF2-40B4-BE49-F238E27FC236}">
                <a16:creationId xmlns:a16="http://schemas.microsoft.com/office/drawing/2014/main" id="{8C3188A4-D5E0-1553-3EDF-818551BEF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049610"/>
            <a:ext cx="79928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三次样条函数  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记为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，它是定义在区间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上的函数，满足以下两个条件：</a:t>
            </a:r>
          </a:p>
        </p:txBody>
      </p:sp>
      <p:sp>
        <p:nvSpPr>
          <p:cNvPr id="221188" name="Rectangle 4">
            <a:extLst>
              <a:ext uri="{FF2B5EF4-FFF2-40B4-BE49-F238E27FC236}">
                <a16:creationId xmlns:a16="http://schemas.microsoft.com/office/drawing/2014/main" id="{013432FA-5717-F449-A686-B474FE8CF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418942"/>
            <a:ext cx="4392488" cy="1689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在每一个小区间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i="1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i="1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上是一个</a:t>
            </a:r>
            <a:r>
              <a:rPr kumimoji="1"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三次多项式函数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pPr algn="just" eaLnBrk="0" hangingPunct="0">
              <a:lnSpc>
                <a:spcPct val="15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在整个区间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上，其二阶导数存在且连续。 即在每个节点处的</a:t>
            </a:r>
            <a:r>
              <a:rPr kumimoji="1"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二阶导数连续</a:t>
            </a: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21189" name="Object 5">
            <a:extLst>
              <a:ext uri="{FF2B5EF4-FFF2-40B4-BE49-F238E27FC236}">
                <a16:creationId xmlns:a16="http://schemas.microsoft.com/office/drawing/2014/main" id="{6EE02F0E-AFCE-3CA8-1544-509126C001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4701" y="1560616"/>
          <a:ext cx="3448617" cy="1471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3172268" imgH="1352381" progId="Paint.Picture">
                  <p:embed/>
                </p:oleObj>
              </mc:Choice>
              <mc:Fallback>
                <p:oleObj name="位图图像" r:id="rId3" imgW="3172268" imgH="1352381" progId="Paint.Picture">
                  <p:embed/>
                  <p:pic>
                    <p:nvPicPr>
                      <p:cNvPr id="221189" name="Object 5">
                        <a:extLst>
                          <a:ext uri="{FF2B5EF4-FFF2-40B4-BE49-F238E27FC236}">
                            <a16:creationId xmlns:a16="http://schemas.microsoft.com/office/drawing/2014/main" id="{6EE02F0E-AFCE-3CA8-1544-509126C001DE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4701" y="1560616"/>
                        <a:ext cx="3448617" cy="1471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190" name="Rectangle 6">
            <a:extLst>
              <a:ext uri="{FF2B5EF4-FFF2-40B4-BE49-F238E27FC236}">
                <a16:creationId xmlns:a16="http://schemas.microsoft.com/office/drawing/2014/main" id="{3966E079-5E30-0A43-87A1-305C09994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48" y="3335768"/>
            <a:ext cx="7952870" cy="12738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：给定函数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个节点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…, </a:t>
            </a:r>
            <a:r>
              <a:rPr kumimoji="1"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i="1" baseline="-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处的函数值为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…, </a:t>
            </a:r>
            <a:r>
              <a:rPr kumimoji="1"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i="1" baseline="-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。求一个三次样条函数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使其满足：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i="1" baseline="-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</a:t>
            </a:r>
            <a:r>
              <a:rPr kumimoji="1"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en-US" altLang="zh-CN" i="1" baseline="-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=0,1,…,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如何确定三次样条函数在每一个小区间上的三次多项式函数的系数？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B2C0D-560D-2283-A75C-54744A82A794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三次样条插值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09CF275-83AC-A8A0-7BDD-F0E0F855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4" name="Rectangle 6">
            <a:extLst>
              <a:ext uri="{FF2B5EF4-FFF2-40B4-BE49-F238E27FC236}">
                <a16:creationId xmlns:a16="http://schemas.microsoft.com/office/drawing/2014/main" id="{195CF34D-1D9C-4FCD-0800-0106D2AFA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891743"/>
            <a:ext cx="8291264" cy="1511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参数</a:t>
            </a: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：每个小段上</a:t>
            </a:r>
            <a:r>
              <a:rPr kumimoji="1"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个，</a:t>
            </a:r>
            <a:r>
              <a:rPr kumimoji="1" lang="en-US" altLang="zh-CN" sz="16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个小段共计</a:t>
            </a:r>
            <a:r>
              <a:rPr kumimoji="1"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16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个。</a:t>
            </a:r>
          </a:p>
          <a:p>
            <a:pPr eaLnBrk="0" hangingPunct="0"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每个小段上由给定函数值得到</a:t>
            </a:r>
            <a:r>
              <a:rPr kumimoji="1"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个，</a:t>
            </a:r>
            <a:r>
              <a:rPr kumimoji="1" lang="en-US" altLang="zh-CN" sz="16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个小段共计</a:t>
            </a:r>
            <a:r>
              <a:rPr kumimoji="1"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16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endParaRPr kumimoji="1"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</a:pPr>
            <a:r>
              <a:rPr kumimoji="1"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光滑性</a:t>
            </a: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要求每一个内部节点的一阶二阶导数连续，得出其左右导数相等。</a:t>
            </a:r>
            <a:endParaRPr kumimoji="1"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</a:pP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因此，每个节点产生</a:t>
            </a:r>
            <a:r>
              <a:rPr kumimoji="1"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个方程，共记</a:t>
            </a:r>
            <a:r>
              <a:rPr kumimoji="1"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16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-2</a:t>
            </a: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 </a:t>
            </a:r>
          </a:p>
        </p:txBody>
      </p:sp>
      <p:sp>
        <p:nvSpPr>
          <p:cNvPr id="222215" name="Rectangle 7">
            <a:extLst>
              <a:ext uri="{FF2B5EF4-FFF2-40B4-BE49-F238E27FC236}">
                <a16:creationId xmlns:a16="http://schemas.microsoft.com/office/drawing/2014/main" id="{6F22C996-461A-C9DB-7852-2F85A5C30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2421197"/>
            <a:ext cx="8424936" cy="784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现在得到了</a:t>
            </a:r>
            <a:r>
              <a:rPr kumimoji="1"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16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-2</a:t>
            </a: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个方程，还差两个。为此，常用的方法是</a:t>
            </a: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对边界节点除函数值外附加要求</a:t>
            </a: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，这就是所谓的</a:t>
            </a: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边界条件</a:t>
            </a:r>
            <a:r>
              <a: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。这里需要两个边界条件，正好左右两个端点各一个。 </a:t>
            </a:r>
          </a:p>
        </p:txBody>
      </p:sp>
      <p:sp>
        <p:nvSpPr>
          <p:cNvPr id="222216" name="Rectangle 8">
            <a:extLst>
              <a:ext uri="{FF2B5EF4-FFF2-40B4-BE49-F238E27FC236}">
                <a16:creationId xmlns:a16="http://schemas.microsoft.com/office/drawing/2014/main" id="{8DBFCB62-2EDC-9769-9ADB-78616D007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3380978"/>
            <a:ext cx="6686550" cy="323165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1500" i="1" dirty="0">
                <a:latin typeface="Times New Roman" panose="02020603050405020304" pitchFamily="18" charset="0"/>
              </a:rPr>
              <a:t>m</a:t>
            </a:r>
            <a:r>
              <a:rPr kumimoji="1" lang="zh-CN" altLang="en-US" sz="1500" dirty="0">
                <a:latin typeface="宋体" panose="02010600030101010101" pitchFamily="2" charset="-122"/>
              </a:rPr>
              <a:t>边界条件</a:t>
            </a:r>
            <a:r>
              <a:rPr kumimoji="1" lang="zh-CN" altLang="en-US" sz="1500" dirty="0">
                <a:latin typeface="Times New Roman" panose="02020603050405020304" pitchFamily="18" charset="0"/>
              </a:rPr>
              <a:t>  </a:t>
            </a:r>
            <a:r>
              <a:rPr kumimoji="1" lang="zh-CN" altLang="en-US" sz="1500" dirty="0">
                <a:latin typeface="宋体" panose="02010600030101010101" pitchFamily="2" charset="-122"/>
              </a:rPr>
              <a:t>给定两个边界点的</a:t>
            </a:r>
            <a:r>
              <a:rPr kumimoji="1" lang="zh-CN" altLang="en-US" sz="1500" dirty="0">
                <a:solidFill>
                  <a:srgbClr val="C00000"/>
                </a:solidFill>
                <a:latin typeface="宋体" panose="02010600030101010101" pitchFamily="2" charset="-122"/>
              </a:rPr>
              <a:t>一阶导数值</a:t>
            </a:r>
            <a:r>
              <a:rPr kumimoji="1" lang="en-US" altLang="zh-CN" sz="1500" i="1" dirty="0">
                <a:latin typeface="Times New Roman" panose="02020603050405020304" pitchFamily="18" charset="0"/>
              </a:rPr>
              <a:t>m</a:t>
            </a:r>
            <a:r>
              <a:rPr kumimoji="1" lang="en-US" altLang="zh-CN" sz="1500" baseline="-30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,</a:t>
            </a:r>
            <a:r>
              <a:rPr kumimoji="1" lang="en-US" altLang="zh-CN" sz="1500" i="1" dirty="0">
                <a:latin typeface="Times New Roman" panose="02020603050405020304" pitchFamily="18" charset="0"/>
              </a:rPr>
              <a:t>m</a:t>
            </a:r>
            <a:r>
              <a:rPr kumimoji="1" lang="en-US" altLang="zh-CN" sz="1500" i="1" baseline="-30000" dirty="0">
                <a:latin typeface="Times New Roman" panose="02020603050405020304" pitchFamily="18" charset="0"/>
              </a:rPr>
              <a:t>n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1500" dirty="0">
                <a:latin typeface="宋体" panose="02010600030101010101" pitchFamily="2" charset="-122"/>
              </a:rPr>
              <a:t>即  </a:t>
            </a:r>
            <a:r>
              <a:rPr kumimoji="1" lang="zh-CN" altLang="en-US" sz="1500" baseline="-300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1500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1500" baseline="-30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)=</a:t>
            </a:r>
            <a:r>
              <a:rPr kumimoji="1" lang="en-US" altLang="zh-CN" sz="1500" i="1" dirty="0">
                <a:latin typeface="Times New Roman" panose="02020603050405020304" pitchFamily="18" charset="0"/>
              </a:rPr>
              <a:t>m</a:t>
            </a:r>
            <a:r>
              <a:rPr kumimoji="1" lang="en-US" altLang="zh-CN" sz="1500" baseline="-30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     (</a:t>
            </a:r>
            <a:r>
              <a:rPr kumimoji="1" lang="en-US" altLang="zh-CN" sz="1500" i="1" dirty="0" err="1">
                <a:latin typeface="Times New Roman" panose="02020603050405020304" pitchFamily="18" charset="0"/>
              </a:rPr>
              <a:t>x</a:t>
            </a:r>
            <a:r>
              <a:rPr kumimoji="1" lang="en-US" altLang="zh-CN" sz="1500" i="1" baseline="-30000" dirty="0" err="1">
                <a:latin typeface="Times New Roman" panose="02020603050405020304" pitchFamily="18" charset="0"/>
              </a:rPr>
              <a:t>n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)=</a:t>
            </a:r>
            <a:r>
              <a:rPr kumimoji="1" lang="en-US" altLang="zh-CN" sz="1500" i="1" dirty="0" err="1">
                <a:latin typeface="Times New Roman" panose="02020603050405020304" pitchFamily="18" charset="0"/>
              </a:rPr>
              <a:t>m</a:t>
            </a:r>
            <a:r>
              <a:rPr kumimoji="1" lang="en-US" altLang="zh-CN" sz="1500" i="1" baseline="-30000" dirty="0" err="1">
                <a:latin typeface="Times New Roman" panose="02020603050405020304" pitchFamily="18" charset="0"/>
              </a:rPr>
              <a:t>n</a:t>
            </a:r>
            <a:r>
              <a:rPr kumimoji="1" lang="zh-CN" altLang="en-US" sz="1500" dirty="0">
                <a:latin typeface="宋体" panose="02010600030101010101" pitchFamily="2" charset="-122"/>
              </a:rPr>
              <a:t>。</a:t>
            </a:r>
            <a:r>
              <a:rPr kumimoji="1" lang="zh-CN" altLang="en-US" sz="1500" dirty="0"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222217" name="Picture 9">
            <a:extLst>
              <a:ext uri="{FF2B5EF4-FFF2-40B4-BE49-F238E27FC236}">
                <a16:creationId xmlns:a16="http://schemas.microsoft.com/office/drawing/2014/main" id="{B8C801C6-4EF5-6484-6F2B-4EAC51C01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866" y="3380978"/>
            <a:ext cx="28575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218" name="Picture 10">
            <a:extLst>
              <a:ext uri="{FF2B5EF4-FFF2-40B4-BE49-F238E27FC236}">
                <a16:creationId xmlns:a16="http://schemas.microsoft.com/office/drawing/2014/main" id="{90314399-8D7D-B206-13C3-E19AF99AB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116" y="3380978"/>
            <a:ext cx="28575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2219" name="Rectangle 11">
            <a:extLst>
              <a:ext uri="{FF2B5EF4-FFF2-40B4-BE49-F238E27FC236}">
                <a16:creationId xmlns:a16="http://schemas.microsoft.com/office/drawing/2014/main" id="{FB4226AB-E385-970E-99EE-205F2A828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3723878"/>
            <a:ext cx="6686550" cy="55399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1500" i="1" dirty="0">
                <a:latin typeface="Times New Roman" panose="02020603050405020304" pitchFamily="18" charset="0"/>
              </a:rPr>
              <a:t>M</a:t>
            </a:r>
            <a:r>
              <a:rPr kumimoji="1" lang="zh-CN" altLang="en-US" sz="1500" dirty="0">
                <a:latin typeface="宋体" panose="02010600030101010101" pitchFamily="2" charset="-122"/>
              </a:rPr>
              <a:t>边界条件</a:t>
            </a:r>
            <a:r>
              <a:rPr kumimoji="1" lang="zh-CN" altLang="en-US" sz="1500" dirty="0">
                <a:latin typeface="Times New Roman" panose="02020603050405020304" pitchFamily="18" charset="0"/>
              </a:rPr>
              <a:t>  </a:t>
            </a:r>
            <a:r>
              <a:rPr kumimoji="1" lang="zh-CN" altLang="en-US" sz="1500" dirty="0">
                <a:latin typeface="宋体" panose="02010600030101010101" pitchFamily="2" charset="-122"/>
              </a:rPr>
              <a:t>给定两个边界点的</a:t>
            </a:r>
            <a:r>
              <a:rPr kumimoji="1" lang="zh-CN" altLang="en-US" sz="1500" dirty="0">
                <a:solidFill>
                  <a:srgbClr val="C00000"/>
                </a:solidFill>
                <a:latin typeface="宋体" panose="02010600030101010101" pitchFamily="2" charset="-122"/>
              </a:rPr>
              <a:t>二阶导数值</a:t>
            </a:r>
            <a:r>
              <a:rPr kumimoji="1" lang="en-US" altLang="zh-CN" sz="1500" i="1" dirty="0">
                <a:latin typeface="Times New Roman" panose="02020603050405020304" pitchFamily="18" charset="0"/>
              </a:rPr>
              <a:t>M</a:t>
            </a:r>
            <a:r>
              <a:rPr kumimoji="1" lang="en-US" altLang="zh-CN" sz="1500" baseline="-30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,</a:t>
            </a:r>
            <a:r>
              <a:rPr kumimoji="1" lang="en-US" altLang="zh-CN" sz="1500" i="1" dirty="0">
                <a:latin typeface="Times New Roman" panose="02020603050405020304" pitchFamily="18" charset="0"/>
              </a:rPr>
              <a:t>M</a:t>
            </a:r>
            <a:r>
              <a:rPr kumimoji="1" lang="en-US" altLang="zh-CN" sz="1500" i="1" baseline="-30000" dirty="0">
                <a:latin typeface="Times New Roman" panose="02020603050405020304" pitchFamily="18" charset="0"/>
              </a:rPr>
              <a:t>n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1500" dirty="0">
                <a:latin typeface="宋体" panose="02010600030101010101" pitchFamily="2" charset="-122"/>
              </a:rPr>
              <a:t>即 </a:t>
            </a:r>
            <a:r>
              <a:rPr kumimoji="1" lang="zh-CN" altLang="en-US" sz="1500" baseline="-30000" dirty="0">
                <a:latin typeface="Times New Roman" panose="02020603050405020304" pitchFamily="18" charset="0"/>
              </a:rPr>
              <a:t>     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1500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1500" baseline="-30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)=</a:t>
            </a:r>
            <a:r>
              <a:rPr kumimoji="1" lang="en-US" altLang="zh-CN" sz="1500" i="1" dirty="0">
                <a:latin typeface="Times New Roman" panose="02020603050405020304" pitchFamily="18" charset="0"/>
              </a:rPr>
              <a:t>M</a:t>
            </a:r>
            <a:r>
              <a:rPr kumimoji="1" lang="en-US" altLang="zh-CN" sz="1500" baseline="-30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,      (</a:t>
            </a:r>
            <a:r>
              <a:rPr kumimoji="1" lang="en-US" altLang="zh-CN" sz="1500" i="1" dirty="0" err="1">
                <a:latin typeface="Times New Roman" panose="02020603050405020304" pitchFamily="18" charset="0"/>
              </a:rPr>
              <a:t>x</a:t>
            </a:r>
            <a:r>
              <a:rPr kumimoji="1" lang="en-US" altLang="zh-CN" sz="1500" i="1" baseline="-30000" dirty="0" err="1">
                <a:latin typeface="Times New Roman" panose="02020603050405020304" pitchFamily="18" charset="0"/>
              </a:rPr>
              <a:t>n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)=</a:t>
            </a:r>
            <a:r>
              <a:rPr kumimoji="1" lang="en-US" altLang="zh-CN" sz="1500" i="1" dirty="0">
                <a:latin typeface="Times New Roman" panose="02020603050405020304" pitchFamily="18" charset="0"/>
              </a:rPr>
              <a:t>M</a:t>
            </a:r>
            <a:r>
              <a:rPr kumimoji="1" lang="en-US" altLang="zh-CN" sz="1500" i="1" baseline="-30000" dirty="0">
                <a:latin typeface="Times New Roman" panose="02020603050405020304" pitchFamily="18" charset="0"/>
              </a:rPr>
              <a:t>n</a:t>
            </a:r>
            <a:r>
              <a:rPr kumimoji="1" lang="zh-CN" altLang="en-US" sz="1500" dirty="0">
                <a:latin typeface="宋体" panose="02010600030101010101" pitchFamily="2" charset="-122"/>
              </a:rPr>
              <a:t>。</a:t>
            </a:r>
          </a:p>
          <a:p>
            <a:r>
              <a:rPr kumimoji="1" lang="zh-CN" altLang="en-US" sz="1500" dirty="0">
                <a:latin typeface="宋体" panose="02010600030101010101" pitchFamily="2" charset="-122"/>
              </a:rPr>
              <a:t>           最常用的是自然边界条件：</a:t>
            </a:r>
            <a:r>
              <a:rPr kumimoji="1"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CN" sz="1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=Mn=0 </a:t>
            </a:r>
          </a:p>
        </p:txBody>
      </p:sp>
      <p:pic>
        <p:nvPicPr>
          <p:cNvPr id="222220" name="Picture 12">
            <a:extLst>
              <a:ext uri="{FF2B5EF4-FFF2-40B4-BE49-F238E27FC236}">
                <a16:creationId xmlns:a16="http://schemas.microsoft.com/office/drawing/2014/main" id="{D482F1D7-76CD-CB3A-D4AB-A1196E125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266" y="3723878"/>
            <a:ext cx="285750" cy="27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221" name="Picture 13">
            <a:extLst>
              <a:ext uri="{FF2B5EF4-FFF2-40B4-BE49-F238E27FC236}">
                <a16:creationId xmlns:a16="http://schemas.microsoft.com/office/drawing/2014/main" id="{D530BFBC-ECDF-74DA-2916-6C131393C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866" y="3723878"/>
            <a:ext cx="285750" cy="27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2223" name="Rectangle 15">
            <a:extLst>
              <a:ext uri="{FF2B5EF4-FFF2-40B4-BE49-F238E27FC236}">
                <a16:creationId xmlns:a16="http://schemas.microsoft.com/office/drawing/2014/main" id="{7B890910-671F-F424-5FBB-6A63A61A0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4295378"/>
            <a:ext cx="6686550" cy="553998"/>
          </a:xfrm>
          <a:prstGeom prst="rect">
            <a:avLst/>
          </a:prstGeom>
          <a:solidFill>
            <a:srgbClr val="99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1500" dirty="0">
                <a:latin typeface="宋体" panose="02010600030101010101" pitchFamily="2" charset="-122"/>
              </a:rPr>
              <a:t>周期性边界条件</a:t>
            </a:r>
            <a:r>
              <a:rPr kumimoji="1" lang="zh-CN" altLang="en-US" sz="1500" dirty="0">
                <a:latin typeface="Times New Roman" panose="02020603050405020304" pitchFamily="18" charset="0"/>
              </a:rPr>
              <a:t> </a:t>
            </a:r>
            <a:r>
              <a:rPr kumimoji="1" lang="zh-CN" altLang="en-US" sz="1500" dirty="0">
                <a:latin typeface="宋体" panose="02010600030101010101" pitchFamily="2" charset="-122"/>
              </a:rPr>
              <a:t> 对周期函数，在自然满足</a:t>
            </a:r>
            <a:r>
              <a:rPr kumimoji="1"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S(x</a:t>
            </a:r>
            <a:r>
              <a:rPr kumimoji="1" lang="en-US" altLang="zh-CN" sz="1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)=S(</a:t>
            </a:r>
            <a:r>
              <a:rPr kumimoji="1" lang="en-US" altLang="zh-C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15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1500" dirty="0">
                <a:latin typeface="宋体" panose="02010600030101010101" pitchFamily="2" charset="-122"/>
              </a:rPr>
              <a:t>时，令两个边界的一阶 </a:t>
            </a:r>
          </a:p>
          <a:p>
            <a:r>
              <a:rPr kumimoji="1" lang="zh-CN" altLang="en-US" sz="1500" dirty="0">
                <a:latin typeface="宋体" panose="02010600030101010101" pitchFamily="2" charset="-122"/>
              </a:rPr>
              <a:t>                导数和二阶导数分别相等：即</a:t>
            </a:r>
            <a:endParaRPr kumimoji="1" lang="zh-CN" altLang="en-US" sz="1500" dirty="0">
              <a:latin typeface="Times New Roman" panose="02020603050405020304" pitchFamily="18" charset="0"/>
            </a:endParaRPr>
          </a:p>
        </p:txBody>
      </p:sp>
      <p:sp>
        <p:nvSpPr>
          <p:cNvPr id="222224" name="Rectangle 16">
            <a:extLst>
              <a:ext uri="{FF2B5EF4-FFF2-40B4-BE49-F238E27FC236}">
                <a16:creationId xmlns:a16="http://schemas.microsoft.com/office/drawing/2014/main" id="{12D9D849-D76D-0CFD-98A1-A144F4691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4716" y="4523978"/>
            <a:ext cx="2663429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7C8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15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1500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1500" baseline="-30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)=</a:t>
            </a:r>
            <a:r>
              <a:rPr kumimoji="1" lang="en-US" altLang="zh-CN" sz="1500" baseline="-30000" dirty="0">
                <a:latin typeface="Times New Roman" panose="02020603050405020304" pitchFamily="18" charset="0"/>
              </a:rPr>
              <a:t>      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1500" i="1" dirty="0" err="1">
                <a:latin typeface="Times New Roman" panose="02020603050405020304" pitchFamily="18" charset="0"/>
              </a:rPr>
              <a:t>x</a:t>
            </a:r>
            <a:r>
              <a:rPr kumimoji="1" lang="en-US" altLang="zh-CN" sz="1500" i="1" baseline="-30000" dirty="0" err="1">
                <a:latin typeface="Times New Roman" panose="02020603050405020304" pitchFamily="18" charset="0"/>
              </a:rPr>
              <a:t>n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1500" dirty="0">
                <a:latin typeface="宋体" panose="02010600030101010101" pitchFamily="2" charset="-122"/>
              </a:rPr>
              <a:t>， 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1500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1500" baseline="-30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)= </a:t>
            </a:r>
            <a:r>
              <a:rPr kumimoji="1" lang="en-US" altLang="zh-CN" sz="1500" baseline="-30000" dirty="0">
                <a:latin typeface="Times New Roman" panose="02020603050405020304" pitchFamily="18" charset="0"/>
              </a:rPr>
              <a:t>    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1500" i="1" dirty="0" err="1">
                <a:latin typeface="Times New Roman" panose="02020603050405020304" pitchFamily="18" charset="0"/>
              </a:rPr>
              <a:t>x</a:t>
            </a:r>
            <a:r>
              <a:rPr kumimoji="1" lang="en-US" altLang="zh-CN" sz="1500" i="1" baseline="-30000" dirty="0" err="1">
                <a:latin typeface="Times New Roman" panose="02020603050405020304" pitchFamily="18" charset="0"/>
              </a:rPr>
              <a:t>n</a:t>
            </a:r>
            <a:r>
              <a:rPr kumimoji="1" lang="en-US" altLang="zh-CN" sz="1500" dirty="0">
                <a:latin typeface="Times New Roman" panose="02020603050405020304" pitchFamily="18" charset="0"/>
              </a:rPr>
              <a:t>) </a:t>
            </a:r>
          </a:p>
        </p:txBody>
      </p:sp>
      <p:pic>
        <p:nvPicPr>
          <p:cNvPr id="222225" name="Picture 17">
            <a:extLst>
              <a:ext uri="{FF2B5EF4-FFF2-40B4-BE49-F238E27FC236}">
                <a16:creationId xmlns:a16="http://schemas.microsoft.com/office/drawing/2014/main" id="{F2984B61-A5DF-0CE0-3F62-C7FDDABAD11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416" y="4581128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226" name="Picture 18">
            <a:extLst>
              <a:ext uri="{FF2B5EF4-FFF2-40B4-BE49-F238E27FC236}">
                <a16:creationId xmlns:a16="http://schemas.microsoft.com/office/drawing/2014/main" id="{AD9C0C3D-5836-78FF-077B-F3CA9E60D6E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766" y="4581128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227" name="Picture 19">
            <a:extLst>
              <a:ext uri="{FF2B5EF4-FFF2-40B4-BE49-F238E27FC236}">
                <a16:creationId xmlns:a16="http://schemas.microsoft.com/office/drawing/2014/main" id="{61AAC1F2-4EB2-8139-EC5A-616EF1B8028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099" y="4593034"/>
            <a:ext cx="228600" cy="21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228" name="Picture 20">
            <a:extLst>
              <a:ext uri="{FF2B5EF4-FFF2-40B4-BE49-F238E27FC236}">
                <a16:creationId xmlns:a16="http://schemas.microsoft.com/office/drawing/2014/main" id="{B52B157C-0826-6FEE-C6EA-AF899A033CF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266" y="4581128"/>
            <a:ext cx="228600" cy="21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27991023-AF99-D113-22C0-B6376E9B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26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79C315-98FE-E29F-EBB3-523C081BE45D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三次样条函数求解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27991023-AF99-D113-22C0-B6376E9B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79C315-98FE-E29F-EBB3-523C081BE45D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三次样条函数求解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ED8CEE-EDE7-646C-9791-EE4DC7295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40" y="854867"/>
            <a:ext cx="3694222" cy="10647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40A25CE-D04A-7A2C-C8B5-C8045EA281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98" y="2571750"/>
            <a:ext cx="2997706" cy="171428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2F8F354-1F6C-02B6-9D41-E591E7223D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817" y="1246986"/>
            <a:ext cx="3034830" cy="157692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05438BA-6273-1237-7A2F-7617709D13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189" y="3171066"/>
            <a:ext cx="1658015" cy="63394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FFE12C6-77D3-5240-E36F-5DBD174706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250" y="3961764"/>
            <a:ext cx="3208750" cy="48385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45B87C8-4D85-73B8-B26A-0D32D156F3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6" y="4656980"/>
            <a:ext cx="1026119" cy="22056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B615F94-42C7-DF1B-54DD-38325333CB86}"/>
              </a:ext>
            </a:extLst>
          </p:cNvPr>
          <p:cNvSpPr txBox="1"/>
          <p:nvPr/>
        </p:nvSpPr>
        <p:spPr>
          <a:xfrm>
            <a:off x="373722" y="2141169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）连续性</a:t>
            </a:r>
            <a:r>
              <a:rPr kumimoji="1"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2n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1EF0250-E573-C9AA-8912-858E57A65933}"/>
              </a:ext>
            </a:extLst>
          </p:cNvPr>
          <p:cNvSpPr txBox="1"/>
          <p:nvPr/>
        </p:nvSpPr>
        <p:spPr>
          <a:xfrm>
            <a:off x="4859229" y="854867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）光滑性</a:t>
            </a:r>
            <a:r>
              <a:rPr kumimoji="1"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2n-2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8B1C9B5-4BB6-F487-C48D-9A25AADC04B2}"/>
              </a:ext>
            </a:extLst>
          </p:cNvPr>
          <p:cNvSpPr txBox="1"/>
          <p:nvPr/>
        </p:nvSpPr>
        <p:spPr>
          <a:xfrm>
            <a:off x="4844829" y="2886829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）边界条件</a:t>
            </a:r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7C536E-FD8E-A3B2-984C-587FEE5783DD}"/>
              </a:ext>
            </a:extLst>
          </p:cNvPr>
          <p:cNvSpPr txBox="1"/>
          <p:nvPr/>
        </p:nvSpPr>
        <p:spPr>
          <a:xfrm>
            <a:off x="5364088" y="3354324"/>
            <a:ext cx="1296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Natural</a:t>
            </a:r>
            <a:r>
              <a:rPr kumimoji="1"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Spline</a:t>
            </a:r>
            <a:endParaRPr lang="zh-CN" altLang="en-US" sz="1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F91FB5-2F02-50B9-FB34-97F61FB2C7FB}"/>
              </a:ext>
            </a:extLst>
          </p:cNvPr>
          <p:cNvSpPr txBox="1"/>
          <p:nvPr/>
        </p:nvSpPr>
        <p:spPr>
          <a:xfrm>
            <a:off x="4847366" y="3961764"/>
            <a:ext cx="1296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Spline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EC11442-96C8-371B-0314-767A9A970296}"/>
              </a:ext>
            </a:extLst>
          </p:cNvPr>
          <p:cNvSpPr txBox="1"/>
          <p:nvPr/>
        </p:nvSpPr>
        <p:spPr>
          <a:xfrm>
            <a:off x="4877260" y="4541525"/>
            <a:ext cx="15039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Quadratic Spline</a:t>
            </a:r>
          </a:p>
        </p:txBody>
      </p:sp>
    </p:spTree>
    <p:extLst>
      <p:ext uri="{BB962C8B-B14F-4D97-AF65-F5344CB8AC3E}">
        <p14:creationId xmlns:p14="http://schemas.microsoft.com/office/powerpoint/2010/main" val="3306440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27991023-AF99-D113-22C0-B6376E9B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79C315-98FE-E29F-EBB3-523C081BE45D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三次样条函数求解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660203-C742-4F4A-7C1A-2E817F2D6B1A}"/>
              </a:ext>
            </a:extLst>
          </p:cNvPr>
          <p:cNvSpPr txBox="1"/>
          <p:nvPr/>
        </p:nvSpPr>
        <p:spPr>
          <a:xfrm>
            <a:off x="467544" y="915566"/>
            <a:ext cx="8208911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52B3A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给定</a:t>
            </a:r>
            <a:r>
              <a:rPr lang="en-US" altLang="zh-CN" b="0" i="0" dirty="0">
                <a:solidFill>
                  <a:srgbClr val="252B3A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b="0" i="0" dirty="0">
                <a:solidFill>
                  <a:srgbClr val="252B3A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个数据点</a:t>
            </a:r>
            <a:r>
              <a:rPr lang="en" altLang="zh-CN" b="0" u="none" strike="noStrike" dirty="0">
                <a:solidFill>
                  <a:srgbClr val="252B3A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D={(0,21),(1,24),(2,24),(3,18),(4,16)} , </a:t>
            </a:r>
            <a:r>
              <a:rPr lang="zh-CN" altLang="en-US" b="0" i="0" dirty="0">
                <a:solidFill>
                  <a:srgbClr val="252B3A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利用自然边界</a:t>
            </a:r>
            <a:r>
              <a:rPr lang="en-US" altLang="zh-CN" b="0" i="0" dirty="0">
                <a:solidFill>
                  <a:srgbClr val="252B3A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b="0" i="0" dirty="0">
                <a:solidFill>
                  <a:srgbClr val="252B3A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Natural Spline)</a:t>
            </a:r>
            <a:r>
              <a:rPr lang="zh-CN" altLang="en-US" b="0" i="0" dirty="0">
                <a:solidFill>
                  <a:srgbClr val="252B3A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条件，求三次样条插值函数。</a:t>
            </a:r>
            <a:endParaRPr lang="zh-CN" alt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D74A8F7-4D06-B835-CAE3-86D67E124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46" y="1995068"/>
            <a:ext cx="956084" cy="203293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E3A3E29-843B-0155-6213-2CD68C6B7D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657" y="2125555"/>
            <a:ext cx="2315774" cy="127021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D830185-B1F5-DBED-995E-C7127324B0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029" y="3864428"/>
            <a:ext cx="1206500" cy="50270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A1D1D58-D13B-7552-8472-DC2B8B8494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696991"/>
            <a:ext cx="3263499" cy="168199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1596D37-9FEC-C25D-C088-0B2F46D98E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3675508"/>
            <a:ext cx="3867832" cy="880549"/>
          </a:xfrm>
          <a:prstGeom prst="rect">
            <a:avLst/>
          </a:prstGeom>
        </p:spPr>
      </p:pic>
      <p:pic>
        <p:nvPicPr>
          <p:cNvPr id="22530" name="Picture 2">
            <a:extLst>
              <a:ext uri="{FF2B5EF4-FFF2-40B4-BE49-F238E27FC236}">
                <a16:creationId xmlns:a16="http://schemas.microsoft.com/office/drawing/2014/main" id="{4F46BDEC-FC42-2CDD-5444-B9E3E5621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095" y="3675508"/>
            <a:ext cx="1094876" cy="93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EAA33E7-5BD6-22B4-60D0-8AF17EC9D42E}"/>
              </a:ext>
            </a:extLst>
          </p:cNvPr>
          <p:cNvSpPr txBox="1"/>
          <p:nvPr/>
        </p:nvSpPr>
        <p:spPr>
          <a:xfrm>
            <a:off x="179912" y="1651382"/>
            <a:ext cx="1368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）连续性：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FD8A0F8-DD02-8CEF-1593-02B4063DA464}"/>
              </a:ext>
            </a:extLst>
          </p:cNvPr>
          <p:cNvSpPr txBox="1"/>
          <p:nvPr/>
        </p:nvSpPr>
        <p:spPr>
          <a:xfrm>
            <a:off x="2020641" y="1666738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）光滑性：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2B8F39F-0979-E605-B5A8-1D1B65A55411}"/>
              </a:ext>
            </a:extLst>
          </p:cNvPr>
          <p:cNvSpPr txBox="1"/>
          <p:nvPr/>
        </p:nvSpPr>
        <p:spPr>
          <a:xfrm>
            <a:off x="2020641" y="3520763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）边界条件：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293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3" name="Text Box 3">
            <a:extLst>
              <a:ext uri="{FF2B5EF4-FFF2-40B4-BE49-F238E27FC236}">
                <a16:creationId xmlns:a16="http://schemas.microsoft.com/office/drawing/2014/main" id="{6A8BBC28-95A2-E887-93B8-1A1F583FB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028" y="1777939"/>
            <a:ext cx="185968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</a:pPr>
            <a:r>
              <a:rPr kumimoji="1"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一维插值函数：</a:t>
            </a:r>
          </a:p>
        </p:txBody>
      </p:sp>
      <p:sp>
        <p:nvSpPr>
          <p:cNvPr id="235524" name="Text Box 4">
            <a:extLst>
              <a:ext uri="{FF2B5EF4-FFF2-40B4-BE49-F238E27FC236}">
                <a16:creationId xmlns:a16="http://schemas.microsoft.com/office/drawing/2014/main" id="{F60E83CC-4D73-7C1F-D201-F450CD59B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1426" y="1722218"/>
            <a:ext cx="502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kumimoji="1" lang="en-US" altLang="zh-CN" sz="2400" dirty="0" err="1">
                <a:latin typeface="Times New Roman" panose="02020603050405020304" pitchFamily="18" charset="0"/>
                <a:ea typeface="魏碑" pitchFamily="49" charset="-122"/>
              </a:rPr>
              <a:t>yi</a:t>
            </a:r>
            <a:r>
              <a:rPr kumimoji="1" lang="en-US" altLang="zh-CN" sz="2400" dirty="0">
                <a:latin typeface="Times New Roman" panose="02020603050405020304" pitchFamily="18" charset="0"/>
                <a:ea typeface="魏碑" pitchFamily="49" charset="-122"/>
              </a:rPr>
              <a:t>=interp1(x</a:t>
            </a:r>
            <a:r>
              <a:rPr kumimoji="1" lang="zh-CN" altLang="en-US" sz="2400" dirty="0">
                <a:latin typeface="Times New Roman" panose="02020603050405020304" pitchFamily="18" charset="0"/>
                <a:ea typeface="魏碑" pitchFamily="49" charset="-122"/>
              </a:rPr>
              <a:t>，</a:t>
            </a:r>
            <a:r>
              <a:rPr kumimoji="1" lang="en-US" altLang="zh-CN" sz="2400" dirty="0">
                <a:latin typeface="Times New Roman" panose="02020603050405020304" pitchFamily="18" charset="0"/>
                <a:ea typeface="魏碑" pitchFamily="49" charset="-122"/>
              </a:rPr>
              <a:t>y</a:t>
            </a:r>
            <a:r>
              <a:rPr kumimoji="1" lang="zh-CN" altLang="en-US" sz="2400" dirty="0">
                <a:latin typeface="Times New Roman" panose="02020603050405020304" pitchFamily="18" charset="0"/>
                <a:ea typeface="魏碑" pitchFamily="49" charset="-122"/>
              </a:rPr>
              <a:t>，</a:t>
            </a:r>
            <a:r>
              <a:rPr kumimoji="1" lang="en-US" altLang="zh-CN" sz="2400" dirty="0">
                <a:latin typeface="Times New Roman" panose="02020603050405020304" pitchFamily="18" charset="0"/>
                <a:ea typeface="魏碑" pitchFamily="49" charset="-122"/>
              </a:rPr>
              <a:t>xi</a:t>
            </a:r>
            <a:r>
              <a:rPr kumimoji="1" lang="zh-CN" altLang="en-US" sz="2400" dirty="0">
                <a:latin typeface="Times New Roman" panose="02020603050405020304" pitchFamily="18" charset="0"/>
                <a:ea typeface="魏碑" pitchFamily="49" charset="-122"/>
              </a:rPr>
              <a:t>，</a:t>
            </a:r>
            <a:r>
              <a:rPr kumimoji="1" lang="en-US" altLang="zh-CN" sz="2400" dirty="0">
                <a:latin typeface="Times New Roman" panose="02020603050405020304" pitchFamily="18" charset="0"/>
                <a:ea typeface="魏碑" pitchFamily="49" charset="-122"/>
              </a:rPr>
              <a:t>'method')</a:t>
            </a:r>
            <a:endParaRPr kumimoji="1" lang="en-US" altLang="zh-CN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235525" name="Group 5">
            <a:extLst>
              <a:ext uri="{FF2B5EF4-FFF2-40B4-BE49-F238E27FC236}">
                <a16:creationId xmlns:a16="http://schemas.microsoft.com/office/drawing/2014/main" id="{BE1AF7B3-BF50-D7D2-9998-183BD6755003}"/>
              </a:ext>
            </a:extLst>
          </p:cNvPr>
          <p:cNvGrpSpPr>
            <a:grpSpLocks/>
          </p:cNvGrpSpPr>
          <p:nvPr/>
        </p:nvGrpSpPr>
        <p:grpSpPr bwMode="auto">
          <a:xfrm>
            <a:off x="5727526" y="2156795"/>
            <a:ext cx="2228850" cy="826294"/>
            <a:chOff x="3456" y="1248"/>
            <a:chExt cx="1872" cy="694"/>
          </a:xfrm>
        </p:grpSpPr>
        <p:sp>
          <p:nvSpPr>
            <p:cNvPr id="235526" name="Text Box 6">
              <a:extLst>
                <a:ext uri="{FF2B5EF4-FFF2-40B4-BE49-F238E27FC236}">
                  <a16:creationId xmlns:a16="http://schemas.microsoft.com/office/drawing/2014/main" id="{D3711B85-EB34-F067-65D6-6DA589B69A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632"/>
              <a:ext cx="1104" cy="31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插值方法</a:t>
              </a:r>
            </a:p>
          </p:txBody>
        </p:sp>
        <p:sp>
          <p:nvSpPr>
            <p:cNvPr id="235527" name="Line 7">
              <a:extLst>
                <a:ext uri="{FF2B5EF4-FFF2-40B4-BE49-F238E27FC236}">
                  <a16:creationId xmlns:a16="http://schemas.microsoft.com/office/drawing/2014/main" id="{1ECD97BC-A6CE-ECE0-3D21-769A013BD8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248"/>
              <a:ext cx="76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5528" name="Line 8">
              <a:extLst>
                <a:ext uri="{FF2B5EF4-FFF2-40B4-BE49-F238E27FC236}">
                  <a16:creationId xmlns:a16="http://schemas.microsoft.com/office/drawing/2014/main" id="{A0C50C4D-30F8-5449-4FE5-27C366E5C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248"/>
              <a:ext cx="1008" cy="38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35529" name="Group 9">
            <a:extLst>
              <a:ext uri="{FF2B5EF4-FFF2-40B4-BE49-F238E27FC236}">
                <a16:creationId xmlns:a16="http://schemas.microsoft.com/office/drawing/2014/main" id="{A063C8A1-A1F0-2F8A-E063-6C3128CC9A90}"/>
              </a:ext>
            </a:extLst>
          </p:cNvPr>
          <p:cNvGrpSpPr>
            <a:grpSpLocks/>
          </p:cNvGrpSpPr>
          <p:nvPr/>
        </p:nvGrpSpPr>
        <p:grpSpPr bwMode="auto">
          <a:xfrm>
            <a:off x="4870276" y="2156796"/>
            <a:ext cx="1371600" cy="827485"/>
            <a:chOff x="2736" y="1248"/>
            <a:chExt cx="1152" cy="695"/>
          </a:xfrm>
        </p:grpSpPr>
        <p:sp>
          <p:nvSpPr>
            <p:cNvPr id="235530" name="Line 10">
              <a:extLst>
                <a:ext uri="{FF2B5EF4-FFF2-40B4-BE49-F238E27FC236}">
                  <a16:creationId xmlns:a16="http://schemas.microsoft.com/office/drawing/2014/main" id="{8FAB44CD-0344-28A3-796A-409479FC3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248"/>
              <a:ext cx="19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5531" name="Text Box 11">
              <a:extLst>
                <a:ext uri="{FF2B5EF4-FFF2-40B4-BE49-F238E27FC236}">
                  <a16:creationId xmlns:a16="http://schemas.microsoft.com/office/drawing/2014/main" id="{4BA071E4-8EAA-2700-4AF1-28B305560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633"/>
              <a:ext cx="1152" cy="31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latin typeface="宋体" panose="02010600030101010101" pitchFamily="2" charset="-122"/>
                  <a:ea typeface="宋体" panose="02010600030101010101" pitchFamily="2" charset="-122"/>
                </a:rPr>
                <a:t>被插值点</a:t>
              </a:r>
            </a:p>
          </p:txBody>
        </p:sp>
        <p:sp>
          <p:nvSpPr>
            <p:cNvPr id="235532" name="Line 12">
              <a:extLst>
                <a:ext uri="{FF2B5EF4-FFF2-40B4-BE49-F238E27FC236}">
                  <a16:creationId xmlns:a16="http://schemas.microsoft.com/office/drawing/2014/main" id="{0DAF52B5-2ECB-5D12-787E-D0C3D7C8D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248"/>
              <a:ext cx="336" cy="38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35533" name="Group 13">
            <a:extLst>
              <a:ext uri="{FF2B5EF4-FFF2-40B4-BE49-F238E27FC236}">
                <a16:creationId xmlns:a16="http://schemas.microsoft.com/office/drawing/2014/main" id="{25A36697-4228-F633-B0B3-B857712FD238}"/>
              </a:ext>
            </a:extLst>
          </p:cNvPr>
          <p:cNvGrpSpPr>
            <a:grpSpLocks/>
          </p:cNvGrpSpPr>
          <p:nvPr/>
        </p:nvGrpSpPr>
        <p:grpSpPr bwMode="auto">
          <a:xfrm>
            <a:off x="3212926" y="2156795"/>
            <a:ext cx="1485900" cy="826294"/>
            <a:chOff x="1344" y="1248"/>
            <a:chExt cx="1248" cy="694"/>
          </a:xfrm>
        </p:grpSpPr>
        <p:sp>
          <p:nvSpPr>
            <p:cNvPr id="235534" name="Line 14">
              <a:extLst>
                <a:ext uri="{FF2B5EF4-FFF2-40B4-BE49-F238E27FC236}">
                  <a16:creationId xmlns:a16="http://schemas.microsoft.com/office/drawing/2014/main" id="{3B6E734E-DB3C-BE2B-4087-23ABBADC2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248"/>
              <a:ext cx="43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5535" name="Text Box 15">
              <a:extLst>
                <a:ext uri="{FF2B5EF4-FFF2-40B4-BE49-F238E27FC236}">
                  <a16:creationId xmlns:a16="http://schemas.microsoft.com/office/drawing/2014/main" id="{22B8FDCA-5107-C5A4-AC02-517BB2489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632"/>
              <a:ext cx="1104" cy="31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>
                  <a:latin typeface="宋体" panose="02010600030101010101" pitchFamily="2" charset="-122"/>
                  <a:ea typeface="宋体" panose="02010600030101010101" pitchFamily="2" charset="-122"/>
                </a:rPr>
                <a:t>插值节点</a:t>
              </a:r>
            </a:p>
          </p:txBody>
        </p:sp>
        <p:sp>
          <p:nvSpPr>
            <p:cNvPr id="235536" name="Line 16">
              <a:extLst>
                <a:ext uri="{FF2B5EF4-FFF2-40B4-BE49-F238E27FC236}">
                  <a16:creationId xmlns:a16="http://schemas.microsoft.com/office/drawing/2014/main" id="{6E203411-6F8C-4B3A-08E0-FC4D809322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248"/>
              <a:ext cx="528" cy="38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35537" name="Group 17">
            <a:extLst>
              <a:ext uri="{FF2B5EF4-FFF2-40B4-BE49-F238E27FC236}">
                <a16:creationId xmlns:a16="http://schemas.microsoft.com/office/drawing/2014/main" id="{30282846-BC11-2DDE-7126-8566FE518A7B}"/>
              </a:ext>
            </a:extLst>
          </p:cNvPr>
          <p:cNvGrpSpPr>
            <a:grpSpLocks/>
          </p:cNvGrpSpPr>
          <p:nvPr/>
        </p:nvGrpSpPr>
        <p:grpSpPr bwMode="auto">
          <a:xfrm>
            <a:off x="1153145" y="2156796"/>
            <a:ext cx="1859756" cy="826294"/>
            <a:chOff x="-386" y="1248"/>
            <a:chExt cx="1562" cy="694"/>
          </a:xfrm>
        </p:grpSpPr>
        <p:sp>
          <p:nvSpPr>
            <p:cNvPr id="235538" name="Line 18">
              <a:extLst>
                <a:ext uri="{FF2B5EF4-FFF2-40B4-BE49-F238E27FC236}">
                  <a16:creationId xmlns:a16="http://schemas.microsoft.com/office/drawing/2014/main" id="{482148B3-0E4A-39EF-D4E7-202873432C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48"/>
              <a:ext cx="288" cy="0"/>
            </a:xfrm>
            <a:prstGeom prst="line">
              <a:avLst/>
            </a:prstGeom>
            <a:noFill/>
            <a:ln w="12700" cap="sq">
              <a:solidFill>
                <a:srgbClr val="FFCC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5539" name="Text Box 19">
              <a:extLst>
                <a:ext uri="{FF2B5EF4-FFF2-40B4-BE49-F238E27FC236}">
                  <a16:creationId xmlns:a16="http://schemas.microsoft.com/office/drawing/2014/main" id="{3EA7BC4A-AE3B-A22E-9B5D-20E1908083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86" y="1632"/>
              <a:ext cx="1562" cy="31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处的插值结果</a:t>
              </a:r>
            </a:p>
          </p:txBody>
        </p:sp>
        <p:sp>
          <p:nvSpPr>
            <p:cNvPr id="235540" name="Line 20">
              <a:extLst>
                <a:ext uri="{FF2B5EF4-FFF2-40B4-BE49-F238E27FC236}">
                  <a16:creationId xmlns:a16="http://schemas.microsoft.com/office/drawing/2014/main" id="{2EE03212-F4D2-C123-8469-0DECB2394A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" y="1248"/>
              <a:ext cx="576" cy="368"/>
            </a:xfrm>
            <a:prstGeom prst="line">
              <a:avLst/>
            </a:prstGeom>
            <a:noFill/>
            <a:ln w="12700" cap="sq">
              <a:solidFill>
                <a:srgbClr val="FFCC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35542" name="Text Box 22">
            <a:extLst>
              <a:ext uri="{FF2B5EF4-FFF2-40B4-BE49-F238E27FC236}">
                <a16:creationId xmlns:a16="http://schemas.microsoft.com/office/drawing/2014/main" id="{CCC8B7FC-9554-FBB7-04FD-C8360D71D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471" y="3502303"/>
            <a:ext cx="3086099" cy="12862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10000"/>
              </a:spcBef>
            </a:pPr>
            <a:r>
              <a:rPr kumimoji="1" lang="zh-CN" altLang="en-US" dirty="0">
                <a:solidFill>
                  <a:srgbClr val="E03E36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注意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：所有的插值方法都要求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是单调的，并且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i="1" baseline="-25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不能够超过</a:t>
            </a:r>
            <a:r>
              <a:rPr kumimoji="1" lang="en-US" altLang="zh-CN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的范围。</a:t>
            </a:r>
          </a:p>
        </p:txBody>
      </p:sp>
      <p:sp>
        <p:nvSpPr>
          <p:cNvPr id="235543" name="Line 23">
            <a:extLst>
              <a:ext uri="{FF2B5EF4-FFF2-40B4-BE49-F238E27FC236}">
                <a16:creationId xmlns:a16="http://schemas.microsoft.com/office/drawing/2014/main" id="{6EF75BE3-2450-6091-C747-4F78EE92495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9151" y="2983089"/>
            <a:ext cx="0" cy="519214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21720C-C285-DA6C-0FD2-3886E589EB34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编程实现</a:t>
            </a: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B83542AA-02CB-D9FE-0936-60B16F277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35541" name="Text Box 21">
            <a:extLst>
              <a:ext uri="{FF2B5EF4-FFF2-40B4-BE49-F238E27FC236}">
                <a16:creationId xmlns:a16="http://schemas.microsoft.com/office/drawing/2014/main" id="{E7A2741C-C2ED-F4DC-E3DC-EACECF625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276" y="3359887"/>
            <a:ext cx="3086100" cy="15881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‘nearest’  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最邻近插值</a:t>
            </a:r>
            <a:endParaRPr kumimoji="1"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1000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‘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linear’   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线性插值</a:t>
            </a:r>
          </a:p>
          <a:p>
            <a:pPr>
              <a:spcBef>
                <a:spcPct val="1000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‘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spline’   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三次样条插值</a:t>
            </a:r>
          </a:p>
          <a:p>
            <a:pPr>
              <a:spcBef>
                <a:spcPct val="1000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‘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cubic’   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立方插值</a:t>
            </a:r>
          </a:p>
          <a:p>
            <a:pPr>
              <a:spcBef>
                <a:spcPct val="1000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缺省时   分段线性插值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E96408-0691-1284-A2C4-08EA96423F96}"/>
              </a:ext>
            </a:extLst>
          </p:cNvPr>
          <p:cNvSpPr txBox="1"/>
          <p:nvPr/>
        </p:nvSpPr>
        <p:spPr>
          <a:xfrm>
            <a:off x="323528" y="987574"/>
            <a:ext cx="8496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i="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中，分段线性插值命令为：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interp1(x0,y0,x)</a:t>
            </a:r>
            <a:r>
              <a:rPr lang="zh-CN" altLang="e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其中 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x0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y0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为已知节点数组，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为待计算的插值点数组。</a:t>
            </a:r>
            <a:endParaRPr lang="zh-CN" alt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CBC67E7-B477-CAF0-29A5-0E8AAD474F28}"/>
              </a:ext>
            </a:extLst>
          </p:cNvPr>
          <p:cNvSpPr/>
          <p:nvPr/>
        </p:nvSpPr>
        <p:spPr>
          <a:xfrm>
            <a:off x="395536" y="194945"/>
            <a:ext cx="5328592" cy="574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DB0C965-9FE3-4E9E-3FAA-DA4C16D50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30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B31A7A-43FB-A07A-0B1C-6B9CCE942F04}"/>
              </a:ext>
            </a:extLst>
          </p:cNvPr>
          <p:cNvSpPr txBox="1"/>
          <p:nvPr/>
        </p:nvSpPr>
        <p:spPr>
          <a:xfrm>
            <a:off x="411447" y="1851670"/>
            <a:ext cx="358860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b="0" i="0" dirty="0">
                <a:effectLst/>
                <a:latin typeface="Menlo" panose="020B0609030804020204" pitchFamily="49" charset="0"/>
              </a:rPr>
              <a:t>x0=0:1:20;</a:t>
            </a:r>
          </a:p>
          <a:p>
            <a:r>
              <a:rPr lang="en" altLang="zh-CN" sz="1600" b="0" i="0" dirty="0">
                <a:effectLst/>
                <a:latin typeface="Menlo" panose="020B0609030804020204" pitchFamily="49" charset="0"/>
              </a:rPr>
              <a:t>y0=sin(x0);</a:t>
            </a:r>
          </a:p>
          <a:p>
            <a:endParaRPr lang="en" altLang="zh-CN" sz="1600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sz="1600" b="0" i="0" dirty="0">
                <a:effectLst/>
                <a:latin typeface="Menlo" panose="020B0609030804020204" pitchFamily="49" charset="0"/>
              </a:rPr>
              <a:t>x=0:0.1:20;</a:t>
            </a:r>
          </a:p>
          <a:p>
            <a:r>
              <a:rPr lang="en" altLang="zh-CN" sz="1600" b="0" i="0" dirty="0">
                <a:effectLst/>
                <a:latin typeface="Menlo" panose="020B0609030804020204" pitchFamily="49" charset="0"/>
              </a:rPr>
              <a:t>y=interp1(x0,y0,x,</a:t>
            </a:r>
            <a:r>
              <a:rPr lang="en" altLang="zh-CN" sz="16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'spline'</a:t>
            </a:r>
            <a:r>
              <a:rPr lang="en" altLang="zh-CN" sz="1600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sz="1600" b="0" i="0" dirty="0">
                <a:effectLst/>
                <a:latin typeface="Menlo" panose="020B0609030804020204" pitchFamily="49" charset="0"/>
              </a:rPr>
              <a:t>plot(x0,y0,</a:t>
            </a:r>
            <a:r>
              <a:rPr lang="en" altLang="zh-CN" sz="16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'o'</a:t>
            </a:r>
            <a:r>
              <a:rPr lang="en" altLang="zh-CN" sz="1600" b="0" i="0" dirty="0">
                <a:effectLst/>
                <a:latin typeface="Menlo" panose="020B0609030804020204" pitchFamily="49" charset="0"/>
              </a:rPr>
              <a:t>,x,y,</a:t>
            </a:r>
            <a:r>
              <a:rPr lang="en" altLang="zh-CN" sz="16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'-r'</a:t>
            </a:r>
            <a:r>
              <a:rPr lang="en" altLang="zh-CN" sz="1600" b="0" i="0" dirty="0">
                <a:effectLst/>
                <a:latin typeface="Menlo" panose="020B0609030804020204" pitchFamily="49" charset="0"/>
              </a:rPr>
              <a:t>);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D15AF74-49E3-CC68-9FC7-D16CCB004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4781" y="1275606"/>
            <a:ext cx="3716838" cy="29844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EC8D4AE-8E5A-3418-D72A-92BBE77E36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092" y="1275606"/>
            <a:ext cx="3676215" cy="298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8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675A19EE-6D7A-747F-1AF0-4D6508557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909962"/>
            <a:ext cx="8064896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例：在一天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24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小时内，从零点开始每间隔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小时测得环境温度数据分别为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(°C)</a:t>
            </a:r>
            <a:endParaRPr kumimoji="1" lang="zh-CN" alt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 eaLnBrk="0" hangingPunct="0"/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12   9   9   10   18   24   28   27   25   20   18   15   13</a:t>
            </a:r>
          </a:p>
          <a:p>
            <a:pPr eaLnBrk="0" hangingPunct="0"/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试推测中午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点（即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点）时的温度？</a:t>
            </a:r>
          </a:p>
        </p:txBody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5E35A80A-22C7-EA3C-61EE-96FCA7923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781" y="2064487"/>
            <a:ext cx="4176243" cy="268656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" altLang="zh-CN" sz="1600" b="0" i="0" dirty="0">
                <a:effectLst/>
                <a:latin typeface="Menlo" panose="020B0609030804020204" pitchFamily="49" charset="0"/>
              </a:rPr>
              <a:t>x = 0:2:24; </a:t>
            </a:r>
          </a:p>
          <a:p>
            <a:r>
              <a:rPr lang="en" altLang="zh-CN" sz="1600" b="0" i="0" dirty="0">
                <a:effectLst/>
                <a:latin typeface="Menlo" panose="020B0609030804020204" pitchFamily="49" charset="0"/>
              </a:rPr>
              <a:t>y =[12 9 9 10 18 24 28 27 25 20 18 15 13]; </a:t>
            </a:r>
          </a:p>
          <a:p>
            <a:r>
              <a:rPr lang="en" altLang="zh-CN" sz="1600" b="0" i="0" dirty="0">
                <a:effectLst/>
                <a:latin typeface="Menlo" panose="020B0609030804020204" pitchFamily="49" charset="0"/>
              </a:rPr>
              <a:t>x1=13; </a:t>
            </a:r>
          </a:p>
          <a:p>
            <a:r>
              <a:rPr lang="en" altLang="zh-CN" sz="1600" b="0" i="0" dirty="0">
                <a:effectLst/>
                <a:latin typeface="Menlo" panose="020B0609030804020204" pitchFamily="49" charset="0"/>
              </a:rPr>
              <a:t>y1=interp1(x,y,x1,</a:t>
            </a:r>
            <a:r>
              <a:rPr lang="en" altLang="zh-CN" sz="16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'spline'</a:t>
            </a:r>
            <a:r>
              <a:rPr lang="en" altLang="zh-CN" sz="1600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sz="16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%y1=interp1(x,y,x1,'linear');</a:t>
            </a:r>
            <a:endParaRPr lang="en" altLang="zh-CN" sz="1600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sz="1600" b="0" i="0" dirty="0">
                <a:effectLst/>
                <a:latin typeface="Menlo" panose="020B0609030804020204" pitchFamily="49" charset="0"/>
              </a:rPr>
              <a:t>plot(x1,y1,</a:t>
            </a:r>
            <a:r>
              <a:rPr lang="en" altLang="zh-CN" sz="16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'o'</a:t>
            </a:r>
            <a:r>
              <a:rPr lang="en" altLang="zh-CN" sz="1600" b="0" i="0" dirty="0">
                <a:effectLst/>
                <a:latin typeface="Menlo" panose="020B0609030804020204" pitchFamily="49" charset="0"/>
              </a:rPr>
              <a:t>,x,y,</a:t>
            </a:r>
            <a:r>
              <a:rPr lang="en" altLang="zh-CN" sz="16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'ro'</a:t>
            </a:r>
            <a:r>
              <a:rPr lang="en" altLang="zh-CN" sz="1600" b="0" i="0" dirty="0"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得到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y1 = 27.8725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A437EA-3B3B-3282-DB6B-6F1A7F978F86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例题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E36BD92-B80D-1822-7908-C314ABE4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31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905445-9D53-0E9A-0C83-E1B2C01C9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2064487"/>
            <a:ext cx="3132964" cy="259511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675A19EE-6D7A-747F-1AF0-4D6508557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909962"/>
            <a:ext cx="8064896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例：在一天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24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小时内，从零点开始每间隔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小时测得环境温度数据分别为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(°C)</a:t>
            </a:r>
            <a:endParaRPr kumimoji="1" lang="zh-CN" alt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 eaLnBrk="0" hangingPunct="0"/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12   9   9   10   18   24   28   27   25   20   18   15   13</a:t>
            </a:r>
          </a:p>
          <a:p>
            <a:pPr eaLnBrk="0" hangingPunct="0"/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试推测中午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点（即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点）时的温度？</a:t>
            </a:r>
          </a:p>
        </p:txBody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5E35A80A-22C7-EA3C-61EE-96FCA7923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837" y="2198039"/>
            <a:ext cx="4176243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numpy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np</a:t>
            </a:r>
          </a:p>
          <a:p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scipy.interpolate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interp1d</a:t>
            </a:r>
          </a:p>
          <a:p>
            <a:b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定义数据点</a:t>
            </a:r>
            <a:endParaRPr lang="zh-CN" alt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np.arange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25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等价于 </a:t>
            </a:r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MATLAB </a:t>
            </a:r>
            <a:r>
              <a:rPr lang="zh-CN" altLang="en-US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中的 </a:t>
            </a:r>
            <a:r>
              <a:rPr lang="en-US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0:2:24</a:t>
            </a:r>
            <a:endParaRPr lang="zh-CN" alt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 =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np.array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12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18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24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28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27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25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18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13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A437EA-3B3B-3282-DB6B-6F1A7F978F86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例题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E36BD92-B80D-1822-7908-C314ABE4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32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8D37A8-F861-D163-BE20-790334C2E1A8}"/>
              </a:ext>
            </a:extLst>
          </p:cNvPr>
          <p:cNvSpPr txBox="1"/>
          <p:nvPr/>
        </p:nvSpPr>
        <p:spPr>
          <a:xfrm>
            <a:off x="4632654" y="1988540"/>
            <a:ext cx="417624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插值点</a:t>
            </a:r>
            <a:endParaRPr lang="zh-CN" alt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x1 = </a:t>
            </a:r>
            <a:r>
              <a:rPr lang="en" altLang="zh-CN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13</a:t>
            </a:r>
            <a:endParaRPr lang="en" altLang="zh-CN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使用三次样条插值</a:t>
            </a:r>
            <a:endParaRPr lang="zh-CN" alt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spline_interp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interp1d(x, y, kind=</a:t>
            </a:r>
            <a:r>
              <a:rPr lang="en" altLang="zh-CN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'cubic'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b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4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计算插值结果</a:t>
            </a:r>
            <a:endParaRPr lang="zh-CN" altLang="en-US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y1 =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spline_interp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(x1)</a:t>
            </a:r>
          </a:p>
          <a:p>
            <a:b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" altLang="zh-CN" sz="14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"The</a:t>
            </a:r>
            <a:r>
              <a:rPr lang="en" altLang="zh-CN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 interpolated value at x1 = 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{x1}</a:t>
            </a:r>
            <a:r>
              <a:rPr lang="en" altLang="zh-CN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 is y1 = 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{y1}</a:t>
            </a:r>
            <a:r>
              <a:rPr lang="en" altLang="zh-CN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625981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AA437EA-3B3B-3282-DB6B-6F1A7F978F86}"/>
              </a:ext>
            </a:extLst>
          </p:cNvPr>
          <p:cNvSpPr/>
          <p:nvPr/>
        </p:nvSpPr>
        <p:spPr>
          <a:xfrm>
            <a:off x="395536" y="194945"/>
            <a:ext cx="3888432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：神经</a:t>
            </a: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网络激活函数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E36BD92-B80D-1822-7908-C314ABE4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33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DF42EA-4446-EC18-0EF7-D3525E858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664" y="1059582"/>
            <a:ext cx="5902672" cy="348301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19FEE52-7D2E-FF84-7F40-331A5238FE57}"/>
              </a:ext>
            </a:extLst>
          </p:cNvPr>
          <p:cNvSpPr txBox="1"/>
          <p:nvPr/>
        </p:nvSpPr>
        <p:spPr>
          <a:xfrm>
            <a:off x="3059832" y="4646316"/>
            <a:ext cx="3312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https://arxiv.org/abs/1807.11389</a:t>
            </a:r>
          </a:p>
        </p:txBody>
      </p:sp>
    </p:spTree>
    <p:extLst>
      <p:ext uri="{BB962C8B-B14F-4D97-AF65-F5344CB8AC3E}">
        <p14:creationId xmlns:p14="http://schemas.microsoft.com/office/powerpoint/2010/main" val="25653362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AA437EA-3B3B-3282-DB6B-6F1A7F978F86}"/>
              </a:ext>
            </a:extLst>
          </p:cNvPr>
          <p:cNvSpPr/>
          <p:nvPr/>
        </p:nvSpPr>
        <p:spPr>
          <a:xfrm>
            <a:off x="395536" y="194945"/>
            <a:ext cx="3888432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：神经</a:t>
            </a: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网络激活函数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E36BD92-B80D-1822-7908-C314ABE4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34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1AB755-76AB-F6F9-E14D-B446F2C02A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42" y="992075"/>
            <a:ext cx="3398674" cy="264862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7E13C09-9E38-2287-8033-00933C5E30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97" y="3788245"/>
            <a:ext cx="3453289" cy="10163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0937E5A-224C-7D15-EEA0-76B5F44E4A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328" y="1275606"/>
            <a:ext cx="4248472" cy="325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716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AA437EA-3B3B-3282-DB6B-6F1A7F978F86}"/>
              </a:ext>
            </a:extLst>
          </p:cNvPr>
          <p:cNvSpPr/>
          <p:nvPr/>
        </p:nvSpPr>
        <p:spPr>
          <a:xfrm>
            <a:off x="395536" y="194945"/>
            <a:ext cx="5328592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：色调映射（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Tone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Mapping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E36BD92-B80D-1822-7908-C314ABE4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35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BF822F-4F1C-5143-69FC-6390AD383E36}"/>
              </a:ext>
            </a:extLst>
          </p:cNvPr>
          <p:cNvSpPr txBox="1"/>
          <p:nvPr/>
        </p:nvSpPr>
        <p:spPr>
          <a:xfrm>
            <a:off x="1979712" y="4670270"/>
            <a:ext cx="518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https://moontree.github.io/2020/08/30/tone-mapping/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47F41C-C18F-FA5B-043A-CA54498F5515}"/>
              </a:ext>
            </a:extLst>
          </p:cNvPr>
          <p:cNvSpPr txBox="1"/>
          <p:nvPr/>
        </p:nvSpPr>
        <p:spPr>
          <a:xfrm>
            <a:off x="395536" y="987574"/>
            <a:ext cx="8064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目的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：将</a:t>
            </a:r>
            <a:r>
              <a:rPr lang="en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HDR(High Dynamic Range)</a:t>
            </a:r>
            <a:r>
              <a:rPr lang="zh-CN" altLang="e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图像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映射为</a:t>
            </a:r>
            <a:r>
              <a:rPr lang="en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LDR(Low Dynamic Range)</a:t>
            </a:r>
            <a:r>
              <a:rPr lang="zh-CN" altLang="e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图像</a:t>
            </a:r>
            <a:endParaRPr lang="en" altLang="zh-CN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961B6FC-C6EC-2390-05E6-7A54AC9B8C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806" y="1573287"/>
            <a:ext cx="5932388" cy="295491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EA07668-9674-0695-FB98-9345F65F894E}"/>
              </a:ext>
            </a:extLst>
          </p:cNvPr>
          <p:cNvSpPr txBox="1"/>
          <p:nvPr/>
        </p:nvSpPr>
        <p:spPr>
          <a:xfrm>
            <a:off x="7086274" y="313852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预计算，存储</a:t>
            </a:r>
          </a:p>
        </p:txBody>
      </p:sp>
    </p:spTree>
    <p:extLst>
      <p:ext uri="{BB962C8B-B14F-4D97-AF65-F5344CB8AC3E}">
        <p14:creationId xmlns:p14="http://schemas.microsoft.com/office/powerpoint/2010/main" val="1665393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AA437EA-3B3B-3282-DB6B-6F1A7F978F86}"/>
              </a:ext>
            </a:extLst>
          </p:cNvPr>
          <p:cNvSpPr/>
          <p:nvPr/>
        </p:nvSpPr>
        <p:spPr>
          <a:xfrm>
            <a:off x="395536" y="194945"/>
            <a:ext cx="5328592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：色调映射（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Tone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Mapping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E36BD92-B80D-1822-7908-C314ABE4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36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BF822F-4F1C-5143-69FC-6390AD383E36}"/>
              </a:ext>
            </a:extLst>
          </p:cNvPr>
          <p:cNvSpPr txBox="1"/>
          <p:nvPr/>
        </p:nvSpPr>
        <p:spPr>
          <a:xfrm>
            <a:off x="1979712" y="4670270"/>
            <a:ext cx="518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https://moontree.github.io/2020/08/30/tone-mapping/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140202-EC4E-8AD5-382A-A08F42FD24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491630"/>
            <a:ext cx="3238037" cy="24285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98A0F3D-4C57-CF4D-44C7-4F709F41FA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269" y="1491630"/>
            <a:ext cx="3238037" cy="242852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6AD49DC-2D44-E37A-75F9-7B5367845E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754" y="1996083"/>
            <a:ext cx="1929317" cy="141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4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AA437EA-3B3B-3282-DB6B-6F1A7F978F86}"/>
              </a:ext>
            </a:extLst>
          </p:cNvPr>
          <p:cNvSpPr/>
          <p:nvPr/>
        </p:nvSpPr>
        <p:spPr>
          <a:xfrm>
            <a:off x="395536" y="194945"/>
            <a:ext cx="5328592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：色彩增强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E36BD92-B80D-1822-7908-C314ABE4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37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8A493D-B601-1DE1-6634-74DEBEF1B899}"/>
              </a:ext>
            </a:extLst>
          </p:cNvPr>
          <p:cNvSpPr txBox="1"/>
          <p:nvPr/>
        </p:nvSpPr>
        <p:spPr>
          <a:xfrm>
            <a:off x="2411760" y="464924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https://arxiv.org/pdf/2010.13412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57754ED-6BD6-1A40-F839-8C1457C0B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343" y="3042100"/>
            <a:ext cx="3651672" cy="147208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747BEC1-A876-2AE4-E6AD-39C2128AB2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56991"/>
            <a:ext cx="3502183" cy="265004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F0E1F6E-84BA-926D-64FC-6F070D979A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30" y="906254"/>
            <a:ext cx="4211960" cy="155647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970CA86-877A-827F-BF33-0F8AF94C0E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19" y="2608862"/>
            <a:ext cx="3372317" cy="188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375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D16A5F2-E52C-469D-6225-32B8BBB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38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6255A93-734C-33B6-F1A5-01914C2F2F83}"/>
              </a:ext>
            </a:extLst>
          </p:cNvPr>
          <p:cNvSpPr txBox="1">
            <a:spLocks noRot="1"/>
          </p:cNvSpPr>
          <p:nvPr/>
        </p:nvSpPr>
        <p:spPr>
          <a:xfrm>
            <a:off x="2051720" y="1203598"/>
            <a:ext cx="4752528" cy="3287264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一维插值方法</a:t>
            </a: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二维插值方法</a:t>
            </a: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节点均匀（网格）</a:t>
            </a: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节点不均匀（散点）  </a:t>
            </a:r>
            <a:endParaRPr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C3F127-824D-711F-7F88-09B4CAAF1DA5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插值算法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5C0C1A-A5F7-D790-2B07-ED81499A8FB3}"/>
              </a:ext>
            </a:extLst>
          </p:cNvPr>
          <p:cNvSpPr txBox="1"/>
          <p:nvPr/>
        </p:nvSpPr>
        <p:spPr>
          <a:xfrm>
            <a:off x="2322957" y="2212750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拉格朗日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多项式插值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ECB113-F964-E829-0C73-1522CE5C9EA4}"/>
              </a:ext>
            </a:extLst>
          </p:cNvPr>
          <p:cNvSpPr txBox="1"/>
          <p:nvPr/>
        </p:nvSpPr>
        <p:spPr>
          <a:xfrm>
            <a:off x="4763674" y="2320472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分段低次插值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EB69FAF-E732-AFE3-1507-326AECD4F20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405305" y="2474360"/>
            <a:ext cx="1358369" cy="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D8691AF-30CA-3771-5D23-2F1CF7C9D25B}"/>
              </a:ext>
            </a:extLst>
          </p:cNvPr>
          <p:cNvSpPr txBox="1"/>
          <p:nvPr/>
        </p:nvSpPr>
        <p:spPr>
          <a:xfrm>
            <a:off x="3633085" y="215089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龙格现象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CED463-ACDE-3EE0-4ADE-68299281A078}"/>
              </a:ext>
            </a:extLst>
          </p:cNvPr>
          <p:cNvSpPr txBox="1"/>
          <p:nvPr/>
        </p:nvSpPr>
        <p:spPr>
          <a:xfrm>
            <a:off x="3633084" y="251468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复杂度高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651DE93-61C3-9D59-6043-70FFDCD5C5B7}"/>
              </a:ext>
            </a:extLst>
          </p:cNvPr>
          <p:cNvSpPr txBox="1"/>
          <p:nvPr/>
        </p:nvSpPr>
        <p:spPr>
          <a:xfrm>
            <a:off x="6886747" y="185167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分段线性插值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DA2136-7F99-56DB-687D-FFC37D5C3F5D}"/>
              </a:ext>
            </a:extLst>
          </p:cNvPr>
          <p:cNvSpPr txBox="1"/>
          <p:nvPr/>
        </p:nvSpPr>
        <p:spPr>
          <a:xfrm>
            <a:off x="6886747" y="2951757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三次样条插值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4FDD8F99-FE99-B5AC-E719-488C75C7685A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6025558" y="2005559"/>
            <a:ext cx="861189" cy="46880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BDB5CF0-4A5A-F662-A8FF-6879FF5A0ECE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6025558" y="2474361"/>
            <a:ext cx="861189" cy="63128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21EC7DEC-BF83-0E0C-21E0-62C8F51327F0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7517689" y="2159447"/>
            <a:ext cx="0" cy="7923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595EFABD-7DAC-4268-EEA3-817727B9E883}"/>
              </a:ext>
            </a:extLst>
          </p:cNvPr>
          <p:cNvSpPr txBox="1"/>
          <p:nvPr/>
        </p:nvSpPr>
        <p:spPr>
          <a:xfrm>
            <a:off x="7557621" y="240271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光滑性差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4CC61C0-1667-A3B8-F7F0-AF9F105121C2}"/>
              </a:ext>
            </a:extLst>
          </p:cNvPr>
          <p:cNvSpPr txBox="1"/>
          <p:nvPr/>
        </p:nvSpPr>
        <p:spPr>
          <a:xfrm>
            <a:off x="3644667" y="1874496"/>
            <a:ext cx="6451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Runge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46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>
            <a:extLst>
              <a:ext uri="{FF2B5EF4-FFF2-40B4-BE49-F238E27FC236}">
                <a16:creationId xmlns:a16="http://schemas.microsoft.com/office/drawing/2014/main" id="{0A1C243F-DD0B-91FB-95DC-911FEECDA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272" y="432167"/>
            <a:ext cx="221017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32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</p:txBody>
      </p:sp>
      <p:sp>
        <p:nvSpPr>
          <p:cNvPr id="227331" name="Text Box 3">
            <a:extLst>
              <a:ext uri="{FF2B5EF4-FFF2-40B4-BE49-F238E27FC236}">
                <a16:creationId xmlns:a16="http://schemas.microsoft.com/office/drawing/2014/main" id="{3CBC6A9A-ED53-F21E-4DAB-B9F9AA0F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3868" y="877661"/>
            <a:ext cx="20947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已知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个节点 </a:t>
            </a:r>
            <a:endParaRPr kumimoji="1"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27332" name="Object 4">
            <a:extLst>
              <a:ext uri="{FF2B5EF4-FFF2-40B4-BE49-F238E27FC236}">
                <a16:creationId xmlns:a16="http://schemas.microsoft.com/office/drawing/2014/main" id="{ED6A5E54-0064-BAF7-1604-85994D872D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4188" y="894448"/>
          <a:ext cx="3938723" cy="382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25680" imgH="241200" progId="Equation.DSMT4">
                  <p:embed/>
                </p:oleObj>
              </mc:Choice>
              <mc:Fallback>
                <p:oleObj name="Equation" r:id="rId3" imgW="2425680" imgH="241200" progId="Equation.DSMT4">
                  <p:embed/>
                  <p:pic>
                    <p:nvPicPr>
                      <p:cNvPr id="227332" name="Object 4">
                        <a:extLst>
                          <a:ext uri="{FF2B5EF4-FFF2-40B4-BE49-F238E27FC236}">
                            <a16:creationId xmlns:a16="http://schemas.microsoft.com/office/drawing/2014/main" id="{ED6A5E54-0064-BAF7-1604-85994D872D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4188" y="894448"/>
                        <a:ext cx="3938723" cy="3823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7333" name="Group 5">
            <a:extLst>
              <a:ext uri="{FF2B5EF4-FFF2-40B4-BE49-F238E27FC236}">
                <a16:creationId xmlns:a16="http://schemas.microsoft.com/office/drawing/2014/main" id="{62AB439D-94DB-D63B-8146-A085FB591847}"/>
              </a:ext>
            </a:extLst>
          </p:cNvPr>
          <p:cNvGrpSpPr>
            <a:grpSpLocks/>
          </p:cNvGrpSpPr>
          <p:nvPr/>
        </p:nvGrpSpPr>
        <p:grpSpPr bwMode="auto">
          <a:xfrm>
            <a:off x="1483868" y="1385292"/>
            <a:ext cx="4015157" cy="433748"/>
            <a:chOff x="480" y="1518"/>
            <a:chExt cx="4360" cy="471"/>
          </a:xfrm>
        </p:grpSpPr>
        <p:sp>
          <p:nvSpPr>
            <p:cNvPr id="227334" name="Text Box 6">
              <a:extLst>
                <a:ext uri="{FF2B5EF4-FFF2-40B4-BE49-F238E27FC236}">
                  <a16:creationId xmlns:a16="http://schemas.microsoft.com/office/drawing/2014/main" id="{009549CB-7DA8-18F1-0B6A-E1DBA402F8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518"/>
              <a:ext cx="1154" cy="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其中</a:t>
              </a:r>
              <a:endPara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27335" name="Object 7">
              <a:extLst>
                <a:ext uri="{FF2B5EF4-FFF2-40B4-BE49-F238E27FC236}">
                  <a16:creationId xmlns:a16="http://schemas.microsoft.com/office/drawing/2014/main" id="{2FEBFCDC-E279-C904-562E-02A4487327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34" y="1529"/>
            <a:ext cx="766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93480" imgH="241200" progId="Equation.3">
                    <p:embed/>
                  </p:oleObj>
                </mc:Choice>
                <mc:Fallback>
                  <p:oleObj name="公式" r:id="rId5" imgW="393480" imgH="241200" progId="Equation.3">
                    <p:embed/>
                    <p:pic>
                      <p:nvPicPr>
                        <p:cNvPr id="227335" name="Object 7">
                          <a:extLst>
                            <a:ext uri="{FF2B5EF4-FFF2-40B4-BE49-F238E27FC236}">
                              <a16:creationId xmlns:a16="http://schemas.microsoft.com/office/drawing/2014/main" id="{2FEBFCDC-E279-C904-562E-02A4487327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4" y="1529"/>
                          <a:ext cx="766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7336" name="Text Box 8">
              <a:extLst>
                <a:ext uri="{FF2B5EF4-FFF2-40B4-BE49-F238E27FC236}">
                  <a16:creationId xmlns:a16="http://schemas.microsoft.com/office/drawing/2014/main" id="{B946CCA2-49E6-4E22-0735-1FEEDB600B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518"/>
              <a:ext cx="2824" cy="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互不相同，不妨设</a:t>
              </a:r>
            </a:p>
          </p:txBody>
        </p:sp>
      </p:grpSp>
      <p:graphicFrame>
        <p:nvGraphicFramePr>
          <p:cNvPr id="227337" name="Object 9">
            <a:extLst>
              <a:ext uri="{FF2B5EF4-FFF2-40B4-BE49-F238E27FC236}">
                <a16:creationId xmlns:a16="http://schemas.microsoft.com/office/drawing/2014/main" id="{7108C241-C286-D354-9B2F-FBA38A74A2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7693" y="1930647"/>
          <a:ext cx="2878757" cy="419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600200" imgH="228600" progId="Equation.3">
                  <p:embed/>
                </p:oleObj>
              </mc:Choice>
              <mc:Fallback>
                <p:oleObj name="公式" r:id="rId7" imgW="1600200" imgH="228600" progId="Equation.3">
                  <p:embed/>
                  <p:pic>
                    <p:nvPicPr>
                      <p:cNvPr id="227337" name="Object 9">
                        <a:extLst>
                          <a:ext uri="{FF2B5EF4-FFF2-40B4-BE49-F238E27FC236}">
                            <a16:creationId xmlns:a16="http://schemas.microsoft.com/office/drawing/2014/main" id="{7108C241-C286-D354-9B2F-FBA38A74A2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7693" y="1930647"/>
                        <a:ext cx="2878757" cy="419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8" name="Object 10">
            <a:extLst>
              <a:ext uri="{FF2B5EF4-FFF2-40B4-BE49-F238E27FC236}">
                <a16:creationId xmlns:a16="http://schemas.microsoft.com/office/drawing/2014/main" id="{A6E52103-1DDF-2F28-2CC5-288051CEC7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6075" y="2502147"/>
          <a:ext cx="2873232" cy="419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574640" imgH="228600" progId="Equation.3">
                  <p:embed/>
                </p:oleObj>
              </mc:Choice>
              <mc:Fallback>
                <p:oleObj name="公式" r:id="rId9" imgW="1574640" imgH="228600" progId="Equation.3">
                  <p:embed/>
                  <p:pic>
                    <p:nvPicPr>
                      <p:cNvPr id="227338" name="Object 10">
                        <a:extLst>
                          <a:ext uri="{FF2B5EF4-FFF2-40B4-BE49-F238E27FC236}">
                            <a16:creationId xmlns:a16="http://schemas.microsoft.com/office/drawing/2014/main" id="{A6E52103-1DDF-2F28-2CC5-288051CEC7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6075" y="2502147"/>
                        <a:ext cx="2873232" cy="419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7339" name="Group 11">
            <a:extLst>
              <a:ext uri="{FF2B5EF4-FFF2-40B4-BE49-F238E27FC236}">
                <a16:creationId xmlns:a16="http://schemas.microsoft.com/office/drawing/2014/main" id="{DF3CB428-F4F4-AA5A-0975-F7313153AB0A}"/>
              </a:ext>
            </a:extLst>
          </p:cNvPr>
          <p:cNvGrpSpPr>
            <a:grpSpLocks/>
          </p:cNvGrpSpPr>
          <p:nvPr/>
        </p:nvGrpSpPr>
        <p:grpSpPr bwMode="auto">
          <a:xfrm>
            <a:off x="1331640" y="3003798"/>
            <a:ext cx="6372510" cy="427302"/>
            <a:chOff x="-444" y="886"/>
            <a:chExt cx="6739" cy="464"/>
          </a:xfrm>
        </p:grpSpPr>
        <p:sp>
          <p:nvSpPr>
            <p:cNvPr id="227340" name="Text Box 12">
              <a:extLst>
                <a:ext uri="{FF2B5EF4-FFF2-40B4-BE49-F238E27FC236}">
                  <a16:creationId xmlns:a16="http://schemas.microsoft.com/office/drawing/2014/main" id="{36BE1732-0443-CFB3-03CC-767D15F05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44" y="886"/>
              <a:ext cx="2991" cy="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构造一个二元函数</a:t>
              </a:r>
              <a:endPara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27341" name="Object 13">
              <a:extLst>
                <a:ext uri="{FF2B5EF4-FFF2-40B4-BE49-F238E27FC236}">
                  <a16:creationId xmlns:a16="http://schemas.microsoft.com/office/drawing/2014/main" id="{315B61B6-DF49-4DB4-3BEE-7EEA1B8C99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51" y="949"/>
            <a:ext cx="1351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787320" imgH="203040" progId="Equation.3">
                    <p:embed/>
                  </p:oleObj>
                </mc:Choice>
                <mc:Fallback>
                  <p:oleObj name="公式" r:id="rId11" imgW="787320" imgH="203040" progId="Equation.3">
                    <p:embed/>
                    <p:pic>
                      <p:nvPicPr>
                        <p:cNvPr id="227341" name="Object 13">
                          <a:extLst>
                            <a:ext uri="{FF2B5EF4-FFF2-40B4-BE49-F238E27FC236}">
                              <a16:creationId xmlns:a16="http://schemas.microsoft.com/office/drawing/2014/main" id="{315B61B6-DF49-4DB4-3BEE-7EEA1B8C99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" y="949"/>
                          <a:ext cx="1351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7342" name="Text Box 14">
              <a:extLst>
                <a:ext uri="{FF2B5EF4-FFF2-40B4-BE49-F238E27FC236}">
                  <a16:creationId xmlns:a16="http://schemas.microsoft.com/office/drawing/2014/main" id="{B9DC86FC-FB91-FAF0-B79F-D4E81172F4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2" y="899"/>
              <a:ext cx="2893" cy="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通过全部已知节点</a:t>
              </a:r>
              <a:r>
                <a:rPr kumimoji="1"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kumimoji="1"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即</a:t>
              </a:r>
              <a:endPara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27343" name="Group 15">
            <a:extLst>
              <a:ext uri="{FF2B5EF4-FFF2-40B4-BE49-F238E27FC236}">
                <a16:creationId xmlns:a16="http://schemas.microsoft.com/office/drawing/2014/main" id="{16026591-27C0-9118-EBEC-B370041B9F1A}"/>
              </a:ext>
            </a:extLst>
          </p:cNvPr>
          <p:cNvGrpSpPr>
            <a:grpSpLocks/>
          </p:cNvGrpSpPr>
          <p:nvPr/>
        </p:nvGrpSpPr>
        <p:grpSpPr bwMode="auto">
          <a:xfrm>
            <a:off x="1897139" y="4210579"/>
            <a:ext cx="4865156" cy="449403"/>
            <a:chOff x="163" y="3431"/>
            <a:chExt cx="5283" cy="488"/>
          </a:xfrm>
        </p:grpSpPr>
        <p:sp>
          <p:nvSpPr>
            <p:cNvPr id="227344" name="Text Box 16">
              <a:extLst>
                <a:ext uri="{FF2B5EF4-FFF2-40B4-BE49-F238E27FC236}">
                  <a16:creationId xmlns:a16="http://schemas.microsoft.com/office/drawing/2014/main" id="{4E98A341-90A1-74C3-FBB0-0E7E58911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" y="3468"/>
              <a:ext cx="824" cy="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再用</a:t>
              </a:r>
              <a:endPara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27345" name="Object 17">
              <a:extLst>
                <a:ext uri="{FF2B5EF4-FFF2-40B4-BE49-F238E27FC236}">
                  <a16:creationId xmlns:a16="http://schemas.microsoft.com/office/drawing/2014/main" id="{0C3B2CED-BC2B-06D4-2087-1DBE9EDE95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0" y="3494"/>
            <a:ext cx="824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520560" imgH="203040" progId="Equation.3">
                    <p:embed/>
                  </p:oleObj>
                </mc:Choice>
                <mc:Fallback>
                  <p:oleObj name="公式" r:id="rId13" imgW="520560" imgH="203040" progId="Equation.3">
                    <p:embed/>
                    <p:pic>
                      <p:nvPicPr>
                        <p:cNvPr id="227345" name="Object 17">
                          <a:extLst>
                            <a:ext uri="{FF2B5EF4-FFF2-40B4-BE49-F238E27FC236}">
                              <a16:creationId xmlns:a16="http://schemas.microsoft.com/office/drawing/2014/main" id="{0C3B2CED-BC2B-06D4-2087-1DBE9EDE950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0" y="3494"/>
                          <a:ext cx="824" cy="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7346" name="Text Box 18">
              <a:extLst>
                <a:ext uri="{FF2B5EF4-FFF2-40B4-BE49-F238E27FC236}">
                  <a16:creationId xmlns:a16="http://schemas.microsoft.com/office/drawing/2014/main" id="{0FB48CDE-5846-DE28-699D-A56E0229C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453"/>
              <a:ext cx="2033" cy="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计算插值，即</a:t>
              </a:r>
            </a:p>
          </p:txBody>
        </p:sp>
        <p:graphicFrame>
          <p:nvGraphicFramePr>
            <p:cNvPr id="227347" name="Object 19">
              <a:extLst>
                <a:ext uri="{FF2B5EF4-FFF2-40B4-BE49-F238E27FC236}">
                  <a16:creationId xmlns:a16="http://schemas.microsoft.com/office/drawing/2014/main" id="{4F6743BF-C0E5-BE01-9FE3-CAE7BC89A1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78" y="3431"/>
            <a:ext cx="1968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002960" imgH="228600" progId="Equation.3">
                    <p:embed/>
                  </p:oleObj>
                </mc:Choice>
                <mc:Fallback>
                  <p:oleObj name="公式" r:id="rId15" imgW="1002960" imgH="228600" progId="Equation.3">
                    <p:embed/>
                    <p:pic>
                      <p:nvPicPr>
                        <p:cNvPr id="227347" name="Object 19">
                          <a:extLst>
                            <a:ext uri="{FF2B5EF4-FFF2-40B4-BE49-F238E27FC236}">
                              <a16:creationId xmlns:a16="http://schemas.microsoft.com/office/drawing/2014/main" id="{4F6743BF-C0E5-BE01-9FE3-CAE7BC89A1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8" y="3431"/>
                          <a:ext cx="1968" cy="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7348" name="Object 20">
            <a:extLst>
              <a:ext uri="{FF2B5EF4-FFF2-40B4-BE49-F238E27FC236}">
                <a16:creationId xmlns:a16="http://schemas.microsoft.com/office/drawing/2014/main" id="{E52DEB73-CD67-E6FA-60DB-03B95673FD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8232" y="3599297"/>
          <a:ext cx="5003689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400120" imgH="241200" progId="Equation.DSMT4">
                  <p:embed/>
                </p:oleObj>
              </mc:Choice>
              <mc:Fallback>
                <p:oleObj name="Equation" r:id="rId17" imgW="2400120" imgH="241200" progId="Equation.DSMT4">
                  <p:embed/>
                  <p:pic>
                    <p:nvPicPr>
                      <p:cNvPr id="227348" name="Object 20">
                        <a:extLst>
                          <a:ext uri="{FF2B5EF4-FFF2-40B4-BE49-F238E27FC236}">
                            <a16:creationId xmlns:a16="http://schemas.microsoft.com/office/drawing/2014/main" id="{E52DEB73-CD67-E6FA-60DB-03B95673FD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232" y="3599297"/>
                        <a:ext cx="5003689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56346DC-38DA-7F71-8FBD-C5542391CAC5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二维插值方法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03AA0CA-A851-71A9-11A8-A888E9CBD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39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8241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307" name="Group 3">
            <a:extLst>
              <a:ext uri="{FF2B5EF4-FFF2-40B4-BE49-F238E27FC236}">
                <a16:creationId xmlns:a16="http://schemas.microsoft.com/office/drawing/2014/main" id="{C83DA9FF-6E68-84A5-37AA-2BD1BA9CE5A7}"/>
              </a:ext>
            </a:extLst>
          </p:cNvPr>
          <p:cNvGrpSpPr>
            <a:grpSpLocks/>
          </p:cNvGrpSpPr>
          <p:nvPr/>
        </p:nvGrpSpPr>
        <p:grpSpPr bwMode="auto">
          <a:xfrm>
            <a:off x="3940100" y="1543050"/>
            <a:ext cx="4880372" cy="3239413"/>
            <a:chOff x="845" y="755"/>
            <a:chExt cx="4622" cy="3375"/>
          </a:xfrm>
        </p:grpSpPr>
        <p:grpSp>
          <p:nvGrpSpPr>
            <p:cNvPr id="226308" name="Group 4">
              <a:extLst>
                <a:ext uri="{FF2B5EF4-FFF2-40B4-BE49-F238E27FC236}">
                  <a16:creationId xmlns:a16="http://schemas.microsoft.com/office/drawing/2014/main" id="{78D8E996-45D8-41A9-660E-0782D075F4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5" y="755"/>
              <a:ext cx="4622" cy="3285"/>
              <a:chOff x="845" y="755"/>
              <a:chExt cx="4622" cy="3285"/>
            </a:xfrm>
          </p:grpSpPr>
          <p:sp>
            <p:nvSpPr>
              <p:cNvPr id="226309" name="Line 5">
                <a:extLst>
                  <a:ext uri="{FF2B5EF4-FFF2-40B4-BE49-F238E27FC236}">
                    <a16:creationId xmlns:a16="http://schemas.microsoft.com/office/drawing/2014/main" id="{D99938E3-C26F-2991-A644-9902BB810A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5" y="3711"/>
                <a:ext cx="4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6310" name="Line 6">
                <a:extLst>
                  <a:ext uri="{FF2B5EF4-FFF2-40B4-BE49-F238E27FC236}">
                    <a16:creationId xmlns:a16="http://schemas.microsoft.com/office/drawing/2014/main" id="{11BAA075-0FA0-470C-744D-D90526B341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2" y="844"/>
                <a:ext cx="0" cy="31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6311" name="Text Box 7">
                <a:extLst>
                  <a:ext uri="{FF2B5EF4-FFF2-40B4-BE49-F238E27FC236}">
                    <a16:creationId xmlns:a16="http://schemas.microsoft.com/office/drawing/2014/main" id="{77BBC3EE-EF84-BCB2-1353-08C3559592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3" y="1422"/>
                <a:ext cx="39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6312" name="Text Box 8">
                <a:extLst>
                  <a:ext uri="{FF2B5EF4-FFF2-40B4-BE49-F238E27FC236}">
                    <a16:creationId xmlns:a16="http://schemas.microsoft.com/office/drawing/2014/main" id="{915BAAE2-058F-7574-03F8-07ED1A95C5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1" y="1411"/>
                <a:ext cx="39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6313" name="Text Box 9">
                <a:extLst>
                  <a:ext uri="{FF2B5EF4-FFF2-40B4-BE49-F238E27FC236}">
                    <a16:creationId xmlns:a16="http://schemas.microsoft.com/office/drawing/2014/main" id="{B90470CF-ACB7-C117-6BB2-7BB8604FEE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4" y="2012"/>
                <a:ext cx="39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6314" name="Text Box 10">
                <a:extLst>
                  <a:ext uri="{FF2B5EF4-FFF2-40B4-BE49-F238E27FC236}">
                    <a16:creationId xmlns:a16="http://schemas.microsoft.com/office/drawing/2014/main" id="{1E006C78-3778-A67D-674C-76E6D462A0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0" y="1412"/>
                <a:ext cx="39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6315" name="Text Box 11">
                <a:extLst>
                  <a:ext uri="{FF2B5EF4-FFF2-40B4-BE49-F238E27FC236}">
                    <a16:creationId xmlns:a16="http://schemas.microsoft.com/office/drawing/2014/main" id="{07398E28-DAB9-7734-E9FA-617494DEAB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8" y="1412"/>
                <a:ext cx="39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6316" name="Line 12">
                <a:extLst>
                  <a:ext uri="{FF2B5EF4-FFF2-40B4-BE49-F238E27FC236}">
                    <a16:creationId xmlns:a16="http://schemas.microsoft.com/office/drawing/2014/main" id="{7C5EB8C1-7C46-7B57-AF93-D374EE4536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9" y="1578"/>
                <a:ext cx="331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6317" name="Line 13">
                <a:extLst>
                  <a:ext uri="{FF2B5EF4-FFF2-40B4-BE49-F238E27FC236}">
                    <a16:creationId xmlns:a16="http://schemas.microsoft.com/office/drawing/2014/main" id="{F33C6BD0-F1F6-A836-9549-20AF99E6A9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2" y="922"/>
                <a:ext cx="0" cy="2622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6318" name="Line 14">
                <a:extLst>
                  <a:ext uri="{FF2B5EF4-FFF2-40B4-BE49-F238E27FC236}">
                    <a16:creationId xmlns:a16="http://schemas.microsoft.com/office/drawing/2014/main" id="{AFBD9BF9-2938-2D5D-D25E-D8F0DF7A9A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0" y="911"/>
                <a:ext cx="0" cy="2622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6319" name="Line 15">
                <a:extLst>
                  <a:ext uri="{FF2B5EF4-FFF2-40B4-BE49-F238E27FC236}">
                    <a16:creationId xmlns:a16="http://schemas.microsoft.com/office/drawing/2014/main" id="{1083A3D1-F885-F9A6-1A20-AF14BA4028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4" y="934"/>
                <a:ext cx="0" cy="2622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6320" name="Line 16">
                <a:extLst>
                  <a:ext uri="{FF2B5EF4-FFF2-40B4-BE49-F238E27FC236}">
                    <a16:creationId xmlns:a16="http://schemas.microsoft.com/office/drawing/2014/main" id="{D71FFC92-A2BC-D16F-79D7-3CCAA473C6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934"/>
                <a:ext cx="0" cy="2622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6321" name="Line 17">
                <a:extLst>
                  <a:ext uri="{FF2B5EF4-FFF2-40B4-BE49-F238E27FC236}">
                    <a16:creationId xmlns:a16="http://schemas.microsoft.com/office/drawing/2014/main" id="{2BCE5B32-D7F8-8C91-D1B4-C772A5136B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7" y="933"/>
                <a:ext cx="0" cy="2622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6322" name="Text Box 18">
                <a:extLst>
                  <a:ext uri="{FF2B5EF4-FFF2-40B4-BE49-F238E27FC236}">
                    <a16:creationId xmlns:a16="http://schemas.microsoft.com/office/drawing/2014/main" id="{277CE3A2-1792-FDC9-B42F-786AAB4AE6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4" y="1424"/>
                <a:ext cx="39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6323" name="Text Box 19">
                <a:extLst>
                  <a:ext uri="{FF2B5EF4-FFF2-40B4-BE49-F238E27FC236}">
                    <a16:creationId xmlns:a16="http://schemas.microsoft.com/office/drawing/2014/main" id="{F33F4A99-3371-F9CF-8D05-80C60D94A6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8" y="2002"/>
                <a:ext cx="39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6324" name="Text Box 20">
                <a:extLst>
                  <a:ext uri="{FF2B5EF4-FFF2-40B4-BE49-F238E27FC236}">
                    <a16:creationId xmlns:a16="http://schemas.microsoft.com/office/drawing/2014/main" id="{AC03D54D-9619-9AA1-78D2-9A5CBE164E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6" y="2000"/>
                <a:ext cx="39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6325" name="Text Box 21">
                <a:extLst>
                  <a:ext uri="{FF2B5EF4-FFF2-40B4-BE49-F238E27FC236}">
                    <a16:creationId xmlns:a16="http://schemas.microsoft.com/office/drawing/2014/main" id="{6CEFE9D2-9E1A-106C-99B0-24C975374C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1" y="2000"/>
                <a:ext cx="39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6326" name="Text Box 22">
                <a:extLst>
                  <a:ext uri="{FF2B5EF4-FFF2-40B4-BE49-F238E27FC236}">
                    <a16:creationId xmlns:a16="http://schemas.microsoft.com/office/drawing/2014/main" id="{7ADE54E5-3B5E-5110-8DE5-ECAD84BBA5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3" y="2000"/>
                <a:ext cx="39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6327" name="Text Box 23">
                <a:extLst>
                  <a:ext uri="{FF2B5EF4-FFF2-40B4-BE49-F238E27FC236}">
                    <a16:creationId xmlns:a16="http://schemas.microsoft.com/office/drawing/2014/main" id="{20BBD23E-03AA-E27E-18AC-5096D2F9AA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2" y="2735"/>
                <a:ext cx="39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6328" name="Text Box 24">
                <a:extLst>
                  <a:ext uri="{FF2B5EF4-FFF2-40B4-BE49-F238E27FC236}">
                    <a16:creationId xmlns:a16="http://schemas.microsoft.com/office/drawing/2014/main" id="{7B5753CB-356A-9893-13B8-B6DE9F98AC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0" y="2735"/>
                <a:ext cx="39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6329" name="Text Box 25">
                <a:extLst>
                  <a:ext uri="{FF2B5EF4-FFF2-40B4-BE49-F238E27FC236}">
                    <a16:creationId xmlns:a16="http://schemas.microsoft.com/office/drawing/2014/main" id="{8ACDAF8F-B4C2-F03A-DC8A-B75518D73C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3" y="2735"/>
                <a:ext cx="39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6330" name="Text Box 26">
                <a:extLst>
                  <a:ext uri="{FF2B5EF4-FFF2-40B4-BE49-F238E27FC236}">
                    <a16:creationId xmlns:a16="http://schemas.microsoft.com/office/drawing/2014/main" id="{71638351-7EA9-1D85-5FAB-4F270397AB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8" y="2735"/>
                <a:ext cx="39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6331" name="Text Box 27">
                <a:extLst>
                  <a:ext uri="{FF2B5EF4-FFF2-40B4-BE49-F238E27FC236}">
                    <a16:creationId xmlns:a16="http://schemas.microsoft.com/office/drawing/2014/main" id="{C0431871-D580-2BEA-0577-4D1441CAA8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7" y="2735"/>
                <a:ext cx="398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6332" name="Line 28">
                <a:extLst>
                  <a:ext uri="{FF2B5EF4-FFF2-40B4-BE49-F238E27FC236}">
                    <a16:creationId xmlns:a16="http://schemas.microsoft.com/office/drawing/2014/main" id="{CE5AD2ED-10C1-9BD0-91C4-0FDB50DC4F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2202"/>
                <a:ext cx="3278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6333" name="Line 29">
                <a:extLst>
                  <a:ext uri="{FF2B5EF4-FFF2-40B4-BE49-F238E27FC236}">
                    <a16:creationId xmlns:a16="http://schemas.microsoft.com/office/drawing/2014/main" id="{9B8DAEB9-A435-D7AD-A1B3-D6652014EC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67" y="2900"/>
                <a:ext cx="3245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6334" name="Text Box 30">
                <a:extLst>
                  <a:ext uri="{FF2B5EF4-FFF2-40B4-BE49-F238E27FC236}">
                    <a16:creationId xmlns:a16="http://schemas.microsoft.com/office/drawing/2014/main" id="{BA41A1DF-00B0-BF14-B843-3C9AFC6905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5" y="3655"/>
                <a:ext cx="522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</a:p>
            </p:txBody>
          </p:sp>
          <p:sp>
            <p:nvSpPr>
              <p:cNvPr id="226335" name="Text Box 31">
                <a:extLst>
                  <a:ext uri="{FF2B5EF4-FFF2-40B4-BE49-F238E27FC236}">
                    <a16:creationId xmlns:a16="http://schemas.microsoft.com/office/drawing/2014/main" id="{1B12BAEC-2834-8F7F-61FF-FF0ABF2B65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1" y="755"/>
                <a:ext cx="400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</a:rPr>
                  <a:t>y</a:t>
                </a:r>
              </a:p>
            </p:txBody>
          </p:sp>
        </p:grpSp>
        <p:sp>
          <p:nvSpPr>
            <p:cNvPr id="226336" name="Text Box 32">
              <a:extLst>
                <a:ext uri="{FF2B5EF4-FFF2-40B4-BE49-F238E27FC236}">
                  <a16:creationId xmlns:a16="http://schemas.microsoft.com/office/drawing/2014/main" id="{33727FC3-DA43-918E-F45E-9D3ACAB8B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697"/>
              <a:ext cx="304" cy="4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100" b="1">
                  <a:latin typeface="隶书" panose="02010509060101010101" pitchFamily="49" charset="-122"/>
                  <a:ea typeface="隶书" panose="02010509060101010101" pitchFamily="49" charset="-122"/>
                </a:rPr>
                <a:t>O</a:t>
              </a:r>
            </a:p>
          </p:txBody>
        </p:sp>
      </p:grpSp>
      <p:sp>
        <p:nvSpPr>
          <p:cNvPr id="226337" name="Text Box 33">
            <a:extLst>
              <a:ext uri="{FF2B5EF4-FFF2-40B4-BE49-F238E27FC236}">
                <a16:creationId xmlns:a16="http://schemas.microsoft.com/office/drawing/2014/main" id="{747919B2-B92B-0F02-250A-9FDAD88C9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860721"/>
            <a:ext cx="334288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网格节点（均匀节点）</a:t>
            </a:r>
            <a:endParaRPr kumimoji="1"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kumimoji="1"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z=f(</a:t>
            </a:r>
            <a:r>
              <a:rPr kumimoji="1"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x,y</a:t>
            </a:r>
            <a:r>
              <a:rPr kumimoji="1"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在一些点取值，节点分布很均匀，落在由一系列平行直线组成的矩形网络的各个顶点上，可以用</a:t>
            </a:r>
            <a:r>
              <a:rPr kumimoji="1"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kumimoji="1"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二维插值方法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40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16094D-CF1A-DB8B-39AC-CD363981DF4F}"/>
              </a:ext>
            </a:extLst>
          </p:cNvPr>
          <p:cNvSpPr txBox="1"/>
          <p:nvPr/>
        </p:nvSpPr>
        <p:spPr>
          <a:xfrm>
            <a:off x="113707" y="3104952"/>
            <a:ext cx="3887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Menlo" panose="020B0609030804020204" pitchFamily="49" charset="0"/>
              </a:rPr>
              <a:t>interp2(x0,y0,z0,x,y,’method’)</a:t>
            </a:r>
            <a:endParaRPr lang="zh-CN" altLang="en-US" sz="1600" dirty="0">
              <a:latin typeface="Menlo" panose="020B060903080402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95FA8B-AD5E-7ABE-A05C-1BBF5349D94A}"/>
              </a:ext>
            </a:extLst>
          </p:cNvPr>
          <p:cNvSpPr txBox="1"/>
          <p:nvPr/>
        </p:nvSpPr>
        <p:spPr>
          <a:xfrm>
            <a:off x="380577" y="3938175"/>
            <a:ext cx="35573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Menlo" panose="020B0609030804020204" pitchFamily="49" charset="0"/>
              </a:rPr>
              <a:t>Method</a:t>
            </a:r>
            <a:r>
              <a:rPr lang="zh-CN" altLang="en-US" sz="1600" dirty="0">
                <a:latin typeface="Menlo" panose="020B0609030804020204" pitchFamily="49" charset="0"/>
              </a:rPr>
              <a:t>可选</a:t>
            </a:r>
            <a:r>
              <a:rPr lang="en-US" altLang="zh-CN" sz="1600" dirty="0">
                <a:latin typeface="Menlo" panose="020B0609030804020204" pitchFamily="49" charset="0"/>
              </a:rPr>
              <a:t>’</a:t>
            </a:r>
            <a:r>
              <a:rPr lang="en-US" altLang="zh-CN" sz="1600" dirty="0" err="1">
                <a:latin typeface="Menlo" panose="020B0609030804020204" pitchFamily="49" charset="0"/>
              </a:rPr>
              <a:t>nearest’,‘linear</a:t>
            </a:r>
            <a:r>
              <a:rPr lang="en-US" altLang="zh-CN" sz="1600" dirty="0">
                <a:latin typeface="Menlo" panose="020B0609030804020204" pitchFamily="49" charset="0"/>
              </a:rPr>
              <a:t>’</a:t>
            </a:r>
          </a:p>
          <a:p>
            <a:r>
              <a:rPr lang="en-US" altLang="zh-CN" sz="1600" dirty="0">
                <a:latin typeface="Menlo" panose="020B0609030804020204" pitchFamily="49" charset="0"/>
              </a:rPr>
              <a:t>‘</a:t>
            </a:r>
            <a:r>
              <a:rPr lang="en-US" altLang="zh-CN" sz="1600" dirty="0" err="1">
                <a:latin typeface="Menlo" panose="020B0609030804020204" pitchFamily="49" charset="0"/>
              </a:rPr>
              <a:t>cubic’,‘spline</a:t>
            </a:r>
            <a:r>
              <a:rPr lang="en-US" altLang="zh-CN" sz="1600" dirty="0">
                <a:latin typeface="Menlo" panose="020B0609030804020204" pitchFamily="49" charset="0"/>
              </a:rPr>
              <a:t>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二维插值方法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41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954E26-B54A-C706-3DF2-CFB5A75DDF2A}"/>
              </a:ext>
            </a:extLst>
          </p:cNvPr>
          <p:cNvSpPr txBox="1"/>
          <p:nvPr/>
        </p:nvSpPr>
        <p:spPr>
          <a:xfrm>
            <a:off x="395536" y="982057"/>
            <a:ext cx="7723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某地区发现重金属污染，调查人员在当地均匀采样获得的污染物浓度如下：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23B7AF-027B-2E77-3E78-F5EE045C26E5}"/>
              </a:ext>
            </a:extLst>
          </p:cNvPr>
          <p:cNvSpPr txBox="1"/>
          <p:nvPr/>
        </p:nvSpPr>
        <p:spPr>
          <a:xfrm>
            <a:off x="377617" y="4283970"/>
            <a:ext cx="7869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先做插值处理，然后制作区域内的污染物浓度分布图。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6D157F1-8E52-D890-0E2C-F731696EB529}"/>
              </a:ext>
            </a:extLst>
          </p:cNvPr>
          <p:cNvGraphicFramePr>
            <a:graphicFrameLocks noGrp="1"/>
          </p:cNvGraphicFramePr>
          <p:nvPr/>
        </p:nvGraphicFramePr>
        <p:xfrm>
          <a:off x="1475656" y="1705159"/>
          <a:ext cx="60960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543202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948506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2893883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62878259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904965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58802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x\y</a:t>
                      </a:r>
                      <a:endParaRPr lang="zh-CN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546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26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338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73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731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246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7983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二维插值方法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42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28B934-E1B5-82DA-BB99-3667CAC95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36" y="2683594"/>
            <a:ext cx="2711094" cy="20444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E3930B3-5F09-60ED-6A0B-2769A24CE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961" y="2677454"/>
            <a:ext cx="2711094" cy="205057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607A171-A3D6-7E2A-9561-EB79F52C56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386" y="2684634"/>
            <a:ext cx="2711094" cy="204805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CD7F518-EF56-301D-773F-72830070EAA2}"/>
              </a:ext>
            </a:extLst>
          </p:cNvPr>
          <p:cNvSpPr txBox="1"/>
          <p:nvPr/>
        </p:nvSpPr>
        <p:spPr>
          <a:xfrm>
            <a:off x="395536" y="826602"/>
            <a:ext cx="842493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b="0" i="0" dirty="0">
                <a:effectLst/>
                <a:latin typeface="Menlo" panose="020B0609030804020204" pitchFamily="49" charset="0"/>
              </a:rPr>
              <a:t>[x0,y0]=</a:t>
            </a:r>
            <a:r>
              <a:rPr lang="en" altLang="zh-CN" sz="1100" b="0" i="0" dirty="0" err="1">
                <a:effectLst/>
                <a:latin typeface="Menlo" panose="020B0609030804020204" pitchFamily="49" charset="0"/>
              </a:rPr>
              <a:t>meshgrid</a:t>
            </a:r>
            <a:r>
              <a:rPr lang="en" altLang="zh-CN" sz="1100" b="0" i="0" dirty="0">
                <a:effectLst/>
                <a:latin typeface="Menlo" panose="020B0609030804020204" pitchFamily="49" charset="0"/>
              </a:rPr>
              <a:t>(1:1:5,1:1:5);</a:t>
            </a:r>
          </a:p>
          <a:p>
            <a:r>
              <a:rPr lang="en" altLang="zh-CN" sz="1100" b="0" i="0" dirty="0">
                <a:effectLst/>
                <a:latin typeface="Menlo" panose="020B0609030804020204" pitchFamily="49" charset="0"/>
              </a:rPr>
              <a:t>z0=[34 40 41 41 39;36 41 45 47 46;33 39 43 50 47;32 40 44 45 46;28 35 40 41 42];</a:t>
            </a:r>
          </a:p>
          <a:p>
            <a:endParaRPr lang="en" altLang="zh-CN" sz="1100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sz="1100" b="0" i="0" dirty="0">
                <a:effectLst/>
                <a:latin typeface="Menlo" panose="020B0609030804020204" pitchFamily="49" charset="0"/>
              </a:rPr>
              <a:t>[</a:t>
            </a:r>
            <a:r>
              <a:rPr lang="en" altLang="zh-CN" sz="1100" b="0" i="0" dirty="0" err="1">
                <a:effectLst/>
                <a:latin typeface="Menlo" panose="020B0609030804020204" pitchFamily="49" charset="0"/>
              </a:rPr>
              <a:t>x,y</a:t>
            </a:r>
            <a:r>
              <a:rPr lang="en" altLang="zh-CN" sz="1100" b="0" i="0" dirty="0">
                <a:effectLst/>
                <a:latin typeface="Menlo" panose="020B0609030804020204" pitchFamily="49" charset="0"/>
              </a:rPr>
              <a:t>]=</a:t>
            </a:r>
            <a:r>
              <a:rPr lang="en" altLang="zh-CN" sz="1100" b="0" i="0" dirty="0" err="1">
                <a:effectLst/>
                <a:latin typeface="Menlo" panose="020B0609030804020204" pitchFamily="49" charset="0"/>
              </a:rPr>
              <a:t>meshgrid</a:t>
            </a:r>
            <a:r>
              <a:rPr lang="en" altLang="zh-CN" sz="1100" b="0" i="0" dirty="0">
                <a:effectLst/>
                <a:latin typeface="Menlo" panose="020B0609030804020204" pitchFamily="49" charset="0"/>
              </a:rPr>
              <a:t>(1:0.1:5,1:0.1:5);</a:t>
            </a:r>
          </a:p>
          <a:p>
            <a:r>
              <a:rPr lang="en" altLang="zh-CN" sz="1100" b="0" i="0" dirty="0">
                <a:effectLst/>
                <a:latin typeface="Menlo" panose="020B0609030804020204" pitchFamily="49" charset="0"/>
              </a:rPr>
              <a:t>z1=interp2(x0,y0,z0,x,y,</a:t>
            </a:r>
            <a:r>
              <a:rPr lang="en" altLang="zh-CN" sz="11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"linear"</a:t>
            </a:r>
            <a:r>
              <a:rPr lang="en" altLang="zh-CN" sz="1100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sz="1100" b="0" i="0" dirty="0">
                <a:effectLst/>
                <a:latin typeface="Menlo" panose="020B0609030804020204" pitchFamily="49" charset="0"/>
              </a:rPr>
              <a:t>z2=interp2(x0,y0,z0,x,y,</a:t>
            </a:r>
            <a:r>
              <a:rPr lang="en" altLang="zh-CN" sz="11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'cubic'</a:t>
            </a:r>
            <a:r>
              <a:rPr lang="en" altLang="zh-CN" sz="1100" b="0" i="0" dirty="0">
                <a:effectLst/>
                <a:latin typeface="Menlo" panose="020B0609030804020204" pitchFamily="49" charset="0"/>
              </a:rPr>
              <a:t>);</a:t>
            </a:r>
          </a:p>
          <a:p>
            <a:endParaRPr lang="en" altLang="zh-CN" sz="1100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sz="1100" b="0" i="0" dirty="0">
                <a:effectLst/>
                <a:latin typeface="Menlo" panose="020B0609030804020204" pitchFamily="49" charset="0"/>
              </a:rPr>
              <a:t>mesh(x0,y0,z0)</a:t>
            </a:r>
          </a:p>
          <a:p>
            <a:r>
              <a:rPr lang="en" altLang="zh-CN" sz="1100" b="0" i="0" dirty="0">
                <a:effectLst/>
                <a:latin typeface="Menlo" panose="020B0609030804020204" pitchFamily="49" charset="0"/>
              </a:rPr>
              <a:t>mesh(x,y,z1)</a:t>
            </a:r>
          </a:p>
          <a:p>
            <a:r>
              <a:rPr lang="en" altLang="zh-CN" sz="1100" b="0" i="0" dirty="0">
                <a:effectLst/>
                <a:latin typeface="Menlo" panose="020B0609030804020204" pitchFamily="49" charset="0"/>
              </a:rPr>
              <a:t>mesh(x,y,z2)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4456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355" name="Group 3">
            <a:extLst>
              <a:ext uri="{FF2B5EF4-FFF2-40B4-BE49-F238E27FC236}">
                <a16:creationId xmlns:a16="http://schemas.microsoft.com/office/drawing/2014/main" id="{506F287B-AAF6-2DD8-A441-59AD64C09AB1}"/>
              </a:ext>
            </a:extLst>
          </p:cNvPr>
          <p:cNvGrpSpPr>
            <a:grpSpLocks/>
          </p:cNvGrpSpPr>
          <p:nvPr/>
        </p:nvGrpSpPr>
        <p:grpSpPr bwMode="auto">
          <a:xfrm>
            <a:off x="4231769" y="1351384"/>
            <a:ext cx="4811434" cy="3507136"/>
            <a:chOff x="672" y="997"/>
            <a:chExt cx="4589" cy="3345"/>
          </a:xfrm>
        </p:grpSpPr>
        <p:grpSp>
          <p:nvGrpSpPr>
            <p:cNvPr id="228356" name="Group 4">
              <a:extLst>
                <a:ext uri="{FF2B5EF4-FFF2-40B4-BE49-F238E27FC236}">
                  <a16:creationId xmlns:a16="http://schemas.microsoft.com/office/drawing/2014/main" id="{B088D07C-1E8F-2172-6E71-4EE54695F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997"/>
              <a:ext cx="4589" cy="3323"/>
              <a:chOff x="845" y="666"/>
              <a:chExt cx="4589" cy="3323"/>
            </a:xfrm>
          </p:grpSpPr>
          <p:sp>
            <p:nvSpPr>
              <p:cNvPr id="228357" name="Line 5">
                <a:extLst>
                  <a:ext uri="{FF2B5EF4-FFF2-40B4-BE49-F238E27FC236}">
                    <a16:creationId xmlns:a16="http://schemas.microsoft.com/office/drawing/2014/main" id="{0B59CCC2-EBED-4058-0BAC-E455CF1018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5" y="3711"/>
                <a:ext cx="4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8358" name="Line 6">
                <a:extLst>
                  <a:ext uri="{FF2B5EF4-FFF2-40B4-BE49-F238E27FC236}">
                    <a16:creationId xmlns:a16="http://schemas.microsoft.com/office/drawing/2014/main" id="{8FA89C6F-BDB1-9BEC-5E9E-04AC14D92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2" y="844"/>
                <a:ext cx="0" cy="31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8359" name="Text Box 7">
                <a:extLst>
                  <a:ext uri="{FF2B5EF4-FFF2-40B4-BE49-F238E27FC236}">
                    <a16:creationId xmlns:a16="http://schemas.microsoft.com/office/drawing/2014/main" id="{29AC2F97-15FB-2975-7FD5-68229F668D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6" y="1123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8360" name="Text Box 8">
                <a:extLst>
                  <a:ext uri="{FF2B5EF4-FFF2-40B4-BE49-F238E27FC236}">
                    <a16:creationId xmlns:a16="http://schemas.microsoft.com/office/drawing/2014/main" id="{F355CD52-AB5F-4178-BCBF-57A43779C4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1" y="1411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8361" name="Text Box 9">
                <a:extLst>
                  <a:ext uri="{FF2B5EF4-FFF2-40B4-BE49-F238E27FC236}">
                    <a16:creationId xmlns:a16="http://schemas.microsoft.com/office/drawing/2014/main" id="{9E35B386-98FC-2440-1907-A750960003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4" y="2012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8362" name="Text Box 10">
                <a:extLst>
                  <a:ext uri="{FF2B5EF4-FFF2-40B4-BE49-F238E27FC236}">
                    <a16:creationId xmlns:a16="http://schemas.microsoft.com/office/drawing/2014/main" id="{C5D319C3-D89B-D980-2B86-0CA94E708C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3" y="1079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8363" name="Text Box 11">
                <a:extLst>
                  <a:ext uri="{FF2B5EF4-FFF2-40B4-BE49-F238E27FC236}">
                    <a16:creationId xmlns:a16="http://schemas.microsoft.com/office/drawing/2014/main" id="{ECCD54C4-31A8-9D58-7A9C-B300CAF210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9" y="1479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8364" name="Text Box 12">
                <a:extLst>
                  <a:ext uri="{FF2B5EF4-FFF2-40B4-BE49-F238E27FC236}">
                    <a16:creationId xmlns:a16="http://schemas.microsoft.com/office/drawing/2014/main" id="{EBDA6D99-2177-3BA2-9356-F08F4E5EBF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1102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8365" name="Text Box 13">
                <a:extLst>
                  <a:ext uri="{FF2B5EF4-FFF2-40B4-BE49-F238E27FC236}">
                    <a16:creationId xmlns:a16="http://schemas.microsoft.com/office/drawing/2014/main" id="{EE65C073-7E68-DC5E-145C-2DDE667983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3" y="2102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8366" name="Text Box 14">
                <a:extLst>
                  <a:ext uri="{FF2B5EF4-FFF2-40B4-BE49-F238E27FC236}">
                    <a16:creationId xmlns:a16="http://schemas.microsoft.com/office/drawing/2014/main" id="{D2A8D27E-2F4B-C20B-0ABA-610F901979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55" y="1601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8367" name="Text Box 15">
                <a:extLst>
                  <a:ext uri="{FF2B5EF4-FFF2-40B4-BE49-F238E27FC236}">
                    <a16:creationId xmlns:a16="http://schemas.microsoft.com/office/drawing/2014/main" id="{33CFECB9-F01E-6C39-200D-6FB40E6910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9" y="1778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8368" name="Text Box 16">
                <a:extLst>
                  <a:ext uri="{FF2B5EF4-FFF2-40B4-BE49-F238E27FC236}">
                    <a16:creationId xmlns:a16="http://schemas.microsoft.com/office/drawing/2014/main" id="{3D9B66A5-CFE9-D0F9-534A-BB9E2D3157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3" y="1668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8369" name="Text Box 17">
                <a:extLst>
                  <a:ext uri="{FF2B5EF4-FFF2-40B4-BE49-F238E27FC236}">
                    <a16:creationId xmlns:a16="http://schemas.microsoft.com/office/drawing/2014/main" id="{DCD42786-80EE-25F2-AFEC-62940B890F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4" y="2422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8370" name="Text Box 18">
                <a:extLst>
                  <a:ext uri="{FF2B5EF4-FFF2-40B4-BE49-F238E27FC236}">
                    <a16:creationId xmlns:a16="http://schemas.microsoft.com/office/drawing/2014/main" id="{15E9C8D1-DC94-F2CD-3198-E748A7EADC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0" y="2734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8371" name="Text Box 19">
                <a:extLst>
                  <a:ext uri="{FF2B5EF4-FFF2-40B4-BE49-F238E27FC236}">
                    <a16:creationId xmlns:a16="http://schemas.microsoft.com/office/drawing/2014/main" id="{23ABC309-DD2B-8596-4B20-E52910DECB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9" y="2579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8372" name="Text Box 20">
                <a:extLst>
                  <a:ext uri="{FF2B5EF4-FFF2-40B4-BE49-F238E27FC236}">
                    <a16:creationId xmlns:a16="http://schemas.microsoft.com/office/drawing/2014/main" id="{54944DDD-83D2-FA8E-A59D-73366841C3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" y="2823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8373" name="Text Box 21">
                <a:extLst>
                  <a:ext uri="{FF2B5EF4-FFF2-40B4-BE49-F238E27FC236}">
                    <a16:creationId xmlns:a16="http://schemas.microsoft.com/office/drawing/2014/main" id="{B4B988FA-237F-55DA-76CF-E3C5A771E8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3" y="2601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</a:t>
                </a:r>
                <a:endParaRPr kumimoji="1" lang="en-US" altLang="zh-CN" b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28374" name="Text Box 22">
                <a:extLst>
                  <a:ext uri="{FF2B5EF4-FFF2-40B4-BE49-F238E27FC236}">
                    <a16:creationId xmlns:a16="http://schemas.microsoft.com/office/drawing/2014/main" id="{F1B01A03-9E40-443F-FD89-D9FE904273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9" y="666"/>
                <a:ext cx="334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</a:rPr>
                  <a:t>y</a:t>
                </a:r>
              </a:p>
            </p:txBody>
          </p:sp>
          <p:sp>
            <p:nvSpPr>
              <p:cNvPr id="228375" name="Text Box 23">
                <a:extLst>
                  <a:ext uri="{FF2B5EF4-FFF2-40B4-BE49-F238E27FC236}">
                    <a16:creationId xmlns:a16="http://schemas.microsoft.com/office/drawing/2014/main" id="{654E174B-E539-860E-5D27-272DDB6983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2" y="3666"/>
                <a:ext cx="422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b="1">
                    <a:latin typeface="Times New Roman" panose="02020603050405020304" pitchFamily="18" charset="0"/>
                    <a:ea typeface="隶书" panose="02010509060101010101" pitchFamily="49" charset="-122"/>
                  </a:rPr>
                  <a:t>x</a:t>
                </a:r>
              </a:p>
            </p:txBody>
          </p:sp>
        </p:grpSp>
        <p:sp>
          <p:nvSpPr>
            <p:cNvPr id="228376" name="Text Box 24">
              <a:extLst>
                <a:ext uri="{FF2B5EF4-FFF2-40B4-BE49-F238E27FC236}">
                  <a16:creationId xmlns:a16="http://schemas.microsoft.com/office/drawing/2014/main" id="{EA22AFBB-AF9D-B247-43EB-70AE160C5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993"/>
              <a:ext cx="27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100" b="1">
                  <a:latin typeface="隶书" panose="02010509060101010101" pitchFamily="49" charset="-122"/>
                  <a:ea typeface="隶书" panose="02010509060101010101" pitchFamily="49" charset="-122"/>
                </a:rPr>
                <a:t>0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E223EF73-1A1C-4F09-C147-090A385C5C11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二维插值方法</a:t>
            </a: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8083959C-697D-9293-05CF-89E3F193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43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 Box 33">
            <a:extLst>
              <a:ext uri="{FF2B5EF4-FFF2-40B4-BE49-F238E27FC236}">
                <a16:creationId xmlns:a16="http://schemas.microsoft.com/office/drawing/2014/main" id="{8DF19AFD-0F40-4E0F-E422-302A376AA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860721"/>
            <a:ext cx="334288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散乱节点（不均匀节点）</a:t>
            </a:r>
            <a:endParaRPr kumimoji="1"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kumimoji="1"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如果节点分布散乱，可以用</a:t>
            </a:r>
            <a:r>
              <a:rPr kumimoji="1"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</a:t>
            </a:r>
            <a:r>
              <a:rPr kumimoji="1"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kumimoji="1"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569410-EAB9-DA8A-19DE-B4EE822B6427}"/>
              </a:ext>
            </a:extLst>
          </p:cNvPr>
          <p:cNvSpPr txBox="1"/>
          <p:nvPr/>
        </p:nvSpPr>
        <p:spPr>
          <a:xfrm>
            <a:off x="113707" y="3104952"/>
            <a:ext cx="40110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latin typeface="Menlo" panose="020B0609030804020204" pitchFamily="49" charset="0"/>
              </a:rPr>
              <a:t>griddata</a:t>
            </a:r>
            <a:r>
              <a:rPr lang="en-US" altLang="zh-CN" sz="1600" dirty="0">
                <a:latin typeface="Menlo" panose="020B0609030804020204" pitchFamily="49" charset="0"/>
              </a:rPr>
              <a:t>(x0,y0,z0,x,y,’method’)</a:t>
            </a:r>
            <a:endParaRPr lang="zh-CN" altLang="en-US" sz="1600" dirty="0">
              <a:latin typeface="Menlo" panose="020B060903080402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2B2CC9-CBAA-4E38-E96C-EFB5C77A39C6}"/>
              </a:ext>
            </a:extLst>
          </p:cNvPr>
          <p:cNvSpPr txBox="1"/>
          <p:nvPr/>
        </p:nvSpPr>
        <p:spPr>
          <a:xfrm>
            <a:off x="380577" y="3938175"/>
            <a:ext cx="35573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Menlo" panose="020B0609030804020204" pitchFamily="49" charset="0"/>
              </a:rPr>
              <a:t>Method</a:t>
            </a:r>
            <a:r>
              <a:rPr lang="zh-CN" altLang="en-US" sz="1600" dirty="0">
                <a:latin typeface="Menlo" panose="020B0609030804020204" pitchFamily="49" charset="0"/>
              </a:rPr>
              <a:t>可选</a:t>
            </a:r>
            <a:r>
              <a:rPr lang="en-US" altLang="zh-CN" sz="1600" dirty="0">
                <a:latin typeface="Menlo" panose="020B0609030804020204" pitchFamily="49" charset="0"/>
              </a:rPr>
              <a:t>’</a:t>
            </a:r>
            <a:r>
              <a:rPr lang="en-US" altLang="zh-CN" sz="1600" dirty="0" err="1">
                <a:latin typeface="Menlo" panose="020B0609030804020204" pitchFamily="49" charset="0"/>
              </a:rPr>
              <a:t>nearest’,‘linear</a:t>
            </a:r>
            <a:r>
              <a:rPr lang="en-US" altLang="zh-CN" sz="1600" dirty="0">
                <a:latin typeface="Menlo" panose="020B0609030804020204" pitchFamily="49" charset="0"/>
              </a:rPr>
              <a:t>’</a:t>
            </a:r>
          </a:p>
          <a:p>
            <a:r>
              <a:rPr lang="en-US" altLang="zh-CN" sz="1600" dirty="0">
                <a:latin typeface="Menlo" panose="020B0609030804020204" pitchFamily="49" charset="0"/>
              </a:rPr>
              <a:t>‘</a:t>
            </a:r>
            <a:r>
              <a:rPr lang="en-US" altLang="zh-CN" sz="1600" dirty="0" err="1">
                <a:latin typeface="Menlo" panose="020B0609030804020204" pitchFamily="49" charset="0"/>
              </a:rPr>
              <a:t>cubic’,‘spline</a:t>
            </a:r>
            <a:r>
              <a:rPr lang="en-US" altLang="zh-CN" sz="1600" dirty="0">
                <a:latin typeface="Menlo" panose="020B0609030804020204" pitchFamily="49" charset="0"/>
              </a:rPr>
              <a:t>’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二维插值方法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44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23911F-B491-8FF0-E05B-911D8765378C}"/>
              </a:ext>
            </a:extLst>
          </p:cNvPr>
          <p:cNvSpPr txBox="1"/>
          <p:nvPr/>
        </p:nvSpPr>
        <p:spPr>
          <a:xfrm>
            <a:off x="1439652" y="2330899"/>
            <a:ext cx="626469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b="0" i="0" dirty="0">
                <a:effectLst/>
                <a:latin typeface="Menlo" panose="020B0609030804020204" pitchFamily="49" charset="0"/>
              </a:rPr>
              <a:t>x0=[13 14 10 8 18 19 10 16 10 7 8 16 16 12];</a:t>
            </a:r>
          </a:p>
          <a:p>
            <a:r>
              <a:rPr lang="en" altLang="zh-CN" sz="1400" b="0" i="0" dirty="0">
                <a:effectLst/>
                <a:latin typeface="Menlo" panose="020B0609030804020204" pitchFamily="49" charset="0"/>
              </a:rPr>
              <a:t>y0=[0.7 14 2 15 2 13 9 -1 -8 0.3 6 -7 8 -3];</a:t>
            </a:r>
          </a:p>
          <a:p>
            <a:r>
              <a:rPr lang="en" altLang="zh-CN" sz="1400" b="0" i="0" dirty="0">
                <a:effectLst/>
                <a:latin typeface="Menlo" panose="020B0609030804020204" pitchFamily="49" charset="0"/>
              </a:rPr>
              <a:t>z0=[4 8 6 8 6 8 8 9 9 8 8 9 4 9];</a:t>
            </a:r>
          </a:p>
          <a:p>
            <a:endParaRPr lang="en" altLang="zh-CN" sz="1400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sz="1400" b="0" i="0" dirty="0">
                <a:effectLst/>
                <a:latin typeface="Menlo" panose="020B0609030804020204" pitchFamily="49" charset="0"/>
              </a:rPr>
              <a:t>[</a:t>
            </a:r>
            <a:r>
              <a:rPr lang="en" altLang="zh-CN" sz="1400" b="0" i="0" dirty="0" err="1">
                <a:effectLst/>
                <a:latin typeface="Menlo" panose="020B0609030804020204" pitchFamily="49" charset="0"/>
              </a:rPr>
              <a:t>x,y</a:t>
            </a:r>
            <a:r>
              <a:rPr lang="en" altLang="zh-CN" sz="1400" b="0" i="0" dirty="0">
                <a:effectLst/>
                <a:latin typeface="Menlo" panose="020B0609030804020204" pitchFamily="49" charset="0"/>
              </a:rPr>
              <a:t>]=</a:t>
            </a:r>
            <a:r>
              <a:rPr lang="en" altLang="zh-CN" sz="1400" b="0" i="0" dirty="0" err="1">
                <a:effectLst/>
                <a:latin typeface="Menlo" panose="020B0609030804020204" pitchFamily="49" charset="0"/>
              </a:rPr>
              <a:t>meshgrid</a:t>
            </a:r>
            <a:r>
              <a:rPr lang="en" altLang="zh-CN" sz="1400" b="0" i="0" dirty="0">
                <a:effectLst/>
                <a:latin typeface="Menlo" panose="020B0609030804020204" pitchFamily="49" charset="0"/>
              </a:rPr>
              <a:t>(5:0.1:20,-5:0.1:20); </a:t>
            </a:r>
            <a:r>
              <a:rPr lang="en" altLang="zh-CN" sz="14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定义插值节点</a:t>
            </a:r>
            <a:endParaRPr lang="zh-CN" altLang="en-US" sz="1400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sz="1400" b="0" i="0" dirty="0">
                <a:effectLst/>
                <a:latin typeface="Menlo" panose="020B0609030804020204" pitchFamily="49" charset="0"/>
              </a:rPr>
              <a:t>z1=</a:t>
            </a:r>
            <a:r>
              <a:rPr lang="en" altLang="zh-CN" sz="1400" b="0" i="0" dirty="0" err="1">
                <a:effectLst/>
                <a:latin typeface="Menlo" panose="020B0609030804020204" pitchFamily="49" charset="0"/>
              </a:rPr>
              <a:t>griddata</a:t>
            </a:r>
            <a:r>
              <a:rPr lang="en" altLang="zh-CN" sz="1400" b="0" i="0" dirty="0">
                <a:effectLst/>
                <a:latin typeface="Menlo" panose="020B0609030804020204" pitchFamily="49" charset="0"/>
              </a:rPr>
              <a:t>(x0,y0,z0,x,y,</a:t>
            </a:r>
            <a:r>
              <a:rPr lang="en" altLang="zh-CN" sz="14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'linear'</a:t>
            </a:r>
            <a:r>
              <a:rPr lang="en" altLang="zh-CN" sz="1400" b="0" i="0" dirty="0">
                <a:effectLst/>
                <a:latin typeface="Menlo" panose="020B0609030804020204" pitchFamily="49" charset="0"/>
              </a:rPr>
              <a:t>); </a:t>
            </a:r>
            <a:r>
              <a:rPr lang="en" altLang="zh-CN" sz="14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线性插值</a:t>
            </a:r>
            <a:endParaRPr lang="zh-CN" altLang="en-US" sz="1400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sz="1400" b="0" i="0" dirty="0">
                <a:effectLst/>
                <a:latin typeface="Menlo" panose="020B0609030804020204" pitchFamily="49" charset="0"/>
              </a:rPr>
              <a:t>z2=</a:t>
            </a:r>
            <a:r>
              <a:rPr lang="en" altLang="zh-CN" sz="1400" b="0" i="0" dirty="0" err="1">
                <a:effectLst/>
                <a:latin typeface="Menlo" panose="020B0609030804020204" pitchFamily="49" charset="0"/>
              </a:rPr>
              <a:t>griddata</a:t>
            </a:r>
            <a:r>
              <a:rPr lang="en" altLang="zh-CN" sz="1400" b="0" i="0" dirty="0">
                <a:effectLst/>
                <a:latin typeface="Menlo" panose="020B0609030804020204" pitchFamily="49" charset="0"/>
              </a:rPr>
              <a:t>(x0,y0,z0,x,y,</a:t>
            </a:r>
            <a:r>
              <a:rPr lang="en" altLang="zh-CN" sz="14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'cubic'</a:t>
            </a:r>
            <a:r>
              <a:rPr lang="en" altLang="zh-CN" sz="1400" b="0" i="0" dirty="0">
                <a:effectLst/>
                <a:latin typeface="Menlo" panose="020B0609030804020204" pitchFamily="49" charset="0"/>
              </a:rPr>
              <a:t>); </a:t>
            </a:r>
            <a:r>
              <a:rPr lang="en" altLang="zh-CN" sz="14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三次插值</a:t>
            </a:r>
            <a:endParaRPr lang="zh-CN" altLang="en-US" sz="1400" b="0" i="0" dirty="0">
              <a:effectLst/>
              <a:latin typeface="Menlo" panose="020B0609030804020204" pitchFamily="49" charset="0"/>
            </a:endParaRPr>
          </a:p>
          <a:p>
            <a:endParaRPr lang="zh-CN" altLang="en-US" sz="1400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sz="1400" b="0" i="0" dirty="0">
                <a:effectLst/>
                <a:latin typeface="Menlo" panose="020B0609030804020204" pitchFamily="49" charset="0"/>
              </a:rPr>
              <a:t>mesh(x,y,z1)</a:t>
            </a:r>
          </a:p>
          <a:p>
            <a:r>
              <a:rPr lang="en" altLang="zh-CN" sz="1400" b="0" i="0" dirty="0">
                <a:effectLst/>
                <a:latin typeface="Menlo" panose="020B0609030804020204" pitchFamily="49" charset="0"/>
              </a:rPr>
              <a:t>mesh(x,y,z2)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F5D4145-5DB8-C392-A5D9-1BD1BB0EA6FD}"/>
              </a:ext>
            </a:extLst>
          </p:cNvPr>
          <p:cNvGraphicFramePr>
            <a:graphicFrameLocks noGrp="1"/>
          </p:cNvGraphicFramePr>
          <p:nvPr/>
        </p:nvGraphicFramePr>
        <p:xfrm>
          <a:off x="971600" y="955174"/>
          <a:ext cx="741682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455">
                  <a:extLst>
                    <a:ext uri="{9D8B030D-6E8A-4147-A177-3AD203B41FA5}">
                      <a16:colId xmlns:a16="http://schemas.microsoft.com/office/drawing/2014/main" val="2476713344"/>
                    </a:ext>
                  </a:extLst>
                </a:gridCol>
                <a:gridCol w="494455">
                  <a:extLst>
                    <a:ext uri="{9D8B030D-6E8A-4147-A177-3AD203B41FA5}">
                      <a16:colId xmlns:a16="http://schemas.microsoft.com/office/drawing/2014/main" val="1378086163"/>
                    </a:ext>
                  </a:extLst>
                </a:gridCol>
                <a:gridCol w="494455">
                  <a:extLst>
                    <a:ext uri="{9D8B030D-6E8A-4147-A177-3AD203B41FA5}">
                      <a16:colId xmlns:a16="http://schemas.microsoft.com/office/drawing/2014/main" val="1438970945"/>
                    </a:ext>
                  </a:extLst>
                </a:gridCol>
                <a:gridCol w="494455">
                  <a:extLst>
                    <a:ext uri="{9D8B030D-6E8A-4147-A177-3AD203B41FA5}">
                      <a16:colId xmlns:a16="http://schemas.microsoft.com/office/drawing/2014/main" val="2913409594"/>
                    </a:ext>
                  </a:extLst>
                </a:gridCol>
                <a:gridCol w="494455">
                  <a:extLst>
                    <a:ext uri="{9D8B030D-6E8A-4147-A177-3AD203B41FA5}">
                      <a16:colId xmlns:a16="http://schemas.microsoft.com/office/drawing/2014/main" val="2136620836"/>
                    </a:ext>
                  </a:extLst>
                </a:gridCol>
                <a:gridCol w="494455">
                  <a:extLst>
                    <a:ext uri="{9D8B030D-6E8A-4147-A177-3AD203B41FA5}">
                      <a16:colId xmlns:a16="http://schemas.microsoft.com/office/drawing/2014/main" val="3256953427"/>
                    </a:ext>
                  </a:extLst>
                </a:gridCol>
                <a:gridCol w="494455">
                  <a:extLst>
                    <a:ext uri="{9D8B030D-6E8A-4147-A177-3AD203B41FA5}">
                      <a16:colId xmlns:a16="http://schemas.microsoft.com/office/drawing/2014/main" val="564081611"/>
                    </a:ext>
                  </a:extLst>
                </a:gridCol>
                <a:gridCol w="494455">
                  <a:extLst>
                    <a:ext uri="{9D8B030D-6E8A-4147-A177-3AD203B41FA5}">
                      <a16:colId xmlns:a16="http://schemas.microsoft.com/office/drawing/2014/main" val="1991208202"/>
                    </a:ext>
                  </a:extLst>
                </a:gridCol>
                <a:gridCol w="494455">
                  <a:extLst>
                    <a:ext uri="{9D8B030D-6E8A-4147-A177-3AD203B41FA5}">
                      <a16:colId xmlns:a16="http://schemas.microsoft.com/office/drawing/2014/main" val="3146884594"/>
                    </a:ext>
                  </a:extLst>
                </a:gridCol>
                <a:gridCol w="494455">
                  <a:extLst>
                    <a:ext uri="{9D8B030D-6E8A-4147-A177-3AD203B41FA5}">
                      <a16:colId xmlns:a16="http://schemas.microsoft.com/office/drawing/2014/main" val="1578333266"/>
                    </a:ext>
                  </a:extLst>
                </a:gridCol>
                <a:gridCol w="494455">
                  <a:extLst>
                    <a:ext uri="{9D8B030D-6E8A-4147-A177-3AD203B41FA5}">
                      <a16:colId xmlns:a16="http://schemas.microsoft.com/office/drawing/2014/main" val="1319901843"/>
                    </a:ext>
                  </a:extLst>
                </a:gridCol>
                <a:gridCol w="494455">
                  <a:extLst>
                    <a:ext uri="{9D8B030D-6E8A-4147-A177-3AD203B41FA5}">
                      <a16:colId xmlns:a16="http://schemas.microsoft.com/office/drawing/2014/main" val="1600579116"/>
                    </a:ext>
                  </a:extLst>
                </a:gridCol>
                <a:gridCol w="494455">
                  <a:extLst>
                    <a:ext uri="{9D8B030D-6E8A-4147-A177-3AD203B41FA5}">
                      <a16:colId xmlns:a16="http://schemas.microsoft.com/office/drawing/2014/main" val="671696513"/>
                    </a:ext>
                  </a:extLst>
                </a:gridCol>
                <a:gridCol w="494455">
                  <a:extLst>
                    <a:ext uri="{9D8B030D-6E8A-4147-A177-3AD203B41FA5}">
                      <a16:colId xmlns:a16="http://schemas.microsoft.com/office/drawing/2014/main" val="2895877548"/>
                    </a:ext>
                  </a:extLst>
                </a:gridCol>
                <a:gridCol w="494455">
                  <a:extLst>
                    <a:ext uri="{9D8B030D-6E8A-4147-A177-3AD203B41FA5}">
                      <a16:colId xmlns:a16="http://schemas.microsoft.com/office/drawing/2014/main" val="491635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84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-7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20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257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7441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二维插值方法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45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02D1C9-CBC0-3735-13FF-4B2882385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88" y="1275606"/>
            <a:ext cx="3929238" cy="30097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6849569-052A-D324-D89A-FF8640DB7B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785" y="1275606"/>
            <a:ext cx="3981387" cy="30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2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二维插值</a:t>
            </a:r>
            <a:r>
              <a:rPr lang="en-US" altLang="zh-CN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vs.</a:t>
            </a: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图像插值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46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2C9F7D-B782-FD61-B1F9-EB103A8668B4}"/>
              </a:ext>
            </a:extLst>
          </p:cNvPr>
          <p:cNvSpPr txBox="1"/>
          <p:nvPr/>
        </p:nvSpPr>
        <p:spPr>
          <a:xfrm>
            <a:off x="1197320" y="1373300"/>
            <a:ext cx="2658603" cy="2751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8     1     6</a:t>
            </a:r>
          </a:p>
          <a:p>
            <a:pPr>
              <a:lnSpc>
                <a:spcPct val="150000"/>
              </a:lnSpc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3     5     7</a:t>
            </a:r>
          </a:p>
          <a:p>
            <a:pPr>
              <a:lnSpc>
                <a:spcPct val="150000"/>
              </a:lnSpc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4     9     2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F4EDCF39-3BF6-9EEA-0FE1-5028E30A1FAB}"/>
              </a:ext>
            </a:extLst>
          </p:cNvPr>
          <p:cNvGraphicFramePr>
            <a:graphicFrameLocks noGrp="1"/>
          </p:cNvGraphicFramePr>
          <p:nvPr/>
        </p:nvGraphicFramePr>
        <p:xfrm>
          <a:off x="1043608" y="1491630"/>
          <a:ext cx="2779158" cy="27517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3193">
                  <a:extLst>
                    <a:ext uri="{9D8B030D-6E8A-4147-A177-3AD203B41FA5}">
                      <a16:colId xmlns:a16="http://schemas.microsoft.com/office/drawing/2014/main" val="484367320"/>
                    </a:ext>
                  </a:extLst>
                </a:gridCol>
                <a:gridCol w="463193">
                  <a:extLst>
                    <a:ext uri="{9D8B030D-6E8A-4147-A177-3AD203B41FA5}">
                      <a16:colId xmlns:a16="http://schemas.microsoft.com/office/drawing/2014/main" val="2695578687"/>
                    </a:ext>
                  </a:extLst>
                </a:gridCol>
                <a:gridCol w="463193">
                  <a:extLst>
                    <a:ext uri="{9D8B030D-6E8A-4147-A177-3AD203B41FA5}">
                      <a16:colId xmlns:a16="http://schemas.microsoft.com/office/drawing/2014/main" val="1676179758"/>
                    </a:ext>
                  </a:extLst>
                </a:gridCol>
                <a:gridCol w="463193">
                  <a:extLst>
                    <a:ext uri="{9D8B030D-6E8A-4147-A177-3AD203B41FA5}">
                      <a16:colId xmlns:a16="http://schemas.microsoft.com/office/drawing/2014/main" val="1849335234"/>
                    </a:ext>
                  </a:extLst>
                </a:gridCol>
                <a:gridCol w="463193">
                  <a:extLst>
                    <a:ext uri="{9D8B030D-6E8A-4147-A177-3AD203B41FA5}">
                      <a16:colId xmlns:a16="http://schemas.microsoft.com/office/drawing/2014/main" val="466066449"/>
                    </a:ext>
                  </a:extLst>
                </a:gridCol>
                <a:gridCol w="463193">
                  <a:extLst>
                    <a:ext uri="{9D8B030D-6E8A-4147-A177-3AD203B41FA5}">
                      <a16:colId xmlns:a16="http://schemas.microsoft.com/office/drawing/2014/main" val="2435517480"/>
                    </a:ext>
                  </a:extLst>
                </a:gridCol>
              </a:tblGrid>
              <a:tr h="458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6005602"/>
                  </a:ext>
                </a:extLst>
              </a:tr>
              <a:tr h="458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7358894"/>
                  </a:ext>
                </a:extLst>
              </a:tr>
              <a:tr h="458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6155169"/>
                  </a:ext>
                </a:extLst>
              </a:tr>
              <a:tr h="458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1063656"/>
                  </a:ext>
                </a:extLst>
              </a:tr>
              <a:tr h="458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017788"/>
                  </a:ext>
                </a:extLst>
              </a:tr>
              <a:tr h="458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8370882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01B40755-ABA5-52CD-6768-23D58833172B}"/>
              </a:ext>
            </a:extLst>
          </p:cNvPr>
          <p:cNvSpPr txBox="1"/>
          <p:nvPr/>
        </p:nvSpPr>
        <p:spPr>
          <a:xfrm>
            <a:off x="5508471" y="1473439"/>
            <a:ext cx="22060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步骤：</a:t>
            </a:r>
            <a:endParaRPr kumimoji="1"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确定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个近邻像素</a:t>
            </a:r>
            <a:endParaRPr kumimoji="1"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轴进行插值</a:t>
            </a:r>
            <a:endParaRPr kumimoji="1"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轴进行插值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D0170C-C03E-4854-2DA0-47C6282F9720}"/>
              </a:ext>
            </a:extLst>
          </p:cNvPr>
          <p:cNvSpPr txBox="1"/>
          <p:nvPr/>
        </p:nvSpPr>
        <p:spPr>
          <a:xfrm>
            <a:off x="4605980" y="3053892"/>
            <a:ext cx="40110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左上角蓝色的点计算步骤：</a:t>
            </a:r>
            <a:endParaRPr kumimoji="1"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轴插值结果：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8-7/4=6.25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3+2/4=3.5</a:t>
            </a:r>
          </a:p>
          <a:p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轴插值结果：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6.25-(6.25-3.5)/4=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5.5625</a:t>
            </a:r>
            <a:endParaRPr kumimoji="1"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EB7A47C-2B18-EB24-F523-4F253A954493}"/>
              </a:ext>
            </a:extLst>
          </p:cNvPr>
          <p:cNvSpPr txBox="1"/>
          <p:nvPr/>
        </p:nvSpPr>
        <p:spPr>
          <a:xfrm>
            <a:off x="1547664" y="17612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7715DE6-F47D-179B-02EE-16364E359969}"/>
              </a:ext>
            </a:extLst>
          </p:cNvPr>
          <p:cNvSpPr txBox="1"/>
          <p:nvPr/>
        </p:nvSpPr>
        <p:spPr>
          <a:xfrm>
            <a:off x="1547664" y="2682821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56132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二维插值</a:t>
            </a:r>
            <a:r>
              <a:rPr lang="en-US" altLang="zh-CN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vs.</a:t>
            </a: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图像插值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47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70A177-AD97-3BF9-66C6-304AF4858C20}"/>
              </a:ext>
            </a:extLst>
          </p:cNvPr>
          <p:cNvSpPr txBox="1"/>
          <p:nvPr/>
        </p:nvSpPr>
        <p:spPr>
          <a:xfrm>
            <a:off x="457200" y="1073945"/>
            <a:ext cx="36107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b="0" i="0" dirty="0" err="1">
                <a:effectLst/>
                <a:latin typeface="Menlo" panose="020B0609030804020204" pitchFamily="49" charset="0"/>
              </a:rPr>
              <a:t>img</a:t>
            </a:r>
            <a:r>
              <a:rPr lang="en" altLang="zh-CN" sz="1200" b="0" i="0" dirty="0">
                <a:effectLst/>
                <a:latin typeface="Menlo" panose="020B0609030804020204" pitchFamily="49" charset="0"/>
              </a:rPr>
              <a:t> = magic(3); </a:t>
            </a:r>
          </a:p>
          <a:p>
            <a:br>
              <a:rPr lang="en" altLang="zh-CN" sz="1200" b="0" i="0" dirty="0">
                <a:effectLst/>
                <a:latin typeface="Menlo" panose="020B0609030804020204" pitchFamily="49" charset="0"/>
              </a:rPr>
            </a:br>
            <a:endParaRPr lang="en" altLang="zh-CN" sz="1200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sz="1200" b="0" i="0" dirty="0">
                <a:effectLst/>
                <a:latin typeface="Menlo" panose="020B0609030804020204" pitchFamily="49" charset="0"/>
              </a:rPr>
              <a:t>[x0,y0]=</a:t>
            </a:r>
            <a:r>
              <a:rPr lang="en" altLang="zh-CN" sz="1200" b="0" i="0" dirty="0" err="1">
                <a:effectLst/>
                <a:latin typeface="Menlo" panose="020B0609030804020204" pitchFamily="49" charset="0"/>
              </a:rPr>
              <a:t>meshgrid</a:t>
            </a:r>
            <a:r>
              <a:rPr lang="en" altLang="zh-CN" sz="1200" b="0" i="0" dirty="0">
                <a:effectLst/>
                <a:latin typeface="Menlo" panose="020B0609030804020204" pitchFamily="49" charset="0"/>
              </a:rPr>
              <a:t>(1.5:2:5.5,1.5:2:5.5);</a:t>
            </a:r>
          </a:p>
          <a:p>
            <a:r>
              <a:rPr lang="en" altLang="zh-CN" sz="1200" b="0" i="0" dirty="0">
                <a:effectLst/>
                <a:latin typeface="Menlo" panose="020B0609030804020204" pitchFamily="49" charset="0"/>
              </a:rPr>
              <a:t>z0=</a:t>
            </a:r>
            <a:r>
              <a:rPr lang="en" altLang="zh-CN" sz="1200" b="0" i="0" dirty="0" err="1">
                <a:effectLst/>
                <a:latin typeface="Menlo" panose="020B0609030804020204" pitchFamily="49" charset="0"/>
              </a:rPr>
              <a:t>img</a:t>
            </a:r>
            <a:r>
              <a:rPr lang="en" altLang="zh-CN" sz="1200" b="0" i="0" dirty="0">
                <a:effectLst/>
                <a:latin typeface="Menlo" panose="020B0609030804020204" pitchFamily="49" charset="0"/>
              </a:rPr>
              <a:t>;</a:t>
            </a:r>
          </a:p>
          <a:p>
            <a:endParaRPr lang="en" altLang="zh-CN" sz="1200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sz="1200" b="0" i="0" dirty="0"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 i="0" dirty="0" err="1">
                <a:effectLst/>
                <a:latin typeface="Menlo" panose="020B0609030804020204" pitchFamily="49" charset="0"/>
              </a:rPr>
              <a:t>x,y</a:t>
            </a:r>
            <a:r>
              <a:rPr lang="en" altLang="zh-CN" sz="1200" b="0" i="0" dirty="0">
                <a:effectLst/>
                <a:latin typeface="Menlo" panose="020B0609030804020204" pitchFamily="49" charset="0"/>
              </a:rPr>
              <a:t>]=</a:t>
            </a:r>
            <a:r>
              <a:rPr lang="en" altLang="zh-CN" sz="1200" b="0" i="0" dirty="0" err="1">
                <a:effectLst/>
                <a:latin typeface="Menlo" panose="020B0609030804020204" pitchFamily="49" charset="0"/>
              </a:rPr>
              <a:t>meshgrid</a:t>
            </a:r>
            <a:r>
              <a:rPr lang="en" altLang="zh-CN" sz="1200" b="0" i="0" dirty="0">
                <a:effectLst/>
                <a:latin typeface="Menlo" panose="020B0609030804020204" pitchFamily="49" charset="0"/>
              </a:rPr>
              <a:t>(1:1:6,1:1:6);</a:t>
            </a:r>
          </a:p>
          <a:p>
            <a:endParaRPr lang="en" altLang="zh-CN" sz="1200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sz="1200" b="0" i="0" dirty="0">
                <a:effectLst/>
                <a:latin typeface="Menlo" panose="020B0609030804020204" pitchFamily="49" charset="0"/>
              </a:rPr>
              <a:t>z1=interp2(x0,y0,z0,x,y,</a:t>
            </a:r>
            <a:r>
              <a:rPr lang="en" altLang="zh-CN" sz="12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"linear"</a:t>
            </a:r>
            <a:r>
              <a:rPr lang="en" altLang="zh-CN" sz="1200" b="0" i="0" dirty="0">
                <a:effectLst/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1E99BD-2E8A-0B44-B228-0EBFBEB77ADA}"/>
              </a:ext>
            </a:extLst>
          </p:cNvPr>
          <p:cNvSpPr txBox="1"/>
          <p:nvPr/>
        </p:nvSpPr>
        <p:spPr>
          <a:xfrm>
            <a:off x="367339" y="3291830"/>
            <a:ext cx="37180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NaN       NaN       NaN       NaN       </a:t>
            </a:r>
            <a:r>
              <a:rPr lang="en-US" altLang="zh-CN" sz="1200" dirty="0"/>
              <a:t>    </a:t>
            </a:r>
            <a:r>
              <a:rPr lang="zh-CN" altLang="en-US" sz="1200" dirty="0"/>
              <a:t>NaN       </a:t>
            </a:r>
            <a:r>
              <a:rPr lang="en-US" altLang="zh-CN" sz="1200" dirty="0"/>
              <a:t>   </a:t>
            </a:r>
            <a:r>
              <a:rPr lang="zh-CN" altLang="en-US" sz="1200" dirty="0"/>
              <a:t>NaN</a:t>
            </a:r>
          </a:p>
          <a:p>
            <a:r>
              <a:rPr lang="zh-CN" altLang="en-US" sz="1200" dirty="0"/>
              <a:t>NaN    </a:t>
            </a:r>
            <a:r>
              <a:rPr lang="zh-CN" altLang="en-US" sz="1200" dirty="0">
                <a:solidFill>
                  <a:srgbClr val="FF0000"/>
                </a:solidFill>
              </a:rPr>
              <a:t>5.5625</a:t>
            </a:r>
            <a:r>
              <a:rPr lang="zh-CN" altLang="en-US" sz="1200" dirty="0"/>
              <a:t>    3.1875    3.0625    5.1875       NaN</a:t>
            </a:r>
          </a:p>
          <a:p>
            <a:r>
              <a:rPr lang="zh-CN" altLang="en-US" sz="1200" dirty="0"/>
              <a:t>NaN    4.1875    4.0625    4.6875    6.0625       NaN</a:t>
            </a:r>
          </a:p>
          <a:p>
            <a:r>
              <a:rPr lang="zh-CN" altLang="en-US" sz="1200" dirty="0"/>
              <a:t>NaN    3.9375    5.3125    5.9375    5.8125       NaN</a:t>
            </a:r>
          </a:p>
          <a:p>
            <a:r>
              <a:rPr lang="zh-CN" altLang="en-US" sz="1200" dirty="0"/>
              <a:t>NaN    4.8125    6.9375    6.8125    4.4375       NaN</a:t>
            </a:r>
          </a:p>
          <a:p>
            <a:r>
              <a:rPr lang="zh-CN" altLang="en-US" sz="1200" dirty="0"/>
              <a:t>NaN       NaN       NaN       NaN      </a:t>
            </a:r>
            <a:r>
              <a:rPr lang="en-US" altLang="zh-CN" sz="1200" dirty="0"/>
              <a:t>   </a:t>
            </a:r>
            <a:r>
              <a:rPr lang="zh-CN" altLang="en-US" sz="1200" dirty="0"/>
              <a:t> NaN       </a:t>
            </a:r>
            <a:r>
              <a:rPr lang="en-US" altLang="zh-CN" sz="1200" dirty="0"/>
              <a:t>   </a:t>
            </a:r>
            <a:r>
              <a:rPr lang="zh-CN" altLang="en-US" sz="1200" dirty="0"/>
              <a:t>NaN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2C9F7D-B782-FD61-B1F9-EB103A8668B4}"/>
              </a:ext>
            </a:extLst>
          </p:cNvPr>
          <p:cNvSpPr txBox="1"/>
          <p:nvPr/>
        </p:nvSpPr>
        <p:spPr>
          <a:xfrm>
            <a:off x="2279131" y="929732"/>
            <a:ext cx="78070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 8     1     6</a:t>
            </a:r>
          </a:p>
          <a:p>
            <a:r>
              <a:rPr lang="zh-CN" altLang="en-US" sz="1050" dirty="0"/>
              <a:t> 3     5     7</a:t>
            </a:r>
          </a:p>
          <a:p>
            <a:r>
              <a:rPr lang="zh-CN" altLang="en-US" sz="1050" dirty="0"/>
              <a:t> 4     9     2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29E5A5-1905-0225-54F4-B07BD1B8C1E1}"/>
              </a:ext>
            </a:extLst>
          </p:cNvPr>
          <p:cNvSpPr txBox="1"/>
          <p:nvPr/>
        </p:nvSpPr>
        <p:spPr>
          <a:xfrm>
            <a:off x="4712678" y="1073945"/>
            <a:ext cx="3456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b="0" i="0" dirty="0" err="1">
                <a:effectLst/>
                <a:latin typeface="Menlo" panose="020B0609030804020204" pitchFamily="49" charset="0"/>
              </a:rPr>
              <a:t>img</a:t>
            </a:r>
            <a:r>
              <a:rPr lang="en" altLang="zh-CN" sz="1200" b="0" i="0" dirty="0">
                <a:effectLst/>
                <a:latin typeface="Menlo" panose="020B0609030804020204" pitchFamily="49" charset="0"/>
              </a:rPr>
              <a:t> = magic(3); </a:t>
            </a:r>
          </a:p>
          <a:p>
            <a:br>
              <a:rPr lang="en" altLang="zh-CN" sz="1200" b="0" i="0" dirty="0">
                <a:effectLst/>
                <a:latin typeface="Menlo" panose="020B0609030804020204" pitchFamily="49" charset="0"/>
              </a:rPr>
            </a:br>
            <a:endParaRPr lang="en" altLang="zh-CN" sz="1200" b="0" i="0" dirty="0">
              <a:effectLst/>
              <a:latin typeface="Menlo" panose="020B060903080402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23C8874-FB6C-DD04-94F9-1E8A8473D20D}"/>
              </a:ext>
            </a:extLst>
          </p:cNvPr>
          <p:cNvSpPr txBox="1"/>
          <p:nvPr/>
        </p:nvSpPr>
        <p:spPr>
          <a:xfrm>
            <a:off x="4676292" y="1506813"/>
            <a:ext cx="40324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b="0" i="0" dirty="0" err="1">
                <a:effectLst/>
                <a:latin typeface="Menlo" panose="020B0609030804020204" pitchFamily="49" charset="0"/>
              </a:rPr>
              <a:t>img_resized</a:t>
            </a:r>
            <a:r>
              <a:rPr lang="en" altLang="zh-CN" sz="1200" b="0" i="0" dirty="0">
                <a:effectLst/>
                <a:latin typeface="Menlo" panose="020B0609030804020204" pitchFamily="49" charset="0"/>
              </a:rPr>
              <a:t> = </a:t>
            </a:r>
            <a:r>
              <a:rPr lang="en" altLang="zh-CN" sz="1200" b="0" i="0" dirty="0" err="1">
                <a:effectLst/>
                <a:latin typeface="Menlo" panose="020B0609030804020204" pitchFamily="49" charset="0"/>
              </a:rPr>
              <a:t>imresize</a:t>
            </a:r>
            <a:r>
              <a:rPr lang="en" altLang="zh-CN" sz="1200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 i="0" dirty="0" err="1">
                <a:effectLst/>
                <a:latin typeface="Menlo" panose="020B0609030804020204" pitchFamily="49" charset="0"/>
              </a:rPr>
              <a:t>img</a:t>
            </a:r>
            <a:r>
              <a:rPr lang="en" altLang="zh-CN" sz="1200" b="0" i="0" dirty="0">
                <a:effectLst/>
                <a:latin typeface="Menlo" panose="020B0609030804020204" pitchFamily="49" charset="0"/>
              </a:rPr>
              <a:t>, 2, </a:t>
            </a:r>
            <a:r>
              <a:rPr lang="en" altLang="zh-CN" sz="12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'bilinear'</a:t>
            </a:r>
            <a:r>
              <a:rPr lang="en" altLang="zh-CN" sz="1200" b="0" i="0" dirty="0"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E2460ED-C145-2A5C-8FD7-F70AC1FFA5AE}"/>
              </a:ext>
            </a:extLst>
          </p:cNvPr>
          <p:cNvSpPr txBox="1"/>
          <p:nvPr/>
        </p:nvSpPr>
        <p:spPr>
          <a:xfrm>
            <a:off x="4761738" y="3291829"/>
            <a:ext cx="35829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 8.0000    6.2500    2.7500    2.2500    4.7500    6.0000</a:t>
            </a:r>
          </a:p>
          <a:p>
            <a:r>
              <a:rPr lang="zh-CN" altLang="en-US" sz="1200" dirty="0"/>
              <a:t>6.7500    </a:t>
            </a:r>
            <a:r>
              <a:rPr lang="zh-CN" altLang="en-US" sz="1200" dirty="0">
                <a:solidFill>
                  <a:srgbClr val="FF0000"/>
                </a:solidFill>
              </a:rPr>
              <a:t>5.5625</a:t>
            </a:r>
            <a:r>
              <a:rPr lang="zh-CN" altLang="en-US" sz="1200" dirty="0">
                <a:solidFill>
                  <a:srgbClr val="4B5DFE"/>
                </a:solidFill>
              </a:rPr>
              <a:t>    3.1875    3.0625    5.1875    </a:t>
            </a:r>
            <a:r>
              <a:rPr lang="zh-CN" altLang="en-US" sz="1200" dirty="0"/>
              <a:t>6.2500</a:t>
            </a:r>
          </a:p>
          <a:p>
            <a:r>
              <a:rPr lang="zh-CN" altLang="en-US" sz="1200" dirty="0"/>
              <a:t>4.2500    </a:t>
            </a:r>
            <a:r>
              <a:rPr lang="zh-CN" altLang="en-US" sz="1200" dirty="0">
                <a:solidFill>
                  <a:srgbClr val="4B5DFE"/>
                </a:solidFill>
              </a:rPr>
              <a:t>4.1875    4.0625    4.6875    6.0625    </a:t>
            </a:r>
            <a:r>
              <a:rPr lang="zh-CN" altLang="en-US" sz="1200" dirty="0"/>
              <a:t>6.7500</a:t>
            </a:r>
          </a:p>
          <a:p>
            <a:r>
              <a:rPr lang="zh-CN" altLang="en-US" sz="1200" dirty="0"/>
              <a:t>3.2500    </a:t>
            </a:r>
            <a:r>
              <a:rPr lang="zh-CN" altLang="en-US" sz="1200" dirty="0">
                <a:solidFill>
                  <a:srgbClr val="4B5DFE"/>
                </a:solidFill>
              </a:rPr>
              <a:t>3.9375    5.3125    5.9375    5.8125    </a:t>
            </a:r>
            <a:r>
              <a:rPr lang="zh-CN" altLang="en-US" sz="1200" dirty="0"/>
              <a:t>5.7500</a:t>
            </a:r>
          </a:p>
          <a:p>
            <a:r>
              <a:rPr lang="zh-CN" altLang="en-US" sz="1200" dirty="0"/>
              <a:t>3.7500    </a:t>
            </a:r>
            <a:r>
              <a:rPr lang="zh-CN" altLang="en-US" sz="1200" dirty="0">
                <a:solidFill>
                  <a:srgbClr val="4B5DFE"/>
                </a:solidFill>
              </a:rPr>
              <a:t>4.8125    6.9375    6.8125    4.4375</a:t>
            </a:r>
            <a:r>
              <a:rPr lang="zh-CN" altLang="en-US" sz="1200" dirty="0"/>
              <a:t>    3.2500</a:t>
            </a:r>
          </a:p>
          <a:p>
            <a:r>
              <a:rPr lang="zh-CN" altLang="en-US" sz="1200" dirty="0"/>
              <a:t>4.0000    5.2500    7.7500    7.2500    3.7500    2.0000</a:t>
            </a:r>
          </a:p>
        </p:txBody>
      </p:sp>
    </p:spTree>
    <p:extLst>
      <p:ext uri="{BB962C8B-B14F-4D97-AF65-F5344CB8AC3E}">
        <p14:creationId xmlns:p14="http://schemas.microsoft.com/office/powerpoint/2010/main" val="376267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2" grpId="0"/>
      <p:bldP spid="14" grpId="0"/>
      <p:bldP spid="16" grpId="0"/>
      <p:bldP spid="1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二维插值</a:t>
            </a:r>
            <a:r>
              <a:rPr lang="en-US" altLang="zh-CN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vs.</a:t>
            </a: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图像插值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48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1E99BD-2E8A-0B44-B228-0EBFBEB77ADA}"/>
              </a:ext>
            </a:extLst>
          </p:cNvPr>
          <p:cNvSpPr txBox="1"/>
          <p:nvPr/>
        </p:nvSpPr>
        <p:spPr>
          <a:xfrm>
            <a:off x="367338" y="3291830"/>
            <a:ext cx="39166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/>
              <a:t>tensor([[[[8.0000, 6.2500, 2.7500, 2.2500, 4.7500, 6.0000],</a:t>
            </a:r>
          </a:p>
          <a:p>
            <a:r>
              <a:rPr lang="en" altLang="zh-CN" sz="1200" dirty="0"/>
              <a:t>          [6.7500, </a:t>
            </a:r>
            <a:r>
              <a:rPr lang="en" altLang="zh-CN" sz="1200" dirty="0">
                <a:solidFill>
                  <a:srgbClr val="E03E36"/>
                </a:solidFill>
              </a:rPr>
              <a:t>5.5625</a:t>
            </a:r>
            <a:r>
              <a:rPr lang="en" altLang="zh-CN" sz="1200" dirty="0">
                <a:solidFill>
                  <a:srgbClr val="4B5DFE"/>
                </a:solidFill>
              </a:rPr>
              <a:t>, 3.1875, 3.0625, 5.1875</a:t>
            </a:r>
            <a:r>
              <a:rPr lang="en" altLang="zh-CN" sz="1200" dirty="0"/>
              <a:t>, 6.2500],</a:t>
            </a:r>
          </a:p>
          <a:p>
            <a:r>
              <a:rPr lang="en" altLang="zh-CN" sz="1200" dirty="0"/>
              <a:t>          [4.2500, </a:t>
            </a:r>
            <a:r>
              <a:rPr lang="en" altLang="zh-CN" sz="1200" dirty="0">
                <a:solidFill>
                  <a:srgbClr val="4B5DFE"/>
                </a:solidFill>
              </a:rPr>
              <a:t>4.1875, 4.0625, 4.6875, 6.0625</a:t>
            </a:r>
            <a:r>
              <a:rPr lang="en" altLang="zh-CN" sz="1200" dirty="0"/>
              <a:t>, 6.7500],</a:t>
            </a:r>
          </a:p>
          <a:p>
            <a:r>
              <a:rPr lang="en" altLang="zh-CN" sz="1200" dirty="0"/>
              <a:t>          [3.2500, </a:t>
            </a:r>
            <a:r>
              <a:rPr lang="en" altLang="zh-CN" sz="1200" dirty="0">
                <a:solidFill>
                  <a:srgbClr val="4B5DFE"/>
                </a:solidFill>
              </a:rPr>
              <a:t>3.9375, 5.3125, 5.9375, 5.8125</a:t>
            </a:r>
            <a:r>
              <a:rPr lang="en" altLang="zh-CN" sz="1200" dirty="0"/>
              <a:t>, 5.7500],</a:t>
            </a:r>
          </a:p>
          <a:p>
            <a:r>
              <a:rPr lang="en" altLang="zh-CN" sz="1200" dirty="0"/>
              <a:t>          [3.7500, </a:t>
            </a:r>
            <a:r>
              <a:rPr lang="en" altLang="zh-CN" sz="1200" dirty="0">
                <a:solidFill>
                  <a:srgbClr val="4B5DFE"/>
                </a:solidFill>
              </a:rPr>
              <a:t>4.8125, 6.9375, 6.8125, 4.4375</a:t>
            </a:r>
            <a:r>
              <a:rPr lang="en" altLang="zh-CN" sz="1200" dirty="0"/>
              <a:t>, 3.2500],</a:t>
            </a:r>
          </a:p>
          <a:p>
            <a:r>
              <a:rPr lang="en" altLang="zh-CN" sz="1200" dirty="0"/>
              <a:t>          [4.0000, 5.2500, 7.7500, 7.2500, 3.7500, 2.0000]]]])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E2460ED-C145-2A5C-8FD7-F70AC1FFA5AE}"/>
              </a:ext>
            </a:extLst>
          </p:cNvPr>
          <p:cNvSpPr txBox="1"/>
          <p:nvPr/>
        </p:nvSpPr>
        <p:spPr>
          <a:xfrm>
            <a:off x="4761738" y="3291829"/>
            <a:ext cx="39166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 </a:t>
            </a:r>
            <a:r>
              <a:rPr lang="en" altLang="zh-CN" sz="1200" dirty="0"/>
              <a:t>tensor([[[[8.0000, 5.2000, 2.4000, 2.0000, 4.0000, 6.0000],</a:t>
            </a:r>
          </a:p>
          <a:p>
            <a:r>
              <a:rPr lang="en" altLang="zh-CN" sz="1200" dirty="0"/>
              <a:t>          [6.0000, </a:t>
            </a:r>
            <a:r>
              <a:rPr lang="en" altLang="zh-CN" sz="1200" dirty="0">
                <a:solidFill>
                  <a:srgbClr val="FF0000"/>
                </a:solidFill>
              </a:rPr>
              <a:t>4.6400</a:t>
            </a:r>
            <a:r>
              <a:rPr lang="en" altLang="zh-CN" sz="1200" dirty="0"/>
              <a:t>, 3.2800, 3.3600, 4.8800, 6.4000],</a:t>
            </a:r>
          </a:p>
          <a:p>
            <a:r>
              <a:rPr lang="en" altLang="zh-CN" sz="1200" dirty="0"/>
              <a:t>          [4.0000, 4.0800, 4.1600, 4.7200, 5.7600, 6.8000],</a:t>
            </a:r>
          </a:p>
          <a:p>
            <a:r>
              <a:rPr lang="en" altLang="zh-CN" sz="1200" dirty="0"/>
              <a:t>          [3.2000, 4.2400, 5.2800, 5.8400, 5.9200, 6.0000],</a:t>
            </a:r>
          </a:p>
          <a:p>
            <a:r>
              <a:rPr lang="en" altLang="zh-CN" sz="1200" dirty="0"/>
              <a:t>          [3.6000, 5.1200, 6.6400, 6.7200, 5.3600, 4.0000],</a:t>
            </a:r>
          </a:p>
          <a:p>
            <a:r>
              <a:rPr lang="en" altLang="zh-CN" sz="1200" dirty="0"/>
              <a:t>          [4.0000, 6.0000, 8.0000, 7.6000, 4.8000, 2.0000]]]])</a:t>
            </a:r>
            <a:endParaRPr lang="zh-CN" alt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6ACC7C-5E18-C04F-C81C-D012021E2C65}"/>
              </a:ext>
            </a:extLst>
          </p:cNvPr>
          <p:cNvSpPr txBox="1"/>
          <p:nvPr/>
        </p:nvSpPr>
        <p:spPr>
          <a:xfrm>
            <a:off x="513267" y="893065"/>
            <a:ext cx="81651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torch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</a:t>
            </a:r>
            <a:r>
              <a:rPr lang="en" altLang="zh-CN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torch.tensor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([[</a:t>
            </a:r>
            <a:r>
              <a:rPr lang="en" altLang="zh-CN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],[</a:t>
            </a:r>
            <a:r>
              <a:rPr lang="en" altLang="zh-CN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],[</a:t>
            </a:r>
            <a:r>
              <a:rPr lang="en" altLang="zh-CN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]]).float()</a:t>
            </a:r>
          </a:p>
          <a:p>
            <a:b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使用双线性插值法将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的尺寸变为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x6</a:t>
            </a:r>
            <a:endParaRPr lang="en" altLang="zh-CN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 = </a:t>
            </a:r>
            <a:r>
              <a:rPr lang="en" altLang="zh-CN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torch.nn.functional.interpolate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(x[</a:t>
            </a:r>
            <a:r>
              <a:rPr lang="en" altLang="zh-CN" sz="1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" altLang="zh-CN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1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,...], </a:t>
            </a:r>
            <a:r>
              <a:rPr lang="en" altLang="zh-CN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scale_factor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mode=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'bilinear'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align_corners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b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print(y)</a:t>
            </a:r>
          </a:p>
          <a:p>
            <a:endParaRPr lang="en" altLang="zh-CN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 = </a:t>
            </a:r>
            <a:r>
              <a:rPr lang="en" altLang="zh-CN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torch.nn.functional.interpolate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(x[</a:t>
            </a:r>
            <a:r>
              <a:rPr lang="en" altLang="zh-CN" sz="1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" altLang="zh-CN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1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,...], </a:t>
            </a:r>
            <a:r>
              <a:rPr lang="en" altLang="zh-CN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scale_factor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mode=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'bilinear'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align_corners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b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print(y)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FBB823-E9A8-1DD6-47AD-A7F1DBE7FA88}"/>
              </a:ext>
            </a:extLst>
          </p:cNvPr>
          <p:cNvSpPr txBox="1"/>
          <p:nvPr/>
        </p:nvSpPr>
        <p:spPr>
          <a:xfrm>
            <a:off x="1295636" y="4636459"/>
            <a:ext cx="18722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align_corners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1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False</a:t>
            </a:r>
            <a:endParaRPr lang="en" altLang="zh-CN" sz="11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66FE09E-588B-C757-0D32-09D6198253E6}"/>
              </a:ext>
            </a:extLst>
          </p:cNvPr>
          <p:cNvSpPr txBox="1"/>
          <p:nvPr/>
        </p:nvSpPr>
        <p:spPr>
          <a:xfrm>
            <a:off x="5617096" y="4636459"/>
            <a:ext cx="18722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align_corners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T</a:t>
            </a:r>
            <a:r>
              <a:rPr lang="en" altLang="zh-CN" sz="11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rue</a:t>
            </a:r>
            <a:endParaRPr lang="en" altLang="zh-CN" sz="11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3991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二维插值</a:t>
            </a:r>
            <a:r>
              <a:rPr lang="en-US" altLang="zh-CN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vs.</a:t>
            </a: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图像插值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49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2C9F7D-B782-FD61-B1F9-EB103A8668B4}"/>
              </a:ext>
            </a:extLst>
          </p:cNvPr>
          <p:cNvSpPr txBox="1"/>
          <p:nvPr/>
        </p:nvSpPr>
        <p:spPr>
          <a:xfrm>
            <a:off x="1197320" y="1373300"/>
            <a:ext cx="2658603" cy="2751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8     1     6</a:t>
            </a:r>
          </a:p>
          <a:p>
            <a:pPr>
              <a:lnSpc>
                <a:spcPct val="150000"/>
              </a:lnSpc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3     5     7</a:t>
            </a:r>
          </a:p>
          <a:p>
            <a:pPr>
              <a:lnSpc>
                <a:spcPct val="150000"/>
              </a:lnSpc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4     9     2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F4EDCF39-3BF6-9EEA-0FE1-5028E30A1FAB}"/>
              </a:ext>
            </a:extLst>
          </p:cNvPr>
          <p:cNvGraphicFramePr>
            <a:graphicFrameLocks noGrp="1"/>
          </p:cNvGraphicFramePr>
          <p:nvPr/>
        </p:nvGraphicFramePr>
        <p:xfrm>
          <a:off x="1429476" y="1761239"/>
          <a:ext cx="2062404" cy="22159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734">
                  <a:extLst>
                    <a:ext uri="{9D8B030D-6E8A-4147-A177-3AD203B41FA5}">
                      <a16:colId xmlns:a16="http://schemas.microsoft.com/office/drawing/2014/main" val="484367320"/>
                    </a:ext>
                  </a:extLst>
                </a:gridCol>
                <a:gridCol w="343734">
                  <a:extLst>
                    <a:ext uri="{9D8B030D-6E8A-4147-A177-3AD203B41FA5}">
                      <a16:colId xmlns:a16="http://schemas.microsoft.com/office/drawing/2014/main" val="2695578687"/>
                    </a:ext>
                  </a:extLst>
                </a:gridCol>
                <a:gridCol w="343734">
                  <a:extLst>
                    <a:ext uri="{9D8B030D-6E8A-4147-A177-3AD203B41FA5}">
                      <a16:colId xmlns:a16="http://schemas.microsoft.com/office/drawing/2014/main" val="1676179758"/>
                    </a:ext>
                  </a:extLst>
                </a:gridCol>
                <a:gridCol w="343734">
                  <a:extLst>
                    <a:ext uri="{9D8B030D-6E8A-4147-A177-3AD203B41FA5}">
                      <a16:colId xmlns:a16="http://schemas.microsoft.com/office/drawing/2014/main" val="1849335234"/>
                    </a:ext>
                  </a:extLst>
                </a:gridCol>
                <a:gridCol w="343734">
                  <a:extLst>
                    <a:ext uri="{9D8B030D-6E8A-4147-A177-3AD203B41FA5}">
                      <a16:colId xmlns:a16="http://schemas.microsoft.com/office/drawing/2014/main" val="466066449"/>
                    </a:ext>
                  </a:extLst>
                </a:gridCol>
                <a:gridCol w="343734">
                  <a:extLst>
                    <a:ext uri="{9D8B030D-6E8A-4147-A177-3AD203B41FA5}">
                      <a16:colId xmlns:a16="http://schemas.microsoft.com/office/drawing/2014/main" val="2435517480"/>
                    </a:ext>
                  </a:extLst>
                </a:gridCol>
              </a:tblGrid>
              <a:tr h="36933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6005602"/>
                  </a:ext>
                </a:extLst>
              </a:tr>
              <a:tr h="36933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7358894"/>
                  </a:ext>
                </a:extLst>
              </a:tr>
              <a:tr h="36933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6155169"/>
                  </a:ext>
                </a:extLst>
              </a:tr>
              <a:tr h="36933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1063656"/>
                  </a:ext>
                </a:extLst>
              </a:tr>
              <a:tr h="36933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4B5DFE"/>
                          </a:solidFill>
                        </a:rPr>
                        <a:t>*</a:t>
                      </a:r>
                      <a:endParaRPr lang="zh-CN" altLang="en-US" dirty="0">
                        <a:solidFill>
                          <a:srgbClr val="4B5DFE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017788"/>
                  </a:ext>
                </a:extLst>
              </a:tr>
              <a:tr h="36933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8370882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01B40755-ABA5-52CD-6768-23D58833172B}"/>
              </a:ext>
            </a:extLst>
          </p:cNvPr>
          <p:cNvSpPr txBox="1"/>
          <p:nvPr/>
        </p:nvSpPr>
        <p:spPr>
          <a:xfrm>
            <a:off x="5508471" y="1473439"/>
            <a:ext cx="22060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步骤：</a:t>
            </a:r>
            <a:endParaRPr kumimoji="1"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确定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个近邻像素</a:t>
            </a:r>
            <a:endParaRPr kumimoji="1"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轴进行插值</a:t>
            </a:r>
            <a:endParaRPr kumimoji="1"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轴进行插值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D0170C-C03E-4854-2DA0-47C6282F9720}"/>
              </a:ext>
            </a:extLst>
          </p:cNvPr>
          <p:cNvSpPr txBox="1"/>
          <p:nvPr/>
        </p:nvSpPr>
        <p:spPr>
          <a:xfrm>
            <a:off x="4605980" y="3053892"/>
            <a:ext cx="4472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左上角蓝色的点计算步骤：</a:t>
            </a:r>
            <a:endParaRPr kumimoji="1"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轴插值结果：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8-7/5*2=5.20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3+2/5*2=3.8</a:t>
            </a:r>
          </a:p>
          <a:p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轴插值结果：</a:t>
            </a:r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5.2-(5.2-3.8)/5*2=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4.64</a:t>
            </a:r>
            <a:endParaRPr kumimoji="1"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EB7A47C-2B18-EB24-F523-4F253A954493}"/>
              </a:ext>
            </a:extLst>
          </p:cNvPr>
          <p:cNvSpPr txBox="1"/>
          <p:nvPr/>
        </p:nvSpPr>
        <p:spPr>
          <a:xfrm>
            <a:off x="1783426" y="17561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7715DE6-F47D-179B-02EE-16364E359969}"/>
              </a:ext>
            </a:extLst>
          </p:cNvPr>
          <p:cNvSpPr txBox="1"/>
          <p:nvPr/>
        </p:nvSpPr>
        <p:spPr>
          <a:xfrm>
            <a:off x="1783426" y="2684560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A83081-9D9B-6F3B-3D42-EF28338D6B7B}"/>
              </a:ext>
            </a:extLst>
          </p:cNvPr>
          <p:cNvSpPr txBox="1"/>
          <p:nvPr/>
        </p:nvSpPr>
        <p:spPr>
          <a:xfrm>
            <a:off x="1590517" y="4274667"/>
            <a:ext cx="18722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align_corners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T</a:t>
            </a:r>
            <a:r>
              <a:rPr lang="en" altLang="zh-CN" sz="11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rue</a:t>
            </a:r>
            <a:endParaRPr lang="en" altLang="zh-CN" sz="11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89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二维插值</a:t>
            </a:r>
            <a:r>
              <a:rPr lang="en-US" altLang="zh-CN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vs.</a:t>
            </a: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图像插值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50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3E8A1C-41EE-2042-CDBE-A642A04345C7}"/>
              </a:ext>
            </a:extLst>
          </p:cNvPr>
          <p:cNvSpPr txBox="1"/>
          <p:nvPr/>
        </p:nvSpPr>
        <p:spPr>
          <a:xfrm>
            <a:off x="182361" y="1203598"/>
            <a:ext cx="87792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cv2</a:t>
            </a:r>
          </a:p>
          <a:p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numpy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np</a:t>
            </a:r>
          </a:p>
          <a:p>
            <a:endParaRPr lang="en" altLang="zh-CN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cv2.imread(</a:t>
            </a:r>
            <a:r>
              <a:rPr lang="en" altLang="zh-CN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" altLang="zh-CN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zurich_gt.png</a:t>
            </a:r>
            <a:r>
              <a:rPr lang="en" altLang="zh-CN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cv2.IMREAD_GRAYSCALE)</a:t>
            </a:r>
          </a:p>
          <a:p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torch.from_numpy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x.astype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(np.float32) / 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255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.)</a:t>
            </a:r>
          </a:p>
          <a:p>
            <a:b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 = 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torch.nn.functional.interpolate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(x[</a:t>
            </a:r>
            <a:r>
              <a:rPr lang="en" altLang="zh-CN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,...], 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scale_factor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mode=</a:t>
            </a:r>
            <a:r>
              <a:rPr lang="en" altLang="zh-CN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'bicubic'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align_corners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b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 = np.uint8((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y.squeeze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()*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255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.).round())</a:t>
            </a:r>
          </a:p>
          <a:p>
            <a:b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cv2.imwrite(</a:t>
            </a:r>
            <a:r>
              <a:rPr lang="en" altLang="zh-CN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" altLang="zh-CN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zurich_gt_bicubic.png</a:t>
            </a:r>
            <a:r>
              <a:rPr lang="en" altLang="zh-CN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y)</a:t>
            </a:r>
          </a:p>
        </p:txBody>
      </p:sp>
    </p:spTree>
    <p:extLst>
      <p:ext uri="{BB962C8B-B14F-4D97-AF65-F5344CB8AC3E}">
        <p14:creationId xmlns:p14="http://schemas.microsoft.com/office/powerpoint/2010/main" val="13636932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二维插值</a:t>
            </a:r>
            <a:r>
              <a:rPr lang="en-US" altLang="zh-CN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vs.</a:t>
            </a: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图像插值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51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F54743-8D3F-E780-7B3E-8D0E29C5B0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708" y="961748"/>
            <a:ext cx="5256584" cy="394243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1607514-4A4A-EB75-3597-97F16ED4E134}"/>
              </a:ext>
            </a:extLst>
          </p:cNvPr>
          <p:cNvSpPr txBox="1"/>
          <p:nvPr/>
        </p:nvSpPr>
        <p:spPr>
          <a:xfrm>
            <a:off x="90972" y="2355726"/>
            <a:ext cx="1852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tensor(-0.1239) tensor(1.0712)</a:t>
            </a:r>
          </a:p>
        </p:txBody>
      </p:sp>
    </p:spTree>
    <p:extLst>
      <p:ext uri="{BB962C8B-B14F-4D97-AF65-F5344CB8AC3E}">
        <p14:creationId xmlns:p14="http://schemas.microsoft.com/office/powerpoint/2010/main" val="45970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二维插值</a:t>
            </a:r>
            <a:r>
              <a:rPr lang="en-US" altLang="zh-CN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vs.</a:t>
            </a: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图像插值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52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FC75C4-9E77-46D8-BFCC-D25B16402F7A}"/>
              </a:ext>
            </a:extLst>
          </p:cNvPr>
          <p:cNvSpPr txBox="1"/>
          <p:nvPr/>
        </p:nvSpPr>
        <p:spPr>
          <a:xfrm>
            <a:off x="4932040" y="1563638"/>
            <a:ext cx="324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print(np.uint8(</a:t>
            </a:r>
            <a:r>
              <a:rPr lang="en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256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.))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E70764-BD29-BFA4-FFEE-A22763F9EBA8}"/>
              </a:ext>
            </a:extLst>
          </p:cNvPr>
          <p:cNvSpPr txBox="1"/>
          <p:nvPr/>
        </p:nvSpPr>
        <p:spPr>
          <a:xfrm>
            <a:off x="971600" y="1570071"/>
            <a:ext cx="324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print(np.uint8(-</a:t>
            </a:r>
            <a:r>
              <a:rPr lang="en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.))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AD6B2A-BE2D-3989-DD0E-4C51FB063130}"/>
              </a:ext>
            </a:extLst>
          </p:cNvPr>
          <p:cNvSpPr txBox="1"/>
          <p:nvPr/>
        </p:nvSpPr>
        <p:spPr>
          <a:xfrm>
            <a:off x="1963878" y="285691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255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52940E-2689-6DC2-99B3-45B8DE0A4C71}"/>
              </a:ext>
            </a:extLst>
          </p:cNvPr>
          <p:cNvSpPr txBox="1"/>
          <p:nvPr/>
        </p:nvSpPr>
        <p:spPr>
          <a:xfrm>
            <a:off x="6250534" y="28569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557D4C-8F3B-6117-A4E9-05BD6C5D1F33}"/>
              </a:ext>
            </a:extLst>
          </p:cNvPr>
          <p:cNvSpPr txBox="1"/>
          <p:nvPr/>
        </p:nvSpPr>
        <p:spPr>
          <a:xfrm>
            <a:off x="1700808" y="4111933"/>
            <a:ext cx="5742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np.uint8((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img.</a:t>
            </a:r>
            <a:r>
              <a:rPr lang="en" altLang="zh-CN" b="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clip</a:t>
            </a:r>
            <a:r>
              <a:rPr lang="en" altLang="zh-CN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(0, 1)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255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.).round())</a:t>
            </a:r>
          </a:p>
        </p:txBody>
      </p:sp>
    </p:spTree>
    <p:extLst>
      <p:ext uri="{BB962C8B-B14F-4D97-AF65-F5344CB8AC3E}">
        <p14:creationId xmlns:p14="http://schemas.microsoft.com/office/powerpoint/2010/main" val="132645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demosaicing</a:t>
            </a:r>
            <a:endParaRPr lang="zh-CN" altLang="en-US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53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409565-7810-84A8-4D5C-3E4939BA4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81" y="1126930"/>
            <a:ext cx="4035145" cy="231006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B280F49-B8C5-C73B-5EFB-B9FDD3115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768" y="1145300"/>
            <a:ext cx="2173524" cy="160651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5D5E91F-AE39-8DFF-9813-561288C45D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797" y="1059500"/>
            <a:ext cx="2133600" cy="16348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E6BBC10-7978-5CC0-0CB3-BA1E437815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697" y="3220795"/>
            <a:ext cx="2616200" cy="1714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523F2C9-8F45-DE7B-3D3D-51A2B7404C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138" y="3425558"/>
            <a:ext cx="2712988" cy="171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288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demosaicing</a:t>
            </a:r>
            <a:endParaRPr lang="zh-CN" altLang="en-US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54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C6A0B23-48E4-DA7A-1D47-CBD4DC4E8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70" y="1714500"/>
            <a:ext cx="1943100" cy="1714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51C85E9-84C6-5156-B930-4027BBE10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1597174"/>
            <a:ext cx="5408590" cy="20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381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demosaicing</a:t>
            </a:r>
            <a:endParaRPr lang="zh-CN" altLang="en-US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55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7F03A3-6258-7CE4-54CD-ADEF94327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300" y="1371600"/>
            <a:ext cx="2425700" cy="2400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87918CE-1A91-5304-E7AA-9D2E2A3143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320800"/>
            <a:ext cx="26162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519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demosaicing</a:t>
            </a:r>
            <a:endParaRPr lang="zh-CN" altLang="en-US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56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1984C2B-483C-4DC3-B704-1182D51B35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75606"/>
            <a:ext cx="7772400" cy="275157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3DB848A-2376-6754-DE07-06C8F5961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000250" y="645198"/>
            <a:ext cx="5143500" cy="385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3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：上采样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57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EA6EF36-2DBF-FFA3-A306-A3BA3698D99E}"/>
              </a:ext>
            </a:extLst>
          </p:cNvPr>
          <p:cNvSpPr txBox="1"/>
          <p:nvPr/>
        </p:nvSpPr>
        <p:spPr>
          <a:xfrm>
            <a:off x="611560" y="1203598"/>
            <a:ext cx="457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torch</a:t>
            </a:r>
          </a:p>
          <a:p>
            <a:b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</a:t>
            </a:r>
            <a:r>
              <a:rPr lang="en" altLang="zh-CN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torch.ones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1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11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11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12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11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12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b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创建一个全是</a:t>
            </a:r>
            <a:r>
              <a:rPr lang="en-US" altLang="zh-CN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zh-CN" altLang="en-US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的</a:t>
            </a:r>
            <a:r>
              <a:rPr lang="en-US" altLang="zh-CN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x1x3x3</a:t>
            </a:r>
            <a:r>
              <a:rPr lang="zh-CN" altLang="en-US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的卷积核</a:t>
            </a:r>
            <a:endParaRPr lang="zh-CN" altLang="en-US" sz="11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filter = </a:t>
            </a:r>
            <a:r>
              <a:rPr lang="en" altLang="zh-CN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torch.ones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1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11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11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zh-CN" sz="11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altLang="zh-CN" sz="1100" dirty="0">
                <a:solidFill>
                  <a:srgbClr val="008000"/>
                </a:solidFill>
                <a:latin typeface="Menlo" panose="020B0609030804020204" pitchFamily="49" charset="0"/>
              </a:rPr>
              <a:t>#</a:t>
            </a:r>
            <a:r>
              <a:rPr lang="zh-CN" altLang="en-US" sz="1100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100" dirty="0">
                <a:solidFill>
                  <a:srgbClr val="008000"/>
                </a:solidFill>
                <a:latin typeface="Menlo" panose="020B0609030804020204" pitchFamily="49" charset="0"/>
              </a:rPr>
              <a:t>filter = </a:t>
            </a:r>
            <a:r>
              <a:rPr lang="en" altLang="zh-CN" sz="1100" dirty="0" err="1">
                <a:solidFill>
                  <a:srgbClr val="008000"/>
                </a:solidFill>
                <a:latin typeface="Menlo" panose="020B0609030804020204" pitchFamily="49" charset="0"/>
              </a:rPr>
              <a:t>torch.randn</a:t>
            </a:r>
            <a:r>
              <a:rPr lang="en" altLang="zh-CN" sz="1100" dirty="0">
                <a:solidFill>
                  <a:srgbClr val="008000"/>
                </a:solidFill>
                <a:latin typeface="Menlo" panose="020B0609030804020204" pitchFamily="49" charset="0"/>
              </a:rPr>
              <a:t>(1,1,4,4)</a:t>
            </a:r>
          </a:p>
          <a:p>
            <a:b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使用卷积核对</a:t>
            </a:r>
            <a:r>
              <a:rPr lang="en" altLang="zh-CN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zh-CN" altLang="en-US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进行反卷积操作，</a:t>
            </a:r>
            <a:r>
              <a:rPr lang="en" altLang="zh-CN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stride=2</a:t>
            </a:r>
            <a:endParaRPr lang="en" altLang="zh-CN" sz="11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 = torch.nn.functional.conv_transpose2d(x, filter, stride=</a:t>
            </a:r>
            <a:r>
              <a:rPr lang="en" altLang="zh-CN" sz="11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" altLang="zh-CN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y.shape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b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将</a:t>
            </a:r>
            <a:r>
              <a:rPr lang="en" altLang="zh-CN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y</a:t>
            </a:r>
            <a:r>
              <a:rPr lang="zh-CN" altLang="en-US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归一化的</a:t>
            </a:r>
            <a:r>
              <a:rPr lang="en-US" altLang="zh-CN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0-1</a:t>
            </a:r>
            <a:r>
              <a:rPr lang="zh-CN" altLang="en-US" sz="11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区间并二维绘图展示出来</a:t>
            </a:r>
            <a:endParaRPr lang="zh-CN" altLang="en-US" sz="11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 = y - </a:t>
            </a:r>
            <a:r>
              <a:rPr lang="en" altLang="zh-CN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y.min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 = y / </a:t>
            </a:r>
            <a:r>
              <a:rPr lang="en" altLang="zh-CN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y.max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 = </a:t>
            </a:r>
            <a:r>
              <a:rPr lang="en" altLang="zh-CN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y.squeeze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r>
              <a:rPr lang="en" altLang="zh-CN" sz="11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matplotlib.pyplot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1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plt</a:t>
            </a:r>
            <a:endParaRPr lang="en" altLang="zh-CN" sz="11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plt.imshow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(y)</a:t>
            </a:r>
          </a:p>
          <a:p>
            <a:r>
              <a:rPr lang="en" altLang="zh-CN" sz="11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plt.show</a:t>
            </a:r>
            <a:r>
              <a:rPr lang="en" altLang="zh-CN" sz="11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FF6FAC4-2DDA-EC4D-B16C-D69351EBA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696" y="1225912"/>
            <a:ext cx="3149744" cy="307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0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：上采样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58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0D6D228-DDD5-D8AD-EEA1-2612CAD28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00" y="895085"/>
            <a:ext cx="3710146" cy="190521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931EFFD-C83B-4BFD-5170-0A39576506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1203598"/>
            <a:ext cx="4918756" cy="116008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F811345-61BB-EE56-F572-764E8994E9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736" y="3003798"/>
            <a:ext cx="6838528" cy="155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474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：上采样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转置卷积</a:t>
            </a:r>
            <a:endParaRPr lang="zh-CN" altLang="en-US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59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B85A6D6-BD72-8C4D-90F2-3EB8EB88B3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20" y="2226660"/>
            <a:ext cx="7404100" cy="1320800"/>
          </a:xfrm>
          <a:prstGeom prst="rect">
            <a:avLst/>
          </a:prstGeom>
        </p:spPr>
      </p:pic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A4C22753-65E5-E34B-BA99-D33B93071B81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3557748"/>
          <a:ext cx="21336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309619851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59572839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77600515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7556479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12F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solidFill>
                          <a:srgbClr val="0012F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12F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solidFill>
                          <a:srgbClr val="0012F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24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12F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dirty="0">
                        <a:solidFill>
                          <a:srgbClr val="0012F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12F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>
                        <a:solidFill>
                          <a:srgbClr val="0012F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537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219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5047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3667839C-08B1-D044-B435-F8AEA73AB9E2}"/>
              </a:ext>
            </a:extLst>
          </p:cNvPr>
          <p:cNvSpPr txBox="1"/>
          <p:nvPr/>
        </p:nvSpPr>
        <p:spPr>
          <a:xfrm>
            <a:off x="8189708" y="2702394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步长为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498CE4-E664-A44B-82BA-CFDEE51E41A9}"/>
              </a:ext>
            </a:extLst>
          </p:cNvPr>
          <p:cNvSpPr txBox="1"/>
          <p:nvPr/>
        </p:nvSpPr>
        <p:spPr>
          <a:xfrm>
            <a:off x="5808458" y="4114762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步长为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905DA5A-060F-4B44-866E-8DD00EC877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821" y="984159"/>
            <a:ext cx="2857123" cy="120951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FAB63CF-C4E5-4E40-8B90-3EF98D937A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161" y="1048266"/>
            <a:ext cx="3678018" cy="117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91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：上采样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转置卷积</a:t>
            </a:r>
            <a:endParaRPr lang="zh-CN" altLang="en-US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60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F28CBBE-F4A4-0B47-8B1E-E0ED2C762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707654"/>
            <a:ext cx="2565400" cy="11938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76A0D79-C937-7949-8CD1-23D744A09A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1601438"/>
            <a:ext cx="4902200" cy="1714500"/>
          </a:xfrm>
          <a:prstGeom prst="rect">
            <a:avLst/>
          </a:prstGeom>
        </p:spPr>
      </p:pic>
      <p:sp>
        <p:nvSpPr>
          <p:cNvPr id="16" name="等于 15">
            <a:extLst>
              <a:ext uri="{FF2B5EF4-FFF2-40B4-BE49-F238E27FC236}">
                <a16:creationId xmlns:a16="http://schemas.microsoft.com/office/drawing/2014/main" id="{B2D5C435-CB0B-3F4E-B7BE-C312C77787F9}"/>
              </a:ext>
            </a:extLst>
          </p:cNvPr>
          <p:cNvSpPr/>
          <p:nvPr/>
        </p:nvSpPr>
        <p:spPr>
          <a:xfrm>
            <a:off x="3275856" y="2427734"/>
            <a:ext cx="432048" cy="288032"/>
          </a:xfrm>
          <a:prstGeom prst="mathEqual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5B37C95-4B0F-D349-A7F1-007D46309C76}"/>
              </a:ext>
            </a:extLst>
          </p:cNvPr>
          <p:cNvSpPr txBox="1"/>
          <p:nvPr/>
        </p:nvSpPr>
        <p:spPr>
          <a:xfrm>
            <a:off x="1181144" y="2946606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步长为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42685CE-71ED-314F-913D-34935CB08784}"/>
              </a:ext>
            </a:extLst>
          </p:cNvPr>
          <p:cNvSpPr txBox="1"/>
          <p:nvPr/>
        </p:nvSpPr>
        <p:spPr>
          <a:xfrm>
            <a:off x="6382306" y="313127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上下左右翻转</a:t>
            </a:r>
          </a:p>
        </p:txBody>
      </p:sp>
    </p:spTree>
    <p:extLst>
      <p:ext uri="{BB962C8B-B14F-4D97-AF65-F5344CB8AC3E}">
        <p14:creationId xmlns:p14="http://schemas.microsoft.com/office/powerpoint/2010/main" val="278389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：上采样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转置卷积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61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18124E-927B-3E42-90DF-0E96FEEC5B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932" y="1057407"/>
            <a:ext cx="5588136" cy="302868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02665AB-7E31-F941-AF28-D3D719CA1958}"/>
              </a:ext>
            </a:extLst>
          </p:cNvPr>
          <p:cNvSpPr txBox="1"/>
          <p:nvPr/>
        </p:nvSpPr>
        <p:spPr>
          <a:xfrm>
            <a:off x="2445456" y="4242012"/>
            <a:ext cx="4253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步长大于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的转置卷积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补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上采样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卷积</a:t>
            </a:r>
          </a:p>
        </p:txBody>
      </p:sp>
    </p:spTree>
    <p:extLst>
      <p:ext uri="{BB962C8B-B14F-4D97-AF65-F5344CB8AC3E}">
        <p14:creationId xmlns:p14="http://schemas.microsoft.com/office/powerpoint/2010/main" val="314104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367240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：上采样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62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ACBDE6-F535-F831-D617-8612F01C8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948179"/>
            <a:ext cx="4592122" cy="358309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0F9AAF7-F0B6-AC64-0AC7-4F5D111729D2}"/>
              </a:ext>
            </a:extLst>
          </p:cNvPr>
          <p:cNvSpPr txBox="1"/>
          <p:nvPr/>
        </p:nvSpPr>
        <p:spPr>
          <a:xfrm>
            <a:off x="1290464" y="4670441"/>
            <a:ext cx="6563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https://github.com/xinntao/ESRGAN/blob/master/RRDBNet_arch.py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614DF7-6BE0-23D0-5010-3EEBEF63207B}"/>
              </a:ext>
            </a:extLst>
          </p:cNvPr>
          <p:cNvSpPr txBox="1"/>
          <p:nvPr/>
        </p:nvSpPr>
        <p:spPr>
          <a:xfrm>
            <a:off x="5148064" y="2248584"/>
            <a:ext cx="3491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一个比较好的上采样策略：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最近邻插值</a:t>
            </a:r>
            <a:r>
              <a:rPr kumimoji="1" lang="en-US" altLang="zh-CN" dirty="0"/>
              <a:t>+</a:t>
            </a:r>
            <a:r>
              <a:rPr kumimoji="1" lang="zh-CN" altLang="en-US" dirty="0"/>
              <a:t>卷积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A71672-6553-938C-3856-9F8DB071A32B}"/>
              </a:ext>
            </a:extLst>
          </p:cNvPr>
          <p:cNvSpPr/>
          <p:nvPr/>
        </p:nvSpPr>
        <p:spPr>
          <a:xfrm>
            <a:off x="1403648" y="3795886"/>
            <a:ext cx="4304090" cy="3600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15167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logo-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461" y="-962025"/>
            <a:ext cx="3331845" cy="3074670"/>
          </a:xfrm>
          <a:prstGeom prst="rect">
            <a:avLst/>
          </a:prstGeom>
        </p:spPr>
      </p:pic>
      <p:pic>
        <p:nvPicPr>
          <p:cNvPr id="15" name="图片 14" descr="logo-06 - 副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3423" y="2828925"/>
            <a:ext cx="2627948" cy="2424589"/>
          </a:xfrm>
          <a:prstGeom prst="rect">
            <a:avLst/>
          </a:prstGeom>
        </p:spPr>
      </p:pic>
      <p:pic>
        <p:nvPicPr>
          <p:cNvPr id="3" name="图片 2" descr="logo-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27" y="3999547"/>
            <a:ext cx="3649028" cy="1414463"/>
          </a:xfrm>
          <a:prstGeom prst="rect">
            <a:avLst/>
          </a:prstGeom>
        </p:spPr>
      </p:pic>
      <p:pic>
        <p:nvPicPr>
          <p:cNvPr id="4" name="图片 3" descr="logo-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180647" y="3999547"/>
            <a:ext cx="3649028" cy="1414463"/>
          </a:xfrm>
          <a:prstGeom prst="rect">
            <a:avLst/>
          </a:prstGeom>
        </p:spPr>
      </p:pic>
      <p:pic>
        <p:nvPicPr>
          <p:cNvPr id="21" name="图片 20" descr="logo_画板 1 副本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144" y="3741420"/>
            <a:ext cx="9175433" cy="140208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588D036-7622-F8BD-C137-43F710997E75}"/>
              </a:ext>
            </a:extLst>
          </p:cNvPr>
          <p:cNvSpPr txBox="1"/>
          <p:nvPr/>
        </p:nvSpPr>
        <p:spPr>
          <a:xfrm>
            <a:off x="1808368" y="1845304"/>
            <a:ext cx="5581650" cy="968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500" b="1" dirty="0">
                <a:solidFill>
                  <a:srgbClr val="B88F4D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学习数模，共享欢乐</a:t>
            </a:r>
            <a:endParaRPr lang="en-US" altLang="zh-CN" sz="4500" b="1" dirty="0">
              <a:solidFill>
                <a:srgbClr val="B88F4D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6" name="图片 5" descr="底图-04">
            <a:extLst>
              <a:ext uri="{FF2B5EF4-FFF2-40B4-BE49-F238E27FC236}">
                <a16:creationId xmlns:a16="http://schemas.microsoft.com/office/drawing/2014/main" id="{BE0CB60D-5243-0623-383A-876C2A5F348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r="4676"/>
          <a:stretch>
            <a:fillRect/>
          </a:stretch>
        </p:blipFill>
        <p:spPr>
          <a:xfrm flipH="1">
            <a:off x="-7145" y="14363"/>
            <a:ext cx="7042684" cy="16704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08844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JjOTFmM2U0OTNlMDBmNWY1YTQyNjhhM2Y4ZGQwM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27213</TotalTime>
  <Words>4263</Words>
  <Application>Microsoft Macintosh PowerPoint</Application>
  <PresentationFormat>全屏显示(16:9)</PresentationFormat>
  <Paragraphs>784</Paragraphs>
  <Slides>63</Slides>
  <Notes>54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63</vt:i4>
      </vt:variant>
    </vt:vector>
  </HeadingPairs>
  <TitlesOfParts>
    <vt:vector size="85" baseType="lpstr">
      <vt:lpstr>等线</vt:lpstr>
      <vt:lpstr>方正小标宋简体</vt:lpstr>
      <vt:lpstr>华文新魏</vt:lpstr>
      <vt:lpstr>隶书</vt:lpstr>
      <vt:lpstr>宋体</vt:lpstr>
      <vt:lpstr>宋体</vt:lpstr>
      <vt:lpstr>微软雅黑</vt:lpstr>
      <vt:lpstr>Heiti SC Medium</vt:lpstr>
      <vt:lpstr>Heiti SC Medium</vt:lpstr>
      <vt:lpstr>Arial</vt:lpstr>
      <vt:lpstr>Calibri</vt:lpstr>
      <vt:lpstr>Georgia</vt:lpstr>
      <vt:lpstr>Helvetica Neue</vt:lpstr>
      <vt:lpstr>Menlo</vt:lpstr>
      <vt:lpstr>Times New Roman</vt:lpstr>
      <vt:lpstr>Wingdings</vt:lpstr>
      <vt:lpstr>Office 主题​​</vt:lpstr>
      <vt:lpstr>1_Office 主题​​</vt:lpstr>
      <vt:lpstr>3_Office 主题</vt:lpstr>
      <vt:lpstr>Equation</vt:lpstr>
      <vt:lpstr>公式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范利群</dc:creator>
  <cp:lastModifiedBy>K Z</cp:lastModifiedBy>
  <cp:revision>1012</cp:revision>
  <dcterms:created xsi:type="dcterms:W3CDTF">2019-07-09T19:19:00Z</dcterms:created>
  <dcterms:modified xsi:type="dcterms:W3CDTF">2024-12-30T08:20:55Z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SaveFontToCloudKey">
    <vt:lpwstr>394297376_btnclosed</vt:lpwstr>
  </property>
  <property fmtid="{D5CDD505-2E9C-101B-9397-08002B2CF9AE}" pid="3" name="KSOProductBuildVer">
    <vt:lpwstr>2052-12.1.0.16388</vt:lpwstr>
  </property>
  <property fmtid="{D5CDD505-2E9C-101B-9397-08002B2CF9AE}" pid="4" name="ICV">
    <vt:lpwstr>C0DBDE7E3A2D4F4C84FC7BA13130DBAF_13</vt:lpwstr>
  </property>
</Properties>
</file>