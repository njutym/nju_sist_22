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  <p:sldMasterId id="2147483675" r:id="rId3"/>
  </p:sldMasterIdLst>
  <p:notesMasterIdLst>
    <p:notesMasterId r:id="rId29"/>
  </p:notesMasterIdLst>
  <p:handoutMasterIdLst>
    <p:handoutMasterId r:id="rId30"/>
  </p:handoutMasterIdLst>
  <p:sldIdLst>
    <p:sldId id="277" r:id="rId4"/>
    <p:sldId id="4847" r:id="rId5"/>
    <p:sldId id="4848" r:id="rId6"/>
    <p:sldId id="4876" r:id="rId7"/>
    <p:sldId id="4877" r:id="rId8"/>
    <p:sldId id="4878" r:id="rId9"/>
    <p:sldId id="4880" r:id="rId10"/>
    <p:sldId id="4879" r:id="rId11"/>
    <p:sldId id="4835" r:id="rId12"/>
    <p:sldId id="4849" r:id="rId13"/>
    <p:sldId id="4850" r:id="rId14"/>
    <p:sldId id="4851" r:id="rId15"/>
    <p:sldId id="4852" r:id="rId16"/>
    <p:sldId id="4853" r:id="rId17"/>
    <p:sldId id="4854" r:id="rId18"/>
    <p:sldId id="4855" r:id="rId19"/>
    <p:sldId id="4856" r:id="rId20"/>
    <p:sldId id="4864" r:id="rId21"/>
    <p:sldId id="4865" r:id="rId22"/>
    <p:sldId id="4866" r:id="rId23"/>
    <p:sldId id="4867" r:id="rId24"/>
    <p:sldId id="4868" r:id="rId25"/>
    <p:sldId id="4869" r:id="rId26"/>
    <p:sldId id="4870" r:id="rId27"/>
    <p:sldId id="4246" r:id="rId28"/>
  </p:sldIdLst>
  <p:sldSz cx="9144000" cy="5143500" type="screen16x9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5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姚静" initials="y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FE"/>
    <a:srgbClr val="901F2A"/>
    <a:srgbClr val="F1F3E5"/>
    <a:srgbClr val="E03E36"/>
    <a:srgbClr val="F3DDDC"/>
    <a:srgbClr val="4B5DFE"/>
    <a:srgbClr val="FFFFB5"/>
    <a:srgbClr val="F8F3EC"/>
    <a:srgbClr val="EDEFE2"/>
    <a:srgbClr val="6E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6" autoAdjust="0"/>
    <p:restoredTop sz="87879" autoAdjust="0"/>
  </p:normalViewPr>
  <p:slideViewPr>
    <p:cSldViewPr showGuides="1">
      <p:cViewPr varScale="1">
        <p:scale>
          <a:sx n="128" d="100"/>
          <a:sy n="128" d="100"/>
        </p:scale>
        <p:origin x="468" y="76"/>
      </p:cViewPr>
      <p:guideLst>
        <p:guide orient="horz" pos="1605"/>
        <p:guide pos="2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20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2BC39-128E-4521-A6D2-911A8F8A326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821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22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98C2F-7AE5-4F56-A789-27C04C8D51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14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9ACB1-6B0E-4211-A950-E3155135F0F3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815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16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17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18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038D8-7CEE-471F-ADF0-B06B4F7278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" y="752475"/>
            <a:ext cx="6604000" cy="3716338"/>
          </a:xfrm>
        </p:spPr>
      </p:sp>
      <p:sp>
        <p:nvSpPr>
          <p:cNvPr id="10486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C6A98D-1D84-904C-7154-6BF197D62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65C5-D700-439A-42FB-AD8B8451C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E654BA-EE7C-2E92-F98F-F5E79EAE1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5D3AD1-5220-A276-095F-03F9590AD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8849F5-D847-3909-E743-94257C40A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463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8ADD5-79D9-8FF9-2C5C-E6815E51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5B9F01-3F30-8A22-1588-888E59AB6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57D6ED-455E-A9C7-B211-8F8BBB0D2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9C0F93-A049-FB73-5064-9DE670EE9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702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0FFC8-4E70-D54A-E5C3-2433A535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D87D31-F075-6775-C188-1C608FED3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BCF975-27F7-8FA7-E1DD-D73AFCD0F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11C39B-AD45-B6AA-67F9-5068EBD92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731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A0739-CE76-3F5F-E1D8-DB18A88D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2211EF-A1FE-F76A-B977-47B495337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9AD303-7E14-60EF-2D23-9992DF6F4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C4BD06-5A7D-9570-A971-F5216FC5E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595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C1E81-F76B-8D3C-7C7D-621390C7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FF05F9-AE43-2A04-CCEF-589FCD1D7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851AB-B8E1-4B9E-4675-EF842C6FC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78BED9-4823-533E-1C85-549A32F71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395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8AE2-596E-BC83-4685-4C66A7D2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416F68-6E15-851F-2BAC-F0472085E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73CF68-A8E3-89A5-85F0-6E5B4B115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15D6A4-B0FC-6B4F-6162-8D40D02C4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523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472D8-10D4-3993-4062-4C2E451C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F3156D-E220-89E8-D7F3-5FEDA20A2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28B4F9-DB55-BD16-4377-375DA5630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E4A33-1E63-05C4-ADB1-A504DB269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001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0D2D8-18DB-9709-131D-C6A5B397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81D0F2-13FA-C6CB-401F-E25BF9BCD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F7A016-867F-D45D-3D36-25E88D1D5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F03F32-51C0-131D-5CD5-8FED4CA38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109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99838-5308-DB15-461F-A219FBDD9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>
            <a:extLst>
              <a:ext uri="{FF2B5EF4-FFF2-40B4-BE49-F238E27FC236}">
                <a16:creationId xmlns:a16="http://schemas.microsoft.com/office/drawing/2014/main" id="{C9B4070D-C3B5-431C-8D2C-6EBA84D40C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>
            <a:extLst>
              <a:ext uri="{FF2B5EF4-FFF2-40B4-BE49-F238E27FC236}">
                <a16:creationId xmlns:a16="http://schemas.microsoft.com/office/drawing/2014/main" id="{6A056598-D97A-A5DA-F225-2345BA2B385B}"/>
              </a:ext>
            </a:extLst>
          </p:cNvPr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>
            <a:extLst>
              <a:ext uri="{FF2B5EF4-FFF2-40B4-BE49-F238E27FC236}">
                <a16:creationId xmlns:a16="http://schemas.microsoft.com/office/drawing/2014/main" id="{5FE42858-4C7D-CE76-7978-859424CF445B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10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901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831D-95BD-B84B-75FD-9F15D440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0B814B-D569-6B47-E6B0-64892481D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622B15-6F3D-18E2-112D-A4B6E0BAE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23CAB5-E1F7-00F7-AF6B-829920EB7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769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6617-56C7-5232-EC76-4897ADF6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50D369-EB68-6106-9862-753A20BC7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B960A7-0610-28E0-B204-842B5D6AC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BF5722-72D1-6BCC-DE61-8AEB21ED1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975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67714-8B78-1D42-1578-1C903A519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884C8C-33F4-B42E-71F7-F9B00D8FD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5941A6-A3C0-B157-B88F-709821D38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D8127D-D681-D9EC-AFB2-1D3F2777D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914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330A5-6FA9-C3D5-BFAF-FA3898B1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2516A6-AF7F-3DC1-65A3-CC790E9C4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C4A0C9-6B6B-FB5C-4B05-9EE252C3A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987805-5050-6A5C-BE51-27DF86284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080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92CF6-D5D6-C2EE-9CCF-60759D99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8A067B-76DF-00F8-5799-5FD4F907B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12F40E-B3F8-14C7-086F-54A155A96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367C0-2E7B-C049-545F-6C6BDDF2B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731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48E1-8C13-CFB3-CF50-10F60CA1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F8BD1D-DE09-B780-77F9-59804AEE3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764B1E-CEAA-EBC2-F06A-DBB8E7825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7EB4D5-F18F-4F0F-A922-B11809678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738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D7B84-C908-5E55-2A1A-5739120C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E3B198-DA56-178A-A172-E5673254F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D65774-1DAF-DC6D-F1B0-95D046C1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D3BB0-145D-DB51-7B19-7B913CD6A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355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F9F2-843D-1BA0-CE51-CD38873B1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F1F626-DD31-F4D9-974D-411486F52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F418AC-8C30-78FD-34E5-0FDFF97D9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8EF7FE-7D68-DB97-FA15-9EF5CFF48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350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459C-64CC-91A3-8C4A-3676D8F3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AAE486-A5E9-06E7-10F5-82036D8EB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CE7D0A-9F23-A59A-4B1A-8666EC240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EF5E01-F882-5A36-5694-29A0C7F45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8889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660B9-2417-83E6-1B19-130A077D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D98D39-F4F0-0924-2BA2-D9089F5EC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E79C5E-1C47-7F18-C1A7-04FF9922B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671DB7-09D7-17F9-8243-AC839ED43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4765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C4B1D-58F1-8DA3-1AA3-41FB7930A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90C6D2-ACC3-1252-17C5-49AF8C3C8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2EBAA0-EE2F-4410-7F97-81E8B661A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292D76-D230-D5B9-0C69-63985E9AF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1245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F8B8D-0038-1121-9CDB-E2692DA25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6B469D-94D8-8A0D-6A26-02E641F92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F37CA3-1807-A3D8-AC2D-281A76403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8D86F2-2C81-E935-DF81-5090991BA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3248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02313-F68D-A8F2-9CD0-4F20C35E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7C9DE9-0714-7991-D8BF-6BAE5F750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8C2DBD-738E-384E-814D-D376CE2E5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D7155-C660-4295-CE06-0DD38FAB1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2348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9B09-6321-E965-55F2-C2546123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9EED9B-62D9-AD60-4725-5AE966B81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BB2A38-8826-2341-9D48-EFC0BC77C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3E1B0A-27C4-D1B3-5DDF-4AD14288B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003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标题 1"/>
          <p:cNvSpPr>
            <a:spLocks noGrp="1"/>
          </p:cNvSpPr>
          <p:nvPr>
            <p:ph type="ctrTitle"/>
          </p:nvPr>
        </p:nvSpPr>
        <p:spPr>
          <a:xfrm>
            <a:off x="685804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2" name="副标题 2"/>
          <p:cNvSpPr>
            <a:spLocks noGrp="1"/>
          </p:cNvSpPr>
          <p:nvPr>
            <p:ph type="subTitle" idx="1"/>
          </p:nvPr>
        </p:nvSpPr>
        <p:spPr>
          <a:xfrm>
            <a:off x="1371604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63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4343-A248-3F41-9289-FFE32E012514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63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FCBBE2-63E4-4E90-8897-D61F1A357E4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DFCC-A7E6-4E4E-8FB8-96E63E6D004B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标题 1"/>
          <p:cNvSpPr>
            <a:spLocks noGrp="1"/>
          </p:cNvSpPr>
          <p:nvPr>
            <p:ph type="title"/>
          </p:nvPr>
        </p:nvSpPr>
        <p:spPr>
          <a:xfrm>
            <a:off x="722317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1" name="文本占位符 2"/>
          <p:cNvSpPr>
            <a:spLocks noGrp="1"/>
          </p:cNvSpPr>
          <p:nvPr>
            <p:ph type="body" idx="1"/>
          </p:nvPr>
        </p:nvSpPr>
        <p:spPr>
          <a:xfrm>
            <a:off x="722317" y="2180038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3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A589-4306-E24C-A416-18A2DC5E61D4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3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6" name="内容占位符 2"/>
          <p:cNvSpPr>
            <a:spLocks noGrp="1"/>
          </p:cNvSpPr>
          <p:nvPr>
            <p:ph sz="half" idx="1"/>
          </p:nvPr>
        </p:nvSpPr>
        <p:spPr>
          <a:xfrm>
            <a:off x="457204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7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9708-1F66-C44A-9F99-B3A96C3A09A8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3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2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9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3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60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4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9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5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60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6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8FA-4A11-7F4C-8C37-A5B29444D606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47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8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0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580E-E481-9B48-9765-87463C940ED1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0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F737-F6E3-0D4F-9233-7520E06BDEC6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5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标题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5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30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5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6E0-B84D-A342-91F0-090D006E402E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5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0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21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2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2AB28-0BCA-DE4F-A693-9845FFFC57C1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2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2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88277-B473-374C-954A-02C4B32F29D8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2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0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4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8AC5-B16D-944C-9F5F-D243D68CDA70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9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6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DF699-BB76-3E47-AC83-88C12940815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3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标题 1"/>
          <p:cNvSpPr>
            <a:spLocks noGrp="1"/>
          </p:cNvSpPr>
          <p:nvPr>
            <p:ph type="ctrTitle"/>
          </p:nvPr>
        </p:nvSpPr>
        <p:spPr>
          <a:xfrm>
            <a:off x="685804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65" name="副标题 2"/>
          <p:cNvSpPr>
            <a:spLocks noGrp="1"/>
          </p:cNvSpPr>
          <p:nvPr>
            <p:ph type="subTitle" idx="1"/>
          </p:nvPr>
        </p:nvSpPr>
        <p:spPr>
          <a:xfrm>
            <a:off x="1371604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76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52607-AAB3-E948-A401-B2BDF73740C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9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  <p:pic>
        <p:nvPicPr>
          <p:cNvPr id="2097182" name="图片 8" descr="图片包含 剪贴画  已生成极高可信度的说明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2380" y="4679162"/>
            <a:ext cx="1238492" cy="393855"/>
          </a:xfrm>
          <a:prstGeom prst="rect">
            <a:avLst/>
          </a:prstGeom>
        </p:spPr>
      </p:pic>
      <p:cxnSp>
        <p:nvCxnSpPr>
          <p:cNvPr id="3145735" name="直接连接符 10"/>
          <p:cNvCxnSpPr/>
          <p:nvPr/>
        </p:nvCxnSpPr>
        <p:spPr>
          <a:xfrm>
            <a:off x="1270033" y="-835836"/>
            <a:ext cx="7190906" cy="0"/>
          </a:xfrm>
          <a:prstGeom prst="line">
            <a:avLst/>
          </a:prstGeom>
          <a:ln w="28575">
            <a:solidFill>
              <a:srgbClr val="80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iti SC Medium" pitchFamily="2" charset="-128"/>
                <a:ea typeface="Heiti SC Medium" pitchFamily="2" charset="-12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771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iti SC Medium" pitchFamily="2" charset="-128"/>
                <a:ea typeface="Heiti SC Medium" pitchFamily="2" charset="-128"/>
              </a:defRPr>
            </a:lvl1pPr>
            <a:lvl2pPr>
              <a:defRPr>
                <a:latin typeface="Heiti SC Medium" pitchFamily="2" charset="-128"/>
                <a:ea typeface="Heiti SC Medium" pitchFamily="2" charset="-128"/>
              </a:defRPr>
            </a:lvl2pPr>
            <a:lvl3pPr>
              <a:defRPr>
                <a:latin typeface="Heiti SC Medium" pitchFamily="2" charset="-128"/>
                <a:ea typeface="Heiti SC Medium" pitchFamily="2" charset="-128"/>
              </a:defRPr>
            </a:lvl3pPr>
            <a:lvl4pPr>
              <a:defRPr>
                <a:latin typeface="Heiti SC Medium" pitchFamily="2" charset="-128"/>
                <a:ea typeface="Heiti SC Medium" pitchFamily="2" charset="-128"/>
              </a:defRPr>
            </a:lvl4pPr>
            <a:lvl5pPr>
              <a:defRPr>
                <a:latin typeface="Heiti SC Medium" pitchFamily="2" charset="-128"/>
                <a:ea typeface="Heiti SC Medium" pitchFamily="2" charset="-128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FFA9-A498-2146-AFE0-B0FFC1E3911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5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  <p:pic>
        <p:nvPicPr>
          <p:cNvPr id="2097184" name="图片 9" descr="图片包含 剪贴画  已生成极高可信度的说明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2380" y="4679162"/>
            <a:ext cx="1238492" cy="3938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9BA3-F341-004C-B933-355516A2214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3" name="组合 30"/>
          <p:cNvGrpSpPr>
            <a:grpSpLocks noGrp="1"/>
          </p:cNvGrpSpPr>
          <p:nvPr userDrawn="1"/>
        </p:nvGrpSpPr>
        <p:grpSpPr>
          <a:xfrm>
            <a:off x="323528" y="308459"/>
            <a:ext cx="8496944" cy="463083"/>
            <a:chOff x="5282161" y="1404744"/>
            <a:chExt cx="3543196" cy="233762"/>
          </a:xfrm>
        </p:grpSpPr>
        <p:cxnSp>
          <p:nvCxnSpPr>
            <p:cNvPr id="3145730" name="直接连接符 8"/>
            <p:cNvCxnSpPr/>
            <p:nvPr/>
          </p:nvCxnSpPr>
          <p:spPr>
            <a:xfrm>
              <a:off x="5282161" y="1638506"/>
              <a:ext cx="3536170" cy="0"/>
            </a:xfrm>
            <a:prstGeom prst="line">
              <a:avLst/>
            </a:prstGeom>
            <a:ln w="28575">
              <a:solidFill>
                <a:srgbClr val="8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13" name="TextBox 8"/>
            <p:cNvSpPr txBox="1"/>
            <p:nvPr/>
          </p:nvSpPr>
          <p:spPr>
            <a:xfrm>
              <a:off x="5522378" y="1404744"/>
              <a:ext cx="3302979" cy="233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endParaRPr lang="zh-CN" altLang="en-US" sz="2400" b="1" dirty="0">
                <a:solidFill>
                  <a:srgbClr val="800080"/>
                </a:solidFill>
                <a:latin typeface="HEITI SC MEDIUM" pitchFamily="2" charset="-128"/>
                <a:ea typeface="HEITI SC MEDIUM" pitchFamily="2" charset="-128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10384E05-B65B-474A-84E3-803B59BA5F7B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1863000"/>
            <a:ext cx="7349400" cy="7641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4500" b="1" i="0" u="none" strike="noStrike" kern="1200" cap="none" spc="225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2670300"/>
            <a:ext cx="7349400" cy="3537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1217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2" name="图片 17" descr="sy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7085"/>
            <a:ext cx="9144000" cy="1890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800" name="矩形 6"/>
          <p:cNvSpPr/>
          <p:nvPr/>
        </p:nvSpPr>
        <p:spPr>
          <a:xfrm>
            <a:off x="294085" y="222647"/>
            <a:ext cx="2520554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93" name="Picture 2" descr="D:\My Pictures\nju\南京大学视觉形象规范化标准(jpeg格式文件)\03校标，中、英文校名组合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1254" y="395288"/>
            <a:ext cx="2106215" cy="627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801" name="矩形 7"/>
          <p:cNvSpPr>
            <a:spLocks noChangeArrowheads="1"/>
          </p:cNvSpPr>
          <p:nvPr/>
        </p:nvSpPr>
        <p:spPr bwMode="auto">
          <a:xfrm>
            <a:off x="5661422" y="357188"/>
            <a:ext cx="3482579" cy="507831"/>
          </a:xfrm>
          <a:prstGeom prst="rect">
            <a:avLst/>
          </a:prstGeom>
          <a:solidFill>
            <a:srgbClr val="630D5F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诚朴雄伟   励学敦行</a:t>
            </a:r>
          </a:p>
        </p:txBody>
      </p:sp>
      <p:sp>
        <p:nvSpPr>
          <p:cNvPr id="1048802" name="标题 1"/>
          <p:cNvSpPr>
            <a:spLocks noGrp="1"/>
          </p:cNvSpPr>
          <p:nvPr>
            <p:ph type="ctrTitle"/>
          </p:nvPr>
        </p:nvSpPr>
        <p:spPr>
          <a:xfrm>
            <a:off x="251520" y="1799332"/>
            <a:ext cx="5112568" cy="1107996"/>
          </a:xfrm>
        </p:spPr>
        <p:txBody>
          <a:bodyPr/>
          <a:lstStyle>
            <a:lvl1pPr algn="ctr">
              <a:defRPr sz="33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3" name="副标题 2"/>
          <p:cNvSpPr>
            <a:spLocks noGrp="1"/>
          </p:cNvSpPr>
          <p:nvPr>
            <p:ph type="subTitle" idx="1"/>
          </p:nvPr>
        </p:nvSpPr>
        <p:spPr>
          <a:xfrm>
            <a:off x="287526" y="3813889"/>
            <a:ext cx="8568952" cy="46166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7030A0"/>
                </a:solidFill>
                <a:effectLst/>
                <a:latin typeface="方正小标宋简体" panose="02000000000000000000" pitchFamily="2" charset="-122"/>
                <a:ea typeface="方正小标宋简体" panose="02000000000000000000" pitchFamily="2" charset="-122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1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847850"/>
            <a:ext cx="2228850" cy="2219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790" name="矩形 6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 w="38100"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1" name="标题 1"/>
          <p:cNvSpPr>
            <a:spLocks noGrp="1"/>
          </p:cNvSpPr>
          <p:nvPr>
            <p:ph type="title"/>
          </p:nvPr>
        </p:nvSpPr>
        <p:spPr>
          <a:xfrm>
            <a:off x="0" y="403771"/>
            <a:ext cx="8686800" cy="46166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2" name="内容占位符 4"/>
          <p:cNvSpPr>
            <a:spLocks noGrp="1"/>
          </p:cNvSpPr>
          <p:nvPr>
            <p:ph sz="quarter" idx="10"/>
          </p:nvPr>
        </p:nvSpPr>
        <p:spPr>
          <a:xfrm>
            <a:off x="3437874" y="1793454"/>
            <a:ext cx="5248926" cy="415498"/>
          </a:xfrm>
        </p:spPr>
        <p:txBody>
          <a:bodyPr/>
          <a:lstStyle>
            <a:lvl1pPr marL="540385" indent="-540385">
              <a:buFont typeface="+mj-ea"/>
              <a:buAutoNum type="ea1JpnChsDbPeriod"/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 marL="771525" indent="-428625">
              <a:buFont typeface="+mj-ea"/>
              <a:buAutoNum type="ea1JpnChsDbPeriod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5" name="标题 1"/>
          <p:cNvSpPr>
            <a:spLocks noGrp="1"/>
          </p:cNvSpPr>
          <p:nvPr>
            <p:ph type="title"/>
          </p:nvPr>
        </p:nvSpPr>
        <p:spPr>
          <a:xfrm>
            <a:off x="0" y="403771"/>
            <a:ext cx="8676456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6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191095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Ø"/>
              <a:defRPr sz="210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58445" indent="-258445">
              <a:buFont typeface="Arial" panose="020B0604020202020204" pitchFamily="34" charset="0"/>
              <a:buChar char="•"/>
              <a:defRPr sz="21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14705" indent="-342900">
              <a:buFont typeface="Wingdings" panose="05000000000000000000" pitchFamily="2" charset="2"/>
              <a:buChar char="ü"/>
              <a:defRPr lang="zh-CN" altLang="en-US" sz="2100" b="0" kern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  <a:endParaRPr lang="en-US" altLang="zh-CN" noProof="1"/>
          </a:p>
          <a:p>
            <a:pPr lvl="2"/>
            <a:r>
              <a:rPr lang="zh-CN" altLang="en-US" noProof="1"/>
              <a:t>第三级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8" name="标题 1"/>
          <p:cNvSpPr>
            <a:spLocks noGrp="1"/>
          </p:cNvSpPr>
          <p:nvPr>
            <p:ph type="title"/>
          </p:nvPr>
        </p:nvSpPr>
        <p:spPr>
          <a:xfrm>
            <a:off x="2555874" y="403771"/>
            <a:ext cx="6120582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9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191095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Ø"/>
              <a:defRPr sz="210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539750" indent="-258445">
              <a:buFont typeface="Arial" panose="020B0604020202020204" pitchFamily="34" charset="0"/>
              <a:buChar char="•"/>
              <a:defRPr sz="21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14705" indent="-342900">
              <a:buFont typeface="Wingdings" panose="05000000000000000000" pitchFamily="2" charset="2"/>
              <a:buChar char="ü"/>
              <a:defRPr lang="zh-CN" altLang="en-US" sz="2100" b="0" kern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  <a:endParaRPr lang="en-US" altLang="zh-CN" noProof="1"/>
          </a:p>
          <a:p>
            <a:pPr lvl="2"/>
            <a:r>
              <a:rPr lang="zh-CN" altLang="en-US" noProof="1"/>
              <a:t>第三级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11" name="标题 1"/>
          <p:cNvSpPr>
            <a:spLocks noGrp="1"/>
          </p:cNvSpPr>
          <p:nvPr>
            <p:ph type="title"/>
          </p:nvPr>
        </p:nvSpPr>
        <p:spPr>
          <a:xfrm>
            <a:off x="2555874" y="403772"/>
            <a:ext cx="6120582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12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803297"/>
          </a:xfrm>
        </p:spPr>
        <p:txBody>
          <a:bodyPr/>
          <a:lstStyle>
            <a:lvl1pPr>
              <a:defRPr sz="21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01345" indent="-258445">
              <a:buFont typeface="Wingdings" panose="05000000000000000000" pitchFamily="2" charset="2"/>
              <a:buChar char="Ø"/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79" name="标题 1"/>
          <p:cNvSpPr>
            <a:spLocks noGrp="1"/>
          </p:cNvSpPr>
          <p:nvPr>
            <p:ph type="title"/>
          </p:nvPr>
        </p:nvSpPr>
        <p:spPr>
          <a:xfrm>
            <a:off x="2555776" y="403771"/>
            <a:ext cx="6131024" cy="461665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80" name="内容占位符 3"/>
          <p:cNvSpPr>
            <a:spLocks noGrp="1"/>
          </p:cNvSpPr>
          <p:nvPr>
            <p:ph sz="quarter" idx="10"/>
          </p:nvPr>
        </p:nvSpPr>
        <p:spPr>
          <a:xfrm>
            <a:off x="457200" y="1200151"/>
            <a:ext cx="4006788" cy="1191095"/>
          </a:xfrm>
        </p:spPr>
        <p:txBody>
          <a:bodyPr/>
          <a:lstStyle>
            <a:lvl1pPr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70510" indent="-260985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539750" indent="-269240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</p:txBody>
      </p:sp>
      <p:sp>
        <p:nvSpPr>
          <p:cNvPr id="1048781" name="内容占位符 5"/>
          <p:cNvSpPr>
            <a:spLocks noGrp="1"/>
          </p:cNvSpPr>
          <p:nvPr>
            <p:ph sz="quarter" idx="11"/>
          </p:nvPr>
        </p:nvSpPr>
        <p:spPr>
          <a:xfrm>
            <a:off x="4572000" y="1200151"/>
            <a:ext cx="4114800" cy="1191095"/>
          </a:xfrm>
        </p:spPr>
        <p:txBody>
          <a:bodyPr/>
          <a:lstStyle>
            <a:lvl1pPr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70510" indent="-260985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539750" indent="-269240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标题 1"/>
          <p:cNvSpPr>
            <a:spLocks noGrp="1"/>
          </p:cNvSpPr>
          <p:nvPr>
            <p:ph type="title"/>
          </p:nvPr>
        </p:nvSpPr>
        <p:spPr>
          <a:xfrm>
            <a:off x="2541984" y="4210006"/>
            <a:ext cx="5486400" cy="415498"/>
          </a:xfrm>
        </p:spPr>
        <p:txBody>
          <a:bodyPr anchor="b"/>
          <a:lstStyle>
            <a:lvl1pPr algn="ctr">
              <a:defRPr sz="2100" b="1">
                <a:solidFill>
                  <a:srgbClr val="630D5F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83" name="图片占位符 2"/>
          <p:cNvSpPr>
            <a:spLocks noGrp="1"/>
          </p:cNvSpPr>
          <p:nvPr>
            <p:ph type="pic" idx="1"/>
          </p:nvPr>
        </p:nvSpPr>
        <p:spPr>
          <a:xfrm>
            <a:off x="2541984" y="1059582"/>
            <a:ext cx="5486400" cy="30861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矩形 5"/>
          <p:cNvSpPr/>
          <p:nvPr/>
        </p:nvSpPr>
        <p:spPr>
          <a:xfrm>
            <a:off x="521494" y="1524000"/>
            <a:ext cx="8101013" cy="118824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8" name="标题 1"/>
          <p:cNvSpPr>
            <a:spLocks noGrp="1"/>
          </p:cNvSpPr>
          <p:nvPr>
            <p:ph type="title"/>
          </p:nvPr>
        </p:nvSpPr>
        <p:spPr>
          <a:xfrm>
            <a:off x="522001" y="1795421"/>
            <a:ext cx="8099999" cy="646331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9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50082" y="2973817"/>
            <a:ext cx="7918363" cy="369332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矩形 5"/>
          <p:cNvSpPr/>
          <p:nvPr/>
        </p:nvSpPr>
        <p:spPr>
          <a:xfrm>
            <a:off x="521494" y="1524000"/>
            <a:ext cx="8101013" cy="118824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4" name="标题 1"/>
          <p:cNvSpPr>
            <a:spLocks noGrp="1"/>
          </p:cNvSpPr>
          <p:nvPr>
            <p:ph type="title"/>
          </p:nvPr>
        </p:nvSpPr>
        <p:spPr>
          <a:xfrm>
            <a:off x="522001" y="1864670"/>
            <a:ext cx="8099999" cy="507831"/>
          </a:xfrm>
        </p:spPr>
        <p:txBody>
          <a:bodyPr/>
          <a:lstStyle>
            <a:lvl1pPr algn="ctr">
              <a:defRPr sz="27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5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50082" y="2973817"/>
            <a:ext cx="3165835" cy="646331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48796" name="内容占位符 4"/>
          <p:cNvSpPr>
            <a:spLocks noGrp="1"/>
          </p:cNvSpPr>
          <p:nvPr>
            <p:ph sz="quarter" idx="11"/>
          </p:nvPr>
        </p:nvSpPr>
        <p:spPr>
          <a:xfrm>
            <a:off x="4626006" y="2973817"/>
            <a:ext cx="3996500" cy="369332"/>
          </a:xfrm>
        </p:spPr>
        <p:txBody>
          <a:bodyPr/>
          <a:lstStyle>
            <a:lvl1pPr>
              <a:defRPr lang="zh-CN" altLang="en-US" sz="18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Rectangle 46"/>
          <p:cNvSpPr>
            <a:spLocks noChangeArrowheads="1"/>
          </p:cNvSpPr>
          <p:nvPr/>
        </p:nvSpPr>
        <p:spPr bwMode="auto">
          <a:xfrm>
            <a:off x="3048000" y="2288382"/>
            <a:ext cx="1524000" cy="1088231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8" name="Rectangle 47"/>
          <p:cNvSpPr>
            <a:spLocks noChangeArrowheads="1"/>
          </p:cNvSpPr>
          <p:nvPr/>
        </p:nvSpPr>
        <p:spPr bwMode="gray">
          <a:xfrm>
            <a:off x="4572000" y="3374231"/>
            <a:ext cx="1524000" cy="10858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87" name="Picture 5" descr="C:\Documents and Settings\Administrator\桌面\1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537097" y="2286001"/>
            <a:ext cx="1522809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88" name="Picture 6" descr="C:\Documents and Settings\Administrator\桌面\2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0" y="2288382"/>
            <a:ext cx="1522810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89" name="Picture 7" descr="C:\Documents and Settings\Administrator\桌面\3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3369469"/>
            <a:ext cx="1522810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90" name="Picture 8" descr="C:\Documents and Settings\Administrator\桌面\4.jpg"/>
          <p:cNvPicPr/>
          <p:nvPr/>
        </p:nvPicPr>
        <p:blipFill>
          <a:blip r:embed="rId5"/>
          <a:stretch>
            <a:fillRect/>
          </a:stretch>
        </p:blipFill>
        <p:spPr>
          <a:xfrm>
            <a:off x="3049191" y="3374232"/>
            <a:ext cx="1522809" cy="108823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789" name="标题 1"/>
          <p:cNvSpPr>
            <a:spLocks noGrp="1"/>
          </p:cNvSpPr>
          <p:nvPr>
            <p:ph type="title"/>
          </p:nvPr>
        </p:nvSpPr>
        <p:spPr>
          <a:xfrm>
            <a:off x="683568" y="1426083"/>
            <a:ext cx="8154906" cy="553998"/>
          </a:xfrm>
        </p:spPr>
        <p:txBody>
          <a:bodyPr/>
          <a:lstStyle>
            <a:lvl1pPr algn="ctr">
              <a:defRPr sz="3000">
                <a:solidFill>
                  <a:srgbClr val="630D5F"/>
                </a:solidFill>
              </a:defRPr>
            </a:lvl1pPr>
          </a:lstStyle>
          <a:p>
            <a:endParaRPr lang="zh-CN" altLang="en-US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</p:spPr>
        <p:txBody>
          <a:bodyPr/>
          <a:lstStyle>
            <a:lvl1pPr eaLnBrk="1" hangingPunct="1">
              <a:defRPr noProof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AED0F17-EA65-6A44-B4C1-ADB7D87F4354}" type="datetime1">
              <a:rPr kumimoji="0" lang="zh-CN" altLang="en-US" sz="135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2025/1/3</a:t>
            </a:fld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5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 eaLnBrk="1" hangingPunct="1">
              <a:defRPr noProof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E2D1913-7E4E-494B-BB9D-C7D6A017BB24}" type="slidenum">
              <a:rPr kumimoji="0" lang="zh-CN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6" tIns="45712" rIns="91426" bIns="4571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vert="horz" lIns="91426" tIns="45712" rIns="91426" bIns="45712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B89FC-41C6-AE44-B28F-4EEB06CB4A41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6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4" y="4767263"/>
            <a:ext cx="2895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6" tIns="45712" rIns="91426" bIns="4571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05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vert="horz" lIns="91426" tIns="45712" rIns="91426" bIns="45712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06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F63A60C7-E1E9-1147-9542-7591D08E8B3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0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4" y="4767264"/>
            <a:ext cx="2895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0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89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标题占位符 1"/>
          <p:cNvSpPr>
            <a:spLocks noGrp="1"/>
          </p:cNvSpPr>
          <p:nvPr>
            <p:ph type="title"/>
          </p:nvPr>
        </p:nvSpPr>
        <p:spPr>
          <a:xfrm>
            <a:off x="2556273" y="403772"/>
            <a:ext cx="6130528" cy="4616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48777" name="文本占位符 2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1191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en-US" altLang="en-US" dirty="0"/>
              <a:t>单击此处编辑母版文本样式</a:t>
            </a:r>
          </a:p>
          <a:p>
            <a:pPr lvl="1"/>
            <a:r>
              <a:rPr lang="en-US" altLang="en-US" dirty="0"/>
              <a:t>第二级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en-US" altLang="en-US" dirty="0"/>
              <a:t>第三级</a:t>
            </a:r>
          </a:p>
        </p:txBody>
      </p:sp>
      <p:pic>
        <p:nvPicPr>
          <p:cNvPr id="2097186" name="Picture 11"/>
          <p:cNvPicPr/>
          <p:nvPr/>
        </p:nvPicPr>
        <p:blipFill>
          <a:blip r:embed="rId14"/>
          <a:stretch>
            <a:fillRect/>
          </a:stretch>
        </p:blipFill>
        <p:spPr>
          <a:xfrm>
            <a:off x="6238875" y="2343150"/>
            <a:ext cx="2600325" cy="26003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100" b="1" kern="1200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3885" indent="-26098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1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2100" b="1" kern="1200">
          <a:solidFill>
            <a:srgbClr val="E46C0A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9.png"/><Relationship Id="rId4" Type="http://schemas.openxmlformats.org/officeDocument/2006/relationships/image" Target="../media/image7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B2B4312-8799-E3FD-3B66-D2A3424C86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48636" name="矩形 2"/>
          <p:cNvSpPr/>
          <p:nvPr/>
        </p:nvSpPr>
        <p:spPr>
          <a:xfrm>
            <a:off x="2705" y="769023"/>
            <a:ext cx="9144000" cy="1538522"/>
          </a:xfrm>
          <a:prstGeom prst="rect">
            <a:avLst/>
          </a:prstGeom>
          <a:solidFill>
            <a:srgbClr val="6E0F6D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90" tIns="37495" rIns="74990" bIns="37495" rtlCol="0" anchor="ctr"/>
          <a:lstStyle/>
          <a:p>
            <a:pPr algn="ctr" defTabSz="914400"/>
            <a:endParaRPr lang="zh-CN" altLang="en-US">
              <a:solidFill>
                <a:srgbClr val="6E0F6D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4863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95736" y="3280283"/>
            <a:ext cx="4879340" cy="1856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176"/>
              </a:spcBef>
              <a:spcAft>
                <a:spcPts val="1200"/>
              </a:spcAft>
            </a:pPr>
            <a:r>
              <a:rPr lang="zh-CN" altLang="en-US" sz="2400" b="1" dirty="0">
                <a:solidFill>
                  <a:srgbClr val="690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南 京 大 学</a:t>
            </a:r>
            <a:endParaRPr lang="en-US" altLang="zh-CN" sz="2400" b="1" dirty="0">
              <a:solidFill>
                <a:srgbClr val="69006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176"/>
              </a:spcBef>
              <a:spcAft>
                <a:spcPts val="1200"/>
              </a:spcAft>
            </a:pPr>
            <a:r>
              <a:rPr lang="zh-CN" altLang="en-US" sz="2000" b="1" dirty="0">
                <a:solidFill>
                  <a:srgbClr val="690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张 凯</a:t>
            </a:r>
            <a:endParaRPr lang="en-US" altLang="zh-CN" sz="2000" b="1" dirty="0">
              <a:solidFill>
                <a:srgbClr val="69006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8638" name="矩形 1"/>
          <p:cNvSpPr/>
          <p:nvPr/>
        </p:nvSpPr>
        <p:spPr>
          <a:xfrm>
            <a:off x="611560" y="1275606"/>
            <a:ext cx="7776864" cy="639979"/>
          </a:xfrm>
          <a:prstGeom prst="rect">
            <a:avLst/>
          </a:prstGeom>
        </p:spPr>
        <p:txBody>
          <a:bodyPr wrap="square" lIns="74990" tIns="37495" rIns="74990" bIns="37495">
            <a:spAutoFit/>
          </a:bodyPr>
          <a:lstStyle/>
          <a:p>
            <a:pPr algn="ctr" defTabSz="571500">
              <a:lnSpc>
                <a:spcPts val="4375"/>
              </a:lnSpc>
            </a:pPr>
            <a:r>
              <a:rPr lang="zh-CN" alt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数 学 建 模</a:t>
            </a:r>
            <a:endParaRPr lang="en-US" altLang="zh-CN" sz="5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5D1DC8-7D77-FFA4-0486-67CEDD21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3693-5296-3813-B1E3-240C75D4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E725FF-4535-A5A2-2ED8-E74531C2C9F7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Self-Attention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FF7B7B-3896-F5A3-D5E5-E0596CEC9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593" y="820478"/>
            <a:ext cx="1778000" cy="4699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8DE312-C8FB-B44A-B2EF-8704F37A2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43" y="1781437"/>
            <a:ext cx="2095500" cy="482600"/>
          </a:xfrm>
          <a:prstGeom prst="rect">
            <a:avLst/>
          </a:prstGeom>
        </p:spPr>
      </p:pic>
      <p:sp>
        <p:nvSpPr>
          <p:cNvPr id="7" name="下箭头 6">
            <a:extLst>
              <a:ext uri="{FF2B5EF4-FFF2-40B4-BE49-F238E27FC236}">
                <a16:creationId xmlns:a16="http://schemas.microsoft.com/office/drawing/2014/main" id="{0478F130-1DF5-9AC7-87BC-1D8ED2A9AF87}"/>
              </a:ext>
            </a:extLst>
          </p:cNvPr>
          <p:cNvSpPr/>
          <p:nvPr/>
        </p:nvSpPr>
        <p:spPr>
          <a:xfrm>
            <a:off x="2080539" y="1330653"/>
            <a:ext cx="212109" cy="4324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8BDE96-2F4F-CE1B-997D-F6F83DA84F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" y="2852610"/>
            <a:ext cx="4572000" cy="400639"/>
          </a:xfrm>
          <a:prstGeom prst="rect">
            <a:avLst/>
          </a:prstGeom>
        </p:spPr>
      </p:pic>
      <p:sp>
        <p:nvSpPr>
          <p:cNvPr id="10" name="下箭头 9">
            <a:extLst>
              <a:ext uri="{FF2B5EF4-FFF2-40B4-BE49-F238E27FC236}">
                <a16:creationId xmlns:a16="http://schemas.microsoft.com/office/drawing/2014/main" id="{BBF7CF8D-1EC2-9C0B-F959-E43A004D8DD1}"/>
              </a:ext>
            </a:extLst>
          </p:cNvPr>
          <p:cNvSpPr/>
          <p:nvPr/>
        </p:nvSpPr>
        <p:spPr>
          <a:xfrm>
            <a:off x="2080539" y="2320002"/>
            <a:ext cx="212109" cy="4324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AF67F19-36B4-478D-5F8A-4546615118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593" y="3312514"/>
            <a:ext cx="2032000" cy="37253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2FE67BE-4655-0B61-F1A7-ACA49A50D0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43" y="4399165"/>
            <a:ext cx="2501900" cy="495300"/>
          </a:xfrm>
          <a:prstGeom prst="rect">
            <a:avLst/>
          </a:prstGeom>
        </p:spPr>
      </p:pic>
      <p:sp>
        <p:nvSpPr>
          <p:cNvPr id="15" name="下箭头 14">
            <a:extLst>
              <a:ext uri="{FF2B5EF4-FFF2-40B4-BE49-F238E27FC236}">
                <a16:creationId xmlns:a16="http://schemas.microsoft.com/office/drawing/2014/main" id="{A04F35C8-49BF-8199-5ADC-9765C325BC00}"/>
              </a:ext>
            </a:extLst>
          </p:cNvPr>
          <p:cNvSpPr/>
          <p:nvPr/>
        </p:nvSpPr>
        <p:spPr>
          <a:xfrm>
            <a:off x="2080539" y="3866557"/>
            <a:ext cx="212109" cy="4324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2F03E88-2743-C55A-BA36-885D3C79E1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788" y="4245026"/>
            <a:ext cx="4140200" cy="7493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8" name="下箭头 17">
            <a:extLst>
              <a:ext uri="{FF2B5EF4-FFF2-40B4-BE49-F238E27FC236}">
                <a16:creationId xmlns:a16="http://schemas.microsoft.com/office/drawing/2014/main" id="{20690D63-0926-345E-7F2D-D2A5C71F6802}"/>
              </a:ext>
            </a:extLst>
          </p:cNvPr>
          <p:cNvSpPr/>
          <p:nvPr/>
        </p:nvSpPr>
        <p:spPr>
          <a:xfrm rot="16200000">
            <a:off x="4249743" y="4333811"/>
            <a:ext cx="212109" cy="4324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8C4267D-27B6-08B8-FF0D-6ADE965264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792" y="3757721"/>
            <a:ext cx="2692400" cy="4191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898AF3B-408F-77EE-CC10-037795A5EC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892" y="2828668"/>
            <a:ext cx="4140201" cy="448522"/>
          </a:xfrm>
          <a:prstGeom prst="rect">
            <a:avLst/>
          </a:prstGeom>
        </p:spPr>
      </p:pic>
      <p:sp>
        <p:nvSpPr>
          <p:cNvPr id="23" name="下箭头 22">
            <a:extLst>
              <a:ext uri="{FF2B5EF4-FFF2-40B4-BE49-F238E27FC236}">
                <a16:creationId xmlns:a16="http://schemas.microsoft.com/office/drawing/2014/main" id="{29BA4966-3916-764C-D484-CB018C59304D}"/>
              </a:ext>
            </a:extLst>
          </p:cNvPr>
          <p:cNvSpPr/>
          <p:nvPr/>
        </p:nvSpPr>
        <p:spPr>
          <a:xfrm rot="10800000">
            <a:off x="6842939" y="3252642"/>
            <a:ext cx="212109" cy="4324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C30A0940-46B0-3017-899B-755583DE78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742" y="1340132"/>
            <a:ext cx="3492500" cy="520700"/>
          </a:xfrm>
          <a:prstGeom prst="rect">
            <a:avLst/>
          </a:prstGeom>
        </p:spPr>
      </p:pic>
      <p:sp>
        <p:nvSpPr>
          <p:cNvPr id="26" name="下箭头 25">
            <a:extLst>
              <a:ext uri="{FF2B5EF4-FFF2-40B4-BE49-F238E27FC236}">
                <a16:creationId xmlns:a16="http://schemas.microsoft.com/office/drawing/2014/main" id="{4AEC5445-C387-60CD-5712-CEF029CA50DA}"/>
              </a:ext>
            </a:extLst>
          </p:cNvPr>
          <p:cNvSpPr/>
          <p:nvPr/>
        </p:nvSpPr>
        <p:spPr>
          <a:xfrm rot="10800000">
            <a:off x="6842939" y="2047834"/>
            <a:ext cx="212109" cy="4324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470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5" grpId="0" animBg="1"/>
      <p:bldP spid="18" grpId="0" animBg="1"/>
      <p:bldP spid="23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0BA8-A59A-870F-E913-18A1899C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7407A8-2660-593C-C9C5-F0E20C765D06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Self-Attention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）为什么除以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sqrt(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特征维度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d)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EC4A8F-E1DB-9198-18F5-92AEBC17C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96" y="2302809"/>
            <a:ext cx="3365500" cy="4826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9A1F3BA-C405-0C11-9A2E-D0037AFE71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14" y="2813154"/>
            <a:ext cx="736600" cy="8128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6AC8EDA-AD09-F508-C663-6B1FAEC63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17" y="935116"/>
            <a:ext cx="4737100" cy="8001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6C157F9-7FFE-8DF7-7F20-372EEE2853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152" y="2237126"/>
            <a:ext cx="2984500" cy="7366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237CA408-51E6-9425-D65E-7E31D057E6A5}"/>
              </a:ext>
            </a:extLst>
          </p:cNvPr>
          <p:cNvSpPr txBox="1"/>
          <p:nvPr/>
        </p:nvSpPr>
        <p:spPr>
          <a:xfrm>
            <a:off x="1265117" y="1918035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情形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：除以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sqrt(d)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65D9D86-1863-773E-4821-AA954EF23CD2}"/>
              </a:ext>
            </a:extLst>
          </p:cNvPr>
          <p:cNvSpPr txBox="1"/>
          <p:nvPr/>
        </p:nvSpPr>
        <p:spPr>
          <a:xfrm>
            <a:off x="5809087" y="190505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情形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：不除以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sqrt(d)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04C744B-53A0-7ED4-BEA2-98D7BFEE9A7C}"/>
              </a:ext>
            </a:extLst>
          </p:cNvPr>
          <p:cNvSpPr txBox="1"/>
          <p:nvPr/>
        </p:nvSpPr>
        <p:spPr>
          <a:xfrm>
            <a:off x="711311" y="4618366"/>
            <a:ext cx="3021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r>
              <a:rPr kumimoji="1"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的输入在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D6D6AEF-8FCD-A928-58D7-75283997C46D}"/>
              </a:ext>
            </a:extLst>
          </p:cNvPr>
          <p:cNvSpPr txBox="1"/>
          <p:nvPr/>
        </p:nvSpPr>
        <p:spPr>
          <a:xfrm>
            <a:off x="4675174" y="4421930"/>
            <a:ext cx="4417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大多接近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，一个权重接近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容易导致梯度消失问题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CF66A309-08A9-0DA8-9C63-0DB3205773C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630" y="2899937"/>
            <a:ext cx="4487370" cy="1355725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7D8B0A18-8750-3AE0-A42A-D2C38F251676}"/>
              </a:ext>
            </a:extLst>
          </p:cNvPr>
          <p:cNvSpPr txBox="1"/>
          <p:nvPr/>
        </p:nvSpPr>
        <p:spPr>
          <a:xfrm>
            <a:off x="2144162" y="3034888"/>
            <a:ext cx="2034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均值为</a:t>
            </a:r>
            <a:r>
              <a:rPr kumimoji="1" lang="en-US" altLang="zh-CN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，方差为</a:t>
            </a:r>
            <a:r>
              <a:rPr kumimoji="1" lang="en-US" altLang="zh-CN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dirty="0">
              <a:solidFill>
                <a:srgbClr val="0012F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4DDFED-ED7A-97DA-CE53-DE8CD380B62B}"/>
              </a:ext>
            </a:extLst>
          </p:cNvPr>
          <p:cNvSpPr txBox="1"/>
          <p:nvPr/>
        </p:nvSpPr>
        <p:spPr>
          <a:xfrm>
            <a:off x="113439" y="3602701"/>
            <a:ext cx="30479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a = </a:t>
            </a:r>
            <a:r>
              <a:rPr lang="en-US" altLang="zh-CN" sz="1400" dirty="0"/>
              <a:t>3</a:t>
            </a:r>
            <a:r>
              <a:rPr lang="zh-CN" altLang="en-US" sz="1400" dirty="0"/>
              <a:t>*torch.randn(100000,1)</a:t>
            </a:r>
            <a:endParaRPr lang="en-US" altLang="zh-CN" sz="1400" dirty="0"/>
          </a:p>
          <a:p>
            <a:r>
              <a:rPr lang="zh-CN" altLang="en-US" sz="1400" dirty="0"/>
              <a:t>b = </a:t>
            </a:r>
            <a:r>
              <a:rPr lang="en-US" altLang="zh-CN" sz="1400" dirty="0"/>
              <a:t>4</a:t>
            </a:r>
            <a:r>
              <a:rPr lang="zh-CN" altLang="en-US" sz="1400" dirty="0"/>
              <a:t>*torch.randn(100000,1)</a:t>
            </a:r>
          </a:p>
          <a:p>
            <a:r>
              <a:rPr lang="zh-CN" altLang="en-US" sz="1400" dirty="0">
                <a:solidFill>
                  <a:srgbClr val="C00000"/>
                </a:solidFill>
              </a:rPr>
              <a:t>torch.</a:t>
            </a:r>
            <a:r>
              <a:rPr lang="en-US" altLang="zh-CN" sz="1400" dirty="0">
                <a:solidFill>
                  <a:srgbClr val="C00000"/>
                </a:solidFill>
              </a:rPr>
              <a:t>std</a:t>
            </a:r>
            <a:r>
              <a:rPr lang="zh-CN" altLang="en-US" sz="1400" dirty="0">
                <a:solidFill>
                  <a:srgbClr val="C00000"/>
                </a:solidFill>
              </a:rPr>
              <a:t>(a</a:t>
            </a:r>
            <a:r>
              <a:rPr lang="en-US" altLang="zh-CN" sz="1400" dirty="0">
                <a:solidFill>
                  <a:srgbClr val="C00000"/>
                </a:solidFill>
              </a:rPr>
              <a:t>+</a:t>
            </a:r>
            <a:r>
              <a:rPr lang="zh-CN" altLang="en-US" sz="1400" dirty="0">
                <a:solidFill>
                  <a:srgbClr val="C00000"/>
                </a:solidFill>
              </a:rPr>
              <a:t>b)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F8BCE7-7E14-9A5C-4AE2-69F6AA37497D}"/>
              </a:ext>
            </a:extLst>
          </p:cNvPr>
          <p:cNvSpPr txBox="1"/>
          <p:nvPr/>
        </p:nvSpPr>
        <p:spPr>
          <a:xfrm>
            <a:off x="2706802" y="4132839"/>
            <a:ext cx="15239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tensor(</a:t>
            </a:r>
            <a:r>
              <a:rPr lang="en-US" altLang="zh-CN" sz="1400" dirty="0"/>
              <a:t>12.0152</a:t>
            </a:r>
            <a:r>
              <a:rPr lang="zh-CN" altLang="en-US" sz="1400" dirty="0"/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FF3D89-6875-85A1-EC84-71E5769B7333}"/>
              </a:ext>
            </a:extLst>
          </p:cNvPr>
          <p:cNvSpPr txBox="1"/>
          <p:nvPr/>
        </p:nvSpPr>
        <p:spPr>
          <a:xfrm>
            <a:off x="124720" y="4272513"/>
            <a:ext cx="15239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tensor(</a:t>
            </a:r>
            <a:r>
              <a:rPr lang="en-US" altLang="zh-CN" sz="1400" dirty="0"/>
              <a:t>5.001</a:t>
            </a:r>
            <a:r>
              <a:rPr lang="zh-CN" altLang="en-US" sz="1400" dirty="0"/>
              <a:t>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037BCE-8A41-18EB-FF2C-9CA98D2C278D}"/>
              </a:ext>
            </a:extLst>
          </p:cNvPr>
          <p:cNvSpPr txBox="1"/>
          <p:nvPr/>
        </p:nvSpPr>
        <p:spPr>
          <a:xfrm>
            <a:off x="2706802" y="3802757"/>
            <a:ext cx="15771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</a:rPr>
              <a:t>torch.</a:t>
            </a:r>
            <a:r>
              <a:rPr lang="en-US" altLang="zh-CN" sz="1400" dirty="0">
                <a:solidFill>
                  <a:srgbClr val="C00000"/>
                </a:solidFill>
              </a:rPr>
              <a:t>std</a:t>
            </a:r>
            <a:r>
              <a:rPr lang="zh-CN" altLang="en-US" sz="1400" dirty="0">
                <a:solidFill>
                  <a:srgbClr val="C00000"/>
                </a:solidFill>
              </a:rPr>
              <a:t>(a*b)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2A06119-24B0-A5C5-5C61-143743B702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86" y="1050006"/>
            <a:ext cx="2501900" cy="4953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C390983-F61E-15D3-A733-7D2ADB562691}"/>
              </a:ext>
            </a:extLst>
          </p:cNvPr>
          <p:cNvSpPr/>
          <p:nvPr/>
        </p:nvSpPr>
        <p:spPr>
          <a:xfrm>
            <a:off x="7092280" y="3956645"/>
            <a:ext cx="648072" cy="1761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CD9FF5-F103-5FF1-AE62-75A45AB27AEB}"/>
              </a:ext>
            </a:extLst>
          </p:cNvPr>
          <p:cNvSpPr/>
          <p:nvPr/>
        </p:nvSpPr>
        <p:spPr>
          <a:xfrm>
            <a:off x="6372200" y="3544700"/>
            <a:ext cx="511816" cy="1791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D28847-11F5-149E-1AB9-E121F7567383}"/>
              </a:ext>
            </a:extLst>
          </p:cNvPr>
          <p:cNvSpPr/>
          <p:nvPr/>
        </p:nvSpPr>
        <p:spPr>
          <a:xfrm>
            <a:off x="4850692" y="2882647"/>
            <a:ext cx="1161468" cy="179176"/>
          </a:xfrm>
          <a:prstGeom prst="rect">
            <a:avLst/>
          </a:prstGeom>
          <a:noFill/>
          <a:ln>
            <a:solidFill>
              <a:srgbClr val="001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982151-480C-C062-C836-6C4A06C45514}"/>
              </a:ext>
            </a:extLst>
          </p:cNvPr>
          <p:cNvSpPr/>
          <p:nvPr/>
        </p:nvSpPr>
        <p:spPr>
          <a:xfrm>
            <a:off x="4850692" y="3313140"/>
            <a:ext cx="1305484" cy="179177"/>
          </a:xfrm>
          <a:prstGeom prst="rect">
            <a:avLst/>
          </a:prstGeom>
          <a:noFill/>
          <a:ln>
            <a:solidFill>
              <a:srgbClr val="001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6A4530-7F9F-5E8F-7863-7AB39BF72C3E}"/>
              </a:ext>
            </a:extLst>
          </p:cNvPr>
          <p:cNvSpPr/>
          <p:nvPr/>
        </p:nvSpPr>
        <p:spPr>
          <a:xfrm>
            <a:off x="4886974" y="3754496"/>
            <a:ext cx="2637354" cy="179177"/>
          </a:xfrm>
          <a:prstGeom prst="rect">
            <a:avLst/>
          </a:prstGeom>
          <a:noFill/>
          <a:ln>
            <a:solidFill>
              <a:srgbClr val="001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AD00597-38DB-D3D8-4511-28F78E02E51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210" y="413398"/>
            <a:ext cx="1827014" cy="29719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5E1A8FA-5B06-EB7B-477D-A5F89EF7EC6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077" y="215201"/>
            <a:ext cx="2139208" cy="1752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04C1ABC-929B-922E-75EC-D982ED11856D}"/>
              </a:ext>
            </a:extLst>
          </p:cNvPr>
          <p:cNvSpPr txBox="1"/>
          <p:nvPr/>
        </p:nvSpPr>
        <p:spPr>
          <a:xfrm>
            <a:off x="7541189" y="3706864"/>
            <a:ext cx="1111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solidFill>
                  <a:srgbClr val="0012FE"/>
                </a:solidFill>
              </a:rPr>
              <a:t>标准差为</a:t>
            </a:r>
            <a:r>
              <a:rPr kumimoji="1" lang="en-US" altLang="zh-CN" sz="1000" dirty="0">
                <a:solidFill>
                  <a:srgbClr val="0012FE"/>
                </a:solidFill>
              </a:rPr>
              <a:t>sqrt(10)</a:t>
            </a:r>
            <a:endParaRPr kumimoji="1" lang="zh-CN" altLang="en-US" sz="1000" dirty="0">
              <a:solidFill>
                <a:srgbClr val="0012FE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DD2826-65F6-6CF0-1878-59B55255865A}"/>
              </a:ext>
            </a:extLst>
          </p:cNvPr>
          <p:cNvSpPr txBox="1"/>
          <p:nvPr/>
        </p:nvSpPr>
        <p:spPr>
          <a:xfrm>
            <a:off x="6001456" y="2842715"/>
            <a:ext cx="7633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solidFill>
                  <a:srgbClr val="0012FE"/>
                </a:solidFill>
              </a:rPr>
              <a:t>标准差为</a:t>
            </a:r>
            <a:r>
              <a:rPr kumimoji="1" lang="en-US" altLang="zh-CN" sz="1000" dirty="0">
                <a:solidFill>
                  <a:srgbClr val="0012FE"/>
                </a:solidFill>
              </a:rPr>
              <a:t>1</a:t>
            </a:r>
            <a:endParaRPr kumimoji="1" lang="zh-CN" altLang="en-US" sz="1000" dirty="0">
              <a:solidFill>
                <a:srgbClr val="0012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90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40" grpId="0"/>
      <p:bldP spid="4" grpId="0"/>
      <p:bldP spid="7" grpId="0"/>
      <p:bldP spid="8" grpId="0"/>
      <p:bldP spid="10" grpId="0"/>
      <p:bldP spid="14" grpId="0" animBg="1"/>
      <p:bldP spid="15" grpId="0" animBg="1"/>
      <p:bldP spid="17" grpId="0" animBg="1"/>
      <p:bldP spid="18" grpId="0" animBg="1"/>
      <p:bldP spid="19" grpId="0" animBg="1"/>
      <p:bldP spid="3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0E152-DDC8-F37A-D03B-0E7B8595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3FCC7C-06BD-E4F0-CDA7-AFF33E93B949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Self-Attention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）多头注意力与单头注意力的区别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A5A0F9-80F3-C039-F835-F3A429734E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785" y="943415"/>
            <a:ext cx="1224821" cy="15624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125A10-B600-03FD-DE90-8A7A8D5ED5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753" y="1017532"/>
            <a:ext cx="2911459" cy="15624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A31FDD9-1CED-AFD4-D5FF-9449CC2CB418}"/>
              </a:ext>
            </a:extLst>
          </p:cNvPr>
          <p:cNvSpPr txBox="1"/>
          <p:nvPr/>
        </p:nvSpPr>
        <p:spPr>
          <a:xfrm>
            <a:off x="0" y="452942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假设输出特征维度都是</a:t>
            </a:r>
            <a:r>
              <a:rPr lang="en-US" altLang="zh-CN" sz="1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，那么单头和多头注意力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参数量相同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，但多头注意力将 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zh-CN" alt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zh-CN" alt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的计算分配到多个注意力头上，每个头关注</a:t>
            </a:r>
            <a:r>
              <a:rPr lang="zh-CN" altLang="en-US" sz="1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</a:t>
            </a:r>
            <a:r>
              <a:rPr lang="zh-CN" altLang="en-US" sz="1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</a:t>
            </a: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征</a:t>
            </a:r>
            <a:r>
              <a:rPr lang="zh-CN" alt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</a:t>
            </a:r>
            <a:r>
              <a:rPr lang="zh-CN" alt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间，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因此可以学习不同特征维度的关系，有更好的表达能力。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E898A3C-6CEA-C5EF-E976-066C5DF938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233" y="2586126"/>
            <a:ext cx="5112568" cy="71473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99A9E9D-87D4-6A1F-E52D-6E0DD1B524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271" y="3948883"/>
            <a:ext cx="1530231" cy="49507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5B528C0-A60D-2ADB-3047-F1BBD096D3A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36" y="3400367"/>
            <a:ext cx="5112568" cy="49507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3BD900E-E3A2-3EB4-154A-CB8618CA4F54}"/>
              </a:ext>
            </a:extLst>
          </p:cNvPr>
          <p:cNvSpPr txBox="1"/>
          <p:nvPr/>
        </p:nvSpPr>
        <p:spPr>
          <a:xfrm>
            <a:off x="390727" y="3459218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单头</a:t>
            </a:r>
            <a:r>
              <a:rPr kumimoji="1" lang="zh-CN" altLang="en-US" dirty="0">
                <a:solidFill>
                  <a:srgbClr val="C00000"/>
                </a:solidFill>
              </a:rPr>
              <a:t>注意力：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F9AB33-AEE5-05E0-CCAA-C9194DEAE1A2}"/>
              </a:ext>
            </a:extLst>
          </p:cNvPr>
          <p:cNvSpPr txBox="1"/>
          <p:nvPr/>
        </p:nvSpPr>
        <p:spPr>
          <a:xfrm>
            <a:off x="395536" y="27583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多头</a:t>
            </a:r>
            <a:r>
              <a:rPr kumimoji="1" lang="zh-CN" altLang="en-US" dirty="0">
                <a:solidFill>
                  <a:srgbClr val="C00000"/>
                </a:solidFill>
              </a:rPr>
              <a:t>注意力：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6C64FD7-98B7-2349-C4A5-F00F172CD0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68" y="4009021"/>
            <a:ext cx="2535408" cy="37479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2B415D52-1407-1729-7A4D-BDE1AB2F38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064" y="3469212"/>
            <a:ext cx="1231900" cy="444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4C9A60B3-47AB-61DB-3CA7-2119646634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564" y="2577912"/>
            <a:ext cx="1358900" cy="4064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3089665-BC8B-9C11-C033-E9D4D83449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284" y="2977746"/>
            <a:ext cx="1473200" cy="33020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F76B4F5D-1E1B-AE3E-5673-F4B84D965E17}"/>
              </a:ext>
            </a:extLst>
          </p:cNvPr>
          <p:cNvSpPr txBox="1"/>
          <p:nvPr/>
        </p:nvSpPr>
        <p:spPr>
          <a:xfrm>
            <a:off x="6439999" y="1463021"/>
            <a:ext cx="2481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之后输出特征维度为</a:t>
            </a:r>
            <a:r>
              <a:rPr lang="en-US" altLang="zh-CN" sz="1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d,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个数为</a:t>
            </a:r>
            <a:r>
              <a:rPr lang="en-US" altLang="zh-CN" sz="1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CN" altLang="en-US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84EC1D-A7EF-D930-BE63-F24468483CA4}"/>
              </a:ext>
            </a:extLst>
          </p:cNvPr>
          <p:cNvSpPr/>
          <p:nvPr/>
        </p:nvSpPr>
        <p:spPr>
          <a:xfrm>
            <a:off x="3034548" y="2693543"/>
            <a:ext cx="601348" cy="12018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ADA175A-612D-ACBA-9881-03A4DDD538C3}"/>
              </a:ext>
            </a:extLst>
          </p:cNvPr>
          <p:cNvSpPr/>
          <p:nvPr/>
        </p:nvSpPr>
        <p:spPr>
          <a:xfrm>
            <a:off x="4453458" y="2704436"/>
            <a:ext cx="601348" cy="12018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68FD9C-FFA3-D242-7014-9FFD0FF39900}"/>
              </a:ext>
            </a:extLst>
          </p:cNvPr>
          <p:cNvSpPr/>
          <p:nvPr/>
        </p:nvSpPr>
        <p:spPr>
          <a:xfrm>
            <a:off x="6092920" y="2693543"/>
            <a:ext cx="601348" cy="12018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A500F1-BAA1-75D5-67AE-3381A0951747}"/>
              </a:ext>
            </a:extLst>
          </p:cNvPr>
          <p:cNvSpPr txBox="1"/>
          <p:nvPr/>
        </p:nvSpPr>
        <p:spPr>
          <a:xfrm>
            <a:off x="2892936" y="2448566"/>
            <a:ext cx="982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901F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性别子空间</a:t>
            </a:r>
            <a:endParaRPr lang="zh-CN" altLang="en-US" sz="1200" dirty="0">
              <a:solidFill>
                <a:srgbClr val="901F2A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6276A5-E80E-4C52-6DD9-58BC835209B2}"/>
              </a:ext>
            </a:extLst>
          </p:cNvPr>
          <p:cNvSpPr txBox="1"/>
          <p:nvPr/>
        </p:nvSpPr>
        <p:spPr>
          <a:xfrm>
            <a:off x="4304080" y="2446911"/>
            <a:ext cx="982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901F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年龄子空间</a:t>
            </a:r>
            <a:endParaRPr lang="zh-CN" altLang="en-US" sz="1200" dirty="0">
              <a:solidFill>
                <a:srgbClr val="901F2A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2D720D-D1E8-21A5-6374-23845A67D7B0}"/>
              </a:ext>
            </a:extLst>
          </p:cNvPr>
          <p:cNvSpPr txBox="1"/>
          <p:nvPr/>
        </p:nvSpPr>
        <p:spPr>
          <a:xfrm>
            <a:off x="5988345" y="2433250"/>
            <a:ext cx="982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901F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身高子空间</a:t>
            </a:r>
            <a:endParaRPr lang="zh-CN" altLang="en-US" sz="1200" dirty="0">
              <a:solidFill>
                <a:srgbClr val="901F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78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0" grpId="0"/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AC964-26EA-E0C9-9326-E1DE8358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CED717-458C-8F2B-BCA4-BFEF6527A0F9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Self-Attention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Mask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的作用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E325BB-4715-A31D-67D0-BF39E10BB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5" y="1059582"/>
            <a:ext cx="2043786" cy="37086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A62E937-4B15-E162-25B6-F8993322845A}"/>
              </a:ext>
            </a:extLst>
          </p:cNvPr>
          <p:cNvSpPr txBox="1"/>
          <p:nvPr/>
        </p:nvSpPr>
        <p:spPr>
          <a:xfrm>
            <a:off x="2146245" y="915566"/>
            <a:ext cx="68732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的作用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如果某些位置被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屏蔽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这些位置的注意力得分会被设置为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（如 −∞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 </a:t>
            </a:r>
            <a:r>
              <a:rPr lang="en" altLang="zh-CN" dirty="0" err="1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" altLang="zh-CN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后，其对应的权重接近 </a:t>
            </a:r>
            <a:r>
              <a:rPr lang="en-US" altLang="zh-CN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47F657-F7DB-670F-4B64-8F2CAD55EF3F}"/>
              </a:ext>
            </a:extLst>
          </p:cNvPr>
          <p:cNvSpPr/>
          <p:nvPr/>
        </p:nvSpPr>
        <p:spPr>
          <a:xfrm>
            <a:off x="179512" y="2571751"/>
            <a:ext cx="1440160" cy="504056"/>
          </a:xfrm>
          <a:prstGeom prst="rect">
            <a:avLst/>
          </a:prstGeom>
          <a:noFill/>
          <a:ln>
            <a:solidFill>
              <a:srgbClr val="001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7814F0-CB30-6EEF-B3DB-77D27AEEDE7A}"/>
              </a:ext>
            </a:extLst>
          </p:cNvPr>
          <p:cNvSpPr txBox="1"/>
          <p:nvPr/>
        </p:nvSpPr>
        <p:spPr>
          <a:xfrm>
            <a:off x="2178438" y="1983269"/>
            <a:ext cx="34736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例子：</a:t>
            </a:r>
            <a:r>
              <a:rPr lang="en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Look-Ahead Mask 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是一个下三角矩阵，屏蔽掉所有未来的 </a:t>
            </a:r>
            <a:r>
              <a:rPr lang="en" altLang="zh-CN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对于序列长度为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Look-Ahead Mask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的矩阵形式为：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CC9953-598B-BFCA-8CCC-ED2E11F35B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906599"/>
            <a:ext cx="1378839" cy="72570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72A9924-ABB6-239F-0804-305D0AF4FB64}"/>
              </a:ext>
            </a:extLst>
          </p:cNvPr>
          <p:cNvSpPr txBox="1"/>
          <p:nvPr/>
        </p:nvSpPr>
        <p:spPr>
          <a:xfrm>
            <a:off x="2268223" y="3816970"/>
            <a:ext cx="32941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表示当前 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及之前的 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可以访问。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表示未来的 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被屏蔽（一般设置为−∞，然后经过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后接近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A6792AD-DF5F-2D69-FBE2-D306B2D420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547" y="1573066"/>
            <a:ext cx="2797512" cy="57271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613D094-02CF-C6C7-FFE7-669CD45DFB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941" y="2178711"/>
            <a:ext cx="1597586" cy="57271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61ED513-A62A-BE5E-CA62-AC596B7ABBA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2852634"/>
            <a:ext cx="912655" cy="55649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CE73E66-3590-C4CC-AA5B-86D76DC4AD7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952331"/>
            <a:ext cx="346460" cy="37977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FE7584B-7E9A-0E41-6B2B-FCE7DA0049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34" y="3015218"/>
            <a:ext cx="254000" cy="254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3153DFD-4AED-2006-2C5C-0C0E4FBB32D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717" y="2846987"/>
            <a:ext cx="1196064" cy="59046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4705C80-7101-B341-835C-B9D85F29A77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085" y="3496628"/>
            <a:ext cx="1340696" cy="590462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63E6C2C-8B64-CF56-3241-701EE2681788}"/>
              </a:ext>
            </a:extLst>
          </p:cNvPr>
          <p:cNvSpPr txBox="1"/>
          <p:nvPr/>
        </p:nvSpPr>
        <p:spPr>
          <a:xfrm>
            <a:off x="5975115" y="3637814"/>
            <a:ext cx="1741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1400" dirty="0" err="1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后得到：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0A03C29D-C6CC-9A70-51C8-CF6E9C80FA4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257" y="4072700"/>
            <a:ext cx="1657350" cy="52705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F8FBCAB8-DECE-5E77-8B0A-E4B41B033E2A}"/>
              </a:ext>
            </a:extLst>
          </p:cNvPr>
          <p:cNvSpPr txBox="1"/>
          <p:nvPr/>
        </p:nvSpPr>
        <p:spPr>
          <a:xfrm>
            <a:off x="6154933" y="4186302"/>
            <a:ext cx="837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1400" i="1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相乘：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6C54DFB-3E86-4761-296C-84E8A2C96872}"/>
              </a:ext>
            </a:extLst>
          </p:cNvPr>
          <p:cNvSpPr txBox="1"/>
          <p:nvPr/>
        </p:nvSpPr>
        <p:spPr>
          <a:xfrm>
            <a:off x="5975115" y="4620280"/>
            <a:ext cx="3007350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模型在生成当前 </a:t>
            </a:r>
            <a:r>
              <a:rPr lang="en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时仅关注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当前及之前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endParaRPr lang="zh-CN" alt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96B5A90-FF26-601D-868D-95E467931ABE}"/>
              </a:ext>
            </a:extLst>
          </p:cNvPr>
          <p:cNvSpPr txBox="1"/>
          <p:nvPr/>
        </p:nvSpPr>
        <p:spPr>
          <a:xfrm>
            <a:off x="8588603" y="1499154"/>
            <a:ext cx="5698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5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05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kumimoji="1" lang="en-US" altLang="zh-CN" sz="105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kumimoji="1" lang="zh-CN" altLang="en-US" sz="105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，维度为</a:t>
            </a:r>
            <a:r>
              <a:rPr kumimoji="1" lang="en-US" altLang="zh-CN" sz="105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1050" dirty="0">
              <a:solidFill>
                <a:srgbClr val="0012F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46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29" grpId="0"/>
      <p:bldP spid="33" grpId="0"/>
      <p:bldP spid="35" grpId="0" animBg="1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376C-03E6-9FBC-BD4E-6057D144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1725F9-A90E-61A2-869A-C638F203D59A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Self-Attention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Positional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Encoding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的作用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FCA4A6-DC2B-3647-E4D1-18AA025769A6}"/>
              </a:ext>
            </a:extLst>
          </p:cNvPr>
          <p:cNvSpPr txBox="1"/>
          <p:nvPr/>
        </p:nvSpPr>
        <p:spPr>
          <a:xfrm>
            <a:off x="287524" y="860655"/>
            <a:ext cx="8568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注意力分数依赖于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的相似性，而不是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在序列中的位置。因此，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本身无法直接感知输入序列的顺序。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26BB10F-961A-148C-CA57-474929913A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93480"/>
            <a:ext cx="1902114" cy="34319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6057CA3-162F-3609-6DB8-8B6C946F60D7}"/>
              </a:ext>
            </a:extLst>
          </p:cNvPr>
          <p:cNvSpPr/>
          <p:nvPr/>
        </p:nvSpPr>
        <p:spPr>
          <a:xfrm>
            <a:off x="380764" y="3739997"/>
            <a:ext cx="1440160" cy="504056"/>
          </a:xfrm>
          <a:prstGeom prst="rect">
            <a:avLst/>
          </a:prstGeom>
          <a:noFill/>
          <a:ln>
            <a:solidFill>
              <a:srgbClr val="001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81EC12-E77C-8C6C-1792-51AC8E2D0580}"/>
              </a:ext>
            </a:extLst>
          </p:cNvPr>
          <p:cNvSpPr txBox="1"/>
          <p:nvPr/>
        </p:nvSpPr>
        <p:spPr>
          <a:xfrm>
            <a:off x="2627783" y="1779662"/>
            <a:ext cx="28926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绝对位置编码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（Absolute Positional Encoding）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805882-FD44-5A9B-97AD-AA8C7AF448F1}"/>
              </a:ext>
            </a:extLst>
          </p:cNvPr>
          <p:cNvSpPr txBox="1"/>
          <p:nvPr/>
        </p:nvSpPr>
        <p:spPr>
          <a:xfrm>
            <a:off x="2405662" y="4136208"/>
            <a:ext cx="6450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适合固定长度序列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 当序列长度固定时，绝对位置编码能很好地表示位置信息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400" b="1" dirty="0"/>
              <a:t>扩展性较差：</a:t>
            </a:r>
            <a:r>
              <a:rPr lang="zh-CN" altLang="en-US" sz="1400" dirty="0"/>
              <a:t> 如果测试序列长度超过训练序列长度，模型可能无法很好地泛化。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D20818A-68FF-DB6D-3B3E-052C5C4CDF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204" y="2721891"/>
            <a:ext cx="3305760" cy="30217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971CECF-DC10-44E5-7F39-16585AD2D690}"/>
              </a:ext>
            </a:extLst>
          </p:cNvPr>
          <p:cNvSpPr txBox="1"/>
          <p:nvPr/>
        </p:nvSpPr>
        <p:spPr>
          <a:xfrm>
            <a:off x="5909032" y="2344727"/>
            <a:ext cx="2539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正弦和余弦位置编码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[-1, 1]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473DD8-DF03-96EA-FC0D-8A3413B622E4}"/>
              </a:ext>
            </a:extLst>
          </p:cNvPr>
          <p:cNvSpPr txBox="1"/>
          <p:nvPr/>
        </p:nvSpPr>
        <p:spPr>
          <a:xfrm>
            <a:off x="2991252" y="2344727"/>
            <a:ext cx="1983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可学习的位置编码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0C13E78B-37BC-165E-6A07-BF93DAC64C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98" y="2709390"/>
            <a:ext cx="2241801" cy="1379133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4A59CF22-40AA-BDF3-E9D0-DDB242B68840}"/>
              </a:ext>
            </a:extLst>
          </p:cNvPr>
          <p:cNvSpPr txBox="1"/>
          <p:nvPr/>
        </p:nvSpPr>
        <p:spPr>
          <a:xfrm>
            <a:off x="5909032" y="1779662"/>
            <a:ext cx="2982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固定位置编码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Positional Encoding）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0874BCB4-8CD5-6864-8E3E-767F5187B0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497" y="3062673"/>
            <a:ext cx="2962226" cy="99332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C88F3DF-17A7-CE68-D0A1-77EF166B96E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901" y="3223164"/>
            <a:ext cx="3602980" cy="45235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23AF6AE-B809-8027-008F-577C9B9F853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216" y="3197262"/>
            <a:ext cx="3148710" cy="394454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53C9D1D-0BCC-8053-7E22-925FA3D5CD69}"/>
              </a:ext>
            </a:extLst>
          </p:cNvPr>
          <p:cNvSpPr txBox="1"/>
          <p:nvPr/>
        </p:nvSpPr>
        <p:spPr>
          <a:xfrm>
            <a:off x="4167815" y="4666609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此外还包括相对位置编码等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965A21A8-BE64-AE2D-FD1D-17216E55BA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112" y="1472463"/>
            <a:ext cx="3276634" cy="33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4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1" grpId="0"/>
      <p:bldP spid="23" grpId="0"/>
      <p:bldP spid="29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2284F-6AE7-770B-1B3D-1237DF67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5BAFA6-757A-C449-907F-C7EDEB4DCB9D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Self-Attention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E6CEB0-A0C9-22B0-06F8-4616CEF494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3" y="900463"/>
            <a:ext cx="5292533" cy="38678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8EE3B8D-A134-EE1D-8101-6C62D019D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440702"/>
            <a:ext cx="3542512" cy="5762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3AFCBD-488C-594A-F6B0-A4EBA646BA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076996"/>
            <a:ext cx="3835585" cy="253074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025149F-C859-A16B-6411-4507330CB74E}"/>
              </a:ext>
            </a:extLst>
          </p:cNvPr>
          <p:cNvSpPr/>
          <p:nvPr/>
        </p:nvSpPr>
        <p:spPr>
          <a:xfrm>
            <a:off x="597440" y="1635645"/>
            <a:ext cx="2534400" cy="1440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0E0E0-0C6F-41D1-2B5C-2AFC1CD386D6}"/>
              </a:ext>
            </a:extLst>
          </p:cNvPr>
          <p:cNvSpPr/>
          <p:nvPr/>
        </p:nvSpPr>
        <p:spPr>
          <a:xfrm>
            <a:off x="597440" y="1908932"/>
            <a:ext cx="3758536" cy="3027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27DB7C-ADA6-0895-E116-0A407BBAB44B}"/>
              </a:ext>
            </a:extLst>
          </p:cNvPr>
          <p:cNvSpPr/>
          <p:nvPr/>
        </p:nvSpPr>
        <p:spPr>
          <a:xfrm>
            <a:off x="621229" y="3187255"/>
            <a:ext cx="2510611" cy="3027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03DDD7-8AA6-6B17-F142-647EDB2AFC35}"/>
              </a:ext>
            </a:extLst>
          </p:cNvPr>
          <p:cNvSpPr txBox="1"/>
          <p:nvPr/>
        </p:nvSpPr>
        <p:spPr>
          <a:xfrm>
            <a:off x="3203848" y="3126551"/>
            <a:ext cx="1872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/>
              <a:t>例如</a:t>
            </a:r>
            <a:r>
              <a:rPr lang="en" altLang="zh-CN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Look-Ahead Mask </a:t>
            </a:r>
            <a:r>
              <a:rPr lang="zh-CN" altLang="en-US" sz="11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屏蔽掉所有未来的 </a:t>
            </a:r>
            <a:r>
              <a:rPr lang="en" altLang="zh-CN" sz="11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endParaRPr kumimoji="1" lang="zh-CN" altLang="en-US" sz="1100" dirty="0"/>
          </a:p>
        </p:txBody>
      </p:sp>
      <p:sp>
        <p:nvSpPr>
          <p:cNvPr id="10" name="线形标注 1 9">
            <a:extLst>
              <a:ext uri="{FF2B5EF4-FFF2-40B4-BE49-F238E27FC236}">
                <a16:creationId xmlns:a16="http://schemas.microsoft.com/office/drawing/2014/main" id="{56E3D343-A88E-56E1-E3E3-5C34CD5B4EF1}"/>
              </a:ext>
            </a:extLst>
          </p:cNvPr>
          <p:cNvSpPr/>
          <p:nvPr/>
        </p:nvSpPr>
        <p:spPr>
          <a:xfrm>
            <a:off x="7812360" y="1707654"/>
            <a:ext cx="504056" cy="309296"/>
          </a:xfrm>
          <a:prstGeom prst="borderCallout1">
            <a:avLst>
              <a:gd name="adj1" fmla="val 18750"/>
              <a:gd name="adj2" fmla="val -8333"/>
              <a:gd name="adj3" fmla="val 2245"/>
              <a:gd name="adj4" fmla="val -91843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F25531-095B-E868-BC9A-6C3D24B5C9B6}"/>
              </a:ext>
            </a:extLst>
          </p:cNvPr>
          <p:cNvSpPr txBox="1"/>
          <p:nvPr/>
        </p:nvSpPr>
        <p:spPr>
          <a:xfrm>
            <a:off x="5908464" y="4667785"/>
            <a:ext cx="1732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/>
              <a:t>Layernorm</a:t>
            </a:r>
            <a:r>
              <a:rPr kumimoji="1" lang="zh-CN" altLang="en-US" sz="1600" dirty="0"/>
              <a:t>和</a:t>
            </a:r>
            <a:r>
              <a:rPr kumimoji="1" lang="en-US" altLang="zh-CN" sz="1600" dirty="0"/>
              <a:t>GELU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9072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CC62-EAE5-42A4-68B9-6924C855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388FFF-C70A-1C5F-F4CA-D860FA55EEC7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Cross-Attention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5A1563-7DF4-CAD2-9BEE-FB3479867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628" y="1042122"/>
            <a:ext cx="6696744" cy="39064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93223C0-F68F-06FE-2269-93E34D9AF4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981" y="1059582"/>
            <a:ext cx="4737100" cy="8001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BAE4E99-1898-B780-1ACE-ED2BA0B10B8B}"/>
              </a:ext>
            </a:extLst>
          </p:cNvPr>
          <p:cNvSpPr/>
          <p:nvPr/>
        </p:nvSpPr>
        <p:spPr>
          <a:xfrm>
            <a:off x="7843172" y="1060712"/>
            <a:ext cx="324036" cy="360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BBDE53-7F7D-C4AA-29FB-3003E8F19DD4}"/>
              </a:ext>
            </a:extLst>
          </p:cNvPr>
          <p:cNvSpPr/>
          <p:nvPr/>
        </p:nvSpPr>
        <p:spPr>
          <a:xfrm>
            <a:off x="8388424" y="1275606"/>
            <a:ext cx="324036" cy="2975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D6E0F3-73E0-4A80-2931-1F444E8759F5}"/>
              </a:ext>
            </a:extLst>
          </p:cNvPr>
          <p:cNvSpPr txBox="1"/>
          <p:nvPr/>
        </p:nvSpPr>
        <p:spPr>
          <a:xfrm>
            <a:off x="4499992" y="2056712"/>
            <a:ext cx="457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1400" i="1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kumimoji="1"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条件输入</a:t>
            </a:r>
            <a:r>
              <a:rPr kumimoji="1" lang="en-US" altLang="zh-CN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kumimoji="1" lang="en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self.to_k</a:t>
            </a:r>
            <a:r>
              <a:rPr kumimoji="1" lang="en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r>
              <a:rPr kumimoji="1" lang="en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(dim, </a:t>
            </a:r>
            <a:r>
              <a:rPr kumimoji="1" lang="en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inner_dim</a:t>
            </a:r>
            <a:r>
              <a:rPr kumimoji="1" lang="en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bias=False)</a:t>
            </a:r>
            <a:r>
              <a:rPr kumimoji="1" lang="zh-CN" altLang="e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self.to_v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之后的结果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929D4D-9A98-6C9B-D668-CEE51FA69286}"/>
              </a:ext>
            </a:extLst>
          </p:cNvPr>
          <p:cNvSpPr/>
          <p:nvPr/>
        </p:nvSpPr>
        <p:spPr>
          <a:xfrm>
            <a:off x="1223628" y="1039359"/>
            <a:ext cx="2124236" cy="2362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046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F8EE5-7E33-088C-5B89-171997066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A77DC7-327F-1C47-B1B6-58846F441F3D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VQVAE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的关系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8D41FC8-1FA8-2CE3-6697-527B0C96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9E6E61-F2EE-B710-6C37-82A4FC340501}"/>
              </a:ext>
            </a:extLst>
          </p:cNvPr>
          <p:cNvSpPr txBox="1"/>
          <p:nvPr/>
        </p:nvSpPr>
        <p:spPr>
          <a:xfrm>
            <a:off x="393903" y="1068365"/>
            <a:ext cx="828092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VQVAE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将非语言模态（如图像）转化为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可处理的离散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则通过其强大的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序列建模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能力，处理这些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跨模态数据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，实现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多模态理解和生成任务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两者的结合推动了多模态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系统的发展，为统一多种模态的处理方式奠定了基础。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333530-FE11-E0AD-E913-5F995402658B}"/>
              </a:ext>
            </a:extLst>
          </p:cNvPr>
          <p:cNvSpPr txBox="1"/>
          <p:nvPr/>
        </p:nvSpPr>
        <p:spPr>
          <a:xfrm>
            <a:off x="393903" y="2608770"/>
            <a:ext cx="8280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什么是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？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" altLang="zh-CN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</a:t>
            </a:r>
            <a:r>
              <a:rPr lang="en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是模型理解和处理数据的基本单元，无论是文本、图像还是音频。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NLP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领域，表示文本中的单词或子词（文本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在图像处理领域，表示图像的离散化表示（视觉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在音频处理领域，表示音频的离散化表示（音频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325682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1E56-160D-ACCD-3A30-FCA9C117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7790B1-BCFB-9724-DB2C-3E71453A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9A6506-F825-60F4-430C-F8457E328606}"/>
              </a:ext>
            </a:extLst>
          </p:cNvPr>
          <p:cNvSpPr txBox="1">
            <a:spLocks noRot="1"/>
          </p:cNvSpPr>
          <p:nvPr/>
        </p:nvSpPr>
        <p:spPr>
          <a:xfrm>
            <a:off x="2555776" y="1059582"/>
            <a:ext cx="4824536" cy="3287264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数学建模算法：半二次分裂算法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381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D381-04EE-C249-5AC4-6B7D470E2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AA9A4B-6473-1E75-D33D-FB598222086A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概述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D2D10A-5B6C-2FF0-8454-052147658757}"/>
              </a:ext>
            </a:extLst>
          </p:cNvPr>
          <p:cNvSpPr txBox="1"/>
          <p:nvPr/>
        </p:nvSpPr>
        <p:spPr>
          <a:xfrm>
            <a:off x="395536" y="1054543"/>
            <a:ext cx="8352928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半二次分裂算法（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Half-Quadratic Splitting, HQS</a:t>
            </a:r>
            <a:r>
              <a:rPr lang="zh-CN" alt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是一种优化方法，用于求解具有复杂正则化项或非凸项的优化问题。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它的核心思想是通过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引入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辅助变量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复杂的目标函数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分裂为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两个简单的子问题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，其中一个涉及二次项，从而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降低直接优化的难度。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6F75E3-2E2A-D661-E187-9DA32074B6C9}"/>
              </a:ext>
            </a:extLst>
          </p:cNvPr>
          <p:cNvSpPr txBox="1"/>
          <p:nvPr/>
        </p:nvSpPr>
        <p:spPr>
          <a:xfrm>
            <a:off x="395536" y="2859782"/>
            <a:ext cx="83529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半二次分裂算法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因其对复杂正则化问题的分解能力和灵活性，广泛应用于以下场景：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图像处理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：图像去噪、去模糊、超分辨率。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稀疏信号恢复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：压缩感知、稀疏编码。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医学成像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CT/MRI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重建。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机器学习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回归、稀疏神经网络</a:t>
            </a:r>
          </a:p>
        </p:txBody>
      </p:sp>
    </p:spTree>
    <p:extLst>
      <p:ext uri="{BB962C8B-B14F-4D97-AF65-F5344CB8AC3E}">
        <p14:creationId xmlns:p14="http://schemas.microsoft.com/office/powerpoint/2010/main" val="261712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54080-173A-E22E-A479-6CC58DA0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8B5EBA-7C48-EBD6-781A-3DBF43ADC57A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应用场景举例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DE5549-AF93-9376-A187-1D7123723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855" y="1290598"/>
            <a:ext cx="2673865" cy="62463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6BAEB8-84DC-FE60-1D58-82BE9B4C5261}"/>
              </a:ext>
            </a:extLst>
          </p:cNvPr>
          <p:cNvSpPr txBox="1"/>
          <p:nvPr/>
        </p:nvSpPr>
        <p:spPr>
          <a:xfrm>
            <a:off x="419055" y="1415271"/>
            <a:ext cx="2595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图像去模糊：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D6DA48-B210-8396-9785-3A20FE72D6A6}"/>
              </a:ext>
            </a:extLst>
          </p:cNvPr>
          <p:cNvSpPr txBox="1"/>
          <p:nvPr/>
        </p:nvSpPr>
        <p:spPr>
          <a:xfrm>
            <a:off x="419055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压缩感知：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4F1EC90-FFA1-C239-43F4-764EC5D32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062" y="2153438"/>
            <a:ext cx="2486962" cy="62463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1186D53-0F72-32CB-4954-AA55E613BC37}"/>
              </a:ext>
            </a:extLst>
          </p:cNvPr>
          <p:cNvSpPr txBox="1"/>
          <p:nvPr/>
        </p:nvSpPr>
        <p:spPr>
          <a:xfrm>
            <a:off x="419055" y="3257223"/>
            <a:ext cx="1416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重建：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AEC2B53-0CB1-2259-77FD-F2DD682E86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323" y="3092639"/>
            <a:ext cx="2510701" cy="64227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1F98760-0FDE-0DB7-0009-AC32F9BC9F9A}"/>
              </a:ext>
            </a:extLst>
          </p:cNvPr>
          <p:cNvSpPr txBox="1"/>
          <p:nvPr/>
        </p:nvSpPr>
        <p:spPr>
          <a:xfrm>
            <a:off x="5217783" y="3118723"/>
            <a:ext cx="3676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从欠采样的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空间数据重建高质量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77A727-544D-B917-1B06-DEBD28CC426D}"/>
              </a:ext>
            </a:extLst>
          </p:cNvPr>
          <p:cNvSpPr txBox="1"/>
          <p:nvPr/>
        </p:nvSpPr>
        <p:spPr>
          <a:xfrm>
            <a:off x="419055" y="4187641"/>
            <a:ext cx="1416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回归：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50A0826-CAC3-9D78-0C80-57ACBBD476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464" y="4066508"/>
            <a:ext cx="2558589" cy="62463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A3F0C1D4-5801-25C8-BEF5-8FBF9D1ED932}"/>
              </a:ext>
            </a:extLst>
          </p:cNvPr>
          <p:cNvSpPr txBox="1"/>
          <p:nvPr/>
        </p:nvSpPr>
        <p:spPr>
          <a:xfrm>
            <a:off x="5259821" y="4194158"/>
            <a:ext cx="3465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在回归任务中选择稀疏特征。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D21ABE-1B9B-EDB2-BC8E-72BC043C2D59}"/>
              </a:ext>
            </a:extLst>
          </p:cNvPr>
          <p:cNvSpPr txBox="1"/>
          <p:nvPr/>
        </p:nvSpPr>
        <p:spPr>
          <a:xfrm>
            <a:off x="5235371" y="2257840"/>
            <a:ext cx="3153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从少量的测量值中重建信号。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851BDF3-ABFA-69D8-FBE1-BC5F5B7DE864}"/>
              </a:ext>
            </a:extLst>
          </p:cNvPr>
          <p:cNvSpPr txBox="1"/>
          <p:nvPr/>
        </p:nvSpPr>
        <p:spPr>
          <a:xfrm>
            <a:off x="5259821" y="1458067"/>
            <a:ext cx="3272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从模糊图像中还原清晰图像。</a:t>
            </a:r>
          </a:p>
        </p:txBody>
      </p:sp>
    </p:spTree>
    <p:extLst>
      <p:ext uri="{BB962C8B-B14F-4D97-AF65-F5344CB8AC3E}">
        <p14:creationId xmlns:p14="http://schemas.microsoft.com/office/powerpoint/2010/main" val="130679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19" grpId="0"/>
      <p:bldP spid="23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5E174-F4FA-C68B-B177-2E8C083AC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7D4C76-B24F-7302-16D5-9A275089F547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）问题形式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29AF43-8FD1-6C61-8EDE-2560E85BE042}"/>
              </a:ext>
            </a:extLst>
          </p:cNvPr>
          <p:cNvSpPr txBox="1"/>
          <p:nvPr/>
        </p:nvSpPr>
        <p:spPr>
          <a:xfrm>
            <a:off x="395536" y="12756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HQS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通常用于求解如下形式的优化问题：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38428F-CA5C-3CD5-8846-5A11D8B62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0" y="1800775"/>
            <a:ext cx="1778000" cy="4826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C7FFC6E-EBEA-F288-74AA-03D040AA03AC}"/>
              </a:ext>
            </a:extLst>
          </p:cNvPr>
          <p:cNvSpPr txBox="1"/>
          <p:nvPr/>
        </p:nvSpPr>
        <p:spPr>
          <a:xfrm>
            <a:off x="395536" y="2439213"/>
            <a:ext cx="6408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凸函数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（例如数据拟合项：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1/2∥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∥</a:t>
            </a:r>
            <a:r>
              <a:rPr lang="en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正则化项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（例如稀疏正则化 ∥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∥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或其他先验）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380F7D-ED1D-6781-960D-7F57D4E9EA1D}"/>
              </a:ext>
            </a:extLst>
          </p:cNvPr>
          <p:cNvSpPr txBox="1"/>
          <p:nvPr/>
        </p:nvSpPr>
        <p:spPr>
          <a:xfrm>
            <a:off x="395536" y="3627359"/>
            <a:ext cx="748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直接求解可能较为复杂，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HQS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通过引入辅助变量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将问题分解为两部分。</a:t>
            </a:r>
          </a:p>
        </p:txBody>
      </p:sp>
    </p:spTree>
    <p:extLst>
      <p:ext uri="{BB962C8B-B14F-4D97-AF65-F5344CB8AC3E}">
        <p14:creationId xmlns:p14="http://schemas.microsoft.com/office/powerpoint/2010/main" val="326653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E41A5-68F4-D3C9-6408-843FBEE8A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E24FFB-BDFE-8A96-4824-1345216955BE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）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引入辅助变量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F808AD-1823-D15D-78EC-C5571F86FA9A}"/>
              </a:ext>
            </a:extLst>
          </p:cNvPr>
          <p:cNvSpPr txBox="1"/>
          <p:nvPr/>
        </p:nvSpPr>
        <p:spPr>
          <a:xfrm>
            <a:off x="611560" y="13624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通过引入辅助变量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将问题转化为：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7CF1180-DAE4-C308-4D25-5EBFC8049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9598" y="1932398"/>
            <a:ext cx="2776851" cy="46280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44B141F-4249-762C-561E-335B6EA11774}"/>
              </a:ext>
            </a:extLst>
          </p:cNvPr>
          <p:cNvSpPr txBox="1"/>
          <p:nvPr/>
        </p:nvSpPr>
        <p:spPr>
          <a:xfrm>
            <a:off x="611560" y="2598448"/>
            <a:ext cx="640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将约束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转化为二次惩罚项，得到增广目标函数：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3857E29-7830-42CD-D7D1-65242933E816}"/>
              </a:ext>
            </a:extLst>
          </p:cNvPr>
          <p:cNvSpPr txBox="1"/>
          <p:nvPr/>
        </p:nvSpPr>
        <p:spPr>
          <a:xfrm>
            <a:off x="611560" y="3786594"/>
            <a:ext cx="748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μ&gt;0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是惩罚参数，用于控制二次项的强度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rgbClr val="C00000"/>
                </a:solidFill>
              </a:rPr>
              <a:t>当</a:t>
            </a:r>
            <a:r>
              <a:rPr lang="el-GR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zh-CN" altLang="el-G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足够大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x≈z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B5E002-FB42-82C8-F93F-4CEB3A797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873" y="3116837"/>
            <a:ext cx="39243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6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15C4-1550-5446-D869-D02983AC0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A1DF81-4AAF-32FC-655B-E116575E0DCD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3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）交替迭代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优化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F89B44-6A56-9055-E588-24722E0F140E}"/>
              </a:ext>
            </a:extLst>
          </p:cNvPr>
          <p:cNvSpPr txBox="1"/>
          <p:nvPr/>
        </p:nvSpPr>
        <p:spPr>
          <a:xfrm>
            <a:off x="395536" y="1033415"/>
            <a:ext cx="6048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HQS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通过交替优化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来逼近问题的最优解。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1FB861-3E3D-7EF2-0A2E-D3667915C396}"/>
              </a:ext>
            </a:extLst>
          </p:cNvPr>
          <p:cNvSpPr txBox="1"/>
          <p:nvPr/>
        </p:nvSpPr>
        <p:spPr>
          <a:xfrm>
            <a:off x="251520" y="1563638"/>
            <a:ext cx="640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）固定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，优化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3FF729-BC28-91C1-F2B4-ED4D9DB61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36" y="1986017"/>
            <a:ext cx="3835400" cy="533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9FD1297-62C1-A6BB-BB77-CDCB59E4FF1B}"/>
              </a:ext>
            </a:extLst>
          </p:cNvPr>
          <p:cNvSpPr txBox="1"/>
          <p:nvPr/>
        </p:nvSpPr>
        <p:spPr>
          <a:xfrm>
            <a:off x="827584" y="2624084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这是标准的二次优化问题，通常可以通过闭式解或者梯度下降法快速求解。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CDE1CB-8853-B7C8-58C5-20C8D7F08EB6}"/>
              </a:ext>
            </a:extLst>
          </p:cNvPr>
          <p:cNvSpPr txBox="1"/>
          <p:nvPr/>
        </p:nvSpPr>
        <p:spPr>
          <a:xfrm>
            <a:off x="255041" y="3137721"/>
            <a:ext cx="640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）固定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，优化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ABEA017-E8A7-18CB-124E-B97295BC0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386" y="3661196"/>
            <a:ext cx="3975100" cy="6223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DD0202E-0180-2336-B984-EAD32C0B8AD0}"/>
              </a:ext>
            </a:extLst>
          </p:cNvPr>
          <p:cNvSpPr txBox="1"/>
          <p:nvPr/>
        </p:nvSpPr>
        <p:spPr>
          <a:xfrm>
            <a:off x="395536" y="4437639"/>
            <a:ext cx="4536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交替更新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直到满足收敛条件。</a:t>
            </a:r>
          </a:p>
        </p:txBody>
      </p:sp>
    </p:spTree>
    <p:extLst>
      <p:ext uri="{BB962C8B-B14F-4D97-AF65-F5344CB8AC3E}">
        <p14:creationId xmlns:p14="http://schemas.microsoft.com/office/powerpoint/2010/main" val="20738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  <p:bldP spid="8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57D76-F6B2-2AC4-CA6F-F3AD8CCA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3EA2C4-B257-2033-EC6B-0C6EC9290FDB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0FE0DD-C0A4-3494-5C02-CBB612EA93DC}"/>
              </a:ext>
            </a:extLst>
          </p:cNvPr>
          <p:cNvSpPr txBox="1"/>
          <p:nvPr/>
        </p:nvSpPr>
        <p:spPr>
          <a:xfrm>
            <a:off x="2027845" y="916856"/>
            <a:ext cx="106631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Many-to-one</a:t>
            </a:r>
          </a:p>
          <a:p>
            <a:pPr algn="ctr">
              <a:spcBef>
                <a:spcPts val="600"/>
              </a:spcBef>
            </a:pPr>
            <a:r>
              <a:rPr lang="zh-CN" altLang="en-US" sz="1200" b="1" dirty="0">
                <a:solidFill>
                  <a:srgbClr val="A1313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多对一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EE3365-C2F9-FC52-43CD-1E98EC29BA4A}"/>
              </a:ext>
            </a:extLst>
          </p:cNvPr>
          <p:cNvSpPr txBox="1"/>
          <p:nvPr/>
        </p:nvSpPr>
        <p:spPr>
          <a:xfrm>
            <a:off x="6018446" y="913885"/>
            <a:ext cx="105670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 i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US" altLang="zh-CN" sz="1200" i="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One-to-many</a:t>
            </a:r>
          </a:p>
          <a:p>
            <a:pPr algn="ctr">
              <a:spcBef>
                <a:spcPts val="600"/>
              </a:spcBef>
            </a:pPr>
            <a:r>
              <a:rPr lang="zh-CN" altLang="en-US" sz="1200" i="0" dirty="0">
                <a:solidFill>
                  <a:srgbClr val="A1313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一对多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D83C40-C254-9C24-174B-314353735E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785" y="1801850"/>
            <a:ext cx="1667119" cy="220026"/>
          </a:xfrm>
          <a:prstGeom prst="rect">
            <a:avLst/>
          </a:prstGeom>
        </p:spPr>
      </p:pic>
      <p:cxnSp>
        <p:nvCxnSpPr>
          <p:cNvPr id="7" name="直接箭头连接符 7">
            <a:extLst>
              <a:ext uri="{FF2B5EF4-FFF2-40B4-BE49-F238E27FC236}">
                <a16:creationId xmlns:a16="http://schemas.microsoft.com/office/drawing/2014/main" id="{E83A0DF4-AC62-6CDE-45C8-994A22AB5AF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089081" y="2061291"/>
            <a:ext cx="51876" cy="313776"/>
          </a:xfrm>
          <a:prstGeom prst="straightConnector1">
            <a:avLst/>
          </a:prstGeom>
          <a:ln>
            <a:solidFill>
              <a:srgbClr val="901F2A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64A0C7B-942C-64E5-DBEB-2BE968D7B34A}"/>
              </a:ext>
            </a:extLst>
          </p:cNvPr>
          <p:cNvSpPr txBox="1"/>
          <p:nvPr/>
        </p:nvSpPr>
        <p:spPr>
          <a:xfrm>
            <a:off x="1804387" y="2375067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Many</a:t>
            </a:r>
            <a:endParaRPr lang="zh-CN" altLang="en-US" sz="12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9">
            <a:extLst>
              <a:ext uri="{FF2B5EF4-FFF2-40B4-BE49-F238E27FC236}">
                <a16:creationId xmlns:a16="http://schemas.microsoft.com/office/drawing/2014/main" id="{F9F2469A-8377-AF06-9BD5-5C5172D7BE26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589203" y="2022454"/>
            <a:ext cx="225150" cy="352613"/>
          </a:xfrm>
          <a:prstGeom prst="straightConnector1">
            <a:avLst/>
          </a:prstGeom>
          <a:ln>
            <a:solidFill>
              <a:srgbClr val="901F2A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DA8DA38-AAED-D748-F995-43BBB71992F9}"/>
              </a:ext>
            </a:extLst>
          </p:cNvPr>
          <p:cNvSpPr txBox="1"/>
          <p:nvPr/>
        </p:nvSpPr>
        <p:spPr>
          <a:xfrm>
            <a:off x="2569571" y="2375067"/>
            <a:ext cx="4895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One</a:t>
            </a:r>
            <a:endParaRPr lang="zh-CN" altLang="en-US" sz="12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E07486D-3588-9097-7124-A2592B7537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793" y="1993019"/>
            <a:ext cx="158054" cy="16498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11AC159-0AB7-C6FE-9A93-DAA1EB97EE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004" y="1759576"/>
            <a:ext cx="1184332" cy="23344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A31DE00-500A-FE06-AFA7-99913705DB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004" y="2126595"/>
            <a:ext cx="1184332" cy="233443"/>
          </a:xfrm>
          <a:prstGeom prst="rect">
            <a:avLst/>
          </a:prstGeom>
          <a:ln>
            <a:noFill/>
            <a:tailEnd type="stealth" w="med" len="med"/>
          </a:ln>
        </p:spPr>
      </p:pic>
      <p:cxnSp>
        <p:nvCxnSpPr>
          <p:cNvPr id="16" name="直接箭头连接符 14">
            <a:extLst>
              <a:ext uri="{FF2B5EF4-FFF2-40B4-BE49-F238E27FC236}">
                <a16:creationId xmlns:a16="http://schemas.microsoft.com/office/drawing/2014/main" id="{ECA0955B-DE87-B7CA-BED6-AB7EDC8E0299}"/>
              </a:ext>
            </a:extLst>
          </p:cNvPr>
          <p:cNvCxnSpPr>
            <a:stCxn id="13" idx="1"/>
          </p:cNvCxnSpPr>
          <p:nvPr/>
        </p:nvCxnSpPr>
        <p:spPr>
          <a:xfrm flipH="1">
            <a:off x="6053068" y="1876298"/>
            <a:ext cx="358936" cy="116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5">
            <a:extLst>
              <a:ext uri="{FF2B5EF4-FFF2-40B4-BE49-F238E27FC236}">
                <a16:creationId xmlns:a16="http://schemas.microsoft.com/office/drawing/2014/main" id="{11A14102-037F-473C-B027-1E75546F16E6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6053068" y="2075511"/>
            <a:ext cx="358936" cy="167806"/>
          </a:xfrm>
          <a:prstGeom prst="straightConnector1">
            <a:avLst/>
          </a:prstGeom>
          <a:ln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6">
            <a:extLst>
              <a:ext uri="{FF2B5EF4-FFF2-40B4-BE49-F238E27FC236}">
                <a16:creationId xmlns:a16="http://schemas.microsoft.com/office/drawing/2014/main" id="{DF6C84B6-2D67-0991-9A0F-A542852E5D85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5726654" y="2180705"/>
            <a:ext cx="147794" cy="266815"/>
          </a:xfrm>
          <a:prstGeom prst="straightConnector1">
            <a:avLst/>
          </a:prstGeom>
          <a:ln>
            <a:solidFill>
              <a:srgbClr val="901F2A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CAA3CF7-ABE8-97EE-8D79-CF33A5EC1368}"/>
              </a:ext>
            </a:extLst>
          </p:cNvPr>
          <p:cNvSpPr txBox="1"/>
          <p:nvPr/>
        </p:nvSpPr>
        <p:spPr>
          <a:xfrm>
            <a:off x="5497264" y="2447520"/>
            <a:ext cx="458780" cy="276999"/>
          </a:xfrm>
          <a:prstGeom prst="rect">
            <a:avLst/>
          </a:prstGeom>
          <a:ln>
            <a:noFill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One</a:t>
            </a:r>
            <a:endParaRPr lang="zh-CN" altLang="en-US" sz="12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18">
            <a:extLst>
              <a:ext uri="{FF2B5EF4-FFF2-40B4-BE49-F238E27FC236}">
                <a16:creationId xmlns:a16="http://schemas.microsoft.com/office/drawing/2014/main" id="{65BFAAAE-9B62-4742-E8D6-6C5E21D8B66B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516216" y="2360038"/>
            <a:ext cx="51700" cy="203819"/>
          </a:xfrm>
          <a:prstGeom prst="straightConnector1">
            <a:avLst/>
          </a:prstGeom>
          <a:ln>
            <a:solidFill>
              <a:srgbClr val="901F2A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282755A-7D15-8DFE-A323-24372A06CEE6}"/>
              </a:ext>
            </a:extLst>
          </p:cNvPr>
          <p:cNvSpPr txBox="1"/>
          <p:nvPr/>
        </p:nvSpPr>
        <p:spPr>
          <a:xfrm>
            <a:off x="6277548" y="2563857"/>
            <a:ext cx="580735" cy="276999"/>
          </a:xfrm>
          <a:prstGeom prst="rect">
            <a:avLst/>
          </a:prstGeom>
          <a:ln>
            <a:noFill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Many</a:t>
            </a:r>
            <a:endParaRPr lang="zh-CN" altLang="en-US" sz="12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57A4F12-4A13-0D55-6DC0-D52257FC93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360" y="3703915"/>
            <a:ext cx="478904" cy="48697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CC1D98A-AD9B-47B8-7054-3EAB4309B3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037" y="2913388"/>
            <a:ext cx="808493" cy="7905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C8723B6-C1A5-0FED-B0BF-B1A642A713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976" y="3515406"/>
            <a:ext cx="788264" cy="78390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1759307-3197-018B-8357-6144275963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342" y="4064725"/>
            <a:ext cx="808493" cy="80400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8856FD5-5CA6-D47A-0F53-2D20B2E8A55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677616"/>
            <a:ext cx="452931" cy="45293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423ECA3-436A-9D33-7673-557C06AC84C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345" y="4234864"/>
            <a:ext cx="467265" cy="463725"/>
          </a:xfrm>
          <a:prstGeom prst="rect">
            <a:avLst/>
          </a:prstGeom>
          <a:ln w="25400">
            <a:noFill/>
            <a:tailEnd type="stealth" w="lg" len="lg"/>
          </a:ln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F879ADA3-4BE1-ACDE-A17F-4E4ECE2DB48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25" y="3075806"/>
            <a:ext cx="472137" cy="47566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1D7F96F-BED6-EF2D-8FB4-A08CF198EEE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051" y="3378682"/>
            <a:ext cx="1102862" cy="1088044"/>
          </a:xfrm>
          <a:prstGeom prst="rect">
            <a:avLst/>
          </a:prstGeom>
        </p:spPr>
      </p:pic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A52C83B-68F4-605F-29DD-84DC6F35DFE1}"/>
              </a:ext>
            </a:extLst>
          </p:cNvPr>
          <p:cNvCxnSpPr>
            <a:stCxn id="29" idx="3"/>
          </p:cNvCxnSpPr>
          <p:nvPr/>
        </p:nvCxnSpPr>
        <p:spPr>
          <a:xfrm>
            <a:off x="2263161" y="3313636"/>
            <a:ext cx="813368" cy="535435"/>
          </a:xfrm>
          <a:prstGeom prst="straightConnector1">
            <a:avLst/>
          </a:prstGeom>
          <a:ln w="25400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30F4272-03E1-C359-E1CB-6F178ED9FD27}"/>
              </a:ext>
            </a:extLst>
          </p:cNvPr>
          <p:cNvCxnSpPr>
            <a:stCxn id="27" idx="3"/>
          </p:cNvCxnSpPr>
          <p:nvPr/>
        </p:nvCxnSpPr>
        <p:spPr>
          <a:xfrm>
            <a:off x="1568547" y="3904082"/>
            <a:ext cx="1478232" cy="18623"/>
          </a:xfrm>
          <a:prstGeom prst="straightConnector1">
            <a:avLst/>
          </a:prstGeom>
          <a:ln w="25400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77B7DAD-F390-3F37-82A3-76D113D1BF77}"/>
              </a:ext>
            </a:extLst>
          </p:cNvPr>
          <p:cNvCxnSpPr>
            <a:stCxn id="28" idx="3"/>
          </p:cNvCxnSpPr>
          <p:nvPr/>
        </p:nvCxnSpPr>
        <p:spPr>
          <a:xfrm flipV="1">
            <a:off x="2188610" y="3987751"/>
            <a:ext cx="887919" cy="478976"/>
          </a:xfrm>
          <a:prstGeom prst="straightConnector1">
            <a:avLst/>
          </a:prstGeom>
          <a:ln w="25400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C3073D8-255A-3EC4-55C7-71A72610C1C1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 flipV="1">
            <a:off x="5497264" y="3308652"/>
            <a:ext cx="956773" cy="638751"/>
          </a:xfrm>
          <a:prstGeom prst="straightConnector1">
            <a:avLst/>
          </a:prstGeom>
          <a:ln w="25400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AED9BB0-BE66-57E3-4EC6-3E47C18DDE8E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 flipV="1">
            <a:off x="5497265" y="3907360"/>
            <a:ext cx="1877712" cy="40043"/>
          </a:xfrm>
          <a:prstGeom prst="straightConnector1">
            <a:avLst/>
          </a:prstGeom>
          <a:ln w="25400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F9600EE-EB2F-7B6D-355D-D067B2DBDE3A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>
            <a:off x="5497264" y="3947403"/>
            <a:ext cx="960078" cy="519323"/>
          </a:xfrm>
          <a:prstGeom prst="straightConnector1">
            <a:avLst/>
          </a:prstGeom>
          <a:ln w="25400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ine 15">
            <a:extLst>
              <a:ext uri="{FF2B5EF4-FFF2-40B4-BE49-F238E27FC236}">
                <a16:creationId xmlns:a16="http://schemas.microsoft.com/office/drawing/2014/main" id="{CB489ADC-13A4-2217-25E9-34A22B21D7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576" y="2838686"/>
            <a:ext cx="7704856" cy="38203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Line 15">
            <a:extLst>
              <a:ext uri="{FF2B5EF4-FFF2-40B4-BE49-F238E27FC236}">
                <a16:creationId xmlns:a16="http://schemas.microsoft.com/office/drawing/2014/main" id="{7E9712E4-3A90-4D55-CA88-373E2F2794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576" y="1558362"/>
            <a:ext cx="7704856" cy="15355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Line 15">
            <a:extLst>
              <a:ext uri="{FF2B5EF4-FFF2-40B4-BE49-F238E27FC236}">
                <a16:creationId xmlns:a16="http://schemas.microsoft.com/office/drawing/2014/main" id="{CE6239DF-29D3-8DA3-3D90-9C668BFC6C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0203" y="906520"/>
            <a:ext cx="1797" cy="398023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177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F5843-4C18-9130-BD86-1F76D06A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0D2910-1BFC-0A56-490A-E2D6DB97C6BC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Plug-and-play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图像复原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7DFEFD-8979-BDBC-A417-A049CB3936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56" y="1391847"/>
            <a:ext cx="3006788" cy="409301"/>
          </a:xfrm>
          <a:prstGeom prst="rect">
            <a:avLst/>
          </a:prstGeom>
          <a:noFill/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189369-9852-2952-BD0D-7E437A2501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685" y="3402818"/>
            <a:ext cx="3318699" cy="81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7FF82D-A4B8-3505-1FAF-D759802BE931}"/>
              </a:ext>
            </a:extLst>
          </p:cNvPr>
          <p:cNvSpPr txBox="1"/>
          <p:nvPr/>
        </p:nvSpPr>
        <p:spPr>
          <a:xfrm>
            <a:off x="846102" y="4387114"/>
            <a:ext cx="3725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半二次分裂算法求解图像复原的一般步骤</a:t>
            </a:r>
            <a:endParaRPr lang="en-US" altLang="zh-CN" sz="1400" b="1" dirty="0">
              <a:solidFill>
                <a:srgbClr val="901F2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FF0484-0CB6-8BA4-E5DC-E92753CBFFF6}"/>
              </a:ext>
            </a:extLst>
          </p:cNvPr>
          <p:cNvSpPr txBox="1"/>
          <p:nvPr/>
        </p:nvSpPr>
        <p:spPr>
          <a:xfrm>
            <a:off x="323528" y="1059582"/>
            <a:ext cx="1543950" cy="30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）建立目标函数：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10FB48-AC3B-7EDF-2489-D257CE686409}"/>
              </a:ext>
            </a:extLst>
          </p:cNvPr>
          <p:cNvSpPr txBox="1"/>
          <p:nvPr/>
        </p:nvSpPr>
        <p:spPr>
          <a:xfrm>
            <a:off x="353366" y="3017581"/>
            <a:ext cx="1595276" cy="30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）交替迭代求解：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2349FF-C41E-B761-5E0D-E68F17BE7F36}"/>
              </a:ext>
            </a:extLst>
          </p:cNvPr>
          <p:cNvSpPr txBox="1"/>
          <p:nvPr/>
        </p:nvSpPr>
        <p:spPr>
          <a:xfrm>
            <a:off x="3707904" y="3847728"/>
            <a:ext cx="21876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 对应</a:t>
            </a: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高斯去噪问题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72892E-A030-C0A9-7529-DB118EF2A73E}"/>
              </a:ext>
            </a:extLst>
          </p:cNvPr>
          <p:cNvSpPr txBox="1"/>
          <p:nvPr/>
        </p:nvSpPr>
        <p:spPr>
          <a:xfrm>
            <a:off x="3707904" y="3459820"/>
            <a:ext cx="2043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 一般存在</a:t>
            </a: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解析解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5793B6-8AC9-87FB-3182-BD09F590E012}"/>
              </a:ext>
            </a:extLst>
          </p:cNvPr>
          <p:cNvSpPr txBox="1"/>
          <p:nvPr/>
        </p:nvSpPr>
        <p:spPr>
          <a:xfrm>
            <a:off x="323528" y="2150167"/>
            <a:ext cx="2537395" cy="30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）引入辅助变量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(=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x)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518EB55-32A6-F4D4-163D-B5257BDB7D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1342" y="2514425"/>
            <a:ext cx="4292899" cy="444093"/>
          </a:xfrm>
          <a:prstGeom prst="rect">
            <a:avLst/>
          </a:prstGeom>
        </p:spPr>
      </p:pic>
      <p:cxnSp>
        <p:nvCxnSpPr>
          <p:cNvPr id="14" name="直接箭头连接符 7">
            <a:extLst>
              <a:ext uri="{FF2B5EF4-FFF2-40B4-BE49-F238E27FC236}">
                <a16:creationId xmlns:a16="http://schemas.microsoft.com/office/drawing/2014/main" id="{F43D074C-BCA6-AD49-88F6-FFB70AFA4DB1}"/>
              </a:ext>
            </a:extLst>
          </p:cNvPr>
          <p:cNvCxnSpPr>
            <a:cxnSpLocks/>
          </p:cNvCxnSpPr>
          <p:nvPr/>
        </p:nvCxnSpPr>
        <p:spPr>
          <a:xfrm flipH="1">
            <a:off x="2165249" y="1685904"/>
            <a:ext cx="94292" cy="199727"/>
          </a:xfrm>
          <a:prstGeom prst="straightConnector1">
            <a:avLst/>
          </a:prstGeom>
          <a:ln w="19050">
            <a:solidFill>
              <a:srgbClr val="901F2A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71E13C1-E7EA-874C-FE67-C071FC29B041}"/>
              </a:ext>
            </a:extLst>
          </p:cNvPr>
          <p:cNvSpPr txBox="1"/>
          <p:nvPr/>
        </p:nvSpPr>
        <p:spPr>
          <a:xfrm>
            <a:off x="1695468" y="1927684"/>
            <a:ext cx="1014090" cy="284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数据保真项</a:t>
            </a:r>
            <a:endParaRPr lang="zh-CN" altLang="en-US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502806-9EC9-4EE6-86F6-15AFFE1DE4F3}"/>
              </a:ext>
            </a:extLst>
          </p:cNvPr>
          <p:cNvSpPr txBox="1"/>
          <p:nvPr/>
        </p:nvSpPr>
        <p:spPr>
          <a:xfrm>
            <a:off x="2990368" y="1927684"/>
            <a:ext cx="717536" cy="284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先验项</a:t>
            </a:r>
            <a:endParaRPr lang="zh-CN" altLang="en-US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7">
            <a:extLst>
              <a:ext uri="{FF2B5EF4-FFF2-40B4-BE49-F238E27FC236}">
                <a16:creationId xmlns:a16="http://schemas.microsoft.com/office/drawing/2014/main" id="{0CB1D0D2-66B1-063F-0B95-314CDDF94E00}"/>
              </a:ext>
            </a:extLst>
          </p:cNvPr>
          <p:cNvCxnSpPr>
            <a:cxnSpLocks/>
          </p:cNvCxnSpPr>
          <p:nvPr/>
        </p:nvCxnSpPr>
        <p:spPr>
          <a:xfrm>
            <a:off x="3299389" y="1685904"/>
            <a:ext cx="0" cy="216000"/>
          </a:xfrm>
          <a:prstGeom prst="straightConnector1">
            <a:avLst/>
          </a:prstGeom>
          <a:ln w="19050">
            <a:solidFill>
              <a:srgbClr val="901F2A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AED47CE0-FB63-3610-0CC6-70F29C81E460}"/>
              </a:ext>
            </a:extLst>
          </p:cNvPr>
          <p:cNvSpPr txBox="1"/>
          <p:nvPr/>
        </p:nvSpPr>
        <p:spPr>
          <a:xfrm>
            <a:off x="5614356" y="1059582"/>
            <a:ext cx="32063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数据保真项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约束解符合退化过程；</a:t>
            </a: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先验项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：约束解符合清晰图像的性质</a:t>
            </a:r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l-GR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参数</a:t>
            </a: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含义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l-GR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表示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的噪声水平；</a:t>
            </a:r>
            <a:r>
              <a:rPr lang="en-US" altLang="zh-CN" sz="1400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表示先验项权重，与具体任务无关，是固定的；</a:t>
            </a:r>
            <a:r>
              <a:rPr lang="en-US" altLang="zh-CN" sz="1400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应该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足够大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才能使得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近似等于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，但是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过大会导致收敛慢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，因此普遍的设置是使其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随着迭代次数单调递增</a:t>
            </a:r>
            <a:endParaRPr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4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数据保真项子问题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一般存在解析解（有显示数学表达式的精确解）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先验项子问题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从贝叶斯角度来说对应一个高斯去噪问题</a:t>
            </a:r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14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云形标注 20">
            <a:extLst>
              <a:ext uri="{FF2B5EF4-FFF2-40B4-BE49-F238E27FC236}">
                <a16:creationId xmlns:a16="http://schemas.microsoft.com/office/drawing/2014/main" id="{06CF8F59-09FC-5FD1-4C6A-5F14E0AC6489}"/>
              </a:ext>
            </a:extLst>
          </p:cNvPr>
          <p:cNvSpPr/>
          <p:nvPr/>
        </p:nvSpPr>
        <p:spPr>
          <a:xfrm>
            <a:off x="5049595" y="4390617"/>
            <a:ext cx="1653946" cy="612648"/>
          </a:xfrm>
          <a:prstGeom prst="cloudCallout">
            <a:avLst>
              <a:gd name="adj1" fmla="val -47101"/>
              <a:gd name="adj2" fmla="val -83113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用深度学习模型取代🤔？</a:t>
            </a:r>
          </a:p>
        </p:txBody>
      </p:sp>
    </p:spTree>
    <p:extLst>
      <p:ext uri="{BB962C8B-B14F-4D97-AF65-F5344CB8AC3E}">
        <p14:creationId xmlns:p14="http://schemas.microsoft.com/office/powerpoint/2010/main" val="4211069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5853F-B38F-3040-46CD-7F9270E72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8F42CE-ADE2-F359-060B-D6447EDBF317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Plug-and-play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图像复原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D7ED2A-F52A-DC2F-DE5F-ED61A9DB1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90" y="3322166"/>
            <a:ext cx="4860842" cy="12274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0814B2D-B38D-8372-1C0A-8784352BDB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466" y="1247831"/>
            <a:ext cx="3006788" cy="409301"/>
          </a:xfrm>
          <a:prstGeom prst="rect">
            <a:avLst/>
          </a:prstGeom>
          <a:noFill/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EECA16E-BD45-D6F1-9285-0555824ACC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295" y="2092891"/>
            <a:ext cx="3318699" cy="81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A3959027-E236-6D2A-369F-52BE1C15E128}"/>
              </a:ext>
            </a:extLst>
          </p:cNvPr>
          <p:cNvSpPr txBox="1"/>
          <p:nvPr/>
        </p:nvSpPr>
        <p:spPr>
          <a:xfrm>
            <a:off x="467544" y="909621"/>
            <a:ext cx="1543950" cy="30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目标函数：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1F6362-3458-2561-9D7C-E5D62ED9E2A4}"/>
              </a:ext>
            </a:extLst>
          </p:cNvPr>
          <p:cNvSpPr txBox="1"/>
          <p:nvPr/>
        </p:nvSpPr>
        <p:spPr>
          <a:xfrm>
            <a:off x="472334" y="1718686"/>
            <a:ext cx="1595276" cy="30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优化求解：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20F0D6-EE5E-2AA3-AC40-86755B76E18F}"/>
              </a:ext>
            </a:extLst>
          </p:cNvPr>
          <p:cNvSpPr txBox="1"/>
          <p:nvPr/>
        </p:nvSpPr>
        <p:spPr>
          <a:xfrm>
            <a:off x="3680514" y="2537801"/>
            <a:ext cx="21876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 对应</a:t>
            </a: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高斯去噪问题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E77187-64ED-1D9C-1F65-FF3EE09D3574}"/>
              </a:ext>
            </a:extLst>
          </p:cNvPr>
          <p:cNvSpPr txBox="1"/>
          <p:nvPr/>
        </p:nvSpPr>
        <p:spPr>
          <a:xfrm>
            <a:off x="3680514" y="2149893"/>
            <a:ext cx="2043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400" b="1" dirty="0">
              <a:solidFill>
                <a:srgbClr val="901F2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标注 24">
            <a:extLst>
              <a:ext uri="{FF2B5EF4-FFF2-40B4-BE49-F238E27FC236}">
                <a16:creationId xmlns:a16="http://schemas.microsoft.com/office/drawing/2014/main" id="{ECC351B9-D3CF-734B-EDCC-7236E512E7FB}"/>
              </a:ext>
            </a:extLst>
          </p:cNvPr>
          <p:cNvSpPr/>
          <p:nvPr/>
        </p:nvSpPr>
        <p:spPr>
          <a:xfrm>
            <a:off x="625466" y="3268292"/>
            <a:ext cx="4988890" cy="1535705"/>
          </a:xfrm>
          <a:prstGeom prst="wedgeRectCallout">
            <a:avLst>
              <a:gd name="adj1" fmla="val 4453"/>
              <a:gd name="adj2" fmla="val -80299"/>
            </a:avLst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FF8EAB-6AED-BF00-E835-1C86D56A690B}"/>
              </a:ext>
            </a:extLst>
          </p:cNvPr>
          <p:cNvSpPr txBox="1"/>
          <p:nvPr/>
        </p:nvSpPr>
        <p:spPr>
          <a:xfrm>
            <a:off x="2026096" y="4496220"/>
            <a:ext cx="21876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深度去噪模型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F8812B-47E4-485B-C0E2-523CBB25BC05}"/>
              </a:ext>
            </a:extLst>
          </p:cNvPr>
          <p:cNvSpPr txBox="1"/>
          <p:nvPr/>
        </p:nvSpPr>
        <p:spPr>
          <a:xfrm rot="1072158">
            <a:off x="3329432" y="3004836"/>
            <a:ext cx="13209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替代</a:t>
            </a:r>
            <a:r>
              <a:rPr lang="en-US" altLang="zh-CN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(b)</a:t>
            </a:r>
            <a:endParaRPr lang="zh-CN" altLang="en-US" sz="1400" b="1" dirty="0">
              <a:solidFill>
                <a:srgbClr val="901F2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3586DE9-96B3-663F-8409-FF243A537571}"/>
              </a:ext>
            </a:extLst>
          </p:cNvPr>
          <p:cNvSpPr txBox="1"/>
          <p:nvPr/>
        </p:nvSpPr>
        <p:spPr>
          <a:xfrm>
            <a:off x="5614356" y="1620545"/>
            <a:ext cx="32063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核心思想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将深度去噪模型嵌入到优化算法中求解公式（</a:t>
            </a:r>
            <a:r>
              <a:rPr lang="en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关键</a:t>
            </a:r>
            <a:r>
              <a:rPr lang="zh-CN" altLang="el-GR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参数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：数据保真项子问题：</a:t>
            </a:r>
            <a:r>
              <a:rPr lang="en-US" altLang="zh-CN" sz="1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el-GR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^2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；先验项子问题：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sqrt(</a:t>
            </a:r>
            <a:r>
              <a:rPr lang="en-US" altLang="zh-CN" sz="1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14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深度去噪网络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等价于一个函数</a:t>
            </a:r>
            <a:r>
              <a:rPr lang="en-US" altLang="zh-CN" sz="1400" b="1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z_k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= Denoiser(</a:t>
            </a:r>
            <a:r>
              <a:rPr lang="en-US" altLang="zh-CN" sz="1400" b="1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x_k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sqrt(</a:t>
            </a:r>
            <a:r>
              <a:rPr lang="en-US" altLang="zh-CN" sz="1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))</a:t>
            </a:r>
          </a:p>
          <a:p>
            <a:endParaRPr lang="zh-CN" altLang="en-US" sz="14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8FA42EB-0F0A-DAB8-66CA-5B9B1F627457}"/>
              </a:ext>
            </a:extLst>
          </p:cNvPr>
          <p:cNvSpPr txBox="1"/>
          <p:nvPr/>
        </p:nvSpPr>
        <p:spPr>
          <a:xfrm>
            <a:off x="670163" y="4550080"/>
            <a:ext cx="131123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输入：噪声图像、噪声水平</a:t>
            </a:r>
            <a:endParaRPr lang="zh-CN" altLang="en-US" sz="7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25230C-21F6-0EBA-889C-238A585D44F0}"/>
              </a:ext>
            </a:extLst>
          </p:cNvPr>
          <p:cNvSpPr txBox="1"/>
          <p:nvPr/>
        </p:nvSpPr>
        <p:spPr>
          <a:xfrm>
            <a:off x="4427963" y="4549611"/>
            <a:ext cx="1004626" cy="20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输出：去噪后的结果</a:t>
            </a:r>
            <a:endParaRPr lang="zh-CN" altLang="en-US" sz="7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352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246A0-FACA-CEB3-E4BA-78CAC0C8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CE81AB-99F7-CC53-DE09-4C667B869BA1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Plug-and-play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图像复原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FD693C-E91B-6FF7-B573-4ED72CB61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987574"/>
            <a:ext cx="7772400" cy="287375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B2DD39B-61B6-B982-7A7C-260FD26B6F41}"/>
              </a:ext>
            </a:extLst>
          </p:cNvPr>
          <p:cNvSpPr txBox="1"/>
          <p:nvPr/>
        </p:nvSpPr>
        <p:spPr>
          <a:xfrm>
            <a:off x="685800" y="3842514"/>
            <a:ext cx="4750296" cy="1020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A1313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关键问题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参数</a:t>
            </a:r>
            <a:r>
              <a:rPr lang="en-US" altLang="zh-CN" sz="1400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α_k 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1400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el-GR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^2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和参数</a:t>
            </a:r>
            <a:r>
              <a:rPr lang="en-US" altLang="zh-CN" sz="1400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β_k 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sqrt(</a:t>
            </a:r>
            <a:r>
              <a:rPr lang="en-US" altLang="zh-CN" sz="1400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的设置</a:t>
            </a:r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A1313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设置准则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先确定每次迭代中深度去噪网络的噪声水平</a:t>
            </a:r>
            <a:r>
              <a:rPr lang="en-US" altLang="zh-CN" sz="1400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β_k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设置；然后区间遍历法确定先验项参数</a:t>
            </a:r>
            <a:r>
              <a:rPr lang="en-US" altLang="zh-CN" sz="1400" dirty="0" err="1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；最后确定</a:t>
            </a:r>
            <a:r>
              <a:rPr lang="en-US" altLang="zh-CN" sz="1400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α_k</a:t>
            </a:r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43E546-4E6C-BEC4-B410-EFA27ACFC6ED}"/>
              </a:ext>
            </a:extLst>
          </p:cNvPr>
          <p:cNvSpPr/>
          <p:nvPr/>
        </p:nvSpPr>
        <p:spPr>
          <a:xfrm>
            <a:off x="3920279" y="2784491"/>
            <a:ext cx="219673" cy="288032"/>
          </a:xfrm>
          <a:prstGeom prst="rect">
            <a:avLst/>
          </a:prstGeom>
          <a:noFill/>
          <a:ln>
            <a:solidFill>
              <a:srgbClr val="90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901F2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87E59E-7C77-3DCE-DF04-C357B545602A}"/>
              </a:ext>
            </a:extLst>
          </p:cNvPr>
          <p:cNvSpPr/>
          <p:nvPr/>
        </p:nvSpPr>
        <p:spPr>
          <a:xfrm>
            <a:off x="2771801" y="3000515"/>
            <a:ext cx="219673" cy="288032"/>
          </a:xfrm>
          <a:prstGeom prst="rect">
            <a:avLst/>
          </a:prstGeom>
          <a:noFill/>
          <a:ln>
            <a:solidFill>
              <a:srgbClr val="90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901F2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E89F3A-90EF-D07D-0723-8090D0202921}"/>
              </a:ext>
            </a:extLst>
          </p:cNvPr>
          <p:cNvSpPr/>
          <p:nvPr/>
        </p:nvSpPr>
        <p:spPr>
          <a:xfrm>
            <a:off x="3635896" y="2280435"/>
            <a:ext cx="1080120" cy="400574"/>
          </a:xfrm>
          <a:prstGeom prst="rect">
            <a:avLst/>
          </a:prstGeom>
          <a:noFill/>
          <a:ln>
            <a:solidFill>
              <a:srgbClr val="90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901F2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9988937-B2D9-1C2B-50FB-A6653ADD3D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3319025"/>
            <a:ext cx="3636378" cy="112921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5C18F0A-3CA2-5884-41BE-A2F72A5BD7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349" y="3319025"/>
            <a:ext cx="1706842" cy="26669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34FAA66-EE51-459E-6673-6BE40AAD3899}"/>
              </a:ext>
            </a:extLst>
          </p:cNvPr>
          <p:cNvSpPr/>
          <p:nvPr/>
        </p:nvSpPr>
        <p:spPr>
          <a:xfrm>
            <a:off x="5436096" y="4096540"/>
            <a:ext cx="3636378" cy="367608"/>
          </a:xfrm>
          <a:prstGeom prst="rect">
            <a:avLst/>
          </a:prstGeom>
          <a:noFill/>
          <a:ln>
            <a:solidFill>
              <a:srgbClr val="901F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901F2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81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C9B9-36AF-6F81-CCB1-0BADC055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796EA7D-F36D-F414-536D-573FBE867988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Plug-and-play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图像复原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D9FB55-44A2-9FF6-E02F-6E7A986EC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46" y="2170150"/>
            <a:ext cx="3456384" cy="24555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6B06285-47CD-CAA9-FE76-6E16137BF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7608" y="860535"/>
            <a:ext cx="6147793" cy="12772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6031B9-5241-34B7-DA4D-B0A7B427B6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970" y="2243361"/>
            <a:ext cx="3456384" cy="230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36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EE62-D094-2383-1ED9-E3CE4D84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581D9A-6DCA-C867-D3F8-90CCF0035581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Plug-and-play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图像复原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7B53C8-BE11-8735-22B8-D71B259B4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917451"/>
            <a:ext cx="6421710" cy="184319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645A774-17FA-FF8E-B0C6-8E2DE00C2E07}"/>
              </a:ext>
            </a:extLst>
          </p:cNvPr>
          <p:cNvSpPr txBox="1"/>
          <p:nvPr/>
        </p:nvSpPr>
        <p:spPr>
          <a:xfrm>
            <a:off x="7439484" y="1715999"/>
            <a:ext cx="1380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倍超分辨率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97F0CE-91AE-24D1-B5DB-74D2E83AE1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932995"/>
            <a:ext cx="6456259" cy="18431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2A8AB5C-9565-867C-6261-784FD909883B}"/>
              </a:ext>
            </a:extLst>
          </p:cNvPr>
          <p:cNvSpPr txBox="1"/>
          <p:nvPr/>
        </p:nvSpPr>
        <p:spPr>
          <a:xfrm>
            <a:off x="7617238" y="3716090"/>
            <a:ext cx="936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图像补全</a:t>
            </a:r>
          </a:p>
        </p:txBody>
      </p:sp>
    </p:spTree>
    <p:extLst>
      <p:ext uri="{BB962C8B-B14F-4D97-AF65-F5344CB8AC3E}">
        <p14:creationId xmlns:p14="http://schemas.microsoft.com/office/powerpoint/2010/main" val="1257430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AE5A-BC2C-B934-3875-1D778DD6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7F0A27-FA37-8824-0A18-B23399D79C97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Unfolding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图像复原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56E18A-62D2-972F-71E2-BE6F6D11F3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466" y="1247831"/>
            <a:ext cx="3006788" cy="409301"/>
          </a:xfrm>
          <a:prstGeom prst="rect">
            <a:avLst/>
          </a:prstGeom>
          <a:noFill/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28418E-7ABC-B58D-F9EB-F285863325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295" y="2092891"/>
            <a:ext cx="3318699" cy="81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1DA7347-E146-C67C-1C95-523F763889D2}"/>
              </a:ext>
            </a:extLst>
          </p:cNvPr>
          <p:cNvSpPr txBox="1"/>
          <p:nvPr/>
        </p:nvSpPr>
        <p:spPr>
          <a:xfrm>
            <a:off x="467544" y="909621"/>
            <a:ext cx="1543950" cy="30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目标函数：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6F1981-D0CE-C8F1-C0A1-D0CEDFE92399}"/>
              </a:ext>
            </a:extLst>
          </p:cNvPr>
          <p:cNvSpPr txBox="1"/>
          <p:nvPr/>
        </p:nvSpPr>
        <p:spPr>
          <a:xfrm>
            <a:off x="472334" y="1718686"/>
            <a:ext cx="1595276" cy="30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优化求解：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2009AB-AC58-9652-FFE8-A9E8C95ACD02}"/>
              </a:ext>
            </a:extLst>
          </p:cNvPr>
          <p:cNvSpPr txBox="1"/>
          <p:nvPr/>
        </p:nvSpPr>
        <p:spPr>
          <a:xfrm>
            <a:off x="3680514" y="2537801"/>
            <a:ext cx="21876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 对应</a:t>
            </a: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高斯去噪问题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725817-4C1C-A648-8765-717347F1299C}"/>
              </a:ext>
            </a:extLst>
          </p:cNvPr>
          <p:cNvSpPr txBox="1"/>
          <p:nvPr/>
        </p:nvSpPr>
        <p:spPr>
          <a:xfrm>
            <a:off x="3680514" y="2149893"/>
            <a:ext cx="2043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400" b="1" dirty="0">
              <a:solidFill>
                <a:srgbClr val="901F2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标注 8">
            <a:extLst>
              <a:ext uri="{FF2B5EF4-FFF2-40B4-BE49-F238E27FC236}">
                <a16:creationId xmlns:a16="http://schemas.microsoft.com/office/drawing/2014/main" id="{F245B9BE-8E3F-6303-A185-DDDA01052715}"/>
              </a:ext>
            </a:extLst>
          </p:cNvPr>
          <p:cNvSpPr/>
          <p:nvPr/>
        </p:nvSpPr>
        <p:spPr>
          <a:xfrm>
            <a:off x="625466" y="3268292"/>
            <a:ext cx="4988890" cy="1535705"/>
          </a:xfrm>
          <a:prstGeom prst="wedgeRectCallout">
            <a:avLst>
              <a:gd name="adj1" fmla="val 7806"/>
              <a:gd name="adj2" fmla="val -92643"/>
            </a:avLst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1F631B-4B0B-A858-726E-E992BFEB3E10}"/>
              </a:ext>
            </a:extLst>
          </p:cNvPr>
          <p:cNvSpPr txBox="1"/>
          <p:nvPr/>
        </p:nvSpPr>
        <p:spPr>
          <a:xfrm>
            <a:off x="2026096" y="4443958"/>
            <a:ext cx="21876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优化算法启发的网络结构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DF0DBF-B6CA-994F-99A3-8AFA81289413}"/>
              </a:ext>
            </a:extLst>
          </p:cNvPr>
          <p:cNvSpPr txBox="1"/>
          <p:nvPr/>
        </p:nvSpPr>
        <p:spPr>
          <a:xfrm>
            <a:off x="5614356" y="1620545"/>
            <a:ext cx="331869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核心思想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：设计优化算法启发的网络结构并进行端对端训练</a:t>
            </a:r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关键</a:t>
            </a:r>
            <a:r>
              <a:rPr lang="zh-CN" altLang="el-GR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参数</a:t>
            </a:r>
            <a:r>
              <a:rPr lang="zh-CN" altLang="en-US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：用三层全连接网络学习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(α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β) =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</a:t>
            </a:r>
            <a:r>
              <a:rPr lang="en-US" altLang="zh-CN" sz="1400" b="1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深度去噪网络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b="1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UNet</a:t>
            </a:r>
            <a:endParaRPr lang="en-US" altLang="zh-CN" sz="14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dirty="0">
              <a:solidFill>
                <a:srgbClr val="00339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数据项模块：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D(x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α)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先验项模块：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P(z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β)</a:t>
            </a:r>
          </a:p>
          <a:p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参数项模块：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(α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β) =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H(</a:t>
            </a:r>
            <a:r>
              <a:rPr lang="en-US" altLang="zh-CN" sz="1400" b="1" dirty="0" err="1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zh-CN" altLang="en-US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3898A8-94F5-11D1-0033-528F61521AFC}"/>
              </a:ext>
            </a:extLst>
          </p:cNvPr>
          <p:cNvSpPr txBox="1"/>
          <p:nvPr/>
        </p:nvSpPr>
        <p:spPr>
          <a:xfrm>
            <a:off x="670163" y="4443958"/>
            <a:ext cx="13112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输入：低分辨图像、噪声水平、模糊核、放大倍数</a:t>
            </a:r>
            <a:endParaRPr lang="zh-CN" altLang="en-US" sz="7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13DA8F-5BF0-4EF1-D02C-3FF8F39345BF}"/>
              </a:ext>
            </a:extLst>
          </p:cNvPr>
          <p:cNvSpPr txBox="1"/>
          <p:nvPr/>
        </p:nvSpPr>
        <p:spPr>
          <a:xfrm>
            <a:off x="4467795" y="4443958"/>
            <a:ext cx="1004626" cy="20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输出：超分辨结果</a:t>
            </a:r>
            <a:endParaRPr lang="zh-CN" altLang="en-US" sz="7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5F8DB30-1D76-214F-09B3-6A27EE3A20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8144" y="3339268"/>
            <a:ext cx="4685866" cy="111280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5AB3B02-37FB-3CC9-E1C9-E24CBEDFDDAE}"/>
              </a:ext>
            </a:extLst>
          </p:cNvPr>
          <p:cNvSpPr txBox="1"/>
          <p:nvPr/>
        </p:nvSpPr>
        <p:spPr>
          <a:xfrm rot="1611883">
            <a:off x="3393865" y="2920947"/>
            <a:ext cx="13209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替代</a:t>
            </a:r>
            <a:r>
              <a:rPr lang="en-US" altLang="zh-CN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en-US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b="1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(b)</a:t>
            </a:r>
            <a:endParaRPr lang="zh-CN" altLang="en-US" sz="1400" b="1" dirty="0">
              <a:solidFill>
                <a:srgbClr val="901F2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592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24CC-13B5-5271-4C86-EDE54038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CEBCF3-D02F-54CE-ADA2-B71B73341749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Unfolding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图像复原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774D4D-F650-31AC-6235-895EC8B43EE4}"/>
              </a:ext>
            </a:extLst>
          </p:cNvPr>
          <p:cNvSpPr txBox="1"/>
          <p:nvPr/>
        </p:nvSpPr>
        <p:spPr>
          <a:xfrm>
            <a:off x="2876562" y="4102584"/>
            <a:ext cx="3390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1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单一模型可以求解</a:t>
            </a:r>
            <a:r>
              <a:rPr lang="zh-CN" altLang="en-US" sz="1100" b="1" dirty="0">
                <a:solidFill>
                  <a:srgbClr val="A1313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多种放大倍数</a:t>
            </a:r>
            <a:r>
              <a:rPr lang="zh-CN" altLang="en-US" sz="11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的图像超分辨率。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F551C1-5EA8-455C-0C67-ECB26F6B0C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706" y="1491630"/>
            <a:ext cx="4052262" cy="20261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A8AD33-1EBC-8ED3-29AA-38EC94424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8703" y="1484569"/>
            <a:ext cx="4052260" cy="20261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CFEE837-9C56-4110-8379-F36A4EB01538}"/>
              </a:ext>
            </a:extLst>
          </p:cNvPr>
          <p:cNvSpPr txBox="1"/>
          <p:nvPr/>
        </p:nvSpPr>
        <p:spPr>
          <a:xfrm>
            <a:off x="1792319" y="3603652"/>
            <a:ext cx="10850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两倍超分辨率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F665C4-9EDF-C029-5F7B-14360A1E04BB}"/>
              </a:ext>
            </a:extLst>
          </p:cNvPr>
          <p:cNvSpPr txBox="1"/>
          <p:nvPr/>
        </p:nvSpPr>
        <p:spPr>
          <a:xfrm>
            <a:off x="6084168" y="3603652"/>
            <a:ext cx="10850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四倍超分辨率</a:t>
            </a:r>
          </a:p>
        </p:txBody>
      </p:sp>
    </p:spTree>
    <p:extLst>
      <p:ext uri="{BB962C8B-B14F-4D97-AF65-F5344CB8AC3E}">
        <p14:creationId xmlns:p14="http://schemas.microsoft.com/office/powerpoint/2010/main" val="156212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CB64-936D-29B6-AFBB-32B6A32F6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829EF1B-E0F3-806B-B543-94A14F0703F8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Unfolding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图像复原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D9A280-54DF-835F-EC79-234BA82B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04" y="1347614"/>
            <a:ext cx="4365765" cy="236164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FFFD0C9-F0CB-2A47-FDCC-C9C14D0F4F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95131"/>
            <a:ext cx="4291289" cy="2314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AFC7A5-685A-B86D-2155-65E6149A9027}"/>
              </a:ext>
            </a:extLst>
          </p:cNvPr>
          <p:cNvSpPr txBox="1"/>
          <p:nvPr/>
        </p:nvSpPr>
        <p:spPr>
          <a:xfrm>
            <a:off x="539552" y="4065424"/>
            <a:ext cx="8136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由于数据项和先验项的</a:t>
            </a:r>
            <a:r>
              <a:rPr lang="zh-CN" altLang="en-US" sz="1200" b="1" dirty="0">
                <a:solidFill>
                  <a:srgbClr val="A1313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解耦</a:t>
            </a:r>
            <a:r>
              <a:rPr lang="zh-CN" altLang="en-US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，即使使用 </a:t>
            </a:r>
            <a:r>
              <a:rPr lang="en-US" altLang="zh-CN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25x25 </a:t>
            </a:r>
            <a:r>
              <a:rPr lang="zh-CN" altLang="en-US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的模糊核大小进行训练，深度展开（</a:t>
            </a:r>
            <a:r>
              <a:rPr lang="en-US" altLang="zh-CN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Unfolding</a:t>
            </a:r>
            <a:r>
              <a:rPr lang="zh-CN" altLang="en-US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）网络也可以很好地</a:t>
            </a:r>
            <a:r>
              <a:rPr lang="zh-CN" altLang="en-US" sz="1200" b="1" dirty="0">
                <a:solidFill>
                  <a:srgbClr val="A1313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泛化</a:t>
            </a:r>
            <a:r>
              <a:rPr lang="zh-CN" altLang="en-US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到处理更大的模糊核（例如</a:t>
            </a:r>
            <a:r>
              <a:rPr lang="en-US" altLang="zh-CN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67x67</a:t>
            </a:r>
            <a:r>
              <a:rPr lang="zh-CN" altLang="en-US" sz="1200" b="1" dirty="0">
                <a:solidFill>
                  <a:srgbClr val="00339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3086348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461" y="-962025"/>
            <a:ext cx="3331845" cy="3074670"/>
          </a:xfrm>
          <a:prstGeom prst="rect">
            <a:avLst/>
          </a:prstGeom>
        </p:spPr>
      </p:pic>
      <p:pic>
        <p:nvPicPr>
          <p:cNvPr id="15" name="图片 14" descr="logo-06 - 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3423" y="2828925"/>
            <a:ext cx="2627948" cy="2424589"/>
          </a:xfrm>
          <a:prstGeom prst="rect">
            <a:avLst/>
          </a:prstGeom>
        </p:spPr>
      </p:pic>
      <p:pic>
        <p:nvPicPr>
          <p:cNvPr id="3" name="图片 2" descr="logo-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27" y="3999547"/>
            <a:ext cx="3649028" cy="1414463"/>
          </a:xfrm>
          <a:prstGeom prst="rect">
            <a:avLst/>
          </a:prstGeom>
        </p:spPr>
      </p:pic>
      <p:pic>
        <p:nvPicPr>
          <p:cNvPr id="4" name="图片 3" descr="logo-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180647" y="3999547"/>
            <a:ext cx="3649028" cy="1414463"/>
          </a:xfrm>
          <a:prstGeom prst="rect">
            <a:avLst/>
          </a:prstGeom>
        </p:spPr>
      </p:pic>
      <p:pic>
        <p:nvPicPr>
          <p:cNvPr id="21" name="图片 20" descr="logo_画板 1 副本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144" y="3741420"/>
            <a:ext cx="9175433" cy="14020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588D036-7622-F8BD-C137-43F710997E75}"/>
              </a:ext>
            </a:extLst>
          </p:cNvPr>
          <p:cNvSpPr txBox="1"/>
          <p:nvPr/>
        </p:nvSpPr>
        <p:spPr>
          <a:xfrm>
            <a:off x="1808368" y="1845304"/>
            <a:ext cx="5581650" cy="968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500" b="1" dirty="0">
                <a:solidFill>
                  <a:srgbClr val="B88F4D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学习数模，共享欢乐</a:t>
            </a:r>
            <a:endParaRPr lang="en-US" altLang="zh-CN" sz="4500" b="1" dirty="0">
              <a:solidFill>
                <a:srgbClr val="B88F4D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5" descr="底图-04">
            <a:extLst>
              <a:ext uri="{FF2B5EF4-FFF2-40B4-BE49-F238E27FC236}">
                <a16:creationId xmlns:a16="http://schemas.microsoft.com/office/drawing/2014/main" id="{BE0CB60D-5243-0623-383A-876C2A5F348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r="4676"/>
          <a:stretch>
            <a:fillRect/>
          </a:stretch>
        </p:blipFill>
        <p:spPr>
          <a:xfrm flipH="1">
            <a:off x="-7145" y="14363"/>
            <a:ext cx="7042684" cy="167044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7D8882-5F1F-FF4E-9C33-7C907179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0884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JjOTFmM2U0OTNlMDBmNWY1YTQyNjhhM2Y4ZGQwM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69692</TotalTime>
  <Words>1737</Words>
  <Application>Microsoft Office PowerPoint</Application>
  <PresentationFormat>全屏显示(16:9)</PresentationFormat>
  <Paragraphs>195</Paragraphs>
  <Slides>25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Heiti SC Medium</vt:lpstr>
      <vt:lpstr>Heiti SC Medium</vt:lpstr>
      <vt:lpstr>等线</vt:lpstr>
      <vt:lpstr>方正小标宋简体</vt:lpstr>
      <vt:lpstr>华文新魏</vt:lpstr>
      <vt:lpstr>隶书</vt:lpstr>
      <vt:lpstr>宋体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1_Office 主题​​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范利群</dc:creator>
  <cp:lastModifiedBy>永铭 田</cp:lastModifiedBy>
  <cp:revision>1811</cp:revision>
  <dcterms:created xsi:type="dcterms:W3CDTF">2019-07-09T19:19:00Z</dcterms:created>
  <dcterms:modified xsi:type="dcterms:W3CDTF">2025-01-03T08:49:21Z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SaveFontToCloudKey">
    <vt:lpwstr>394297376_btnclosed</vt:lpwstr>
  </property>
  <property fmtid="{D5CDD505-2E9C-101B-9397-08002B2CF9AE}" pid="3" name="KSOProductBuildVer">
    <vt:lpwstr>2052-12.1.0.16388</vt:lpwstr>
  </property>
  <property fmtid="{D5CDD505-2E9C-101B-9397-08002B2CF9AE}" pid="4" name="ICV">
    <vt:lpwstr>C0DBDE7E3A2D4F4C84FC7BA13130DBAF_13</vt:lpwstr>
  </property>
</Properties>
</file>