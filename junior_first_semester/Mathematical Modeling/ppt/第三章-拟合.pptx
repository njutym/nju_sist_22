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75" r:id="rId3"/>
  </p:sldMasterIdLst>
  <p:notesMasterIdLst>
    <p:notesMasterId r:id="rId42"/>
  </p:notesMasterIdLst>
  <p:handoutMasterIdLst>
    <p:handoutMasterId r:id="rId43"/>
  </p:handoutMasterIdLst>
  <p:sldIdLst>
    <p:sldId id="277" r:id="rId4"/>
    <p:sldId id="4338" r:id="rId5"/>
    <p:sldId id="4339" r:id="rId6"/>
    <p:sldId id="4340" r:id="rId7"/>
    <p:sldId id="4342" r:id="rId8"/>
    <p:sldId id="4341" r:id="rId9"/>
    <p:sldId id="4346" r:id="rId10"/>
    <p:sldId id="4348" r:id="rId11"/>
    <p:sldId id="4347" r:id="rId12"/>
    <p:sldId id="4356" r:id="rId13"/>
    <p:sldId id="4349" r:id="rId14"/>
    <p:sldId id="4350" r:id="rId15"/>
    <p:sldId id="4351" r:id="rId16"/>
    <p:sldId id="4352" r:id="rId17"/>
    <p:sldId id="4359" r:id="rId18"/>
    <p:sldId id="4414" r:id="rId19"/>
    <p:sldId id="4413" r:id="rId20"/>
    <p:sldId id="4355" r:id="rId21"/>
    <p:sldId id="4357" r:id="rId22"/>
    <p:sldId id="4358" r:id="rId23"/>
    <p:sldId id="4360" r:id="rId24"/>
    <p:sldId id="4361" r:id="rId25"/>
    <p:sldId id="4362" r:id="rId26"/>
    <p:sldId id="4363" r:id="rId27"/>
    <p:sldId id="4364" r:id="rId28"/>
    <p:sldId id="4365" r:id="rId29"/>
    <p:sldId id="4366" r:id="rId30"/>
    <p:sldId id="4367" r:id="rId31"/>
    <p:sldId id="4368" r:id="rId32"/>
    <p:sldId id="4369" r:id="rId33"/>
    <p:sldId id="4370" r:id="rId34"/>
    <p:sldId id="4371" r:id="rId35"/>
    <p:sldId id="4372" r:id="rId36"/>
    <p:sldId id="4373" r:id="rId37"/>
    <p:sldId id="4374" r:id="rId38"/>
    <p:sldId id="4375" r:id="rId39"/>
    <p:sldId id="4415" r:id="rId40"/>
    <p:sldId id="4246" r:id="rId41"/>
  </p:sldIdLst>
  <p:sldSz cx="9144000" cy="5143500" type="screen16x9"/>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5" userDrawn="1">
          <p15:clr>
            <a:srgbClr val="A4A3A4"/>
          </p15:clr>
        </p15:guide>
        <p15:guide id="2" pos="286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姚静" initials="yj"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5DFE"/>
    <a:srgbClr val="E03E36"/>
    <a:srgbClr val="F3DDDC"/>
    <a:srgbClr val="FFFFB5"/>
    <a:srgbClr val="F8F3EC"/>
    <a:srgbClr val="0012FE"/>
    <a:srgbClr val="EDEFE2"/>
    <a:srgbClr val="901F2A"/>
    <a:srgbClr val="F1F3E5"/>
    <a:srgbClr val="6E0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9" autoAdjust="0"/>
    <p:restoredTop sz="84357" autoAdjust="0"/>
  </p:normalViewPr>
  <p:slideViewPr>
    <p:cSldViewPr showGuides="1">
      <p:cViewPr varScale="1">
        <p:scale>
          <a:sx n="123" d="100"/>
          <a:sy n="123" d="100"/>
        </p:scale>
        <p:origin x="524" y="68"/>
      </p:cViewPr>
      <p:guideLst>
        <p:guide orient="horz" pos="1605"/>
        <p:guide pos="2861"/>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51" d="100"/>
          <a:sy n="51" d="100"/>
        </p:scale>
        <p:origin x="2692"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gs" Target="tags/tag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9"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20"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F2BC39-128E-4521-A6D2-911A8F8A326A}" type="datetimeFigureOut">
              <a:rPr lang="zh-CN" altLang="en-US" smtClean="0"/>
              <a:t>2025/1/2</a:t>
            </a:fld>
            <a:endParaRPr lang="zh-CN" altLang="en-US"/>
          </a:p>
        </p:txBody>
      </p:sp>
      <p:sp>
        <p:nvSpPr>
          <p:cNvPr id="1048821"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22"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898C2F-7AE5-4F56-A789-27C04C8D51C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3"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1048814"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49ACB1-6B0E-4211-A950-E3155135F0F3}" type="datetimeFigureOut">
              <a:rPr lang="zh-CN" altLang="en-US" smtClean="0"/>
              <a:t>2025/1/2</a:t>
            </a:fld>
            <a:endParaRPr lang="zh-CN" altLang="en-US"/>
          </a:p>
        </p:txBody>
      </p:sp>
      <p:sp>
        <p:nvSpPr>
          <p:cNvPr id="1048815"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16"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17"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1048818"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3038D8-7CEE-471F-ADF0-B06B4F72782B}"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Rectangle 2"/>
          <p:cNvSpPr>
            <a:spLocks noGrp="1" noRot="1" noChangeAspect="1" noChangeArrowheads="1" noTextEdit="1"/>
          </p:cNvSpPr>
          <p:nvPr>
            <p:ph type="sldImg"/>
          </p:nvPr>
        </p:nvSpPr>
        <p:spPr>
          <a:xfrm>
            <a:off x="127000" y="752475"/>
            <a:ext cx="6604000" cy="3716338"/>
          </a:xfrm>
        </p:spPr>
      </p:sp>
      <p:sp>
        <p:nvSpPr>
          <p:cNvPr id="1048640" name="Rectangle 3"/>
          <p:cNvSpPr>
            <a:spLocks noGrp="1" noChangeArrowheads="1"/>
          </p:cNvSpPr>
          <p:nvPr>
            <p:ph type="body" idx="1"/>
          </p:nvPr>
        </p:nvSpPr>
        <p:spPr>
          <a:noFill/>
          <a:ln w="9525"/>
        </p:spPr>
        <p:txBody>
          <a:bodyPr/>
          <a:lstStyle/>
          <a:p>
            <a:endParaRPr lang="zh-CN" altLang="zh-CN" dirty="0"/>
          </a:p>
        </p:txBody>
      </p:sp>
      <p:sp>
        <p:nvSpPr>
          <p:cNvPr id="2" name="灯片编号占位符 1">
            <a:extLst>
              <a:ext uri="{FF2B5EF4-FFF2-40B4-BE49-F238E27FC236}">
                <a16:creationId xmlns:a16="http://schemas.microsoft.com/office/drawing/2014/main" id="{CCC6A98D-1D84-904C-7154-6BF197D6269C}"/>
              </a:ext>
            </a:extLst>
          </p:cNvPr>
          <p:cNvSpPr>
            <a:spLocks noGrp="1"/>
          </p:cNvSpPr>
          <p:nvPr>
            <p:ph type="sldNum" sz="quarter" idx="5"/>
          </p:nvPr>
        </p:nvSpPr>
        <p:spPr/>
        <p:txBody>
          <a:bodyPr/>
          <a:lstStyle/>
          <a:p>
            <a:fld id="{E03038D8-7CEE-471F-ADF0-B06B4F72782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407345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a:t>
            </a:fld>
            <a:endParaRPr lang="zh-CN" altLang="en-US"/>
          </a:p>
        </p:txBody>
      </p:sp>
    </p:spTree>
    <p:extLst>
      <p:ext uri="{BB962C8B-B14F-4D97-AF65-F5344CB8AC3E}">
        <p14:creationId xmlns:p14="http://schemas.microsoft.com/office/powerpoint/2010/main" val="631331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a:t>
            </a:fld>
            <a:endParaRPr lang="zh-CN" altLang="en-US"/>
          </a:p>
        </p:txBody>
      </p:sp>
    </p:spTree>
    <p:extLst>
      <p:ext uri="{BB962C8B-B14F-4D97-AF65-F5344CB8AC3E}">
        <p14:creationId xmlns:p14="http://schemas.microsoft.com/office/powerpoint/2010/main" val="518040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a:t>
            </a:fld>
            <a:endParaRPr lang="zh-CN" altLang="en-US"/>
          </a:p>
        </p:txBody>
      </p:sp>
    </p:spTree>
    <p:extLst>
      <p:ext uri="{BB962C8B-B14F-4D97-AF65-F5344CB8AC3E}">
        <p14:creationId xmlns:p14="http://schemas.microsoft.com/office/powerpoint/2010/main" val="3389034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6</a:t>
            </a:fld>
            <a:endParaRPr lang="zh-CN" altLang="en-US"/>
          </a:p>
        </p:txBody>
      </p:sp>
    </p:spTree>
    <p:extLst>
      <p:ext uri="{BB962C8B-B14F-4D97-AF65-F5344CB8AC3E}">
        <p14:creationId xmlns:p14="http://schemas.microsoft.com/office/powerpoint/2010/main" val="1866880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7</a:t>
            </a:fld>
            <a:endParaRPr lang="zh-CN" altLang="en-US"/>
          </a:p>
        </p:txBody>
      </p:sp>
    </p:spTree>
    <p:extLst>
      <p:ext uri="{BB962C8B-B14F-4D97-AF65-F5344CB8AC3E}">
        <p14:creationId xmlns:p14="http://schemas.microsoft.com/office/powerpoint/2010/main" val="2722349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8</a:t>
            </a:fld>
            <a:endParaRPr lang="zh-CN" altLang="en-US"/>
          </a:p>
        </p:txBody>
      </p:sp>
    </p:spTree>
    <p:extLst>
      <p:ext uri="{BB962C8B-B14F-4D97-AF65-F5344CB8AC3E}">
        <p14:creationId xmlns:p14="http://schemas.microsoft.com/office/powerpoint/2010/main" val="1484792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9</a:t>
            </a:fld>
            <a:endParaRPr lang="zh-CN" altLang="en-US"/>
          </a:p>
        </p:txBody>
      </p:sp>
    </p:spTree>
    <p:extLst>
      <p:ext uri="{BB962C8B-B14F-4D97-AF65-F5344CB8AC3E}">
        <p14:creationId xmlns:p14="http://schemas.microsoft.com/office/powerpoint/2010/main" val="3229792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10</a:t>
            </a:fld>
            <a:endParaRPr lang="zh-CN" altLang="en-US"/>
          </a:p>
        </p:txBody>
      </p:sp>
    </p:spTree>
    <p:extLst>
      <p:ext uri="{BB962C8B-B14F-4D97-AF65-F5344CB8AC3E}">
        <p14:creationId xmlns:p14="http://schemas.microsoft.com/office/powerpoint/2010/main" val="1000065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11</a:t>
            </a:fld>
            <a:endParaRPr lang="zh-CN" altLang="en-US"/>
          </a:p>
        </p:txBody>
      </p:sp>
    </p:spTree>
    <p:extLst>
      <p:ext uri="{BB962C8B-B14F-4D97-AF65-F5344CB8AC3E}">
        <p14:creationId xmlns:p14="http://schemas.microsoft.com/office/powerpoint/2010/main" val="175996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12</a:t>
            </a:fld>
            <a:endParaRPr lang="zh-CN" altLang="en-US"/>
          </a:p>
        </p:txBody>
      </p:sp>
    </p:spTree>
    <p:extLst>
      <p:ext uri="{BB962C8B-B14F-4D97-AF65-F5344CB8AC3E}">
        <p14:creationId xmlns:p14="http://schemas.microsoft.com/office/powerpoint/2010/main" val="565500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13</a:t>
            </a:fld>
            <a:endParaRPr lang="zh-CN" altLang="en-US"/>
          </a:p>
        </p:txBody>
      </p:sp>
    </p:spTree>
    <p:extLst>
      <p:ext uri="{BB962C8B-B14F-4D97-AF65-F5344CB8AC3E}">
        <p14:creationId xmlns:p14="http://schemas.microsoft.com/office/powerpoint/2010/main" val="103415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14</a:t>
            </a:fld>
            <a:endParaRPr lang="zh-CN" altLang="en-US"/>
          </a:p>
        </p:txBody>
      </p:sp>
    </p:spTree>
    <p:extLst>
      <p:ext uri="{BB962C8B-B14F-4D97-AF65-F5344CB8AC3E}">
        <p14:creationId xmlns:p14="http://schemas.microsoft.com/office/powerpoint/2010/main" val="58849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15</a:t>
            </a:fld>
            <a:endParaRPr lang="zh-CN" altLang="en-US"/>
          </a:p>
        </p:txBody>
      </p:sp>
    </p:spTree>
    <p:extLst>
      <p:ext uri="{BB962C8B-B14F-4D97-AF65-F5344CB8AC3E}">
        <p14:creationId xmlns:p14="http://schemas.microsoft.com/office/powerpoint/2010/main" val="14466112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16</a:t>
            </a:fld>
            <a:endParaRPr lang="zh-CN" altLang="en-US"/>
          </a:p>
        </p:txBody>
      </p:sp>
    </p:spTree>
    <p:extLst>
      <p:ext uri="{BB962C8B-B14F-4D97-AF65-F5344CB8AC3E}">
        <p14:creationId xmlns:p14="http://schemas.microsoft.com/office/powerpoint/2010/main" val="2859791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17</a:t>
            </a:fld>
            <a:endParaRPr lang="zh-CN" altLang="en-US"/>
          </a:p>
        </p:txBody>
      </p:sp>
    </p:spTree>
    <p:extLst>
      <p:ext uri="{BB962C8B-B14F-4D97-AF65-F5344CB8AC3E}">
        <p14:creationId xmlns:p14="http://schemas.microsoft.com/office/powerpoint/2010/main" val="3493097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18</a:t>
            </a:fld>
            <a:endParaRPr lang="zh-CN" altLang="en-US"/>
          </a:p>
        </p:txBody>
      </p:sp>
    </p:spTree>
    <p:extLst>
      <p:ext uri="{BB962C8B-B14F-4D97-AF65-F5344CB8AC3E}">
        <p14:creationId xmlns:p14="http://schemas.microsoft.com/office/powerpoint/2010/main" val="23619784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19</a:t>
            </a:fld>
            <a:endParaRPr lang="zh-CN" altLang="en-US"/>
          </a:p>
        </p:txBody>
      </p:sp>
    </p:spTree>
    <p:extLst>
      <p:ext uri="{BB962C8B-B14F-4D97-AF65-F5344CB8AC3E}">
        <p14:creationId xmlns:p14="http://schemas.microsoft.com/office/powerpoint/2010/main" val="23270846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20</a:t>
            </a:fld>
            <a:endParaRPr lang="zh-CN" altLang="en-US"/>
          </a:p>
        </p:txBody>
      </p:sp>
    </p:spTree>
    <p:extLst>
      <p:ext uri="{BB962C8B-B14F-4D97-AF65-F5344CB8AC3E}">
        <p14:creationId xmlns:p14="http://schemas.microsoft.com/office/powerpoint/2010/main" val="3985116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21</a:t>
            </a:fld>
            <a:endParaRPr lang="zh-CN" altLang="en-US"/>
          </a:p>
        </p:txBody>
      </p:sp>
    </p:spTree>
    <p:extLst>
      <p:ext uri="{BB962C8B-B14F-4D97-AF65-F5344CB8AC3E}">
        <p14:creationId xmlns:p14="http://schemas.microsoft.com/office/powerpoint/2010/main" val="4054537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22</a:t>
            </a:fld>
            <a:endParaRPr lang="zh-CN" altLang="en-US"/>
          </a:p>
        </p:txBody>
      </p:sp>
    </p:spTree>
    <p:extLst>
      <p:ext uri="{BB962C8B-B14F-4D97-AF65-F5344CB8AC3E}">
        <p14:creationId xmlns:p14="http://schemas.microsoft.com/office/powerpoint/2010/main" val="38044609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23</a:t>
            </a:fld>
            <a:endParaRPr lang="zh-CN" altLang="en-US"/>
          </a:p>
        </p:txBody>
      </p:sp>
    </p:spTree>
    <p:extLst>
      <p:ext uri="{BB962C8B-B14F-4D97-AF65-F5344CB8AC3E}">
        <p14:creationId xmlns:p14="http://schemas.microsoft.com/office/powerpoint/2010/main" val="15963685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24</a:t>
            </a:fld>
            <a:endParaRPr lang="zh-CN" altLang="en-US"/>
          </a:p>
        </p:txBody>
      </p:sp>
    </p:spTree>
    <p:extLst>
      <p:ext uri="{BB962C8B-B14F-4D97-AF65-F5344CB8AC3E}">
        <p14:creationId xmlns:p14="http://schemas.microsoft.com/office/powerpoint/2010/main" val="13162572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25</a:t>
            </a:fld>
            <a:endParaRPr lang="zh-CN" altLang="en-US"/>
          </a:p>
        </p:txBody>
      </p:sp>
    </p:spTree>
    <p:extLst>
      <p:ext uri="{BB962C8B-B14F-4D97-AF65-F5344CB8AC3E}">
        <p14:creationId xmlns:p14="http://schemas.microsoft.com/office/powerpoint/2010/main" val="3870030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26</a:t>
            </a:fld>
            <a:endParaRPr lang="zh-CN" altLang="en-US"/>
          </a:p>
        </p:txBody>
      </p:sp>
    </p:spTree>
    <p:extLst>
      <p:ext uri="{BB962C8B-B14F-4D97-AF65-F5344CB8AC3E}">
        <p14:creationId xmlns:p14="http://schemas.microsoft.com/office/powerpoint/2010/main" val="8001973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27</a:t>
            </a:fld>
            <a:endParaRPr lang="zh-CN" altLang="en-US"/>
          </a:p>
        </p:txBody>
      </p:sp>
    </p:spTree>
    <p:extLst>
      <p:ext uri="{BB962C8B-B14F-4D97-AF65-F5344CB8AC3E}">
        <p14:creationId xmlns:p14="http://schemas.microsoft.com/office/powerpoint/2010/main" val="16954495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b="1" dirty="0"/>
              <a:t>化为线性模型的非线性模型</a:t>
            </a: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28</a:t>
            </a:fld>
            <a:endParaRPr lang="zh-CN" altLang="en-US"/>
          </a:p>
        </p:txBody>
      </p:sp>
    </p:spTree>
    <p:extLst>
      <p:ext uri="{BB962C8B-B14F-4D97-AF65-F5344CB8AC3E}">
        <p14:creationId xmlns:p14="http://schemas.microsoft.com/office/powerpoint/2010/main" val="2313480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29</a:t>
            </a:fld>
            <a:endParaRPr lang="zh-CN" altLang="en-US"/>
          </a:p>
        </p:txBody>
      </p:sp>
    </p:spTree>
    <p:extLst>
      <p:ext uri="{BB962C8B-B14F-4D97-AF65-F5344CB8AC3E}">
        <p14:creationId xmlns:p14="http://schemas.microsoft.com/office/powerpoint/2010/main" val="30624485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30</a:t>
            </a:fld>
            <a:endParaRPr lang="zh-CN" altLang="en-US"/>
          </a:p>
        </p:txBody>
      </p:sp>
    </p:spTree>
    <p:extLst>
      <p:ext uri="{BB962C8B-B14F-4D97-AF65-F5344CB8AC3E}">
        <p14:creationId xmlns:p14="http://schemas.microsoft.com/office/powerpoint/2010/main" val="7534797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31</a:t>
            </a:fld>
            <a:endParaRPr lang="zh-CN" altLang="en-US"/>
          </a:p>
        </p:txBody>
      </p:sp>
    </p:spTree>
    <p:extLst>
      <p:ext uri="{BB962C8B-B14F-4D97-AF65-F5344CB8AC3E}">
        <p14:creationId xmlns:p14="http://schemas.microsoft.com/office/powerpoint/2010/main" val="34967669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en-US" altLang="zh-CN" b="0" i="0" dirty="0">
              <a:solidFill>
                <a:srgbClr val="333333"/>
              </a:solidFill>
              <a:effectLst/>
              <a:latin typeface="Open Sans" panose="020F0502020204030204" pitchFamily="34" charset="0"/>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32</a:t>
            </a:fld>
            <a:endParaRPr lang="zh-CN" altLang="en-US"/>
          </a:p>
        </p:txBody>
      </p:sp>
    </p:spTree>
    <p:extLst>
      <p:ext uri="{BB962C8B-B14F-4D97-AF65-F5344CB8AC3E}">
        <p14:creationId xmlns:p14="http://schemas.microsoft.com/office/powerpoint/2010/main" val="5476497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33</a:t>
            </a:fld>
            <a:endParaRPr lang="zh-CN" altLang="en-US"/>
          </a:p>
        </p:txBody>
      </p:sp>
    </p:spTree>
    <p:extLst>
      <p:ext uri="{BB962C8B-B14F-4D97-AF65-F5344CB8AC3E}">
        <p14:creationId xmlns:p14="http://schemas.microsoft.com/office/powerpoint/2010/main" val="7864914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34</a:t>
            </a:fld>
            <a:endParaRPr lang="zh-CN" altLang="en-US"/>
          </a:p>
        </p:txBody>
      </p:sp>
    </p:spTree>
    <p:extLst>
      <p:ext uri="{BB962C8B-B14F-4D97-AF65-F5344CB8AC3E}">
        <p14:creationId xmlns:p14="http://schemas.microsoft.com/office/powerpoint/2010/main" val="24665643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35</a:t>
            </a:fld>
            <a:endParaRPr lang="zh-CN" altLang="en-US"/>
          </a:p>
        </p:txBody>
      </p:sp>
    </p:spTree>
    <p:extLst>
      <p:ext uri="{BB962C8B-B14F-4D97-AF65-F5344CB8AC3E}">
        <p14:creationId xmlns:p14="http://schemas.microsoft.com/office/powerpoint/2010/main" val="10119118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36</a:t>
            </a:fld>
            <a:endParaRPr lang="zh-CN" altLang="en-US"/>
          </a:p>
        </p:txBody>
      </p:sp>
    </p:spTree>
    <p:extLst>
      <p:ext uri="{BB962C8B-B14F-4D97-AF65-F5344CB8AC3E}">
        <p14:creationId xmlns:p14="http://schemas.microsoft.com/office/powerpoint/2010/main" val="31349108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altLang="zh-CN"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E03038D8-7CEE-471F-ADF0-B06B4F72782B}" type="slidenum">
              <a:rPr lang="zh-CN" altLang="en-US" smtClean="0"/>
              <a:t>37</a:t>
            </a:fld>
            <a:endParaRPr lang="zh-CN" altLang="en-US"/>
          </a:p>
        </p:txBody>
      </p:sp>
    </p:spTree>
    <p:extLst>
      <p:ext uri="{BB962C8B-B14F-4D97-AF65-F5344CB8AC3E}">
        <p14:creationId xmlns:p14="http://schemas.microsoft.com/office/powerpoint/2010/main" val="113988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2.xml"/><Relationship Id="rId5" Type="http://schemas.openxmlformats.org/officeDocument/2006/relationships/tags" Target="../tags/tag6.xml"/><Relationship Id="rId4"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9.jpeg"/><Relationship Id="rId4" Type="http://schemas.openxmlformats.org/officeDocument/2006/relationships/image" Target="../media/image8.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1" name="标题 1"/>
          <p:cNvSpPr>
            <a:spLocks noGrp="1"/>
          </p:cNvSpPr>
          <p:nvPr>
            <p:ph type="ctrTitle"/>
          </p:nvPr>
        </p:nvSpPr>
        <p:spPr>
          <a:xfrm>
            <a:off x="685804" y="1597819"/>
            <a:ext cx="7772400" cy="1102519"/>
          </a:xfrm>
        </p:spPr>
        <p:txBody>
          <a:bodyPr/>
          <a:lstStyle/>
          <a:p>
            <a:r>
              <a:rPr lang="zh-CN" altLang="en-US"/>
              <a:t>单击此处编辑母版标题样式</a:t>
            </a:r>
          </a:p>
        </p:txBody>
      </p:sp>
      <p:sp>
        <p:nvSpPr>
          <p:cNvPr id="1048632"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633" name="日期占位符 3"/>
          <p:cNvSpPr>
            <a:spLocks noGrp="1"/>
          </p:cNvSpPr>
          <p:nvPr>
            <p:ph type="dt" sz="half" idx="10"/>
          </p:nvPr>
        </p:nvSpPr>
        <p:spPr/>
        <p:txBody>
          <a:bodyPr/>
          <a:lstStyle/>
          <a:p>
            <a:fld id="{C8772EF7-4B8F-D949-9E85-32B8EDF30677}" type="datetime1">
              <a:rPr lang="zh-CN" altLang="en-US" smtClean="0"/>
              <a:t>2025/1/2</a:t>
            </a:fld>
            <a:endParaRPr lang="zh-CN" altLang="en-US"/>
          </a:p>
        </p:txBody>
      </p:sp>
      <p:sp>
        <p:nvSpPr>
          <p:cNvPr id="1048634" name="页脚占位符 4"/>
          <p:cNvSpPr>
            <a:spLocks noGrp="1"/>
          </p:cNvSpPr>
          <p:nvPr>
            <p:ph type="ftr" sz="quarter" idx="11"/>
          </p:nvPr>
        </p:nvSpPr>
        <p:spPr/>
        <p:txBody>
          <a:bodyPr/>
          <a:lstStyle/>
          <a:p>
            <a:endParaRPr lang="zh-CN" altLang="en-US"/>
          </a:p>
        </p:txBody>
      </p:sp>
      <p:sp>
        <p:nvSpPr>
          <p:cNvPr id="1048635" name="灯片编号占位符 5"/>
          <p:cNvSpPr>
            <a:spLocks noGrp="1"/>
          </p:cNvSpPr>
          <p:nvPr>
            <p:ph type="sldNum" sz="quarter" idx="12"/>
          </p:nvPr>
        </p:nvSpPr>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14" name="标题 1"/>
          <p:cNvSpPr>
            <a:spLocks noGrp="1"/>
          </p:cNvSpPr>
          <p:nvPr>
            <p:ph type="title"/>
          </p:nvPr>
        </p:nvSpPr>
        <p:spPr/>
        <p:txBody>
          <a:bodyPr/>
          <a:lstStyle/>
          <a:p>
            <a:r>
              <a:rPr lang="zh-CN" altLang="en-US"/>
              <a:t>单击此处编辑母版标题样式</a:t>
            </a:r>
          </a:p>
        </p:txBody>
      </p:sp>
      <p:sp>
        <p:nvSpPr>
          <p:cNvPr id="1048715"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6" name="日期占位符 3"/>
          <p:cNvSpPr>
            <a:spLocks noGrp="1"/>
          </p:cNvSpPr>
          <p:nvPr>
            <p:ph type="dt" sz="half" idx="10"/>
          </p:nvPr>
        </p:nvSpPr>
        <p:spPr/>
        <p:txBody>
          <a:bodyPr/>
          <a:lstStyle/>
          <a:p>
            <a:fld id="{44DC391D-732F-C149-B6A1-9A5FCB4F6FEF}" type="datetime1">
              <a:rPr lang="zh-CN" altLang="en-US" smtClean="0"/>
              <a:t>2025/1/2</a:t>
            </a:fld>
            <a:endParaRPr lang="zh-CN" altLang="en-US"/>
          </a:p>
        </p:txBody>
      </p:sp>
      <p:sp>
        <p:nvSpPr>
          <p:cNvPr id="1048717" name="页脚占位符 4"/>
          <p:cNvSpPr>
            <a:spLocks noGrp="1"/>
          </p:cNvSpPr>
          <p:nvPr>
            <p:ph type="ftr" sz="quarter" idx="11"/>
          </p:nvPr>
        </p:nvSpPr>
        <p:spPr/>
        <p:txBody>
          <a:bodyPr/>
          <a:lstStyle/>
          <a:p>
            <a:endParaRPr lang="zh-CN" altLang="en-US"/>
          </a:p>
        </p:txBody>
      </p:sp>
      <p:sp>
        <p:nvSpPr>
          <p:cNvPr id="1048718"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30" name="标题 1"/>
          <p:cNvSpPr>
            <a:spLocks noGrp="1"/>
          </p:cNvSpPr>
          <p:nvPr>
            <p:ph type="title"/>
          </p:nvPr>
        </p:nvSpPr>
        <p:spPr>
          <a:xfrm>
            <a:off x="722317" y="3305176"/>
            <a:ext cx="7772400" cy="1021556"/>
          </a:xfrm>
        </p:spPr>
        <p:txBody>
          <a:bodyPr anchor="t"/>
          <a:lstStyle>
            <a:lvl1pPr algn="l">
              <a:defRPr sz="4000" b="1" cap="all"/>
            </a:lvl1pPr>
          </a:lstStyle>
          <a:p>
            <a:r>
              <a:rPr lang="zh-CN" altLang="en-US"/>
              <a:t>单击此处编辑母版标题样式</a:t>
            </a:r>
          </a:p>
        </p:txBody>
      </p:sp>
      <p:sp>
        <p:nvSpPr>
          <p:cNvPr id="1048731" name="文本占位符 2"/>
          <p:cNvSpPr>
            <a:spLocks noGrp="1"/>
          </p:cNvSpPr>
          <p:nvPr>
            <p:ph type="body" idx="1"/>
          </p:nvPr>
        </p:nvSpPr>
        <p:spPr>
          <a:xfrm>
            <a:off x="722317" y="2180038"/>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1048732" name="日期占位符 3"/>
          <p:cNvSpPr>
            <a:spLocks noGrp="1"/>
          </p:cNvSpPr>
          <p:nvPr>
            <p:ph type="dt" sz="half" idx="10"/>
          </p:nvPr>
        </p:nvSpPr>
        <p:spPr/>
        <p:txBody>
          <a:bodyPr/>
          <a:lstStyle/>
          <a:p>
            <a:fld id="{3AE12B8A-0A79-8043-B90B-DA6CB2165651}" type="datetime1">
              <a:rPr lang="zh-CN" altLang="en-US" smtClean="0"/>
              <a:t>2025/1/2</a:t>
            </a:fld>
            <a:endParaRPr lang="zh-CN" altLang="en-US"/>
          </a:p>
        </p:txBody>
      </p:sp>
      <p:sp>
        <p:nvSpPr>
          <p:cNvPr id="1048733" name="页脚占位符 4"/>
          <p:cNvSpPr>
            <a:spLocks noGrp="1"/>
          </p:cNvSpPr>
          <p:nvPr>
            <p:ph type="ftr" sz="quarter" idx="11"/>
          </p:nvPr>
        </p:nvSpPr>
        <p:spPr/>
        <p:txBody>
          <a:bodyPr/>
          <a:lstStyle/>
          <a:p>
            <a:endParaRPr lang="zh-CN" altLang="en-US"/>
          </a:p>
        </p:txBody>
      </p:sp>
      <p:sp>
        <p:nvSpPr>
          <p:cNvPr id="1048734"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735" name="标题 1"/>
          <p:cNvSpPr>
            <a:spLocks noGrp="1"/>
          </p:cNvSpPr>
          <p:nvPr>
            <p:ph type="title"/>
          </p:nvPr>
        </p:nvSpPr>
        <p:spPr/>
        <p:txBody>
          <a:bodyPr/>
          <a:lstStyle/>
          <a:p>
            <a:r>
              <a:rPr lang="zh-CN" altLang="en-US"/>
              <a:t>单击此处编辑母版标题样式</a:t>
            </a:r>
          </a:p>
        </p:txBody>
      </p:sp>
      <p:sp>
        <p:nvSpPr>
          <p:cNvPr id="1048736" name="内容占位符 2"/>
          <p:cNvSpPr>
            <a:spLocks noGrp="1"/>
          </p:cNvSpPr>
          <p:nvPr>
            <p:ph sz="half" idx="1"/>
          </p:nvPr>
        </p:nvSpPr>
        <p:spPr>
          <a:xfrm>
            <a:off x="457204"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7" name="内容占位符 3"/>
          <p:cNvSpPr>
            <a:spLocks noGrp="1"/>
          </p:cNvSpPr>
          <p:nvPr>
            <p:ph sz="half" idx="2"/>
          </p:nvPr>
        </p:nvSpPr>
        <p:spPr>
          <a:xfrm>
            <a:off x="4648200"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8" name="日期占位符 4"/>
          <p:cNvSpPr>
            <a:spLocks noGrp="1"/>
          </p:cNvSpPr>
          <p:nvPr>
            <p:ph type="dt" sz="half" idx="10"/>
          </p:nvPr>
        </p:nvSpPr>
        <p:spPr/>
        <p:txBody>
          <a:bodyPr/>
          <a:lstStyle/>
          <a:p>
            <a:fld id="{DDD527DF-44AA-4A47-A7FF-46D24A50165C}" type="datetime1">
              <a:rPr lang="zh-CN" altLang="en-US" smtClean="0"/>
              <a:t>2025/1/2</a:t>
            </a:fld>
            <a:endParaRPr lang="zh-CN" altLang="en-US"/>
          </a:p>
        </p:txBody>
      </p:sp>
      <p:sp>
        <p:nvSpPr>
          <p:cNvPr id="1048739" name="页脚占位符 5"/>
          <p:cNvSpPr>
            <a:spLocks noGrp="1"/>
          </p:cNvSpPr>
          <p:nvPr>
            <p:ph type="ftr" sz="quarter" idx="11"/>
          </p:nvPr>
        </p:nvSpPr>
        <p:spPr/>
        <p:txBody>
          <a:bodyPr/>
          <a:lstStyle/>
          <a:p>
            <a:endParaRPr lang="zh-CN" altLang="en-US"/>
          </a:p>
        </p:txBody>
      </p:sp>
      <p:sp>
        <p:nvSpPr>
          <p:cNvPr id="1048740"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41" name="标题 1"/>
          <p:cNvSpPr>
            <a:spLocks noGrp="1"/>
          </p:cNvSpPr>
          <p:nvPr>
            <p:ph type="title"/>
          </p:nvPr>
        </p:nvSpPr>
        <p:spPr/>
        <p:txBody>
          <a:bodyPr/>
          <a:lstStyle/>
          <a:p>
            <a:r>
              <a:rPr lang="zh-CN" altLang="en-US"/>
              <a:t>单击此处编辑母版标题样式</a:t>
            </a:r>
          </a:p>
        </p:txBody>
      </p:sp>
      <p:sp>
        <p:nvSpPr>
          <p:cNvPr id="1048742" name="文本占位符 2"/>
          <p:cNvSpPr>
            <a:spLocks noGrp="1"/>
          </p:cNvSpPr>
          <p:nvPr>
            <p:ph type="body" idx="1"/>
          </p:nvPr>
        </p:nvSpPr>
        <p:spPr>
          <a:xfrm>
            <a:off x="457200" y="1151339"/>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3" name="内容占位符 3"/>
          <p:cNvSpPr>
            <a:spLocks noGrp="1"/>
          </p:cNvSpPr>
          <p:nvPr>
            <p:ph sz="half" idx="2"/>
          </p:nvPr>
        </p:nvSpPr>
        <p:spPr>
          <a:xfrm>
            <a:off x="457200" y="1631160"/>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4" name="文本占位符 4"/>
          <p:cNvSpPr>
            <a:spLocks noGrp="1"/>
          </p:cNvSpPr>
          <p:nvPr>
            <p:ph type="body" sz="quarter" idx="3"/>
          </p:nvPr>
        </p:nvSpPr>
        <p:spPr>
          <a:xfrm>
            <a:off x="4645026" y="1151339"/>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5" name="内容占位符 5"/>
          <p:cNvSpPr>
            <a:spLocks noGrp="1"/>
          </p:cNvSpPr>
          <p:nvPr>
            <p:ph sz="quarter" idx="4"/>
          </p:nvPr>
        </p:nvSpPr>
        <p:spPr>
          <a:xfrm>
            <a:off x="4645026" y="1631160"/>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6" name="日期占位符 6"/>
          <p:cNvSpPr>
            <a:spLocks noGrp="1"/>
          </p:cNvSpPr>
          <p:nvPr>
            <p:ph type="dt" sz="half" idx="10"/>
          </p:nvPr>
        </p:nvSpPr>
        <p:spPr/>
        <p:txBody>
          <a:bodyPr/>
          <a:lstStyle/>
          <a:p>
            <a:fld id="{6836FD5D-87FF-724E-A018-904C8DA36E87}" type="datetime1">
              <a:rPr lang="zh-CN" altLang="en-US" smtClean="0"/>
              <a:t>2025/1/2</a:t>
            </a:fld>
            <a:endParaRPr lang="zh-CN" altLang="en-US"/>
          </a:p>
        </p:txBody>
      </p:sp>
      <p:sp>
        <p:nvSpPr>
          <p:cNvPr id="1048747" name="页脚占位符 7"/>
          <p:cNvSpPr>
            <a:spLocks noGrp="1"/>
          </p:cNvSpPr>
          <p:nvPr>
            <p:ph type="ftr" sz="quarter" idx="11"/>
          </p:nvPr>
        </p:nvSpPr>
        <p:spPr/>
        <p:txBody>
          <a:bodyPr/>
          <a:lstStyle/>
          <a:p>
            <a:endParaRPr lang="zh-CN" altLang="en-US"/>
          </a:p>
        </p:txBody>
      </p:sp>
      <p:sp>
        <p:nvSpPr>
          <p:cNvPr id="1048748" name="灯片编号占位符 8"/>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05" name="标题 1"/>
          <p:cNvSpPr>
            <a:spLocks noGrp="1"/>
          </p:cNvSpPr>
          <p:nvPr>
            <p:ph type="title"/>
          </p:nvPr>
        </p:nvSpPr>
        <p:spPr/>
        <p:txBody>
          <a:bodyPr/>
          <a:lstStyle/>
          <a:p>
            <a:r>
              <a:rPr lang="zh-CN" altLang="en-US"/>
              <a:t>单击此处编辑母版标题样式</a:t>
            </a:r>
          </a:p>
        </p:txBody>
      </p:sp>
      <p:sp>
        <p:nvSpPr>
          <p:cNvPr id="1048706" name="日期占位符 2"/>
          <p:cNvSpPr>
            <a:spLocks noGrp="1"/>
          </p:cNvSpPr>
          <p:nvPr>
            <p:ph type="dt" sz="half" idx="10"/>
          </p:nvPr>
        </p:nvSpPr>
        <p:spPr/>
        <p:txBody>
          <a:bodyPr/>
          <a:lstStyle/>
          <a:p>
            <a:fld id="{FF9122B6-D467-7141-A8DD-2AFCB88D0744}" type="datetime1">
              <a:rPr lang="zh-CN" altLang="en-US" smtClean="0"/>
              <a:t>2025/1/2</a:t>
            </a:fld>
            <a:endParaRPr lang="zh-CN" altLang="en-US"/>
          </a:p>
        </p:txBody>
      </p:sp>
      <p:sp>
        <p:nvSpPr>
          <p:cNvPr id="1048707" name="页脚占位符 3"/>
          <p:cNvSpPr>
            <a:spLocks noGrp="1"/>
          </p:cNvSpPr>
          <p:nvPr>
            <p:ph type="ftr" sz="quarter" idx="11"/>
          </p:nvPr>
        </p:nvSpPr>
        <p:spPr/>
        <p:txBody>
          <a:bodyPr/>
          <a:lstStyle/>
          <a:p>
            <a:endParaRPr lang="zh-CN" altLang="en-US"/>
          </a:p>
        </p:txBody>
      </p:sp>
      <p:sp>
        <p:nvSpPr>
          <p:cNvPr id="1048708" name="灯片编号占位符 4"/>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49" name="日期占位符 1"/>
          <p:cNvSpPr>
            <a:spLocks noGrp="1"/>
          </p:cNvSpPr>
          <p:nvPr>
            <p:ph type="dt" sz="half" idx="10"/>
          </p:nvPr>
        </p:nvSpPr>
        <p:spPr/>
        <p:txBody>
          <a:bodyPr/>
          <a:lstStyle/>
          <a:p>
            <a:fld id="{17213F8F-DDBB-4540-BE30-2278200C1FF4}" type="datetime1">
              <a:rPr lang="zh-CN" altLang="en-US" smtClean="0"/>
              <a:t>2025/1/2</a:t>
            </a:fld>
            <a:endParaRPr lang="zh-CN" altLang="en-US"/>
          </a:p>
        </p:txBody>
      </p:sp>
      <p:sp>
        <p:nvSpPr>
          <p:cNvPr id="1048750" name="页脚占位符 2"/>
          <p:cNvSpPr>
            <a:spLocks noGrp="1"/>
          </p:cNvSpPr>
          <p:nvPr>
            <p:ph type="ftr" sz="quarter" idx="11"/>
          </p:nvPr>
        </p:nvSpPr>
        <p:spPr/>
        <p:txBody>
          <a:bodyPr/>
          <a:lstStyle/>
          <a:p>
            <a:endParaRPr lang="zh-CN" altLang="en-US"/>
          </a:p>
        </p:txBody>
      </p:sp>
      <p:sp>
        <p:nvSpPr>
          <p:cNvPr id="1048751" name="灯片编号占位符 3"/>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752" name="标题 1"/>
          <p:cNvSpPr>
            <a:spLocks noGrp="1"/>
          </p:cNvSpPr>
          <p:nvPr>
            <p:ph type="title"/>
          </p:nvPr>
        </p:nvSpPr>
        <p:spPr>
          <a:xfrm>
            <a:off x="457202" y="204790"/>
            <a:ext cx="3008313" cy="871538"/>
          </a:xfrm>
        </p:spPr>
        <p:txBody>
          <a:bodyPr anchor="b"/>
          <a:lstStyle>
            <a:lvl1pPr algn="l">
              <a:defRPr sz="2000" b="1"/>
            </a:lvl1pPr>
          </a:lstStyle>
          <a:p>
            <a:r>
              <a:rPr lang="zh-CN" altLang="en-US"/>
              <a:t>单击此处编辑母版标题样式</a:t>
            </a:r>
          </a:p>
        </p:txBody>
      </p:sp>
      <p:sp>
        <p:nvSpPr>
          <p:cNvPr id="104875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54" name="文本占位符 3"/>
          <p:cNvSpPr>
            <a:spLocks noGrp="1"/>
          </p:cNvSpPr>
          <p:nvPr>
            <p:ph type="body" sz="half" idx="2"/>
          </p:nvPr>
        </p:nvSpPr>
        <p:spPr>
          <a:xfrm>
            <a:off x="457202" y="1076330"/>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55" name="日期占位符 4"/>
          <p:cNvSpPr>
            <a:spLocks noGrp="1"/>
          </p:cNvSpPr>
          <p:nvPr>
            <p:ph type="dt" sz="half" idx="10"/>
          </p:nvPr>
        </p:nvSpPr>
        <p:spPr/>
        <p:txBody>
          <a:bodyPr/>
          <a:lstStyle/>
          <a:p>
            <a:fld id="{F2DC1402-2884-9841-8197-B48C1D99F3B2}" type="datetime1">
              <a:rPr lang="zh-CN" altLang="en-US" smtClean="0"/>
              <a:t>2025/1/2</a:t>
            </a:fld>
            <a:endParaRPr lang="zh-CN" altLang="en-US"/>
          </a:p>
        </p:txBody>
      </p:sp>
      <p:sp>
        <p:nvSpPr>
          <p:cNvPr id="1048756" name="页脚占位符 5"/>
          <p:cNvSpPr>
            <a:spLocks noGrp="1"/>
          </p:cNvSpPr>
          <p:nvPr>
            <p:ph type="ftr" sz="quarter" idx="11"/>
          </p:nvPr>
        </p:nvSpPr>
        <p:spPr/>
        <p:txBody>
          <a:bodyPr/>
          <a:lstStyle/>
          <a:p>
            <a:endParaRPr lang="zh-CN" altLang="en-US"/>
          </a:p>
        </p:txBody>
      </p:sp>
      <p:sp>
        <p:nvSpPr>
          <p:cNvPr id="1048757"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719"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1048720" name="图片占位符 2"/>
          <p:cNvSpPr>
            <a:spLocks noGrp="1"/>
          </p:cNvSpPr>
          <p:nvPr>
            <p:ph type="pic" idx="1"/>
          </p:nvPr>
        </p:nvSpPr>
        <p:spPr>
          <a:xfrm>
            <a:off x="1792288" y="45958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721" name="文本占位符 3"/>
          <p:cNvSpPr>
            <a:spLocks noGrp="1"/>
          </p:cNvSpPr>
          <p:nvPr>
            <p:ph type="body" sz="half" idx="2"/>
          </p:nvPr>
        </p:nvSpPr>
        <p:spPr>
          <a:xfrm>
            <a:off x="1792288" y="4025508"/>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22" name="日期占位符 4"/>
          <p:cNvSpPr>
            <a:spLocks noGrp="1"/>
          </p:cNvSpPr>
          <p:nvPr>
            <p:ph type="dt" sz="half" idx="10"/>
          </p:nvPr>
        </p:nvSpPr>
        <p:spPr/>
        <p:txBody>
          <a:bodyPr/>
          <a:lstStyle/>
          <a:p>
            <a:fld id="{795CD2D3-6E35-8F47-9F4E-F4E7FAAA04F0}" type="datetime1">
              <a:rPr lang="zh-CN" altLang="en-US" smtClean="0"/>
              <a:t>2025/1/2</a:t>
            </a:fld>
            <a:endParaRPr lang="zh-CN" altLang="en-US"/>
          </a:p>
        </p:txBody>
      </p:sp>
      <p:sp>
        <p:nvSpPr>
          <p:cNvPr id="1048723" name="页脚占位符 5"/>
          <p:cNvSpPr>
            <a:spLocks noGrp="1"/>
          </p:cNvSpPr>
          <p:nvPr>
            <p:ph type="ftr" sz="quarter" idx="11"/>
          </p:nvPr>
        </p:nvSpPr>
        <p:spPr/>
        <p:txBody>
          <a:bodyPr/>
          <a:lstStyle/>
          <a:p>
            <a:endParaRPr lang="zh-CN" altLang="en-US"/>
          </a:p>
        </p:txBody>
      </p:sp>
      <p:sp>
        <p:nvSpPr>
          <p:cNvPr id="1048724"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25" name="标题 1"/>
          <p:cNvSpPr>
            <a:spLocks noGrp="1"/>
          </p:cNvSpPr>
          <p:nvPr>
            <p:ph type="title"/>
          </p:nvPr>
        </p:nvSpPr>
        <p:spPr/>
        <p:txBody>
          <a:bodyPr/>
          <a:lstStyle/>
          <a:p>
            <a:r>
              <a:rPr lang="zh-CN" altLang="en-US"/>
              <a:t>单击此处编辑母版标题样式</a:t>
            </a:r>
          </a:p>
        </p:txBody>
      </p:sp>
      <p:sp>
        <p:nvSpPr>
          <p:cNvPr id="1048726"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27" name="日期占位符 3"/>
          <p:cNvSpPr>
            <a:spLocks noGrp="1"/>
          </p:cNvSpPr>
          <p:nvPr>
            <p:ph type="dt" sz="half" idx="10"/>
          </p:nvPr>
        </p:nvSpPr>
        <p:spPr/>
        <p:txBody>
          <a:bodyPr/>
          <a:lstStyle/>
          <a:p>
            <a:fld id="{20BD7DA0-C247-CF44-A6D3-C3AD2340489F}" type="datetime1">
              <a:rPr lang="zh-CN" altLang="en-US" smtClean="0"/>
              <a:t>2025/1/2</a:t>
            </a:fld>
            <a:endParaRPr lang="zh-CN" altLang="en-US"/>
          </a:p>
        </p:txBody>
      </p:sp>
      <p:sp>
        <p:nvSpPr>
          <p:cNvPr id="1048728" name="页脚占位符 4"/>
          <p:cNvSpPr>
            <a:spLocks noGrp="1"/>
          </p:cNvSpPr>
          <p:nvPr>
            <p:ph type="ftr" sz="quarter" idx="11"/>
          </p:nvPr>
        </p:nvSpPr>
        <p:spPr/>
        <p:txBody>
          <a:bodyPr/>
          <a:lstStyle/>
          <a:p>
            <a:endParaRPr lang="zh-CN" altLang="en-US"/>
          </a:p>
        </p:txBody>
      </p:sp>
      <p:sp>
        <p:nvSpPr>
          <p:cNvPr id="1048729"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48709"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1048710" name="竖排文字占位符 2"/>
          <p:cNvSpPr>
            <a:spLocks noGrp="1"/>
          </p:cNvSpPr>
          <p:nvPr>
            <p:ph type="body" orient="vert" idx="1"/>
          </p:nvPr>
        </p:nvSpPr>
        <p:spPr>
          <a:xfrm>
            <a:off x="457204"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1" name="日期占位符 3"/>
          <p:cNvSpPr>
            <a:spLocks noGrp="1"/>
          </p:cNvSpPr>
          <p:nvPr>
            <p:ph type="dt" sz="half" idx="10"/>
          </p:nvPr>
        </p:nvSpPr>
        <p:spPr/>
        <p:txBody>
          <a:bodyPr/>
          <a:lstStyle/>
          <a:p>
            <a:fld id="{EBF804CB-4BEC-B94D-98FC-70D720F9BAFD}" type="datetime1">
              <a:rPr lang="zh-CN" altLang="en-US" smtClean="0"/>
              <a:t>2025/1/2</a:t>
            </a:fld>
            <a:endParaRPr lang="zh-CN" altLang="en-US"/>
          </a:p>
        </p:txBody>
      </p:sp>
      <p:sp>
        <p:nvSpPr>
          <p:cNvPr id="1048712" name="页脚占位符 4"/>
          <p:cNvSpPr>
            <a:spLocks noGrp="1"/>
          </p:cNvSpPr>
          <p:nvPr>
            <p:ph type="ftr" sz="quarter" idx="11"/>
          </p:nvPr>
        </p:nvSpPr>
        <p:spPr/>
        <p:txBody>
          <a:bodyPr/>
          <a:lstStyle/>
          <a:p>
            <a:endParaRPr lang="zh-CN" altLang="en-US"/>
          </a:p>
        </p:txBody>
      </p:sp>
      <p:sp>
        <p:nvSpPr>
          <p:cNvPr id="1048713"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58" name="标题 1"/>
          <p:cNvSpPr>
            <a:spLocks noGrp="1"/>
          </p:cNvSpPr>
          <p:nvPr>
            <p:ph type="title"/>
          </p:nvPr>
        </p:nvSpPr>
        <p:spPr/>
        <p:txBody>
          <a:bodyPr/>
          <a:lstStyle/>
          <a:p>
            <a:r>
              <a:rPr lang="zh-CN" altLang="en-US"/>
              <a:t>单击此处编辑母版标题样式</a:t>
            </a:r>
          </a:p>
        </p:txBody>
      </p:sp>
      <p:sp>
        <p:nvSpPr>
          <p:cNvPr id="1048759"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60" name="日期占位符 3"/>
          <p:cNvSpPr>
            <a:spLocks noGrp="1"/>
          </p:cNvSpPr>
          <p:nvPr>
            <p:ph type="dt" sz="half" idx="10"/>
          </p:nvPr>
        </p:nvSpPr>
        <p:spPr/>
        <p:txBody>
          <a:bodyPr/>
          <a:lstStyle/>
          <a:p>
            <a:fld id="{E95C6458-6531-C542-B4F8-05C98E657C67}"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761"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2"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3"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64" name="标题 1"/>
          <p:cNvSpPr>
            <a:spLocks noGrp="1"/>
          </p:cNvSpPr>
          <p:nvPr>
            <p:ph type="ctrTitle"/>
          </p:nvPr>
        </p:nvSpPr>
        <p:spPr>
          <a:xfrm>
            <a:off x="685804" y="1597820"/>
            <a:ext cx="7772400" cy="1102519"/>
          </a:xfrm>
        </p:spPr>
        <p:txBody>
          <a:bodyPr/>
          <a:lstStyle/>
          <a:p>
            <a:r>
              <a:rPr lang="zh-CN" altLang="en-US"/>
              <a:t>单击此处编辑母版标题样式</a:t>
            </a:r>
          </a:p>
        </p:txBody>
      </p:sp>
      <p:sp>
        <p:nvSpPr>
          <p:cNvPr id="1048765"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766" name="日期占位符 3"/>
          <p:cNvSpPr>
            <a:spLocks noGrp="1"/>
          </p:cNvSpPr>
          <p:nvPr>
            <p:ph type="dt" sz="half" idx="10"/>
          </p:nvPr>
        </p:nvSpPr>
        <p:spPr/>
        <p:txBody>
          <a:bodyPr/>
          <a:lstStyle/>
          <a:p>
            <a:fld id="{09ADA66B-676E-CD4E-B081-91080642D49F}"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767"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8"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9"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2" name="图片 8"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cxnSp>
        <p:nvCxnSpPr>
          <p:cNvPr id="3145735" name="直接连接符 10"/>
          <p:cNvCxnSpPr/>
          <p:nvPr/>
        </p:nvCxnSpPr>
        <p:spPr>
          <a:xfrm>
            <a:off x="1270033" y="-835836"/>
            <a:ext cx="7190906"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70" name="标题 1"/>
          <p:cNvSpPr>
            <a:spLocks noGrp="1"/>
          </p:cNvSpPr>
          <p:nvPr>
            <p:ph type="title"/>
          </p:nvPr>
        </p:nvSpPr>
        <p:spPr/>
        <p:txBody>
          <a:bodyPr/>
          <a:lstStyle>
            <a:lvl1pPr>
              <a:defRPr>
                <a:latin typeface="Heiti SC Medium" pitchFamily="2" charset="-128"/>
                <a:ea typeface="Heiti SC Medium" pitchFamily="2" charset="-128"/>
              </a:defRPr>
            </a:lvl1pPr>
          </a:lstStyle>
          <a:p>
            <a:r>
              <a:rPr lang="zh-CN" altLang="en-US" dirty="0"/>
              <a:t>单击此处编辑母版标题样式</a:t>
            </a:r>
          </a:p>
        </p:txBody>
      </p:sp>
      <p:sp>
        <p:nvSpPr>
          <p:cNvPr id="1048771" name="内容占位符 2"/>
          <p:cNvSpPr>
            <a:spLocks noGrp="1"/>
          </p:cNvSpPr>
          <p:nvPr>
            <p:ph idx="1"/>
          </p:nvPr>
        </p:nvSpPr>
        <p:spPr/>
        <p:txBody>
          <a:bodyPr/>
          <a:lstStyle>
            <a:lvl1pPr>
              <a:defRPr>
                <a:latin typeface="Heiti SC Medium" pitchFamily="2" charset="-128"/>
                <a:ea typeface="Heiti SC Medium" pitchFamily="2" charset="-128"/>
              </a:defRPr>
            </a:lvl1pPr>
            <a:lvl2pPr>
              <a:defRPr>
                <a:latin typeface="Heiti SC Medium" pitchFamily="2" charset="-128"/>
                <a:ea typeface="Heiti SC Medium" pitchFamily="2" charset="-128"/>
              </a:defRPr>
            </a:lvl2pPr>
            <a:lvl3pPr>
              <a:defRPr>
                <a:latin typeface="Heiti SC Medium" pitchFamily="2" charset="-128"/>
                <a:ea typeface="Heiti SC Medium" pitchFamily="2" charset="-128"/>
              </a:defRPr>
            </a:lvl3pPr>
            <a:lvl4pPr>
              <a:defRPr>
                <a:latin typeface="Heiti SC Medium" pitchFamily="2" charset="-128"/>
                <a:ea typeface="Heiti SC Medium" pitchFamily="2" charset="-128"/>
              </a:defRPr>
            </a:lvl4pPr>
            <a:lvl5pPr>
              <a:defRPr>
                <a:latin typeface="Heiti SC Medium" pitchFamily="2" charset="-128"/>
                <a:ea typeface="Heiti SC Medium" pitchFamily="2" charset="-128"/>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日期占位符 3"/>
          <p:cNvSpPr>
            <a:spLocks noGrp="1"/>
          </p:cNvSpPr>
          <p:nvPr>
            <p:ph type="dt" sz="half" idx="10"/>
          </p:nvPr>
        </p:nvSpPr>
        <p:spPr/>
        <p:txBody>
          <a:bodyPr/>
          <a:lstStyle/>
          <a:p>
            <a:fld id="{9F07BCDC-368C-B043-A278-5DB4B1E7C84C}"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773"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74"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75"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4" name="图片 9"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9" name="日期占位符 1"/>
          <p:cNvSpPr>
            <a:spLocks noGrp="1"/>
          </p:cNvSpPr>
          <p:nvPr>
            <p:ph type="dt" sz="half" idx="10"/>
          </p:nvPr>
        </p:nvSpPr>
        <p:spPr/>
        <p:txBody>
          <a:bodyPr/>
          <a:lstStyle/>
          <a:p>
            <a:fld id="{2E9ECB42-62F7-154E-8340-E5ABC877155F}"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610"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1048611" name="灯片编号占位符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53" name="组合 30"/>
          <p:cNvGrpSpPr>
            <a:grpSpLocks noGrp="1"/>
          </p:cNvGrpSpPr>
          <p:nvPr userDrawn="1"/>
        </p:nvGrpSpPr>
        <p:grpSpPr>
          <a:xfrm>
            <a:off x="323528" y="308459"/>
            <a:ext cx="8496944" cy="463083"/>
            <a:chOff x="5282161" y="1404744"/>
            <a:chExt cx="3543196" cy="233762"/>
          </a:xfrm>
        </p:grpSpPr>
        <p:cxnSp>
          <p:nvCxnSpPr>
            <p:cNvPr id="3145730" name="直接连接符 8"/>
            <p:cNvCxnSpPr/>
            <p:nvPr/>
          </p:nvCxnSpPr>
          <p:spPr>
            <a:xfrm>
              <a:off x="5282161" y="1638506"/>
              <a:ext cx="3536170"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
          <p:nvSpPr>
            <p:cNvPr id="1048613" name="TextBox 8"/>
            <p:cNvSpPr txBox="1"/>
            <p:nvPr/>
          </p:nvSpPr>
          <p:spPr>
            <a:xfrm>
              <a:off x="5522378" y="1404744"/>
              <a:ext cx="3302979" cy="233046"/>
            </a:xfrm>
            <a:prstGeom prst="rect">
              <a:avLst/>
            </a:prstGeom>
            <a:noFill/>
          </p:spPr>
          <p:txBody>
            <a:bodyPr wrap="square" rtlCol="0">
              <a:spAutoFit/>
            </a:bodyPr>
            <a:lstStyle/>
            <a:p>
              <a:pPr defTabSz="914400"/>
              <a:endParaRPr lang="zh-CN" altLang="en-US" sz="2400" b="1" dirty="0">
                <a:solidFill>
                  <a:srgbClr val="800080"/>
                </a:solidFill>
                <a:latin typeface="HEITI SC MEDIUM" pitchFamily="2" charset="-128"/>
                <a:ea typeface="HEITI SC MEDIUM" pitchFamily="2" charset="-128"/>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1863000"/>
            <a:ext cx="7349400" cy="764100"/>
          </a:xfrm>
        </p:spPr>
        <p:txBody>
          <a:bodyPr vert="horz" lIns="90000" tIns="46800" rIns="90000" bIns="46800" rtlCol="0" anchor="t" anchorCtr="0">
            <a:normAutofit/>
          </a:bodyPr>
          <a:lstStyle>
            <a:lvl1pPr marL="0" marR="0" algn="ctr" defTabSz="685800" rtl="0" eaLnBrk="1" fontAlgn="auto" latinLnBrk="0" hangingPunct="1">
              <a:lnSpc>
                <a:spcPct val="100000"/>
              </a:lnSpc>
              <a:buNone/>
              <a:defRPr kumimoji="0" lang="zh-CN" altLang="en-US" sz="4500" b="1" i="0" u="none" strike="noStrike" kern="1200" cap="none" spc="225"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7" name="文本占位符 6"/>
          <p:cNvSpPr>
            <a:spLocks noGrp="1"/>
          </p:cNvSpPr>
          <p:nvPr>
            <p:ph type="body" sz="quarter" idx="13"/>
            <p:custDataLst>
              <p:tags r:id="rId5"/>
            </p:custDataLst>
          </p:nvPr>
        </p:nvSpPr>
        <p:spPr>
          <a:xfrm>
            <a:off x="899100" y="2670300"/>
            <a:ext cx="7349400" cy="353700"/>
          </a:xfrm>
        </p:spPr>
        <p:txBody>
          <a:bodyPr lIns="90000" tIns="46800" rIns="90000" bIns="46800">
            <a:normAutofit/>
          </a:bodyPr>
          <a:lstStyle>
            <a:lvl1pPr marL="0" indent="0" algn="ctr">
              <a:lnSpc>
                <a:spcPct val="110000"/>
              </a:lnSpc>
              <a:buNone/>
              <a:defRPr sz="1800" spc="150" baseline="0">
                <a:solidFill>
                  <a:schemeClr val="tx1">
                    <a:lumMod val="65000"/>
                    <a:lumOff val="35000"/>
                  </a:schemeClr>
                </a:solidFill>
              </a:defRPr>
            </a:lvl1pPr>
          </a:lstStyle>
          <a:p>
            <a:pPr lvl="0"/>
            <a:r>
              <a:rPr lang="zh-CN" altLang="en-US" dirty="0"/>
              <a:t>单击此处编辑母版文本样式</a:t>
            </a:r>
          </a:p>
        </p:txBody>
      </p:sp>
    </p:spTree>
    <p:extLst>
      <p:ext uri="{BB962C8B-B14F-4D97-AF65-F5344CB8AC3E}">
        <p14:creationId xmlns:p14="http://schemas.microsoft.com/office/powerpoint/2010/main" val="383121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2097192" name="图片 17" descr="sy.jpg"/>
          <p:cNvPicPr>
            <a:picLocks noChangeAspect="1"/>
          </p:cNvPicPr>
          <p:nvPr userDrawn="1"/>
        </p:nvPicPr>
        <p:blipFill>
          <a:blip r:embed="rId2"/>
          <a:stretch>
            <a:fillRect/>
          </a:stretch>
        </p:blipFill>
        <p:spPr>
          <a:xfrm>
            <a:off x="0" y="1437085"/>
            <a:ext cx="9144000" cy="1890713"/>
          </a:xfrm>
          <a:prstGeom prst="rect">
            <a:avLst/>
          </a:prstGeom>
          <a:noFill/>
          <a:ln w="9525">
            <a:noFill/>
          </a:ln>
        </p:spPr>
      </p:pic>
      <p:sp>
        <p:nvSpPr>
          <p:cNvPr id="1048800" name="矩形 6"/>
          <p:cNvSpPr/>
          <p:nvPr/>
        </p:nvSpPr>
        <p:spPr>
          <a:xfrm>
            <a:off x="294085" y="222647"/>
            <a:ext cx="2520554" cy="9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pic>
        <p:nvPicPr>
          <p:cNvPr id="2097193" name="Picture 2" descr="D:\My Pictures\nju\南京大学视觉形象规范化标准(jpeg格式文件)\03校标，中、英文校名组合.jpg"/>
          <p:cNvPicPr>
            <a:picLocks noChangeAspect="1"/>
          </p:cNvPicPr>
          <p:nvPr userDrawn="1"/>
        </p:nvPicPr>
        <p:blipFill>
          <a:blip r:embed="rId3"/>
          <a:stretch>
            <a:fillRect/>
          </a:stretch>
        </p:blipFill>
        <p:spPr>
          <a:xfrm>
            <a:off x="501254" y="395288"/>
            <a:ext cx="2106215" cy="627460"/>
          </a:xfrm>
          <a:prstGeom prst="rect">
            <a:avLst/>
          </a:prstGeom>
          <a:noFill/>
          <a:ln w="9525">
            <a:noFill/>
          </a:ln>
        </p:spPr>
      </p:pic>
      <p:sp>
        <p:nvSpPr>
          <p:cNvPr id="1048801" name="矩形 7"/>
          <p:cNvSpPr>
            <a:spLocks noChangeArrowheads="1"/>
          </p:cNvSpPr>
          <p:nvPr/>
        </p:nvSpPr>
        <p:spPr bwMode="auto">
          <a:xfrm>
            <a:off x="5661422" y="357188"/>
            <a:ext cx="3482579" cy="507831"/>
          </a:xfrm>
          <a:prstGeom prst="rect">
            <a:avLst/>
          </a:prstGeom>
          <a:solidFill>
            <a:srgbClr val="630D5F"/>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100000"/>
              </a:lnSpc>
              <a:spcBef>
                <a:spcPct val="0"/>
              </a:spcBef>
              <a:spcAft>
                <a:spcPct val="0"/>
              </a:spcAft>
              <a:buClrTx/>
              <a:buSzTx/>
              <a:buFontTx/>
              <a:buNone/>
            </a:pPr>
            <a:r>
              <a:rPr kumimoji="0" lang="zh-CN" altLang="en-US" sz="2700" b="0" i="0" u="none" strike="noStrike" kern="1200" cap="none" spc="0" normalizeH="0" baseline="0" noProof="0">
                <a:ln>
                  <a:noFill/>
                </a:ln>
                <a:solidFill>
                  <a:prstClr val="white"/>
                </a:solidFill>
                <a:effectLst/>
                <a:uLnTx/>
                <a:uFillTx/>
                <a:latin typeface="华文新魏" panose="02010800040101010101" pitchFamily="2" charset="-122"/>
                <a:ea typeface="华文新魏" panose="02010800040101010101" pitchFamily="2" charset="-122"/>
                <a:cs typeface="+mn-cs"/>
              </a:rPr>
              <a:t>诚朴雄伟   励学敦行</a:t>
            </a:r>
          </a:p>
        </p:txBody>
      </p:sp>
      <p:sp>
        <p:nvSpPr>
          <p:cNvPr id="1048802" name="标题 1"/>
          <p:cNvSpPr>
            <a:spLocks noGrp="1"/>
          </p:cNvSpPr>
          <p:nvPr>
            <p:ph type="ctrTitle"/>
          </p:nvPr>
        </p:nvSpPr>
        <p:spPr>
          <a:xfrm>
            <a:off x="251520" y="1799332"/>
            <a:ext cx="5112568" cy="1107996"/>
          </a:xfrm>
        </p:spPr>
        <p:txBody>
          <a:bodyPr/>
          <a:lstStyle>
            <a:lvl1pPr algn="ctr">
              <a:defRPr sz="3300" b="1">
                <a:solidFill>
                  <a:srgbClr val="FF0000"/>
                </a:solidFill>
                <a:effectLst/>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1048803" name="副标题 2"/>
          <p:cNvSpPr>
            <a:spLocks noGrp="1"/>
          </p:cNvSpPr>
          <p:nvPr>
            <p:ph type="subTitle" idx="1"/>
          </p:nvPr>
        </p:nvSpPr>
        <p:spPr>
          <a:xfrm>
            <a:off x="287526" y="3813889"/>
            <a:ext cx="8568952" cy="461665"/>
          </a:xfrm>
        </p:spPr>
        <p:txBody>
          <a:bodyPr/>
          <a:lstStyle>
            <a:lvl1pPr marL="0" indent="0" algn="ctr">
              <a:buNone/>
              <a:defRPr sz="2400" b="1">
                <a:solidFill>
                  <a:srgbClr val="7030A0"/>
                </a:solidFill>
                <a:effectLst/>
                <a:latin typeface="方正小标宋简体" panose="02000000000000000000" pitchFamily="2" charset="-122"/>
                <a:ea typeface="方正小标宋简体" panose="02000000000000000000" pitchFamily="2" charset="-122"/>
                <a:cs typeface="Arial" panose="020B0604020202020204" pitchFamily="34"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noProof="1"/>
              <a:t>单击此处编辑母版副标题样式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097191" name="Picture 5"/>
          <p:cNvPicPr/>
          <p:nvPr/>
        </p:nvPicPr>
        <p:blipFill>
          <a:blip r:embed="rId2"/>
          <a:stretch>
            <a:fillRect/>
          </a:stretch>
        </p:blipFill>
        <p:spPr>
          <a:xfrm>
            <a:off x="457200" y="1847850"/>
            <a:ext cx="2228850" cy="2219325"/>
          </a:xfrm>
          <a:prstGeom prst="rect">
            <a:avLst/>
          </a:prstGeom>
          <a:noFill/>
          <a:ln w="9525">
            <a:noFill/>
          </a:ln>
        </p:spPr>
      </p:pic>
      <p:sp>
        <p:nvSpPr>
          <p:cNvPr id="1048790" name="矩形 6"/>
          <p:cNvSpPr/>
          <p:nvPr/>
        </p:nvSpPr>
        <p:spPr>
          <a:xfrm>
            <a:off x="2556272" y="859631"/>
            <a:ext cx="6119813" cy="5954"/>
          </a:xfrm>
          <a:prstGeom prst="rect">
            <a:avLst/>
          </a:prstGeom>
          <a:solidFill>
            <a:srgbClr val="630D5F"/>
          </a:solidFill>
          <a:ln w="38100">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1" name="标题 1"/>
          <p:cNvSpPr>
            <a:spLocks noGrp="1"/>
          </p:cNvSpPr>
          <p:nvPr>
            <p:ph type="title"/>
          </p:nvPr>
        </p:nvSpPr>
        <p:spPr>
          <a:xfrm>
            <a:off x="0" y="403771"/>
            <a:ext cx="8686800" cy="461665"/>
          </a:xfrm>
        </p:spPr>
        <p:txBody>
          <a:bodyPr/>
          <a:lstStyle/>
          <a:p>
            <a:r>
              <a:rPr lang="zh-CN" altLang="en-US" noProof="1"/>
              <a:t>单击此处编辑母版标题样式</a:t>
            </a:r>
          </a:p>
        </p:txBody>
      </p:sp>
      <p:sp>
        <p:nvSpPr>
          <p:cNvPr id="1048792" name="内容占位符 4"/>
          <p:cNvSpPr>
            <a:spLocks noGrp="1"/>
          </p:cNvSpPr>
          <p:nvPr>
            <p:ph sz="quarter" idx="10"/>
          </p:nvPr>
        </p:nvSpPr>
        <p:spPr>
          <a:xfrm>
            <a:off x="3437874" y="1793454"/>
            <a:ext cx="5248926" cy="415498"/>
          </a:xfrm>
        </p:spPr>
        <p:txBody>
          <a:bodyPr/>
          <a:lstStyle>
            <a:lvl1pPr marL="540385" indent="-540385">
              <a:buFont typeface="+mj-ea"/>
              <a:buAutoNum type="ea1JpnChsDbPeriod"/>
              <a:defRPr>
                <a:solidFill>
                  <a:schemeClr val="accent6">
                    <a:lumMod val="75000"/>
                  </a:schemeClr>
                </a:solidFill>
              </a:defRPr>
            </a:lvl1pPr>
            <a:lvl2pPr marL="771525" indent="-428625">
              <a:buFont typeface="+mj-ea"/>
              <a:buAutoNum type="ea1JpnChsDbPeriod"/>
              <a:defRPr>
                <a:solidFill>
                  <a:schemeClr val="tx1"/>
                </a:solidFill>
              </a:defRPr>
            </a:lvl2pPr>
          </a:lstStyle>
          <a:p>
            <a:pPr lvl="0"/>
            <a:r>
              <a:rPr lang="zh-CN" altLang="en-US" noProof="1"/>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048804"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5" name="标题 1"/>
          <p:cNvSpPr>
            <a:spLocks noGrp="1"/>
          </p:cNvSpPr>
          <p:nvPr>
            <p:ph type="title"/>
          </p:nvPr>
        </p:nvSpPr>
        <p:spPr>
          <a:xfrm>
            <a:off x="0" y="403771"/>
            <a:ext cx="8676456"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6"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258445"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1048807"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8" name="标题 1"/>
          <p:cNvSpPr>
            <a:spLocks noGrp="1"/>
          </p:cNvSpPr>
          <p:nvPr>
            <p:ph type="title"/>
          </p:nvPr>
        </p:nvSpPr>
        <p:spPr>
          <a:xfrm>
            <a:off x="2555874" y="403771"/>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9"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539750"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1048810"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11" name="标题 1"/>
          <p:cNvSpPr>
            <a:spLocks noGrp="1"/>
          </p:cNvSpPr>
          <p:nvPr>
            <p:ph type="title"/>
          </p:nvPr>
        </p:nvSpPr>
        <p:spPr>
          <a:xfrm>
            <a:off x="2555874" y="403772"/>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12" name="内容占位符 2"/>
          <p:cNvSpPr>
            <a:spLocks noGrp="1"/>
          </p:cNvSpPr>
          <p:nvPr>
            <p:ph idx="1"/>
          </p:nvPr>
        </p:nvSpPr>
        <p:spPr>
          <a:xfrm>
            <a:off x="457200" y="1200151"/>
            <a:ext cx="8229600" cy="803297"/>
          </a:xfrm>
        </p:spPr>
        <p:txBody>
          <a:bodyPr/>
          <a:lstStyle>
            <a:lvl1pPr>
              <a:defRPr sz="21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601345" indent="-258445">
              <a:buFont typeface="Wingdings" panose="05000000000000000000" pitchFamily="2" charset="2"/>
              <a:buChar char="Ø"/>
              <a:defRPr sz="2100">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48778"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779" name="标题 1"/>
          <p:cNvSpPr>
            <a:spLocks noGrp="1"/>
          </p:cNvSpPr>
          <p:nvPr>
            <p:ph type="title"/>
          </p:nvPr>
        </p:nvSpPr>
        <p:spPr>
          <a:xfrm>
            <a:off x="2555776" y="403771"/>
            <a:ext cx="6131024" cy="461665"/>
          </a:xfrm>
        </p:spPr>
        <p:txBody>
          <a:bodyPr/>
          <a:lstStyle>
            <a:lvl1pPr>
              <a:defRPr sz="2400"/>
            </a:lvl1pPr>
          </a:lstStyle>
          <a:p>
            <a:r>
              <a:rPr lang="zh-CN" altLang="en-US" noProof="1"/>
              <a:t>单击此处编辑母版标题样式</a:t>
            </a:r>
          </a:p>
        </p:txBody>
      </p:sp>
      <p:sp>
        <p:nvSpPr>
          <p:cNvPr id="1048780" name="内容占位符 3"/>
          <p:cNvSpPr>
            <a:spLocks noGrp="1"/>
          </p:cNvSpPr>
          <p:nvPr>
            <p:ph sz="quarter" idx="10"/>
          </p:nvPr>
        </p:nvSpPr>
        <p:spPr>
          <a:xfrm>
            <a:off x="457200" y="1200151"/>
            <a:ext cx="4006788"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
        <p:nvSpPr>
          <p:cNvPr id="1048781" name="内容占位符 5"/>
          <p:cNvSpPr>
            <a:spLocks noGrp="1"/>
          </p:cNvSpPr>
          <p:nvPr>
            <p:ph sz="quarter" idx="11"/>
          </p:nvPr>
        </p:nvSpPr>
        <p:spPr>
          <a:xfrm>
            <a:off x="4572000" y="1200151"/>
            <a:ext cx="4114800"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782" name="标题 1"/>
          <p:cNvSpPr>
            <a:spLocks noGrp="1"/>
          </p:cNvSpPr>
          <p:nvPr>
            <p:ph type="title"/>
          </p:nvPr>
        </p:nvSpPr>
        <p:spPr>
          <a:xfrm>
            <a:off x="2541984" y="4210006"/>
            <a:ext cx="5486400" cy="415498"/>
          </a:xfrm>
        </p:spPr>
        <p:txBody>
          <a:bodyPr anchor="b"/>
          <a:lstStyle>
            <a:lvl1pPr algn="ctr">
              <a:defRPr sz="2100" b="1">
                <a:solidFill>
                  <a:srgbClr val="630D5F"/>
                </a:solidFill>
              </a:defRPr>
            </a:lvl1pPr>
          </a:lstStyle>
          <a:p>
            <a:r>
              <a:rPr lang="zh-CN" altLang="en-US" noProof="1"/>
              <a:t>单击此处编辑母版标题样式</a:t>
            </a:r>
          </a:p>
        </p:txBody>
      </p:sp>
      <p:sp>
        <p:nvSpPr>
          <p:cNvPr id="1048783" name="图片占位符 2"/>
          <p:cNvSpPr>
            <a:spLocks noGrp="1"/>
          </p:cNvSpPr>
          <p:nvPr>
            <p:ph type="pic" idx="1"/>
          </p:nvPr>
        </p:nvSpPr>
        <p:spPr>
          <a:xfrm>
            <a:off x="2541984" y="1059582"/>
            <a:ext cx="5486400" cy="3086100"/>
          </a:xfrm>
        </p:spPr>
        <p:txBody>
          <a:bodyPr vert="horz" wrap="square" lIns="91440" tIns="45720" rIns="91440" bIns="45720" numCol="1" rtlCol="0" anchor="t" anchorCtr="0" compatLnSpc="1">
            <a:normAutofit/>
          </a:bodyPr>
          <a:lstStyle>
            <a:lvl1pPr marL="0" indent="0">
              <a:buNone/>
              <a:defRPr sz="2400">
                <a:solidFill>
                  <a:schemeClr val="tx1"/>
                </a:solidFill>
                <a:latin typeface="隶书" panose="02010509060101010101" pitchFamily="49" charset="-122"/>
                <a:ea typeface="隶书" panose="02010509060101010101" pitchFamily="49" charset="-122"/>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100000"/>
              </a:lnSpc>
              <a:spcBef>
                <a:spcPct val="20000"/>
              </a:spcBef>
              <a:spcAft>
                <a:spcPct val="0"/>
              </a:spcAft>
              <a:buClrTx/>
              <a:buSzTx/>
              <a:buFont typeface="Arial" panose="020B0604020202020204" pitchFamily="34" charset="0"/>
              <a:buNone/>
            </a:pP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1048797"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8" name="标题 1"/>
          <p:cNvSpPr>
            <a:spLocks noGrp="1"/>
          </p:cNvSpPr>
          <p:nvPr>
            <p:ph type="title"/>
          </p:nvPr>
        </p:nvSpPr>
        <p:spPr>
          <a:xfrm>
            <a:off x="522001" y="1795421"/>
            <a:ext cx="8099999" cy="646331"/>
          </a:xfrm>
        </p:spPr>
        <p:txBody>
          <a:bodyPr/>
          <a:lstStyle>
            <a:lvl1pPr algn="ctr">
              <a:defRPr sz="3600">
                <a:solidFill>
                  <a:schemeClr val="bg1"/>
                </a:solidFill>
              </a:defRPr>
            </a:lvl1pPr>
          </a:lstStyle>
          <a:p>
            <a:r>
              <a:rPr lang="zh-CN" altLang="en-US" noProof="1"/>
              <a:t>单击此处编辑母版标题样式</a:t>
            </a:r>
          </a:p>
        </p:txBody>
      </p:sp>
      <p:sp>
        <p:nvSpPr>
          <p:cNvPr id="1048799" name="文本占位符 5"/>
          <p:cNvSpPr>
            <a:spLocks noGrp="1"/>
          </p:cNvSpPr>
          <p:nvPr>
            <p:ph type="body" sz="quarter" idx="10"/>
          </p:nvPr>
        </p:nvSpPr>
        <p:spPr>
          <a:xfrm>
            <a:off x="650082" y="2973817"/>
            <a:ext cx="7918363" cy="369332"/>
          </a:xfrm>
        </p:spPr>
        <p:txBody>
          <a:bodyPr/>
          <a:lstStyle>
            <a:lvl1pPr>
              <a:defRPr sz="1800">
                <a:solidFill>
                  <a:schemeClr val="tx1"/>
                </a:solidFill>
              </a:defRPr>
            </a:lvl1pPr>
          </a:lstStyle>
          <a:p>
            <a:pPr lvl="0"/>
            <a:r>
              <a:rPr lang="zh-CN" altLang="en-US" noProof="1"/>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48793"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4" name="标题 1"/>
          <p:cNvSpPr>
            <a:spLocks noGrp="1"/>
          </p:cNvSpPr>
          <p:nvPr>
            <p:ph type="title"/>
          </p:nvPr>
        </p:nvSpPr>
        <p:spPr>
          <a:xfrm>
            <a:off x="522001" y="1864670"/>
            <a:ext cx="8099999" cy="507831"/>
          </a:xfrm>
        </p:spPr>
        <p:txBody>
          <a:bodyPr/>
          <a:lstStyle>
            <a:lvl1pPr algn="ctr">
              <a:defRPr sz="2700">
                <a:solidFill>
                  <a:schemeClr val="bg1"/>
                </a:solidFill>
              </a:defRPr>
            </a:lvl1pPr>
          </a:lstStyle>
          <a:p>
            <a:r>
              <a:rPr lang="zh-CN" altLang="en-US" noProof="1"/>
              <a:t>单击此处编辑母版标题样式</a:t>
            </a:r>
          </a:p>
        </p:txBody>
      </p:sp>
      <p:sp>
        <p:nvSpPr>
          <p:cNvPr id="1048795" name="文本占位符 5"/>
          <p:cNvSpPr>
            <a:spLocks noGrp="1"/>
          </p:cNvSpPr>
          <p:nvPr>
            <p:ph type="body" sz="quarter" idx="10"/>
          </p:nvPr>
        </p:nvSpPr>
        <p:spPr>
          <a:xfrm>
            <a:off x="650082" y="2973817"/>
            <a:ext cx="3165835" cy="646331"/>
          </a:xfrm>
        </p:spPr>
        <p:txBody>
          <a:bodyPr/>
          <a:lstStyle>
            <a:lvl1pPr>
              <a:defRPr sz="1800">
                <a:solidFill>
                  <a:schemeClr val="tx1"/>
                </a:solidFill>
              </a:defRPr>
            </a:lvl1pPr>
          </a:lstStyle>
          <a:p>
            <a:pPr lvl="0"/>
            <a:r>
              <a:rPr lang="zh-CN" altLang="en-US" noProof="1"/>
              <a:t>单击此处编辑母版文本样式</a:t>
            </a:r>
          </a:p>
        </p:txBody>
      </p:sp>
      <p:sp>
        <p:nvSpPr>
          <p:cNvPr id="1048796" name="内容占位符 4"/>
          <p:cNvSpPr>
            <a:spLocks noGrp="1"/>
          </p:cNvSpPr>
          <p:nvPr>
            <p:ph sz="quarter" idx="11"/>
          </p:nvPr>
        </p:nvSpPr>
        <p:spPr>
          <a:xfrm>
            <a:off x="4626006" y="2973817"/>
            <a:ext cx="3996500" cy="369332"/>
          </a:xfrm>
        </p:spPr>
        <p:txBody>
          <a:bodyPr/>
          <a:lstStyle>
            <a:lvl1pPr>
              <a:defRPr lang="zh-CN" altLang="en-US" sz="1800" b="1"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noProof="1"/>
              <a:t>单击此处编辑母版文本样式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1048787" name="Rectangle 46"/>
          <p:cNvSpPr>
            <a:spLocks noChangeArrowheads="1"/>
          </p:cNvSpPr>
          <p:nvPr/>
        </p:nvSpPr>
        <p:spPr bwMode="auto">
          <a:xfrm>
            <a:off x="3048000" y="2288382"/>
            <a:ext cx="1524000" cy="1088231"/>
          </a:xfrm>
          <a:prstGeom prst="rect">
            <a:avLst/>
          </a:prstGeom>
          <a:solidFill>
            <a:srgbClr val="339933"/>
          </a:solidFill>
          <a:ln>
            <a:noFill/>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8" name="Rectangle 47"/>
          <p:cNvSpPr>
            <a:spLocks noChangeArrowheads="1"/>
          </p:cNvSpPr>
          <p:nvPr/>
        </p:nvSpPr>
        <p:spPr bwMode="gray">
          <a:xfrm>
            <a:off x="4572000" y="3374231"/>
            <a:ext cx="1524000" cy="1085850"/>
          </a:xfrm>
          <a:prstGeom prst="rect">
            <a:avLst/>
          </a:prstGeom>
          <a:solidFill>
            <a:schemeClr val="accent6">
              <a:lumMod val="75000"/>
            </a:schemeClr>
          </a:solidFill>
          <a:ln w="9525">
            <a:noFill/>
            <a:miter lim="800000"/>
          </a:ln>
        </p:spPr>
        <p:txBody>
          <a:bodyPr wrap="none" anchor="ctr"/>
          <a:lstStyle/>
          <a:p>
            <a:pPr marL="0" marR="0" lvl="0" indent="0" algn="l"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srgbClr val="F79646">
                  <a:lumMod val="75000"/>
                </a:srgbClr>
              </a:solidFill>
              <a:effectLst/>
              <a:uLnTx/>
              <a:uFillTx/>
              <a:latin typeface="Calibri" panose="020F0502020204030204" pitchFamily="34" charset="0"/>
              <a:ea typeface="宋体" panose="02010600030101010101" pitchFamily="2" charset="-122"/>
              <a:cs typeface="+mn-cs"/>
            </a:endParaRPr>
          </a:p>
        </p:txBody>
      </p:sp>
      <p:pic>
        <p:nvPicPr>
          <p:cNvPr id="2097187" name="Picture 5" descr="C:\Documents and Settings\Administrator\桌面\1.jpg"/>
          <p:cNvPicPr/>
          <p:nvPr/>
        </p:nvPicPr>
        <p:blipFill>
          <a:blip r:embed="rId2"/>
          <a:stretch>
            <a:fillRect/>
          </a:stretch>
        </p:blipFill>
        <p:spPr>
          <a:xfrm>
            <a:off x="1537097" y="2286001"/>
            <a:ext cx="1522809" cy="1088231"/>
          </a:xfrm>
          <a:prstGeom prst="rect">
            <a:avLst/>
          </a:prstGeom>
          <a:noFill/>
          <a:ln w="9525">
            <a:noFill/>
          </a:ln>
        </p:spPr>
      </p:pic>
      <p:pic>
        <p:nvPicPr>
          <p:cNvPr id="2097188" name="Picture 6" descr="C:\Documents and Settings\Administrator\桌面\2.jpg"/>
          <p:cNvPicPr/>
          <p:nvPr/>
        </p:nvPicPr>
        <p:blipFill>
          <a:blip r:embed="rId3"/>
          <a:stretch>
            <a:fillRect/>
          </a:stretch>
        </p:blipFill>
        <p:spPr>
          <a:xfrm>
            <a:off x="4572000" y="2288382"/>
            <a:ext cx="1522810" cy="1088231"/>
          </a:xfrm>
          <a:prstGeom prst="rect">
            <a:avLst/>
          </a:prstGeom>
          <a:noFill/>
          <a:ln w="9525">
            <a:noFill/>
          </a:ln>
        </p:spPr>
      </p:pic>
      <p:pic>
        <p:nvPicPr>
          <p:cNvPr id="2097189" name="Picture 7" descr="C:\Documents and Settings\Administrator\桌面\3.jpg"/>
          <p:cNvPicPr/>
          <p:nvPr/>
        </p:nvPicPr>
        <p:blipFill>
          <a:blip r:embed="rId4"/>
          <a:stretch>
            <a:fillRect/>
          </a:stretch>
        </p:blipFill>
        <p:spPr>
          <a:xfrm>
            <a:off x="6096000" y="3369469"/>
            <a:ext cx="1522810" cy="1088231"/>
          </a:xfrm>
          <a:prstGeom prst="rect">
            <a:avLst/>
          </a:prstGeom>
          <a:noFill/>
          <a:ln w="9525">
            <a:noFill/>
          </a:ln>
        </p:spPr>
      </p:pic>
      <p:pic>
        <p:nvPicPr>
          <p:cNvPr id="2097190" name="Picture 8" descr="C:\Documents and Settings\Administrator\桌面\4.jpg"/>
          <p:cNvPicPr/>
          <p:nvPr/>
        </p:nvPicPr>
        <p:blipFill>
          <a:blip r:embed="rId5"/>
          <a:stretch>
            <a:fillRect/>
          </a:stretch>
        </p:blipFill>
        <p:spPr>
          <a:xfrm>
            <a:off x="3049191" y="3374232"/>
            <a:ext cx="1522809" cy="1088231"/>
          </a:xfrm>
          <a:prstGeom prst="rect">
            <a:avLst/>
          </a:prstGeom>
          <a:noFill/>
          <a:ln w="9525">
            <a:noFill/>
          </a:ln>
        </p:spPr>
      </p:pic>
      <p:sp>
        <p:nvSpPr>
          <p:cNvPr id="1048789" name="标题 1"/>
          <p:cNvSpPr>
            <a:spLocks noGrp="1"/>
          </p:cNvSpPr>
          <p:nvPr>
            <p:ph type="title"/>
          </p:nvPr>
        </p:nvSpPr>
        <p:spPr>
          <a:xfrm>
            <a:off x="683568" y="1426083"/>
            <a:ext cx="8154906" cy="553998"/>
          </a:xfrm>
        </p:spPr>
        <p:txBody>
          <a:bodyPr/>
          <a:lstStyle>
            <a:lvl1pPr algn="ctr">
              <a:defRPr sz="3000">
                <a:solidFill>
                  <a:srgbClr val="630D5F"/>
                </a:solidFill>
              </a:defRPr>
            </a:lvl1pPr>
          </a:lstStyle>
          <a:p>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84" name="日期占位符 1"/>
          <p:cNvSpPr>
            <a:spLocks noGrp="1"/>
          </p:cNvSpPr>
          <p:nvPr>
            <p:ph type="dt" sz="half" idx="2"/>
          </p:nvPr>
        </p:nvSpPr>
        <p:spPr>
          <a:xfrm>
            <a:off x="628650" y="4767263"/>
            <a:ext cx="20574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fld id="{3A6E3F11-7CA2-7C46-9D23-E4B03D42F68A}" type="datetime1">
              <a:rPr kumimoji="0" lang="zh-CN" altLang="en-US" sz="1350" b="0" i="0" u="none" strike="noStrike" kern="1200" cap="none" spc="0" normalizeH="0" baseline="0" noProof="1" smtClean="0">
                <a:ln>
                  <a:noFill/>
                </a:ln>
                <a:solidFill>
                  <a:prstClr val="black"/>
                </a:solidFill>
                <a:effectLst/>
                <a:uLnTx/>
                <a:uFillTx/>
                <a:latin typeface="Calibri" panose="020F0502020204030204" pitchFamily="34" charset="0"/>
                <a:ea typeface="宋体" panose="02010600030101010101" pitchFamily="2" charset="-122"/>
                <a:cs typeface="+mn-cs"/>
              </a:rPr>
              <a:t>2025/1/2</a:t>
            </a:fld>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5" name="页脚占位符 2"/>
          <p:cNvSpPr>
            <a:spLocks noGrp="1"/>
          </p:cNvSpPr>
          <p:nvPr>
            <p:ph type="ftr" sz="quarter" idx="3"/>
          </p:nvPr>
        </p:nvSpPr>
        <p:spPr>
          <a:xfrm>
            <a:off x="3028950" y="4767263"/>
            <a:ext cx="30861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6" name="灯片编号占位符 3"/>
          <p:cNvSpPr>
            <a:spLocks noGrp="1"/>
          </p:cNvSpPr>
          <p:nvPr>
            <p:ph type="sldNum" sz="quarter" idx="4"/>
          </p:nvPr>
        </p:nvSpPr>
        <p:spPr>
          <a:xfrm>
            <a:off x="6457950" y="4767263"/>
            <a:ext cx="2057400" cy="273844"/>
          </a:xfrm>
        </p:spPr>
        <p:txBody>
          <a:bodyPr vert="horz" wrap="square" lIns="91440" tIns="45720" rIns="91440" bIns="45720" numCol="1" anchor="t" anchorCtr="0" compatLnSpc="1"/>
          <a:lstStyle>
            <a:lvl1pPr eaLnBrk="1" hangingPunct="1">
              <a:defRPr smtClean="0"/>
            </a:lvl1pPr>
          </a:lstStyle>
          <a:p>
            <a:pPr marL="0" marR="0" lvl="0" indent="0" algn="l" defTabSz="685800" rtl="0" eaLnBrk="1" fontAlgn="base" latinLnBrk="0" hangingPunct="1">
              <a:lnSpc>
                <a:spcPct val="100000"/>
              </a:lnSpc>
              <a:spcBef>
                <a:spcPct val="0"/>
              </a:spcBef>
              <a:spcAft>
                <a:spcPct val="0"/>
              </a:spcAft>
              <a:buClrTx/>
              <a:buSzTx/>
              <a:buFontTx/>
              <a:buNone/>
            </a:pPr>
            <a:fld id="{DE2D1913-7E4E-494B-BB9D-C7D6A017BB24}" type="slidenum">
              <a:rPr kumimoji="0" lang="zh-CN" altLang="en-US" sz="135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a:t>
            </a:fld>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26"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27"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28" name="日期占位符 3"/>
          <p:cNvSpPr>
            <a:spLocks noGrp="1"/>
          </p:cNvSpPr>
          <p:nvPr>
            <p:ph type="dt" sz="half" idx="2"/>
          </p:nvPr>
        </p:nvSpPr>
        <p:spPr>
          <a:xfrm>
            <a:off x="457200" y="4767263"/>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fld id="{23DBFDC3-E906-A94A-8665-3FF24AC55B08}" type="datetime1">
              <a:rPr lang="zh-CN" altLang="en-US" smtClean="0"/>
              <a:t>2025/1/2</a:t>
            </a:fld>
            <a:endParaRPr lang="zh-CN" altLang="en-US"/>
          </a:p>
        </p:txBody>
      </p:sp>
      <p:sp>
        <p:nvSpPr>
          <p:cNvPr id="1048629" name="页脚占位符 4"/>
          <p:cNvSpPr>
            <a:spLocks noGrp="1"/>
          </p:cNvSpPr>
          <p:nvPr>
            <p:ph type="ftr" sz="quarter" idx="3"/>
          </p:nvPr>
        </p:nvSpPr>
        <p:spPr>
          <a:xfrm>
            <a:off x="3124204" y="4767263"/>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endParaRPr lang="zh-CN" altLang="en-US"/>
          </a:p>
        </p:txBody>
      </p:sp>
      <p:sp>
        <p:nvSpPr>
          <p:cNvPr id="1048630" name="灯片编号占位符 5"/>
          <p:cNvSpPr>
            <a:spLocks noGrp="1"/>
          </p:cNvSpPr>
          <p:nvPr>
            <p:ph type="sldNum" sz="quarter" idx="4"/>
          </p:nvPr>
        </p:nvSpPr>
        <p:spPr>
          <a:xfrm>
            <a:off x="6553200" y="4767263"/>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fld id="{09FCBBE2-63E4-4E90-8897-D61F1A357E4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4"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05"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06" name="日期占位符 3"/>
          <p:cNvSpPr>
            <a:spLocks noGrp="1"/>
          </p:cNvSpPr>
          <p:nvPr>
            <p:ph type="dt" sz="half" idx="2"/>
          </p:nvPr>
        </p:nvSpPr>
        <p:spPr>
          <a:xfrm>
            <a:off x="457200" y="4767264"/>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pPr defTabSz="914400"/>
            <a:fld id="{3C6AE5CD-E0DB-BC4D-AEAA-335A36D705B2}" type="datetime1">
              <a:rPr lang="zh-CN" altLang="en-US" smtClean="0">
                <a:solidFill>
                  <a:prstClr val="black">
                    <a:tint val="75000"/>
                  </a:prstClr>
                </a:solidFill>
              </a:rPr>
              <a:t>2025/1/2</a:t>
            </a:fld>
            <a:endParaRPr lang="zh-CN" altLang="en-US">
              <a:solidFill>
                <a:prstClr val="black">
                  <a:tint val="75000"/>
                </a:prstClr>
              </a:solidFill>
            </a:endParaRPr>
          </a:p>
        </p:txBody>
      </p:sp>
      <p:sp>
        <p:nvSpPr>
          <p:cNvPr id="1048607" name="页脚占位符 4"/>
          <p:cNvSpPr>
            <a:spLocks noGrp="1"/>
          </p:cNvSpPr>
          <p:nvPr>
            <p:ph type="ftr" sz="quarter" idx="3"/>
          </p:nvPr>
        </p:nvSpPr>
        <p:spPr>
          <a:xfrm>
            <a:off x="3124204" y="4767264"/>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1048608" name="灯片编号占位符 5"/>
          <p:cNvSpPr>
            <a:spLocks noGrp="1"/>
          </p:cNvSpPr>
          <p:nvPr>
            <p:ph type="sldNum" sz="quarter" idx="4"/>
          </p:nvPr>
        </p:nvSpPr>
        <p:spPr>
          <a:xfrm>
            <a:off x="6553200" y="4767264"/>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pPr defTabSz="914400"/>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89"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8776" name="标题占位符 1"/>
          <p:cNvSpPr>
            <a:spLocks noGrp="1"/>
          </p:cNvSpPr>
          <p:nvPr>
            <p:ph type="title"/>
          </p:nvPr>
        </p:nvSpPr>
        <p:spPr>
          <a:xfrm>
            <a:off x="2556273" y="403772"/>
            <a:ext cx="6130528" cy="461665"/>
          </a:xfrm>
          <a:prstGeom prst="rect">
            <a:avLst/>
          </a:prstGeom>
          <a:noFill/>
          <a:ln w="9525">
            <a:noFill/>
          </a:ln>
        </p:spPr>
        <p:txBody>
          <a:bodyPr anchor="ctr">
            <a:spAutoFit/>
          </a:bodyPr>
          <a:lstStyle/>
          <a:p>
            <a:pPr lvl="0"/>
            <a:r>
              <a:rPr lang="zh-CN" altLang="en-US" dirty="0"/>
              <a:t>单击此处编辑母版标题样式</a:t>
            </a:r>
          </a:p>
        </p:txBody>
      </p:sp>
      <p:sp>
        <p:nvSpPr>
          <p:cNvPr id="1048777" name="文本占位符 2"/>
          <p:cNvSpPr>
            <a:spLocks noGrp="1"/>
          </p:cNvSpPr>
          <p:nvPr>
            <p:ph type="body"/>
          </p:nvPr>
        </p:nvSpPr>
        <p:spPr>
          <a:xfrm>
            <a:off x="457200" y="1200150"/>
            <a:ext cx="8229600" cy="1191095"/>
          </a:xfrm>
          <a:prstGeom prst="rect">
            <a:avLst/>
          </a:prstGeom>
          <a:noFill/>
          <a:ln w="9525">
            <a:noFill/>
          </a:ln>
        </p:spPr>
        <p:txBody>
          <a:bodyPr>
            <a:spAutoFit/>
          </a:bodyPr>
          <a:lstStyle/>
          <a:p>
            <a:pPr lvl="0"/>
            <a:r>
              <a:rPr lang="en-US" altLang="en-US" dirty="0"/>
              <a:t>单击此处编辑母版文本样式</a:t>
            </a:r>
          </a:p>
          <a:p>
            <a:pPr lvl="1"/>
            <a:r>
              <a:rPr lang="en-US" altLang="en-US" dirty="0"/>
              <a:t>第二级</a:t>
            </a:r>
            <a:endParaRPr lang="en-US" altLang="zh-CN" dirty="0"/>
          </a:p>
          <a:p>
            <a:pPr lvl="2"/>
            <a:r>
              <a:rPr lang="en-US" altLang="zh-CN" dirty="0"/>
              <a:t> </a:t>
            </a:r>
            <a:r>
              <a:rPr lang="en-US" altLang="en-US" dirty="0"/>
              <a:t>第三级</a:t>
            </a:r>
          </a:p>
        </p:txBody>
      </p:sp>
      <p:pic>
        <p:nvPicPr>
          <p:cNvPr id="2097186" name="Picture 11"/>
          <p:cNvPicPr/>
          <p:nvPr/>
        </p:nvPicPr>
        <p:blipFill>
          <a:blip r:embed="rId14"/>
          <a:stretch>
            <a:fillRect/>
          </a:stretch>
        </p:blipFill>
        <p:spPr>
          <a:xfrm>
            <a:off x="6238875" y="2343150"/>
            <a:ext cx="2600325" cy="2600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lvl1pPr algn="r" rtl="0" eaLnBrk="0" fontAlgn="base" hangingPunct="0">
        <a:spcBef>
          <a:spcPct val="0"/>
        </a:spcBef>
        <a:spcAft>
          <a:spcPct val="0"/>
        </a:spcAft>
        <a:defRPr sz="2400" b="1" kern="1200">
          <a:solidFill>
            <a:srgbClr val="630D5F"/>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5pPr>
      <a:lvl6pPr marL="3429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6pPr>
      <a:lvl7pPr marL="6858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7pPr>
      <a:lvl8pPr marL="10287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8pPr>
      <a:lvl9pPr marL="13716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9pPr>
    </p:titleStyle>
    <p:bodyStyle>
      <a:lvl1pPr marL="257175" indent="-257175" algn="l" rtl="0" eaLnBrk="0" fontAlgn="base" hangingPunct="0">
        <a:spcBef>
          <a:spcPct val="20000"/>
        </a:spcBef>
        <a:spcAft>
          <a:spcPct val="0"/>
        </a:spcAft>
        <a:buFont typeface="Arial" panose="020B0604020202020204" pitchFamily="34" charset="0"/>
        <a:buChar char="•"/>
        <a:defRPr sz="2100" b="1" kern="1200">
          <a:solidFill>
            <a:srgbClr val="630D5F"/>
          </a:solidFill>
          <a:latin typeface="微软雅黑" panose="020B0503020204020204" pitchFamily="34" charset="-122"/>
          <a:ea typeface="微软雅黑" panose="020B0503020204020204" pitchFamily="34" charset="-122"/>
          <a:cs typeface="+mn-cs"/>
        </a:defRPr>
      </a:lvl1pPr>
      <a:lvl2pPr marL="603885" indent="-260985" algn="l" rtl="0" eaLnBrk="0" fontAlgn="base" hangingPunct="0">
        <a:spcBef>
          <a:spcPct val="20000"/>
        </a:spcBef>
        <a:spcAft>
          <a:spcPct val="0"/>
        </a:spcAft>
        <a:buFont typeface="Wingdings" panose="05000000000000000000" pitchFamily="2" charset="2"/>
        <a:buChar char="Ø"/>
        <a:defRPr sz="2100" b="1"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spcBef>
          <a:spcPct val="20000"/>
        </a:spcBef>
        <a:spcAft>
          <a:spcPct val="0"/>
        </a:spcAft>
        <a:buFont typeface="Wingdings" panose="05000000000000000000" pitchFamily="2" charset="2"/>
        <a:buChar char="ü"/>
        <a:defRPr sz="2100" b="1" kern="1200">
          <a:solidFill>
            <a:srgbClr val="E46C0A"/>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5.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19.emf"/><Relationship Id="rId5" Type="http://schemas.openxmlformats.org/officeDocument/2006/relationships/oleObject" Target="../embeddings/oleObject2.bin"/><Relationship Id="rId10" Type="http://schemas.openxmlformats.org/officeDocument/2006/relationships/image" Target="../media/image21.emf"/><Relationship Id="rId4" Type="http://schemas.openxmlformats.org/officeDocument/2006/relationships/image" Target="../media/image18.emf"/><Relationship Id="rId9" Type="http://schemas.openxmlformats.org/officeDocument/2006/relationships/oleObject" Target="../embeddings/oleObject4.bin"/></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24.emf"/><Relationship Id="rId5" Type="http://schemas.openxmlformats.org/officeDocument/2006/relationships/oleObject" Target="../embeddings/oleObject6.bin"/><Relationship Id="rId10" Type="http://schemas.openxmlformats.org/officeDocument/2006/relationships/image" Target="../media/image26.emf"/><Relationship Id="rId4" Type="http://schemas.openxmlformats.org/officeDocument/2006/relationships/image" Target="../media/image23.emf"/><Relationship Id="rId9"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28.emf"/><Relationship Id="rId5" Type="http://schemas.openxmlformats.org/officeDocument/2006/relationships/oleObject" Target="../embeddings/oleObject10.bin"/><Relationship Id="rId4" Type="http://schemas.openxmlformats.org/officeDocument/2006/relationships/image" Target="../media/image27.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9.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5.xml"/><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48.emf"/><Relationship Id="rId5" Type="http://schemas.openxmlformats.org/officeDocument/2006/relationships/oleObject" Target="../embeddings/oleObject13.bin"/><Relationship Id="rId10" Type="http://schemas.openxmlformats.org/officeDocument/2006/relationships/image" Target="../media/image50.emf"/><Relationship Id="rId4" Type="http://schemas.openxmlformats.org/officeDocument/2006/relationships/image" Target="../media/image47.emf"/><Relationship Id="rId9"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image" Target="../media/image51.png"/><Relationship Id="rId4" Type="http://schemas.openxmlformats.org/officeDocument/2006/relationships/image" Target="../media/image49.emf"/></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15.xml"/><Relationship Id="rId5" Type="http://schemas.openxmlformats.org/officeDocument/2006/relationships/image" Target="../media/image54.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15.xml"/><Relationship Id="rId5" Type="http://schemas.openxmlformats.org/officeDocument/2006/relationships/image" Target="../media/image57.pn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15.xml"/><Relationship Id="rId5" Type="http://schemas.openxmlformats.org/officeDocument/2006/relationships/image" Target="../media/image60.png"/><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6.xml"/><Relationship Id="rId1" Type="http://schemas.openxmlformats.org/officeDocument/2006/relationships/slideLayout" Target="../slideLayouts/slideLayout15.xml"/><Relationship Id="rId4" Type="http://schemas.openxmlformats.org/officeDocument/2006/relationships/image" Target="../media/image62.png"/></Relationships>
</file>

<file path=ppt/slides/_rels/slide2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64.png"/></Relationships>
</file>

<file path=ppt/slides/_rels/slide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66.png"/></Relationships>
</file>

<file path=ppt/slides/_rels/slide2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68.png"/></Relationships>
</file>

<file path=ppt/slides/_rels/slide3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71.png"/></Relationships>
</file>

<file path=ppt/slides/_rels/slide3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2.xml"/><Relationship Id="rId1" Type="http://schemas.openxmlformats.org/officeDocument/2006/relationships/slideLayout" Target="../slideLayouts/slideLayout15.xml"/><Relationship Id="rId5" Type="http://schemas.openxmlformats.org/officeDocument/2006/relationships/image" Target="../media/image74.png"/><Relationship Id="rId4" Type="http://schemas.openxmlformats.org/officeDocument/2006/relationships/image" Target="../media/image73.png"/></Relationships>
</file>

<file path=ppt/slides/_rels/slide3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5.xml"/><Relationship Id="rId1" Type="http://schemas.openxmlformats.org/officeDocument/2006/relationships/slideLayout" Target="../slideLayouts/slideLayout15.xml"/><Relationship Id="rId5" Type="http://schemas.openxmlformats.org/officeDocument/2006/relationships/image" Target="../media/image79.png"/><Relationship Id="rId4" Type="http://schemas.openxmlformats.org/officeDocument/2006/relationships/image" Target="../media/image78.png"/></Relationships>
</file>

<file path=ppt/slides/_rels/slide3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84.png"/><Relationship Id="rId2" Type="http://schemas.openxmlformats.org/officeDocument/2006/relationships/slideLayout" Target="../slideLayouts/slideLayout17.xml"/><Relationship Id="rId1" Type="http://schemas.openxmlformats.org/officeDocument/2006/relationships/tags" Target="../tags/tag9.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B2B4312-8799-E3FD-3B66-D2A3424C86A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48636" name="矩形 2"/>
          <p:cNvSpPr/>
          <p:nvPr/>
        </p:nvSpPr>
        <p:spPr>
          <a:xfrm>
            <a:off x="2705" y="769023"/>
            <a:ext cx="9144000" cy="1538522"/>
          </a:xfrm>
          <a:prstGeom prst="rect">
            <a:avLst/>
          </a:prstGeom>
          <a:solidFill>
            <a:srgbClr val="6E0F6D"/>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lIns="74990" tIns="37495" rIns="74990" bIns="37495" rtlCol="0" anchor="ctr"/>
          <a:lstStyle/>
          <a:p>
            <a:pPr algn="ctr" defTabSz="914400"/>
            <a:endParaRPr lang="zh-CN" altLang="en-US">
              <a:solidFill>
                <a:srgbClr val="6E0F6D"/>
              </a:solidFill>
              <a:latin typeface="Calibri" panose="020F0502020204030204"/>
              <a:ea typeface="宋体" panose="02010600030101010101" pitchFamily="2" charset="-122"/>
            </a:endParaRPr>
          </a:p>
        </p:txBody>
      </p:sp>
      <p:sp>
        <p:nvSpPr>
          <p:cNvPr id="1048637" name="Rectangle 3"/>
          <p:cNvSpPr>
            <a:spLocks noGrp="1" noChangeArrowheads="1"/>
          </p:cNvSpPr>
          <p:nvPr>
            <p:ph type="subTitle" idx="1"/>
          </p:nvPr>
        </p:nvSpPr>
        <p:spPr>
          <a:xfrm>
            <a:off x="2195736" y="3280283"/>
            <a:ext cx="4879340" cy="1856262"/>
          </a:xfrm>
        </p:spPr>
        <p:txBody>
          <a:bodyPr>
            <a:normAutofit/>
          </a:bodyPr>
          <a:lstStyle/>
          <a:p>
            <a:pPr>
              <a:lnSpc>
                <a:spcPct val="100000"/>
              </a:lnSpc>
              <a:spcBef>
                <a:spcPts val="1176"/>
              </a:spcBef>
              <a:spcAft>
                <a:spcPts val="1200"/>
              </a:spcAft>
            </a:pPr>
            <a:r>
              <a:rPr lang="zh-CN" altLang="en-US"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南 京 大 学</a:t>
            </a:r>
            <a:endParaRPr lang="en-US" altLang="zh-CN"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a:p>
            <a:pPr>
              <a:lnSpc>
                <a:spcPct val="100000"/>
              </a:lnSpc>
              <a:spcBef>
                <a:spcPts val="1176"/>
              </a:spcBef>
              <a:spcAft>
                <a:spcPts val="1200"/>
              </a:spcAft>
            </a:pPr>
            <a:r>
              <a:rPr lang="zh-CN" altLang="en-US"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张 凯</a:t>
            </a:r>
            <a:endParaRPr lang="en-US" altLang="zh-CN"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48638" name="矩形 1"/>
          <p:cNvSpPr/>
          <p:nvPr/>
        </p:nvSpPr>
        <p:spPr>
          <a:xfrm>
            <a:off x="611560" y="1275606"/>
            <a:ext cx="7776864" cy="639979"/>
          </a:xfrm>
          <a:prstGeom prst="rect">
            <a:avLst/>
          </a:prstGeom>
        </p:spPr>
        <p:txBody>
          <a:bodyPr wrap="square" lIns="74990" tIns="37495" rIns="74990" bIns="37495">
            <a:spAutoFit/>
          </a:bodyPr>
          <a:lstStyle/>
          <a:p>
            <a:pPr algn="ctr" defTabSz="571500">
              <a:lnSpc>
                <a:spcPts val="4375"/>
              </a:lnSpc>
            </a:pPr>
            <a:r>
              <a:rPr lang="zh-CN" altLang="en-US"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rPr>
              <a:t>数 学 建 模</a:t>
            </a:r>
            <a:endParaRPr lang="en-US" altLang="zh-CN"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825D1DC8-7D77-FFA4-0486-67CEDD216B22}"/>
              </a:ext>
            </a:extLst>
          </p:cNvPr>
          <p:cNvSpPr>
            <a:spLocks noGrp="1"/>
          </p:cNvSpPr>
          <p:nvPr>
            <p:ph type="sldNum" sz="quarter" idx="12"/>
          </p:nvPr>
        </p:nvSpPr>
        <p:spPr/>
        <p:txBody>
          <a:bodyPr/>
          <a:lstStyle/>
          <a:p>
            <a:fld id="{09FCBBE2-63E4-4E90-8897-D61F1A357E4C}" type="slidenum">
              <a:rPr lang="zh-CN" altLang="en-US" smtClean="0"/>
              <a:pPr/>
              <a:t>1</a:t>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logo-05"/>
          <p:cNvPicPr>
            <a:picLocks noChangeAspect="1"/>
          </p:cNvPicPr>
          <p:nvPr/>
        </p:nvPicPr>
        <p:blipFill>
          <a:blip r:embed="rId5"/>
          <a:stretch>
            <a:fillRect/>
          </a:stretch>
        </p:blipFill>
        <p:spPr>
          <a:xfrm>
            <a:off x="645319" y="-1557337"/>
            <a:ext cx="3547110" cy="3273266"/>
          </a:xfrm>
          <a:prstGeom prst="rect">
            <a:avLst/>
          </a:prstGeom>
        </p:spPr>
      </p:pic>
      <p:pic>
        <p:nvPicPr>
          <p:cNvPr id="8" name="图片 7" descr="logo-05"/>
          <p:cNvPicPr>
            <a:picLocks noChangeAspect="1"/>
          </p:cNvPicPr>
          <p:nvPr/>
        </p:nvPicPr>
        <p:blipFill>
          <a:blip r:embed="rId5"/>
          <a:stretch>
            <a:fillRect/>
          </a:stretch>
        </p:blipFill>
        <p:spPr>
          <a:xfrm rot="9900000">
            <a:off x="5019675" y="3345181"/>
            <a:ext cx="3547110" cy="3273266"/>
          </a:xfrm>
          <a:prstGeom prst="rect">
            <a:avLst/>
          </a:prstGeom>
        </p:spPr>
      </p:pic>
      <p:sp>
        <p:nvSpPr>
          <p:cNvPr id="9" name="矩形 8">
            <a:extLst>
              <a:ext uri="{FF2B5EF4-FFF2-40B4-BE49-F238E27FC236}">
                <a16:creationId xmlns:a16="http://schemas.microsoft.com/office/drawing/2014/main" id="{A65D1031-ECF7-49BF-831B-08DCB938302F}"/>
              </a:ext>
            </a:extLst>
          </p:cNvPr>
          <p:cNvSpPr/>
          <p:nvPr/>
        </p:nvSpPr>
        <p:spPr>
          <a:xfrm>
            <a:off x="0" y="920591"/>
            <a:ext cx="9144000" cy="3241835"/>
          </a:xfrm>
          <a:prstGeom prst="rect">
            <a:avLst/>
          </a:prstGeom>
          <a:solidFill>
            <a:schemeClr val="bg1"/>
          </a:solidFill>
          <a:ln>
            <a:noFill/>
          </a:ln>
          <a:effectLst>
            <a:outerShdw blurRad="76200" sx="102000" sy="102000" algn="ctr" rotWithShape="0">
              <a:prstClr val="black">
                <a:alpha val="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10" name="矩形 9">
            <a:extLst>
              <a:ext uri="{FF2B5EF4-FFF2-40B4-BE49-F238E27FC236}">
                <a16:creationId xmlns:a16="http://schemas.microsoft.com/office/drawing/2014/main" id="{C8FBB36E-663C-4271-8F1D-D8EB45B4498C}"/>
              </a:ext>
            </a:extLst>
          </p:cNvPr>
          <p:cNvSpPr/>
          <p:nvPr/>
        </p:nvSpPr>
        <p:spPr>
          <a:xfrm>
            <a:off x="0" y="920591"/>
            <a:ext cx="9143998" cy="27000"/>
          </a:xfrm>
          <a:prstGeom prst="rect">
            <a:avLst/>
          </a:prstGeom>
          <a:solidFill>
            <a:srgbClr val="BD93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a:extLst>
              <a:ext uri="{FF2B5EF4-FFF2-40B4-BE49-F238E27FC236}">
                <a16:creationId xmlns:a16="http://schemas.microsoft.com/office/drawing/2014/main" id="{A0999622-0D78-47FA-A6E4-A22DABBEBBE4}"/>
              </a:ext>
            </a:extLst>
          </p:cNvPr>
          <p:cNvSpPr/>
          <p:nvPr/>
        </p:nvSpPr>
        <p:spPr>
          <a:xfrm>
            <a:off x="0" y="4135426"/>
            <a:ext cx="9143998" cy="27000"/>
          </a:xfrm>
          <a:prstGeom prst="rect">
            <a:avLst/>
          </a:prstGeom>
          <a:solidFill>
            <a:srgbClr val="BD93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标题 12"/>
          <p:cNvSpPr>
            <a:spLocks noGrp="1"/>
          </p:cNvSpPr>
          <p:nvPr>
            <p:custDataLst>
              <p:tags r:id="rId2"/>
            </p:custDataLst>
          </p:nvPr>
        </p:nvSpPr>
        <p:spPr>
          <a:xfrm>
            <a:off x="3671443" y="2277684"/>
            <a:ext cx="4176465" cy="626745"/>
          </a:xfrm>
          <a:prstGeom prst="rect">
            <a:avLst/>
          </a:prstGeom>
        </p:spPr>
        <p:txBody>
          <a:bodyPr vert="horz" lIns="67628" tIns="35243" rIns="67628" bIns="35243" rtlCol="0" anchor="ctr" anchorCtr="0">
            <a:norm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altLang="en-US" sz="2400" dirty="0">
                <a:ea typeface="宋体" panose="02010600030101010101" pitchFamily="2" charset="-122"/>
              </a:rPr>
              <a:t>数学建模算法：拟合</a:t>
            </a:r>
          </a:p>
        </p:txBody>
      </p:sp>
      <p:cxnSp>
        <p:nvCxnSpPr>
          <p:cNvPr id="19" name="直接连接符 18"/>
          <p:cNvCxnSpPr/>
          <p:nvPr/>
        </p:nvCxnSpPr>
        <p:spPr>
          <a:xfrm>
            <a:off x="3057087" y="2046703"/>
            <a:ext cx="0" cy="1088708"/>
          </a:xfrm>
          <a:prstGeom prst="line">
            <a:avLst/>
          </a:prstGeom>
          <a:ln w="9525">
            <a:solidFill>
              <a:srgbClr val="B88F4D"/>
            </a:solidFill>
          </a:ln>
        </p:spPr>
        <p:style>
          <a:lnRef idx="1">
            <a:schemeClr val="accent1"/>
          </a:lnRef>
          <a:fillRef idx="0">
            <a:schemeClr val="accent1"/>
          </a:fillRef>
          <a:effectRef idx="0">
            <a:schemeClr val="accent1"/>
          </a:effectRef>
          <a:fontRef idx="minor">
            <a:schemeClr val="tx1"/>
          </a:fontRef>
        </p:style>
      </p:cxnSp>
      <p:pic>
        <p:nvPicPr>
          <p:cNvPr id="3" name="图片 2" descr="G:\2021\校庆\PPT\logo-渐变金-10.pnglogo-渐变金-10">
            <a:extLst>
              <a:ext uri="{FF2B5EF4-FFF2-40B4-BE49-F238E27FC236}">
                <a16:creationId xmlns:a16="http://schemas.microsoft.com/office/drawing/2014/main" id="{DA12F6E8-E254-E2AB-03EB-B56701253F0D}"/>
              </a:ext>
            </a:extLst>
          </p:cNvPr>
          <p:cNvPicPr>
            <a:picLocks noChangeAspect="1"/>
          </p:cNvPicPr>
          <p:nvPr/>
        </p:nvPicPr>
        <p:blipFill rotWithShape="1">
          <a:blip r:embed="rId6"/>
          <a:srcRect l="16903" t="32184" r="62112" b="31389"/>
          <a:stretch/>
        </p:blipFill>
        <p:spPr>
          <a:xfrm>
            <a:off x="1263199" y="1815026"/>
            <a:ext cx="1356691" cy="1552062"/>
          </a:xfrm>
          <a:prstGeom prst="rect">
            <a:avLst/>
          </a:prstGeom>
        </p:spPr>
      </p:pic>
    </p:spTree>
    <p:custDataLst>
      <p:tags r:id="rId1"/>
    </p:custDataLst>
    <p:extLst>
      <p:ext uri="{BB962C8B-B14F-4D97-AF65-F5344CB8AC3E}">
        <p14:creationId xmlns:p14="http://schemas.microsoft.com/office/powerpoint/2010/main" val="2703362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问题的提出</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a:t>
            </a:fld>
            <a:endParaRPr lang="zh-CN" altLang="en-US" dirty="0">
              <a:solidFill>
                <a:prstClr val="black">
                  <a:tint val="75000"/>
                </a:prstClr>
              </a:solidFill>
            </a:endParaRPr>
          </a:p>
        </p:txBody>
      </p:sp>
      <p:sp>
        <p:nvSpPr>
          <p:cNvPr id="6" name="文本框 5">
            <a:extLst>
              <a:ext uri="{FF2B5EF4-FFF2-40B4-BE49-F238E27FC236}">
                <a16:creationId xmlns:a16="http://schemas.microsoft.com/office/drawing/2014/main" id="{E3092B36-0B6B-9477-939F-F9516DF56D8B}"/>
              </a:ext>
            </a:extLst>
          </p:cNvPr>
          <p:cNvSpPr txBox="1"/>
          <p:nvPr/>
        </p:nvSpPr>
        <p:spPr>
          <a:xfrm>
            <a:off x="431540" y="861517"/>
            <a:ext cx="8280920" cy="1895584"/>
          </a:xfrm>
          <a:prstGeom prst="rect">
            <a:avLst/>
          </a:prstGeom>
          <a:solidFill>
            <a:schemeClr val="accent2">
              <a:lumMod val="20000"/>
              <a:lumOff val="80000"/>
            </a:schemeClr>
          </a:solidFill>
        </p:spPr>
        <p:txBody>
          <a:bodyPr wrap="square">
            <a:spAutoFit/>
          </a:bodyPr>
          <a:lstStyle/>
          <a:p>
            <a:pPr algn="just" eaLnBrk="0" hangingPunct="0">
              <a:lnSpc>
                <a:spcPct val="110000"/>
              </a:lnSpc>
            </a:pPr>
            <a:r>
              <a:rPr kumimoji="0"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kumimoji="0" lang="zh-CN" altLang="en-US" dirty="0">
                <a:latin typeface="Times New Roman" panose="02020603050405020304" pitchFamily="18" charset="0"/>
                <a:ea typeface="SimSun" panose="02010600030101010101" pitchFamily="2" charset="-122"/>
                <a:cs typeface="Times New Roman" panose="02020603050405020304" pitchFamily="18" charset="0"/>
              </a:rPr>
              <a:t>如果已知函数</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f(x)</a:t>
            </a:r>
            <a:r>
              <a:rPr kumimoji="0" lang="zh-CN" altLang="en-US" dirty="0">
                <a:latin typeface="Times New Roman" panose="02020603050405020304" pitchFamily="18" charset="0"/>
                <a:ea typeface="SimSun" panose="02010600030101010101" pitchFamily="2" charset="-122"/>
                <a:cs typeface="Times New Roman" panose="02020603050405020304" pitchFamily="18" charset="0"/>
              </a:rPr>
              <a:t>在若干点</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a:t>
            </a:r>
            <a:r>
              <a:rPr kumimoji="0" lang="en-US" altLang="zh-CN" i="1" dirty="0" err="1">
                <a:latin typeface="Times New Roman" panose="02020603050405020304" pitchFamily="18" charset="0"/>
                <a:ea typeface="SimSun" panose="02010600030101010101" pitchFamily="2" charset="-122"/>
                <a:cs typeface="Times New Roman" panose="02020603050405020304" pitchFamily="18" charset="0"/>
              </a:rPr>
              <a:t>i</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=1,2,…,n)</a:t>
            </a:r>
            <a:r>
              <a:rPr kumimoji="0" lang="zh-CN" altLang="en-US" dirty="0">
                <a:latin typeface="Times New Roman" panose="02020603050405020304" pitchFamily="18" charset="0"/>
                <a:ea typeface="SimSun" panose="02010600030101010101" pitchFamily="2" charset="-122"/>
                <a:cs typeface="Times New Roman" panose="02020603050405020304" pitchFamily="18" charset="0"/>
              </a:rPr>
              <a:t>处的值</a:t>
            </a:r>
            <a:r>
              <a:rPr kumimoji="0"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kumimoji="0"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kumimoji="0" lang="en-US" altLang="zh-CN" dirty="0">
                <a:latin typeface="Times New Roman" panose="02020603050405020304" pitchFamily="18" charset="0"/>
                <a:ea typeface="SimSun" panose="02010600030101010101" pitchFamily="2" charset="-122"/>
                <a:cs typeface="Times New Roman" panose="02020603050405020304" pitchFamily="18" charset="0"/>
              </a:rPr>
              <a:t>,</a:t>
            </a:r>
            <a:r>
              <a:rPr kumimoji="0" lang="zh-CN" altLang="en-US" dirty="0">
                <a:latin typeface="Times New Roman" panose="02020603050405020304" pitchFamily="18" charset="0"/>
                <a:ea typeface="SimSun" panose="02010600030101010101" pitchFamily="2" charset="-122"/>
                <a:cs typeface="Times New Roman" panose="02020603050405020304" pitchFamily="18" charset="0"/>
              </a:rPr>
              <a:t>便可根据插值原理来建立插值多项式作为</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f(x)</a:t>
            </a:r>
            <a:r>
              <a:rPr kumimoji="0" lang="zh-CN" altLang="en-US" dirty="0">
                <a:latin typeface="Times New Roman" panose="02020603050405020304" pitchFamily="18" charset="0"/>
                <a:ea typeface="SimSun" panose="02010600030101010101" pitchFamily="2" charset="-122"/>
                <a:cs typeface="Times New Roman" panose="02020603050405020304" pitchFamily="18" charset="0"/>
              </a:rPr>
              <a:t>的近似。</a:t>
            </a:r>
            <a:endParaRPr kumimoji="0"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algn="just" eaLnBrk="0" hangingPunct="0">
              <a:lnSpc>
                <a:spcPct val="110000"/>
              </a:lnSpc>
            </a:pPr>
            <a:r>
              <a:rPr kumimoji="0" lang="zh-CN" altLang="en-US" dirty="0">
                <a:latin typeface="Times New Roman" panose="02020603050405020304" pitchFamily="18" charset="0"/>
                <a:ea typeface="SimSun" panose="02010600030101010101" pitchFamily="2" charset="-122"/>
                <a:cs typeface="Times New Roman" panose="02020603050405020304" pitchFamily="18" charset="0"/>
              </a:rPr>
              <a:t>但在科学实验和生产实践中，往往节点上的函数值是由实验或观测得到的数据，这些函数值不可避免地带有</a:t>
            </a:r>
            <a:r>
              <a:rPr kumimoji="0"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测量误差</a:t>
            </a:r>
            <a:r>
              <a:rPr kumimoji="0" lang="zh-CN" altLang="en-US" dirty="0">
                <a:latin typeface="Times New Roman" panose="02020603050405020304" pitchFamily="18" charset="0"/>
                <a:ea typeface="SimSun" panose="02010600030101010101" pitchFamily="2" charset="-122"/>
                <a:cs typeface="Times New Roman" panose="02020603050405020304" pitchFamily="18" charset="0"/>
              </a:rPr>
              <a:t>，如果要求所得的近似函数曲线精确无误地通过所有的点</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,y</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a:t>
            </a:r>
            <a:r>
              <a:rPr kumimoji="0" lang="zh-CN" altLang="en-US" dirty="0">
                <a:latin typeface="Times New Roman" panose="02020603050405020304" pitchFamily="18" charset="0"/>
                <a:ea typeface="SimSun" panose="02010600030101010101" pitchFamily="2" charset="-122"/>
                <a:cs typeface="Times New Roman" panose="02020603050405020304" pitchFamily="18" charset="0"/>
              </a:rPr>
              <a:t>就会使曲线保留着一切测试误差。</a:t>
            </a:r>
            <a:r>
              <a:rPr lang="zh-CN" altLang="en-US" sz="1800" dirty="0"/>
              <a:t>为了尽量减少这些误差的影响，从总的趋势上使偏差达到最小，这就提出了</a:t>
            </a:r>
            <a:r>
              <a:rPr lang="zh-CN" altLang="en-US" sz="1800" dirty="0">
                <a:solidFill>
                  <a:srgbClr val="C00000"/>
                </a:solidFill>
              </a:rPr>
              <a:t>曲线拟合的最小二乘法。</a:t>
            </a:r>
            <a:endParaRPr kumimoji="0"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18" name="图片 17">
            <a:extLst>
              <a:ext uri="{FF2B5EF4-FFF2-40B4-BE49-F238E27FC236}">
                <a16:creationId xmlns:a16="http://schemas.microsoft.com/office/drawing/2014/main" id="{33CBC642-3435-59C6-2889-F9BD893048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9631" y="2871616"/>
            <a:ext cx="2352008" cy="1895648"/>
          </a:xfrm>
          <a:prstGeom prst="rect">
            <a:avLst/>
          </a:prstGeom>
        </p:spPr>
      </p:pic>
      <p:pic>
        <p:nvPicPr>
          <p:cNvPr id="20" name="图片 19">
            <a:extLst>
              <a:ext uri="{FF2B5EF4-FFF2-40B4-BE49-F238E27FC236}">
                <a16:creationId xmlns:a16="http://schemas.microsoft.com/office/drawing/2014/main" id="{5DD8EA4D-C66E-6307-48EE-B87F076FA6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32363" y="2814383"/>
            <a:ext cx="2521973" cy="2010114"/>
          </a:xfrm>
          <a:prstGeom prst="rect">
            <a:avLst/>
          </a:prstGeom>
        </p:spPr>
      </p:pic>
      <p:sp>
        <p:nvSpPr>
          <p:cNvPr id="22" name="文本框 21">
            <a:extLst>
              <a:ext uri="{FF2B5EF4-FFF2-40B4-BE49-F238E27FC236}">
                <a16:creationId xmlns:a16="http://schemas.microsoft.com/office/drawing/2014/main" id="{743A6D29-5B1F-1CC4-13E7-E42CC75CE9EC}"/>
              </a:ext>
            </a:extLst>
          </p:cNvPr>
          <p:cNvSpPr txBox="1"/>
          <p:nvPr/>
        </p:nvSpPr>
        <p:spPr>
          <a:xfrm>
            <a:off x="602910" y="4748943"/>
            <a:ext cx="3257660" cy="400110"/>
          </a:xfrm>
          <a:prstGeom prst="rect">
            <a:avLst/>
          </a:prstGeom>
          <a:noFill/>
        </p:spPr>
        <p:txBody>
          <a:bodyPr wrap="square">
            <a:spAutoFit/>
          </a:bodyPr>
          <a:lstStyle/>
          <a:p>
            <a:r>
              <a:rPr lang="en" altLang="zh-CN" sz="1000" b="0" i="0" dirty="0">
                <a:effectLst/>
                <a:latin typeface="Menlo" panose="020B0609030804020204" pitchFamily="49" charset="0"/>
              </a:rPr>
              <a:t>x0=-15:0.5:15;</a:t>
            </a:r>
          </a:p>
          <a:p>
            <a:r>
              <a:rPr lang="en" altLang="zh-CN" sz="1000" b="0" i="0" dirty="0">
                <a:effectLst/>
                <a:latin typeface="Menlo" panose="020B0609030804020204" pitchFamily="49" charset="0"/>
              </a:rPr>
              <a:t>y0=sin(x0)./x0 + 0.2*</a:t>
            </a:r>
            <a:r>
              <a:rPr lang="en" altLang="zh-CN" sz="1000" b="0" i="0" dirty="0" err="1">
                <a:effectLst/>
                <a:latin typeface="Menlo" panose="020B0609030804020204" pitchFamily="49" charset="0"/>
              </a:rPr>
              <a:t>randn</a:t>
            </a:r>
            <a:r>
              <a:rPr lang="en" altLang="zh-CN" sz="1000" b="0" i="0" dirty="0">
                <a:effectLst/>
                <a:latin typeface="Menlo" panose="020B0609030804020204" pitchFamily="49" charset="0"/>
              </a:rPr>
              <a:t>(1,length(x0));</a:t>
            </a:r>
          </a:p>
        </p:txBody>
      </p:sp>
      <p:sp>
        <p:nvSpPr>
          <p:cNvPr id="24" name="文本框 23">
            <a:extLst>
              <a:ext uri="{FF2B5EF4-FFF2-40B4-BE49-F238E27FC236}">
                <a16:creationId xmlns:a16="http://schemas.microsoft.com/office/drawing/2014/main" id="{21F89E35-9284-4C20-5C38-F5AD9AE40240}"/>
              </a:ext>
            </a:extLst>
          </p:cNvPr>
          <p:cNvSpPr txBox="1"/>
          <p:nvPr/>
        </p:nvSpPr>
        <p:spPr>
          <a:xfrm>
            <a:off x="5605217" y="4782652"/>
            <a:ext cx="2376264" cy="400110"/>
          </a:xfrm>
          <a:prstGeom prst="rect">
            <a:avLst/>
          </a:prstGeom>
          <a:noFill/>
        </p:spPr>
        <p:txBody>
          <a:bodyPr wrap="square">
            <a:spAutoFit/>
          </a:bodyPr>
          <a:lstStyle/>
          <a:p>
            <a:r>
              <a:rPr lang="en" altLang="zh-CN" sz="1000" b="0" i="0" dirty="0">
                <a:effectLst/>
                <a:latin typeface="Menlo" panose="020B0609030804020204" pitchFamily="49" charset="0"/>
              </a:rPr>
              <a:t>y3=interp1(x0,y0,x,</a:t>
            </a:r>
            <a:r>
              <a:rPr lang="en" altLang="zh-CN" sz="1000" b="0" i="0" dirty="0">
                <a:solidFill>
                  <a:srgbClr val="A709F5"/>
                </a:solidFill>
                <a:effectLst/>
                <a:latin typeface="Menlo" panose="020B0609030804020204" pitchFamily="49" charset="0"/>
              </a:rPr>
              <a:t>'spline'</a:t>
            </a:r>
            <a:r>
              <a:rPr lang="en" altLang="zh-CN" sz="1000" b="0" i="0" dirty="0">
                <a:effectLst/>
                <a:latin typeface="Menlo" panose="020B0609030804020204" pitchFamily="49" charset="0"/>
              </a:rPr>
              <a:t>);</a:t>
            </a:r>
          </a:p>
          <a:p>
            <a:r>
              <a:rPr lang="en" altLang="zh-CN" sz="1000" b="0" i="0" dirty="0">
                <a:effectLst/>
                <a:latin typeface="Menlo" panose="020B0609030804020204" pitchFamily="49" charset="0"/>
              </a:rPr>
              <a:t>plot(x,y3,</a:t>
            </a:r>
            <a:r>
              <a:rPr lang="en" altLang="zh-CN" sz="1000" b="0" i="0" dirty="0">
                <a:solidFill>
                  <a:srgbClr val="A709F5"/>
                </a:solidFill>
                <a:effectLst/>
                <a:latin typeface="Menlo" panose="020B0609030804020204" pitchFamily="49" charset="0"/>
              </a:rPr>
              <a:t>'-r'</a:t>
            </a:r>
            <a:r>
              <a:rPr lang="en" altLang="zh-CN" sz="1000" b="0" i="0" dirty="0">
                <a:effectLst/>
                <a:latin typeface="Menlo" panose="020B0609030804020204" pitchFamily="49" charset="0"/>
              </a:rPr>
              <a:t>)</a:t>
            </a:r>
          </a:p>
        </p:txBody>
      </p:sp>
    </p:spTree>
    <p:extLst>
      <p:ext uri="{BB962C8B-B14F-4D97-AF65-F5344CB8AC3E}">
        <p14:creationId xmlns:p14="http://schemas.microsoft.com/office/powerpoint/2010/main" val="295669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基本概念</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4</a:t>
            </a:fld>
            <a:endParaRPr lang="zh-CN" altLang="en-US" dirty="0">
              <a:solidFill>
                <a:prstClr val="black">
                  <a:tint val="75000"/>
                </a:prstClr>
              </a:solidFill>
            </a:endParaRPr>
          </a:p>
        </p:txBody>
      </p:sp>
      <p:sp>
        <p:nvSpPr>
          <p:cNvPr id="5" name="文本框 4">
            <a:extLst>
              <a:ext uri="{FF2B5EF4-FFF2-40B4-BE49-F238E27FC236}">
                <a16:creationId xmlns:a16="http://schemas.microsoft.com/office/drawing/2014/main" id="{92375014-7035-F888-1441-91E2650846F1}"/>
              </a:ext>
            </a:extLst>
          </p:cNvPr>
          <p:cNvSpPr txBox="1"/>
          <p:nvPr/>
        </p:nvSpPr>
        <p:spPr>
          <a:xfrm>
            <a:off x="337393" y="1117994"/>
            <a:ext cx="3802559" cy="1892826"/>
          </a:xfrm>
          <a:prstGeom prst="rect">
            <a:avLst/>
          </a:prstGeom>
          <a:solidFill>
            <a:schemeClr val="accent2">
              <a:lumMod val="20000"/>
              <a:lumOff val="80000"/>
            </a:schemeClr>
          </a:solidFill>
        </p:spPr>
        <p:txBody>
          <a:bodyPr wrap="square">
            <a:spAutoFit/>
          </a:bodyPr>
          <a:lstStyle/>
          <a:p>
            <a:pPr>
              <a:lnSpc>
                <a:spcPct val="150000"/>
              </a:lnSpc>
            </a:pPr>
            <a:r>
              <a:rPr lang="zh-CN" altLang="en-US" b="1" dirty="0">
                <a:latin typeface="Times New Roman" panose="02020603050405020304" pitchFamily="18" charset="0"/>
                <a:ea typeface="SimSun" panose="02010600030101010101" pitchFamily="2" charset="-122"/>
                <a:cs typeface="Times New Roman" panose="02020603050405020304" pitchFamily="18" charset="0"/>
              </a:rPr>
              <a:t>插值法（</a:t>
            </a:r>
            <a:r>
              <a:rPr lang="en" altLang="zh-CN" b="1" dirty="0">
                <a:latin typeface="Times New Roman" panose="02020603050405020304" pitchFamily="18" charset="0"/>
                <a:ea typeface="SimSun" panose="02010600030101010101" pitchFamily="2" charset="-122"/>
                <a:cs typeface="Times New Roman" panose="02020603050405020304" pitchFamily="18" charset="0"/>
              </a:rPr>
              <a:t>Interpolation</a:t>
            </a:r>
            <a:r>
              <a:rPr lang="zh-CN" altLang="en" b="1" dirty="0">
                <a:latin typeface="Times New Roman" panose="02020603050405020304" pitchFamily="18" charset="0"/>
                <a:ea typeface="SimSun" panose="02010600030101010101" pitchFamily="2" charset="-122"/>
                <a:cs typeface="Times New Roman" panose="02020603050405020304" pitchFamily="18" charset="0"/>
              </a:rPr>
              <a:t>）</a:t>
            </a:r>
            <a:r>
              <a:rPr lang="zh-CN" altLang="en" dirty="0">
                <a:latin typeface="Times New Roman" panose="02020603050405020304" pitchFamily="18" charset="0"/>
                <a:ea typeface="SimSun" panose="02010600030101010101" pitchFamily="2" charset="-122"/>
                <a:cs typeface="Times New Roman" panose="02020603050405020304" pitchFamily="18" charset="0"/>
              </a:rPr>
              <a:t>：</a:t>
            </a:r>
          </a:p>
          <a:p>
            <a:r>
              <a:rPr lang="zh-CN" altLang="en-US" dirty="0">
                <a:latin typeface="Times New Roman" panose="02020603050405020304" pitchFamily="18" charset="0"/>
                <a:ea typeface="SimSun" panose="02010600030101010101" pitchFamily="2" charset="-122"/>
                <a:cs typeface="Times New Roman" panose="02020603050405020304" pitchFamily="18" charset="0"/>
              </a:rPr>
              <a:t>插值法是在已知一组离散数据点的情况下，构建一个函数，该函数</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精确通过所有已知数据点</a:t>
            </a:r>
            <a:r>
              <a:rPr lang="zh-CN" altLang="en-US" dirty="0">
                <a:latin typeface="Times New Roman" panose="02020603050405020304" pitchFamily="18" charset="0"/>
                <a:ea typeface="SimSun" panose="02010600030101010101" pitchFamily="2" charset="-122"/>
                <a:cs typeface="Times New Roman" panose="02020603050405020304" pitchFamily="18" charset="0"/>
              </a:rPr>
              <a:t>，用于在</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已知数据范围</a:t>
            </a:r>
            <a:r>
              <a:rPr lang="zh-CN" altLang="en-US" dirty="0">
                <a:latin typeface="Times New Roman" panose="02020603050405020304" pitchFamily="18" charset="0"/>
                <a:ea typeface="SimSun" panose="02010600030101010101" pitchFamily="2" charset="-122"/>
                <a:cs typeface="Times New Roman" panose="02020603050405020304" pitchFamily="18" charset="0"/>
              </a:rPr>
              <a:t>内估计未知值。插值函数在已知点上没有误差。</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39A21268-8C79-06A4-F111-8C92B0B4D47B}"/>
              </a:ext>
            </a:extLst>
          </p:cNvPr>
          <p:cNvSpPr txBox="1"/>
          <p:nvPr/>
        </p:nvSpPr>
        <p:spPr>
          <a:xfrm>
            <a:off x="5004048" y="1117994"/>
            <a:ext cx="3888432" cy="1892826"/>
          </a:xfrm>
          <a:prstGeom prst="rect">
            <a:avLst/>
          </a:prstGeom>
          <a:solidFill>
            <a:schemeClr val="accent2">
              <a:lumMod val="20000"/>
              <a:lumOff val="80000"/>
            </a:schemeClr>
          </a:solidFill>
        </p:spPr>
        <p:txBody>
          <a:bodyPr wrap="square">
            <a:spAutoFit/>
          </a:bodyPr>
          <a:lstStyle/>
          <a:p>
            <a:pPr>
              <a:lnSpc>
                <a:spcPct val="150000"/>
              </a:lnSpc>
            </a:pPr>
            <a:r>
              <a:rPr lang="zh-CN" altLang="en-US" b="1" dirty="0">
                <a:latin typeface="Times New Roman" panose="02020603050405020304" pitchFamily="18" charset="0"/>
                <a:ea typeface="SimSun" panose="02010600030101010101" pitchFamily="2" charset="-122"/>
                <a:cs typeface="Times New Roman" panose="02020603050405020304" pitchFamily="18" charset="0"/>
              </a:rPr>
              <a:t>拟合法（</a:t>
            </a:r>
            <a:r>
              <a:rPr lang="en" altLang="zh-CN" b="1" dirty="0">
                <a:latin typeface="Times New Roman" panose="02020603050405020304" pitchFamily="18" charset="0"/>
                <a:ea typeface="SimSun" panose="02010600030101010101" pitchFamily="2" charset="-122"/>
                <a:cs typeface="Times New Roman" panose="02020603050405020304" pitchFamily="18" charset="0"/>
              </a:rPr>
              <a:t>Approximation/Fitting</a:t>
            </a:r>
            <a:r>
              <a:rPr lang="zh-CN" altLang="en" b="1" dirty="0">
                <a:latin typeface="Times New Roman" panose="02020603050405020304" pitchFamily="18" charset="0"/>
                <a:ea typeface="SimSun" panose="02010600030101010101" pitchFamily="2" charset="-122"/>
                <a:cs typeface="Times New Roman" panose="02020603050405020304" pitchFamily="18" charset="0"/>
              </a:rPr>
              <a:t>）</a:t>
            </a:r>
            <a:r>
              <a:rPr lang="zh-CN" altLang="en" dirty="0">
                <a:latin typeface="Times New Roman" panose="02020603050405020304" pitchFamily="18" charset="0"/>
                <a:ea typeface="SimSun" panose="02010600030101010101" pitchFamily="2" charset="-122"/>
                <a:cs typeface="Times New Roman" panose="02020603050405020304" pitchFamily="18" charset="0"/>
              </a:rPr>
              <a:t>：</a:t>
            </a:r>
          </a:p>
          <a:p>
            <a:r>
              <a:rPr lang="zh-CN" altLang="en-US" dirty="0">
                <a:latin typeface="Times New Roman" panose="02020603050405020304" pitchFamily="18" charset="0"/>
                <a:ea typeface="SimSun" panose="02010600030101010101" pitchFamily="2" charset="-122"/>
                <a:cs typeface="Times New Roman" panose="02020603050405020304" pitchFamily="18" charset="0"/>
              </a:rPr>
              <a:t>拟合法（或称曲线拟合）是在已知数据点的基础上，建立一个函数模型，使其</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尽可能接近所有数据点</a:t>
            </a:r>
            <a:r>
              <a:rPr lang="zh-CN" altLang="en-US" dirty="0">
                <a:latin typeface="Times New Roman" panose="02020603050405020304" pitchFamily="18" charset="0"/>
                <a:ea typeface="SimSun" panose="02010600030101010101" pitchFamily="2" charset="-122"/>
                <a:cs typeface="Times New Roman" panose="02020603050405020304" pitchFamily="18" charset="0"/>
              </a:rPr>
              <a:t>，但不要求精确通过每个点。拟合法考虑了数据中的</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误差或噪声。</a:t>
            </a: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580B555B-D27C-E6F7-AF4F-BFC2C5CED929}"/>
              </a:ext>
            </a:extLst>
          </p:cNvPr>
          <p:cNvSpPr txBox="1"/>
          <p:nvPr/>
        </p:nvSpPr>
        <p:spPr>
          <a:xfrm>
            <a:off x="1972515" y="3542364"/>
            <a:ext cx="877163" cy="369332"/>
          </a:xfrm>
          <a:prstGeom prst="rect">
            <a:avLst/>
          </a:prstGeom>
          <a:noFill/>
        </p:spPr>
        <p:txBody>
          <a:bodyPr wrap="none" rtlCol="0">
            <a:spAutoFit/>
          </a:bodyPr>
          <a:lstStyle/>
          <a:p>
            <a:r>
              <a:rPr kumimoji="1" lang="zh-CN" altLang="en-US" dirty="0"/>
              <a:t>插值法</a:t>
            </a:r>
          </a:p>
        </p:txBody>
      </p:sp>
      <p:sp>
        <p:nvSpPr>
          <p:cNvPr id="13" name="文本框 12">
            <a:extLst>
              <a:ext uri="{FF2B5EF4-FFF2-40B4-BE49-F238E27FC236}">
                <a16:creationId xmlns:a16="http://schemas.microsoft.com/office/drawing/2014/main" id="{F11FCE51-C06A-D31B-EE31-02DF57E7B7DA}"/>
              </a:ext>
            </a:extLst>
          </p:cNvPr>
          <p:cNvSpPr txBox="1"/>
          <p:nvPr/>
        </p:nvSpPr>
        <p:spPr>
          <a:xfrm>
            <a:off x="6100888" y="3542364"/>
            <a:ext cx="878767" cy="369332"/>
          </a:xfrm>
          <a:prstGeom prst="rect">
            <a:avLst/>
          </a:prstGeom>
          <a:noFill/>
        </p:spPr>
        <p:txBody>
          <a:bodyPr wrap="none" rtlCol="0">
            <a:spAutoFit/>
          </a:bodyPr>
          <a:lstStyle/>
          <a:p>
            <a:r>
              <a:rPr kumimoji="1" lang="zh-CN" altLang="en-US" dirty="0"/>
              <a:t>拟合法</a:t>
            </a:r>
          </a:p>
        </p:txBody>
      </p:sp>
      <p:cxnSp>
        <p:nvCxnSpPr>
          <p:cNvPr id="15" name="直线箭头连接符 14">
            <a:extLst>
              <a:ext uri="{FF2B5EF4-FFF2-40B4-BE49-F238E27FC236}">
                <a16:creationId xmlns:a16="http://schemas.microsoft.com/office/drawing/2014/main" id="{227AEC7F-5A30-8A68-54DB-EEB2E1C82371}"/>
              </a:ext>
            </a:extLst>
          </p:cNvPr>
          <p:cNvCxnSpPr>
            <a:cxnSpLocks/>
          </p:cNvCxnSpPr>
          <p:nvPr/>
        </p:nvCxnSpPr>
        <p:spPr>
          <a:xfrm>
            <a:off x="3892815" y="3727030"/>
            <a:ext cx="1358369"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321F062E-7C37-218A-F052-EC089BEDC464}"/>
              </a:ext>
            </a:extLst>
          </p:cNvPr>
          <p:cNvSpPr txBox="1"/>
          <p:nvPr/>
        </p:nvSpPr>
        <p:spPr>
          <a:xfrm>
            <a:off x="5784187" y="4043603"/>
            <a:ext cx="1876960" cy="738664"/>
          </a:xfrm>
          <a:prstGeom prst="rect">
            <a:avLst/>
          </a:prstGeom>
          <a:noFill/>
        </p:spPr>
        <p:txBody>
          <a:bodyPr wrap="square">
            <a:spAutoFit/>
          </a:bodyPr>
          <a:lstStyle/>
          <a:p>
            <a:pPr marL="285750" indent="-285750">
              <a:buFont typeface="Arial" panose="020B0604020202020204" pitchFamily="34" charset="0"/>
              <a:buChar char="•"/>
            </a:pPr>
            <a:r>
              <a:rPr lang="zh-CN" altLang="en-US" sz="1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近似通过数据点</a:t>
            </a:r>
            <a:endParaRPr lang="en-US" altLang="zh-CN" sz="1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400" dirty="0">
                <a:latin typeface="Times New Roman" panose="02020603050405020304" pitchFamily="18" charset="0"/>
                <a:ea typeface="SimSun" panose="02010600030101010101" pitchFamily="2" charset="-122"/>
                <a:cs typeface="Times New Roman" panose="02020603050405020304" pitchFamily="18" charset="0"/>
              </a:rPr>
              <a:t>抗噪能力强</a:t>
            </a:r>
            <a:endParaRPr lang="en-US" altLang="zh-CN" sz="1400"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400" dirty="0">
                <a:latin typeface="Times New Roman" panose="02020603050405020304" pitchFamily="18" charset="0"/>
                <a:ea typeface="SimSun" panose="02010600030101010101" pitchFamily="2" charset="-122"/>
                <a:cs typeface="Times New Roman" panose="02020603050405020304" pitchFamily="18" charset="0"/>
              </a:rPr>
              <a:t>具备外推能力</a:t>
            </a:r>
          </a:p>
        </p:txBody>
      </p:sp>
      <p:sp>
        <p:nvSpPr>
          <p:cNvPr id="18" name="文本框 17">
            <a:extLst>
              <a:ext uri="{FF2B5EF4-FFF2-40B4-BE49-F238E27FC236}">
                <a16:creationId xmlns:a16="http://schemas.microsoft.com/office/drawing/2014/main" id="{CCEC03C1-A448-C2AB-9D8E-D7C2B0BD221C}"/>
              </a:ext>
            </a:extLst>
          </p:cNvPr>
          <p:cNvSpPr txBox="1"/>
          <p:nvPr/>
        </p:nvSpPr>
        <p:spPr>
          <a:xfrm>
            <a:off x="1527360" y="4043603"/>
            <a:ext cx="2029331" cy="738664"/>
          </a:xfrm>
          <a:prstGeom prst="rect">
            <a:avLst/>
          </a:prstGeom>
          <a:noFill/>
        </p:spPr>
        <p:txBody>
          <a:bodyPr wrap="square">
            <a:spAutoFit/>
          </a:bodyPr>
          <a:lstStyle/>
          <a:p>
            <a:pPr marL="285750" indent="-285750">
              <a:buFont typeface="Arial" panose="020B0604020202020204" pitchFamily="34" charset="0"/>
              <a:buChar char="•"/>
            </a:pPr>
            <a:r>
              <a:rPr lang="zh-CN" altLang="en-US" sz="1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精确通过数据点</a:t>
            </a:r>
            <a:endParaRPr lang="en-US" altLang="zh-CN" sz="1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400" dirty="0">
                <a:latin typeface="Times New Roman" panose="02020603050405020304" pitchFamily="18" charset="0"/>
                <a:ea typeface="SimSun" panose="02010600030101010101" pitchFamily="2" charset="-122"/>
                <a:cs typeface="Times New Roman" panose="02020603050405020304" pitchFamily="18" charset="0"/>
              </a:rPr>
              <a:t>可能出现过拟合</a:t>
            </a:r>
            <a:endParaRPr lang="en-US" altLang="zh-CN" sz="1400"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400" dirty="0">
                <a:latin typeface="Times New Roman" panose="02020603050405020304" pitchFamily="18" charset="0"/>
                <a:ea typeface="SimSun" panose="02010600030101010101" pitchFamily="2" charset="-122"/>
                <a:cs typeface="Times New Roman" panose="02020603050405020304" pitchFamily="18" charset="0"/>
              </a:rPr>
              <a:t>仅适用于已知范围</a:t>
            </a:r>
          </a:p>
        </p:txBody>
      </p:sp>
      <p:sp>
        <p:nvSpPr>
          <p:cNvPr id="20" name="文本框 19">
            <a:extLst>
              <a:ext uri="{FF2B5EF4-FFF2-40B4-BE49-F238E27FC236}">
                <a16:creationId xmlns:a16="http://schemas.microsoft.com/office/drawing/2014/main" id="{034BA231-E1D8-16B0-7EF0-8EB170BC787B}"/>
              </a:ext>
            </a:extLst>
          </p:cNvPr>
          <p:cNvSpPr txBox="1"/>
          <p:nvPr/>
        </p:nvSpPr>
        <p:spPr>
          <a:xfrm>
            <a:off x="3692346" y="3397611"/>
            <a:ext cx="1759305" cy="307777"/>
          </a:xfrm>
          <a:prstGeom prst="rect">
            <a:avLst/>
          </a:prstGeom>
          <a:noFill/>
        </p:spPr>
        <p:txBody>
          <a:bodyPr wrap="square">
            <a:spAutoFit/>
          </a:bodyPr>
          <a:lstStyle/>
          <a:p>
            <a:pPr algn="ctr"/>
            <a:r>
              <a:rPr lang="zh-CN" altLang="en-US" sz="1400" dirty="0">
                <a:latin typeface="Times New Roman" panose="02020603050405020304" pitchFamily="18" charset="0"/>
                <a:ea typeface="SimSun" panose="02010600030101010101" pitchFamily="2" charset="-122"/>
                <a:cs typeface="Times New Roman" panose="02020603050405020304" pitchFamily="18" charset="0"/>
              </a:rPr>
              <a:t>观测点有误差</a:t>
            </a:r>
            <a:endParaRPr lang="zh-CN" altLang="en-US" sz="1400" dirty="0"/>
          </a:p>
        </p:txBody>
      </p:sp>
    </p:spTree>
    <p:extLst>
      <p:ext uri="{BB962C8B-B14F-4D97-AF65-F5344CB8AC3E}">
        <p14:creationId xmlns:p14="http://schemas.microsoft.com/office/powerpoint/2010/main" val="2355968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3" grpId="0"/>
      <p:bldP spid="17" grpId="0"/>
      <p:bldP spid="18"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数学表达以及常用方法</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5</a:t>
            </a:fld>
            <a:endParaRPr lang="zh-CN" altLang="en-US" dirty="0">
              <a:solidFill>
                <a:prstClr val="black">
                  <a:tint val="75000"/>
                </a:prstClr>
              </a:solidFill>
            </a:endParaRPr>
          </a:p>
        </p:txBody>
      </p:sp>
      <p:sp>
        <p:nvSpPr>
          <p:cNvPr id="5" name="文本框 4">
            <a:extLst>
              <a:ext uri="{FF2B5EF4-FFF2-40B4-BE49-F238E27FC236}">
                <a16:creationId xmlns:a16="http://schemas.microsoft.com/office/drawing/2014/main" id="{92375014-7035-F888-1441-91E2650846F1}"/>
              </a:ext>
            </a:extLst>
          </p:cNvPr>
          <p:cNvSpPr txBox="1"/>
          <p:nvPr/>
        </p:nvSpPr>
        <p:spPr>
          <a:xfrm>
            <a:off x="337393" y="1117994"/>
            <a:ext cx="3802559" cy="1338828"/>
          </a:xfrm>
          <a:prstGeom prst="rect">
            <a:avLst/>
          </a:prstGeom>
          <a:solidFill>
            <a:schemeClr val="accent2">
              <a:lumMod val="20000"/>
              <a:lumOff val="80000"/>
            </a:schemeClr>
          </a:solidFill>
        </p:spPr>
        <p:txBody>
          <a:bodyPr wrap="square">
            <a:spAutoFit/>
          </a:bodyPr>
          <a:lstStyle/>
          <a:p>
            <a:pPr>
              <a:lnSpc>
                <a:spcPct val="150000"/>
              </a:lnSpc>
            </a:pPr>
            <a:r>
              <a:rPr lang="zh-CN" altLang="en-US" b="1" dirty="0">
                <a:latin typeface="Times New Roman" panose="02020603050405020304" pitchFamily="18" charset="0"/>
                <a:ea typeface="SimSun" panose="02010600030101010101" pitchFamily="2" charset="-122"/>
                <a:cs typeface="Times New Roman" panose="02020603050405020304" pitchFamily="18" charset="0"/>
              </a:rPr>
              <a:t>插值法（</a:t>
            </a:r>
            <a:r>
              <a:rPr lang="en" altLang="zh-CN" b="1" dirty="0">
                <a:latin typeface="Times New Roman" panose="02020603050405020304" pitchFamily="18" charset="0"/>
                <a:ea typeface="SimSun" panose="02010600030101010101" pitchFamily="2" charset="-122"/>
                <a:cs typeface="Times New Roman" panose="02020603050405020304" pitchFamily="18" charset="0"/>
              </a:rPr>
              <a:t>Interpolation</a:t>
            </a:r>
            <a:r>
              <a:rPr lang="zh-CN" altLang="en" b="1" dirty="0">
                <a:latin typeface="Times New Roman" panose="02020603050405020304" pitchFamily="18" charset="0"/>
                <a:ea typeface="SimSun" panose="02010600030101010101" pitchFamily="2" charset="-122"/>
                <a:cs typeface="Times New Roman" panose="02020603050405020304" pitchFamily="18" charset="0"/>
              </a:rPr>
              <a:t>）</a:t>
            </a:r>
            <a:r>
              <a:rPr lang="zh-CN" altLang="en" dirty="0">
                <a:latin typeface="Times New Roman" panose="02020603050405020304" pitchFamily="18" charset="0"/>
                <a:ea typeface="SimSun" panose="02010600030101010101" pitchFamily="2" charset="-122"/>
                <a:cs typeface="Times New Roman" panose="02020603050405020304" pitchFamily="18" charset="0"/>
              </a:rPr>
              <a:t>：</a:t>
            </a:r>
          </a:p>
          <a:p>
            <a:r>
              <a:rPr lang="zh-CN" altLang="en-US" dirty="0">
                <a:latin typeface="Times New Roman" panose="02020603050405020304" pitchFamily="18" charset="0"/>
                <a:ea typeface="SimSun" panose="02010600030101010101" pitchFamily="2" charset="-122"/>
                <a:cs typeface="Times New Roman" panose="02020603050405020304" pitchFamily="18" charset="0"/>
              </a:rPr>
              <a:t>给定</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n</a:t>
            </a:r>
            <a:r>
              <a:rPr lang="zh-CN" altLang="en-US" dirty="0">
                <a:latin typeface="Times New Roman" panose="02020603050405020304" pitchFamily="18" charset="0"/>
                <a:ea typeface="SimSun" panose="02010600030101010101" pitchFamily="2" charset="-122"/>
                <a:cs typeface="Times New Roman" panose="02020603050405020304" pitchFamily="18" charset="0"/>
              </a:rPr>
              <a:t>个数据点</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lang="zh-CN" altLang="en-US" i="1" baseline="-250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dirty="0">
                <a:latin typeface="Times New Roman" panose="02020603050405020304" pitchFamily="18" charset="0"/>
                <a:ea typeface="SimSun" panose="02010600030101010101" pitchFamily="2" charset="-122"/>
                <a:cs typeface="Times New Roman" panose="02020603050405020304" pitchFamily="18" charset="0"/>
              </a:rPr>
              <a:t>寻找一个函数</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f(x)</a:t>
            </a:r>
            <a:r>
              <a:rPr lang="zh-CN" altLang="en-US" dirty="0">
                <a:latin typeface="Times New Roman" panose="02020603050405020304" pitchFamily="18" charset="0"/>
                <a:ea typeface="SimSun" panose="02010600030101010101" pitchFamily="2" charset="-122"/>
                <a:cs typeface="Times New Roman" panose="02020603050405020304" pitchFamily="18" charset="0"/>
              </a:rPr>
              <a:t>，使得：</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algn="ctr"/>
            <a:r>
              <a:rPr lang="en-US" altLang="zh-CN" i="1" dirty="0">
                <a:latin typeface="Times New Roman" panose="02020603050405020304" pitchFamily="18" charset="0"/>
                <a:ea typeface="SimSun" panose="02010600030101010101" pitchFamily="2" charset="-122"/>
                <a:cs typeface="Times New Roman" panose="02020603050405020304" pitchFamily="18" charset="0"/>
              </a:rPr>
              <a:t>f(x</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t>
            </a:r>
            <a:r>
              <a:rPr kumimoji="1" lang="en-US" altLang="zh-CN" i="1" dirty="0">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i="1" dirty="0" err="1">
                <a:latin typeface="Times New Roman" panose="02020603050405020304" pitchFamily="18" charset="0"/>
                <a:ea typeface="宋体" panose="02010600030101010101" pitchFamily="2" charset="-122"/>
                <a:cs typeface="Times New Roman" panose="02020603050405020304" pitchFamily="18" charset="0"/>
              </a:rPr>
              <a:t>y</a:t>
            </a:r>
            <a:r>
              <a:rPr kumimoji="1" lang="en-US" altLang="zh-CN" i="1" baseline="-30000" dirty="0" err="1">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i="1" baseline="-300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=1,2,…,n</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39A21268-8C79-06A4-F111-8C92B0B4D47B}"/>
                  </a:ext>
                </a:extLst>
              </p:cNvPr>
              <p:cNvSpPr txBox="1"/>
              <p:nvPr/>
            </p:nvSpPr>
            <p:spPr>
              <a:xfrm>
                <a:off x="5004048" y="1117994"/>
                <a:ext cx="3888432" cy="1339854"/>
              </a:xfrm>
              <a:prstGeom prst="rect">
                <a:avLst/>
              </a:prstGeom>
              <a:solidFill>
                <a:schemeClr val="accent2">
                  <a:lumMod val="20000"/>
                  <a:lumOff val="80000"/>
                </a:schemeClr>
              </a:solidFill>
            </p:spPr>
            <p:txBody>
              <a:bodyPr wrap="square">
                <a:spAutoFit/>
              </a:bodyPr>
              <a:lstStyle/>
              <a:p>
                <a:pPr>
                  <a:lnSpc>
                    <a:spcPct val="150000"/>
                  </a:lnSpc>
                </a:pPr>
                <a:r>
                  <a:rPr lang="zh-CN" altLang="en-US" b="1" dirty="0">
                    <a:latin typeface="Times New Roman" panose="02020603050405020304" pitchFamily="18" charset="0"/>
                    <a:ea typeface="SimSun" panose="02010600030101010101" pitchFamily="2" charset="-122"/>
                    <a:cs typeface="Times New Roman" panose="02020603050405020304" pitchFamily="18" charset="0"/>
                  </a:rPr>
                  <a:t>拟合法（</a:t>
                </a:r>
                <a:r>
                  <a:rPr lang="en" altLang="zh-CN" b="1" dirty="0">
                    <a:latin typeface="Times New Roman" panose="02020603050405020304" pitchFamily="18" charset="0"/>
                    <a:ea typeface="SimSun" panose="02010600030101010101" pitchFamily="2" charset="-122"/>
                    <a:cs typeface="Times New Roman" panose="02020603050405020304" pitchFamily="18" charset="0"/>
                  </a:rPr>
                  <a:t>Approximation/Fitting</a:t>
                </a:r>
                <a:r>
                  <a:rPr lang="zh-CN" altLang="en" b="1" dirty="0">
                    <a:latin typeface="Times New Roman" panose="02020603050405020304" pitchFamily="18" charset="0"/>
                    <a:ea typeface="SimSun" panose="02010600030101010101" pitchFamily="2" charset="-122"/>
                    <a:cs typeface="Times New Roman" panose="02020603050405020304" pitchFamily="18" charset="0"/>
                  </a:rPr>
                  <a:t>）</a:t>
                </a:r>
                <a:r>
                  <a:rPr lang="zh-CN" altLang="en" dirty="0">
                    <a:latin typeface="Times New Roman" panose="02020603050405020304" pitchFamily="18" charset="0"/>
                    <a:ea typeface="SimSun" panose="02010600030101010101" pitchFamily="2" charset="-122"/>
                    <a:cs typeface="Times New Roman" panose="02020603050405020304" pitchFamily="18" charset="0"/>
                  </a:rPr>
                  <a:t>：</a:t>
                </a:r>
              </a:p>
              <a:p>
                <a:r>
                  <a:rPr lang="zh-CN" altLang="en-US" dirty="0">
                    <a:latin typeface="Times New Roman" panose="02020603050405020304" pitchFamily="18" charset="0"/>
                    <a:ea typeface="SimSun" panose="02010600030101010101" pitchFamily="2" charset="-122"/>
                    <a:cs typeface="Times New Roman" panose="02020603050405020304" pitchFamily="18" charset="0"/>
                  </a:rPr>
                  <a:t>给定</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n</a:t>
                </a:r>
                <a:r>
                  <a:rPr lang="zh-CN" altLang="en-US" dirty="0">
                    <a:latin typeface="Times New Roman" panose="02020603050405020304" pitchFamily="18" charset="0"/>
                    <a:ea typeface="SimSun" panose="02010600030101010101" pitchFamily="2" charset="-122"/>
                    <a:cs typeface="Times New Roman" panose="02020603050405020304" pitchFamily="18" charset="0"/>
                  </a:rPr>
                  <a:t>个数据点</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lang="zh-CN" altLang="en-US" i="1" baseline="-250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dirty="0">
                    <a:latin typeface="Times New Roman" panose="02020603050405020304" pitchFamily="18" charset="0"/>
                    <a:ea typeface="SimSun" panose="02010600030101010101" pitchFamily="2" charset="-122"/>
                    <a:cs typeface="Times New Roman" panose="02020603050405020304" pitchFamily="18" charset="0"/>
                  </a:rPr>
                  <a:t>寻找一个函数</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f(x)</a:t>
                </a:r>
                <a:r>
                  <a:rPr lang="zh-CN" altLang="en-US" dirty="0">
                    <a:latin typeface="Times New Roman" panose="02020603050405020304" pitchFamily="18" charset="0"/>
                    <a:ea typeface="SimSun" panose="02010600030101010101" pitchFamily="2" charset="-122"/>
                    <a:cs typeface="Times New Roman" panose="02020603050405020304" pitchFamily="18" charset="0"/>
                  </a:rPr>
                  <a:t>，使得：</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algn="ctr"/>
                <a14:m>
                  <m:oMath xmlns:m="http://schemas.openxmlformats.org/officeDocument/2006/math">
                    <m:sSubSup>
                      <m:sSubSupPr>
                        <m:ctrlPr>
                          <a:rPr lang="en-US" altLang="zh-CN" i="1" smtClean="0">
                            <a:latin typeface="Cambria Math" panose="02040503050406030204" pitchFamily="18" charset="0"/>
                            <a:ea typeface="Cambria Math" panose="02040503050406030204" pitchFamily="18" charset="0"/>
                            <a:cs typeface="Times New Roman" panose="02020603050405020304" pitchFamily="18" charset="0"/>
                          </a:rPr>
                        </m:ctrlPr>
                      </m:sSubSupPr>
                      <m:e>
                        <m:r>
                          <m:rPr>
                            <m:sty m:val="p"/>
                          </m:rPr>
                          <a:rPr lang="el-GR" altLang="zh-CN" i="1" smtClean="0">
                            <a:latin typeface="Cambria Math" panose="02040503050406030204" pitchFamily="18" charset="0"/>
                            <a:ea typeface="Cambria Math" panose="02040503050406030204" pitchFamily="18" charset="0"/>
                            <a:cs typeface="Times New Roman" panose="02020603050405020304" pitchFamily="18" charset="0"/>
                          </a:rPr>
                          <m:t>Σ</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=1</m:t>
                        </m:r>
                      </m:sub>
                      <m:sup>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𝑛</m:t>
                        </m:r>
                      </m:sup>
                    </m:sSubSup>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𝑓</m:t>
                        </m:r>
                        <m:d>
                          <m:d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𝑥</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𝑦</m:t>
                            </m:r>
                          </m:e>
                          <m:sub>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𝑖</m:t>
                            </m:r>
                          </m:sub>
                        </m:sSub>
                      </m:e>
                    </m:d>
                    <m:r>
                      <a:rPr lang="en-US" altLang="zh-CN" b="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dirty="0">
                    <a:latin typeface="Times New Roman" panose="02020603050405020304" pitchFamily="18" charset="0"/>
                    <a:ea typeface="SimSun" panose="02010600030101010101" pitchFamily="2" charset="-122"/>
                    <a:cs typeface="Times New Roman" panose="02020603050405020304" pitchFamily="18" charset="0"/>
                  </a:rPr>
                  <a:t>最小</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39A21268-8C79-06A4-F111-8C92B0B4D47B}"/>
                  </a:ext>
                </a:extLst>
              </p:cNvPr>
              <p:cNvSpPr txBox="1">
                <a:spLocks noRot="1" noChangeAspect="1" noMove="1" noResize="1" noEditPoints="1" noAdjustHandles="1" noChangeArrowheads="1" noChangeShapeType="1" noTextEdit="1"/>
              </p:cNvSpPr>
              <p:nvPr/>
            </p:nvSpPr>
            <p:spPr>
              <a:xfrm>
                <a:off x="5004048" y="1117994"/>
                <a:ext cx="3888432" cy="1339854"/>
              </a:xfrm>
              <a:prstGeom prst="rect">
                <a:avLst/>
              </a:prstGeom>
              <a:blipFill>
                <a:blip r:embed="rId3"/>
                <a:stretch>
                  <a:fillRect l="-1629" b="-4673"/>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580B555B-D27C-E6F7-AF4F-BFC2C5CED929}"/>
              </a:ext>
            </a:extLst>
          </p:cNvPr>
          <p:cNvSpPr txBox="1"/>
          <p:nvPr/>
        </p:nvSpPr>
        <p:spPr>
          <a:xfrm>
            <a:off x="1972515" y="2654844"/>
            <a:ext cx="877163" cy="369332"/>
          </a:xfrm>
          <a:prstGeom prst="rect">
            <a:avLst/>
          </a:prstGeom>
          <a:noFill/>
        </p:spPr>
        <p:txBody>
          <a:bodyPr wrap="none" rtlCol="0">
            <a:spAutoFit/>
          </a:bodyPr>
          <a:lstStyle/>
          <a:p>
            <a:r>
              <a:rPr kumimoji="1" lang="zh-CN" altLang="en-US" dirty="0"/>
              <a:t>插值法</a:t>
            </a:r>
          </a:p>
        </p:txBody>
      </p:sp>
      <p:sp>
        <p:nvSpPr>
          <p:cNvPr id="13" name="文本框 12">
            <a:extLst>
              <a:ext uri="{FF2B5EF4-FFF2-40B4-BE49-F238E27FC236}">
                <a16:creationId xmlns:a16="http://schemas.microsoft.com/office/drawing/2014/main" id="{F11FCE51-C06A-D31B-EE31-02DF57E7B7DA}"/>
              </a:ext>
            </a:extLst>
          </p:cNvPr>
          <p:cNvSpPr txBox="1"/>
          <p:nvPr/>
        </p:nvSpPr>
        <p:spPr>
          <a:xfrm>
            <a:off x="6100888" y="2654844"/>
            <a:ext cx="878767" cy="369332"/>
          </a:xfrm>
          <a:prstGeom prst="rect">
            <a:avLst/>
          </a:prstGeom>
          <a:noFill/>
        </p:spPr>
        <p:txBody>
          <a:bodyPr wrap="none" rtlCol="0">
            <a:spAutoFit/>
          </a:bodyPr>
          <a:lstStyle/>
          <a:p>
            <a:r>
              <a:rPr kumimoji="1" lang="zh-CN" altLang="en-US" dirty="0"/>
              <a:t>拟合法</a:t>
            </a:r>
          </a:p>
        </p:txBody>
      </p:sp>
      <p:cxnSp>
        <p:nvCxnSpPr>
          <p:cNvPr id="15" name="直线箭头连接符 14">
            <a:extLst>
              <a:ext uri="{FF2B5EF4-FFF2-40B4-BE49-F238E27FC236}">
                <a16:creationId xmlns:a16="http://schemas.microsoft.com/office/drawing/2014/main" id="{227AEC7F-5A30-8A68-54DB-EEB2E1C82371}"/>
              </a:ext>
            </a:extLst>
          </p:cNvPr>
          <p:cNvCxnSpPr>
            <a:cxnSpLocks/>
          </p:cNvCxnSpPr>
          <p:nvPr/>
        </p:nvCxnSpPr>
        <p:spPr>
          <a:xfrm>
            <a:off x="3892815" y="2839510"/>
            <a:ext cx="1358369"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321F062E-7C37-218A-F052-EC089BEDC464}"/>
              </a:ext>
            </a:extLst>
          </p:cNvPr>
          <p:cNvSpPr txBox="1"/>
          <p:nvPr/>
        </p:nvSpPr>
        <p:spPr>
          <a:xfrm>
            <a:off x="5258231" y="3166825"/>
            <a:ext cx="3380065" cy="1323439"/>
          </a:xfrm>
          <a:prstGeom prst="rect">
            <a:avLst/>
          </a:prstGeom>
          <a:noFill/>
        </p:spPr>
        <p:txBody>
          <a:bodyPr wrap="square">
            <a:spAutoFit/>
          </a:bodyPr>
          <a:lstStyle/>
          <a:p>
            <a:pPr marL="285750" indent="-285750">
              <a:buFont typeface="Arial" panose="020B0604020202020204" pitchFamily="34" charset="0"/>
              <a:buChar char="•"/>
            </a:pPr>
            <a:r>
              <a:rPr lang="zh-CN" altLang="en-US" sz="16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最小二乘法</a:t>
            </a:r>
            <a:endParaRPr lang="en-US" altLang="zh-CN" sz="16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dirty="0">
                <a:latin typeface="Times New Roman" panose="02020603050405020304" pitchFamily="18" charset="0"/>
                <a:ea typeface="SimSun" panose="02010600030101010101" pitchFamily="2" charset="-122"/>
                <a:cs typeface="Times New Roman" panose="02020603050405020304" pitchFamily="18" charset="0"/>
              </a:rPr>
              <a:t>线性拟合</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dirty="0">
                <a:latin typeface="Times New Roman" panose="02020603050405020304" pitchFamily="18" charset="0"/>
                <a:ea typeface="SimSun" panose="02010600030101010101" pitchFamily="2" charset="-122"/>
                <a:cs typeface="Times New Roman" panose="02020603050405020304" pitchFamily="18" charset="0"/>
              </a:rPr>
              <a:t>非线性拟合：多项式拟合、指数、对数、幂函数模型、神经网络模型</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8" name="文本框 17">
            <a:extLst>
              <a:ext uri="{FF2B5EF4-FFF2-40B4-BE49-F238E27FC236}">
                <a16:creationId xmlns:a16="http://schemas.microsoft.com/office/drawing/2014/main" id="{CCEC03C1-A448-C2AB-9D8E-D7C2B0BD221C}"/>
              </a:ext>
            </a:extLst>
          </p:cNvPr>
          <p:cNvSpPr txBox="1"/>
          <p:nvPr/>
        </p:nvSpPr>
        <p:spPr>
          <a:xfrm>
            <a:off x="1072208" y="3166825"/>
            <a:ext cx="3024336" cy="1323439"/>
          </a:xfrm>
          <a:prstGeom prst="rect">
            <a:avLst/>
          </a:prstGeom>
          <a:noFill/>
        </p:spPr>
        <p:txBody>
          <a:bodyPr wrap="square">
            <a:spAutoFit/>
          </a:bodyPr>
          <a:lstStyle/>
          <a:p>
            <a:pPr marL="285750" indent="-285750">
              <a:buFont typeface="Arial" panose="020B0604020202020204" pitchFamily="34" charset="0"/>
              <a:buChar char="•"/>
            </a:pPr>
            <a:r>
              <a:rPr lang="zh-CN" altLang="en-US" sz="16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多项式插值</a:t>
            </a:r>
            <a:endParaRPr lang="en-US" altLang="zh-CN" sz="16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dirty="0">
                <a:latin typeface="Times New Roman" panose="02020603050405020304" pitchFamily="18" charset="0"/>
                <a:ea typeface="SimSun" panose="02010600030101010101" pitchFamily="2" charset="-122"/>
                <a:cs typeface="Times New Roman" panose="02020603050405020304" pitchFamily="18" charset="0"/>
              </a:rPr>
              <a:t>拉格朗日多项式插值</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buFont typeface="Arial" panose="020B0604020202020204" pitchFamily="34" charset="0"/>
              <a:buChar char="•"/>
            </a:pPr>
            <a:r>
              <a:rPr lang="zh-CN" altLang="en-US" sz="16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分段插值</a:t>
            </a:r>
            <a:endParaRPr lang="en-US" altLang="zh-CN" sz="16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buFont typeface="Arial" panose="020B0604020202020204" pitchFamily="34" charset="0"/>
              <a:buChar char="•"/>
            </a:pPr>
            <a:r>
              <a:rPr lang="zh-CN" altLang="en-US" sz="1600" dirty="0">
                <a:latin typeface="Times New Roman" panose="02020603050405020304" pitchFamily="18" charset="0"/>
                <a:ea typeface="SimSun" panose="02010600030101010101" pitchFamily="2" charset="-122"/>
                <a:cs typeface="Times New Roman" panose="02020603050405020304" pitchFamily="18" charset="0"/>
              </a:rPr>
              <a:t>分段线性插值、三次样条插值</a:t>
            </a:r>
          </a:p>
        </p:txBody>
      </p:sp>
      <p:sp>
        <p:nvSpPr>
          <p:cNvPr id="4" name="文本框 3">
            <a:extLst>
              <a:ext uri="{FF2B5EF4-FFF2-40B4-BE49-F238E27FC236}">
                <a16:creationId xmlns:a16="http://schemas.microsoft.com/office/drawing/2014/main" id="{7E23E179-485C-F87D-962B-589FE4A27BCD}"/>
              </a:ext>
            </a:extLst>
          </p:cNvPr>
          <p:cNvSpPr txBox="1"/>
          <p:nvPr/>
        </p:nvSpPr>
        <p:spPr>
          <a:xfrm>
            <a:off x="3600675" y="2530707"/>
            <a:ext cx="1759305" cy="307777"/>
          </a:xfrm>
          <a:prstGeom prst="rect">
            <a:avLst/>
          </a:prstGeom>
          <a:noFill/>
        </p:spPr>
        <p:txBody>
          <a:bodyPr wrap="square">
            <a:spAutoFit/>
          </a:bodyPr>
          <a:lstStyle/>
          <a:p>
            <a:pPr algn="ctr"/>
            <a:r>
              <a:rPr lang="zh-CN" altLang="en-US" sz="1400" dirty="0">
                <a:latin typeface="Times New Roman" panose="02020603050405020304" pitchFamily="18" charset="0"/>
                <a:ea typeface="SimSun" panose="02010600030101010101" pitchFamily="2" charset="-122"/>
                <a:cs typeface="Times New Roman" panose="02020603050405020304" pitchFamily="18" charset="0"/>
              </a:rPr>
              <a:t>观测点有误差</a:t>
            </a:r>
            <a:endParaRPr lang="zh-CN" altLang="en-US" sz="1400" dirty="0"/>
          </a:p>
        </p:txBody>
      </p:sp>
    </p:spTree>
    <p:extLst>
      <p:ext uri="{BB962C8B-B14F-4D97-AF65-F5344CB8AC3E}">
        <p14:creationId xmlns:p14="http://schemas.microsoft.com/office/powerpoint/2010/main" val="368997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3" grpId="0"/>
      <p:bldP spid="17" grpId="0"/>
      <p:bldP spid="18"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最小二乘法：引例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6</a:t>
            </a:fld>
            <a:endParaRPr lang="zh-CN" altLang="en-US" dirty="0">
              <a:solidFill>
                <a:prstClr val="black">
                  <a:tint val="75000"/>
                </a:prstClr>
              </a:solidFill>
            </a:endParaRPr>
          </a:p>
        </p:txBody>
      </p:sp>
      <p:sp>
        <p:nvSpPr>
          <p:cNvPr id="10" name="文本框 9">
            <a:extLst>
              <a:ext uri="{FF2B5EF4-FFF2-40B4-BE49-F238E27FC236}">
                <a16:creationId xmlns:a16="http://schemas.microsoft.com/office/drawing/2014/main" id="{AB6A272D-3815-8F28-2F48-E9683087A2D4}"/>
              </a:ext>
            </a:extLst>
          </p:cNvPr>
          <p:cNvSpPr txBox="1"/>
          <p:nvPr/>
        </p:nvSpPr>
        <p:spPr>
          <a:xfrm>
            <a:off x="395536" y="987574"/>
            <a:ext cx="8424936" cy="646331"/>
          </a:xfrm>
          <a:prstGeom prst="rect">
            <a:avLst/>
          </a:prstGeom>
          <a:noFill/>
        </p:spPr>
        <p:txBody>
          <a:bodyPr wrap="square">
            <a:spAutoFit/>
          </a:bodyPr>
          <a:lstStyle/>
          <a:p>
            <a:r>
              <a:rPr lang="zh-CN" altLang="en-US" sz="1800" dirty="0">
                <a:solidFill>
                  <a:srgbClr val="000000"/>
                </a:solidFill>
                <a:latin typeface="Times New Roman" panose="02020603050405020304" pitchFamily="18" charset="0"/>
                <a:cs typeface="Times New Roman" panose="02020603050405020304" pitchFamily="18" charset="0"/>
              </a:rPr>
              <a:t> 某种合成纤维的强度与其拉伸倍数有直接关系，下表给出的是实际测定的</a:t>
            </a:r>
            <a:r>
              <a:rPr lang="en-US" altLang="zh-CN" sz="1800" dirty="0">
                <a:solidFill>
                  <a:schemeClr val="tx2"/>
                </a:solidFill>
                <a:latin typeface="Times New Roman" panose="02020603050405020304" pitchFamily="18" charset="0"/>
                <a:cs typeface="Times New Roman" panose="02020603050405020304" pitchFamily="18" charset="0"/>
              </a:rPr>
              <a:t>24</a:t>
            </a:r>
            <a:r>
              <a:rPr lang="zh-CN" altLang="en-US" sz="1800" dirty="0">
                <a:solidFill>
                  <a:schemeClr val="tx2"/>
                </a:solidFill>
                <a:latin typeface="Times New Roman" panose="02020603050405020304" pitchFamily="18" charset="0"/>
                <a:cs typeface="Times New Roman" panose="02020603050405020304" pitchFamily="18" charset="0"/>
              </a:rPr>
              <a:t>个纤维样品的强度与相应拉伸倍数的记录</a:t>
            </a:r>
            <a:r>
              <a:rPr lang="zh-CN" altLang="en-US" sz="1800" dirty="0">
                <a:solidFill>
                  <a:srgbClr val="000000"/>
                </a:solidFill>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graphicFrame>
        <p:nvGraphicFramePr>
          <p:cNvPr id="12" name="表格 11">
            <a:extLst>
              <a:ext uri="{FF2B5EF4-FFF2-40B4-BE49-F238E27FC236}">
                <a16:creationId xmlns:a16="http://schemas.microsoft.com/office/drawing/2014/main" id="{3D9D49D7-AC71-5950-752D-A9F5E033FA91}"/>
              </a:ext>
            </a:extLst>
          </p:cNvPr>
          <p:cNvGraphicFramePr>
            <a:graphicFrameLocks noGrp="1"/>
          </p:cNvGraphicFramePr>
          <p:nvPr>
            <p:extLst>
              <p:ext uri="{D42A27DB-BD31-4B8C-83A1-F6EECF244321}">
                <p14:modId xmlns:p14="http://schemas.microsoft.com/office/powerpoint/2010/main" val="4070050606"/>
              </p:ext>
            </p:extLst>
          </p:nvPr>
        </p:nvGraphicFramePr>
        <p:xfrm>
          <a:off x="755575" y="1837987"/>
          <a:ext cx="7704857" cy="2987040"/>
        </p:xfrm>
        <a:graphic>
          <a:graphicData uri="http://schemas.openxmlformats.org/drawingml/2006/table">
            <a:tbl>
              <a:tblPr>
                <a:tableStyleId>{5C22544A-7EE6-4342-B048-85BDC9FD1C3A}</a:tableStyleId>
              </a:tblPr>
              <a:tblGrid>
                <a:gridCol w="880554">
                  <a:extLst>
                    <a:ext uri="{9D8B030D-6E8A-4147-A177-3AD203B41FA5}">
                      <a16:colId xmlns:a16="http://schemas.microsoft.com/office/drawing/2014/main" val="3010027247"/>
                    </a:ext>
                  </a:extLst>
                </a:gridCol>
                <a:gridCol w="1320833">
                  <a:extLst>
                    <a:ext uri="{9D8B030D-6E8A-4147-A177-3AD203B41FA5}">
                      <a16:colId xmlns:a16="http://schemas.microsoft.com/office/drawing/2014/main" val="1891301240"/>
                    </a:ext>
                  </a:extLst>
                </a:gridCol>
                <a:gridCol w="1540972">
                  <a:extLst>
                    <a:ext uri="{9D8B030D-6E8A-4147-A177-3AD203B41FA5}">
                      <a16:colId xmlns:a16="http://schemas.microsoft.com/office/drawing/2014/main" val="592043827"/>
                    </a:ext>
                  </a:extLst>
                </a:gridCol>
                <a:gridCol w="1100693">
                  <a:extLst>
                    <a:ext uri="{9D8B030D-6E8A-4147-A177-3AD203B41FA5}">
                      <a16:colId xmlns:a16="http://schemas.microsoft.com/office/drawing/2014/main" val="3740113491"/>
                    </a:ext>
                  </a:extLst>
                </a:gridCol>
                <a:gridCol w="1320833">
                  <a:extLst>
                    <a:ext uri="{9D8B030D-6E8A-4147-A177-3AD203B41FA5}">
                      <a16:colId xmlns:a16="http://schemas.microsoft.com/office/drawing/2014/main" val="2959251650"/>
                    </a:ext>
                  </a:extLst>
                </a:gridCol>
                <a:gridCol w="1540972">
                  <a:extLst>
                    <a:ext uri="{9D8B030D-6E8A-4147-A177-3AD203B41FA5}">
                      <a16:colId xmlns:a16="http://schemas.microsoft.com/office/drawing/2014/main" val="1534976358"/>
                    </a:ext>
                  </a:extLst>
                </a:gridCol>
              </a:tblGrid>
              <a:tr h="0">
                <a:tc>
                  <a:txBody>
                    <a:bodyPr/>
                    <a:lstStyle/>
                    <a:p>
                      <a:pPr algn="ctr"/>
                      <a:r>
                        <a:rPr lang="zh-CN" sz="1400" kern="100" dirty="0">
                          <a:effectLst/>
                          <a:latin typeface="Times New Roman" panose="02020603050405020304" pitchFamily="18" charset="0"/>
                          <a:cs typeface="Times New Roman" panose="02020603050405020304" pitchFamily="18" charset="0"/>
                        </a:rPr>
                        <a:t>编号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2">
                        <a:lumMod val="20000"/>
                        <a:lumOff val="80000"/>
                      </a:schemeClr>
                    </a:solidFill>
                  </a:tcPr>
                </a:tc>
                <a:tc>
                  <a:txBody>
                    <a:bodyPr/>
                    <a:lstStyle/>
                    <a:p>
                      <a:pPr algn="ctr"/>
                      <a:r>
                        <a:rPr lang="zh-CN" sz="1400" kern="100">
                          <a:effectLst/>
                          <a:latin typeface="Times New Roman" panose="02020603050405020304" pitchFamily="18" charset="0"/>
                          <a:cs typeface="Times New Roman" panose="02020603050405020304" pitchFamily="18" charset="0"/>
                        </a:rPr>
                        <a:t>拉伸倍数</a:t>
                      </a:r>
                      <a:r>
                        <a:rPr lang="en-US" sz="1400" kern="100">
                          <a:effectLst/>
                          <a:latin typeface="Times New Roman" panose="02020603050405020304" pitchFamily="18" charset="0"/>
                          <a:cs typeface="Times New Roman" panose="02020603050405020304" pitchFamily="18" charset="0"/>
                        </a:rPr>
                        <a:t>x</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zh-CN" sz="1400" kern="100">
                          <a:effectLst/>
                          <a:latin typeface="Times New Roman" panose="02020603050405020304" pitchFamily="18" charset="0"/>
                          <a:cs typeface="Times New Roman" panose="02020603050405020304" pitchFamily="18" charset="0"/>
                        </a:rPr>
                        <a:t>强度</a:t>
                      </a:r>
                      <a:r>
                        <a:rPr lang="en-US" sz="1400" kern="100">
                          <a:effectLst/>
                          <a:latin typeface="Times New Roman" panose="02020603050405020304" pitchFamily="18" charset="0"/>
                          <a:cs typeface="Times New Roman" panose="02020603050405020304" pitchFamily="18" charset="0"/>
                        </a:rPr>
                        <a:t>y</a:t>
                      </a:r>
                      <a:endParaRPr lang="zh-CN" sz="1400" kern="100">
                        <a:effectLst/>
                        <a:latin typeface="Times New Roman" panose="02020603050405020304" pitchFamily="18" charset="0"/>
                        <a:cs typeface="Times New Roman" panose="02020603050405020304" pitchFamily="18" charset="0"/>
                      </a:endParaRPr>
                    </a:p>
                    <a:p>
                      <a:pPr algn="ctr"/>
                      <a:r>
                        <a:rPr lang="en-US" sz="1400" kern="100">
                          <a:effectLst/>
                          <a:latin typeface="Times New Roman" panose="02020603050405020304" pitchFamily="18" charset="0"/>
                          <a:cs typeface="Times New Roman" panose="02020603050405020304" pitchFamily="18" charset="0"/>
                        </a:rPr>
                        <a:t>kg /mm</a:t>
                      </a:r>
                      <a:r>
                        <a:rPr lang="en-US" sz="1400" kern="100" baseline="30000">
                          <a:effectLst/>
                          <a:latin typeface="Times New Roman" panose="02020603050405020304" pitchFamily="18" charset="0"/>
                          <a:cs typeface="Times New Roman" panose="02020603050405020304" pitchFamily="18" charset="0"/>
                        </a:rPr>
                        <a:t>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zh-CN" sz="1400" kern="100" dirty="0">
                          <a:effectLst/>
                          <a:latin typeface="Times New Roman" panose="02020603050405020304" pitchFamily="18" charset="0"/>
                          <a:cs typeface="Times New Roman" panose="02020603050405020304" pitchFamily="18" charset="0"/>
                        </a:rPr>
                        <a:t>编号</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chemeClr val="accent2">
                        <a:lumMod val="20000"/>
                        <a:lumOff val="80000"/>
                      </a:schemeClr>
                    </a:solidFill>
                  </a:tcPr>
                </a:tc>
                <a:tc>
                  <a:txBody>
                    <a:bodyPr/>
                    <a:lstStyle/>
                    <a:p>
                      <a:pPr algn="ctr"/>
                      <a:r>
                        <a:rPr lang="zh-CN" sz="1400" kern="100">
                          <a:effectLst/>
                          <a:latin typeface="Times New Roman" panose="02020603050405020304" pitchFamily="18" charset="0"/>
                          <a:cs typeface="Times New Roman" panose="02020603050405020304" pitchFamily="18" charset="0"/>
                        </a:rPr>
                        <a:t>拉伸倍数</a:t>
                      </a:r>
                      <a:r>
                        <a:rPr lang="en-US" sz="1400" kern="100">
                          <a:effectLst/>
                          <a:latin typeface="Times New Roman" panose="02020603050405020304" pitchFamily="18" charset="0"/>
                          <a:cs typeface="Times New Roman" panose="02020603050405020304" pitchFamily="18" charset="0"/>
                        </a:rPr>
                        <a:t>x</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r>
                        <a:rPr lang="zh-CN" sz="1400" kern="100">
                          <a:effectLst/>
                          <a:latin typeface="Times New Roman" panose="02020603050405020304" pitchFamily="18" charset="0"/>
                          <a:cs typeface="Times New Roman" panose="02020603050405020304" pitchFamily="18" charset="0"/>
                        </a:rPr>
                        <a:t>强度</a:t>
                      </a:r>
                      <a:r>
                        <a:rPr lang="en-US" sz="1400" kern="100">
                          <a:effectLst/>
                          <a:latin typeface="Times New Roman" panose="02020603050405020304" pitchFamily="18" charset="0"/>
                          <a:cs typeface="Times New Roman" panose="02020603050405020304" pitchFamily="18" charset="0"/>
                        </a:rPr>
                        <a:t>y</a:t>
                      </a:r>
                      <a:endParaRPr lang="zh-CN" sz="1400" kern="100">
                        <a:effectLst/>
                        <a:latin typeface="Times New Roman" panose="02020603050405020304" pitchFamily="18" charset="0"/>
                        <a:cs typeface="Times New Roman" panose="02020603050405020304" pitchFamily="18" charset="0"/>
                      </a:endParaRPr>
                    </a:p>
                    <a:p>
                      <a:pPr algn="ctr"/>
                      <a:r>
                        <a:rPr lang="en-US" sz="1400" kern="100">
                          <a:effectLst/>
                          <a:latin typeface="Times New Roman" panose="02020603050405020304" pitchFamily="18" charset="0"/>
                          <a:cs typeface="Times New Roman" panose="02020603050405020304" pitchFamily="18" charset="0"/>
                        </a:rPr>
                        <a:t>kg /mm</a:t>
                      </a:r>
                      <a:r>
                        <a:rPr lang="en-US" sz="1400" kern="100" baseline="30000">
                          <a:effectLst/>
                          <a:latin typeface="Times New Roman" panose="02020603050405020304" pitchFamily="18" charset="0"/>
                          <a:cs typeface="Times New Roman" panose="02020603050405020304" pitchFamily="18" charset="0"/>
                        </a:rPr>
                        <a:t>2</a:t>
                      </a:r>
                      <a:endParaRPr lang="zh-CN" sz="14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36374423"/>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1.9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5.0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5.5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43098972"/>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2.0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5.2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5.0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82551848"/>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2.1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6.0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5.5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52900418"/>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2.5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2.5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6.3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6.4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49604020"/>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2.7</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2.8</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6.5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6.0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60501672"/>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2.7</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2.5</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7.1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5.3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19126682"/>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7</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3.5</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3.0</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19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8.0</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6.5</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86492730"/>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8</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3.5</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2.7</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20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8.0</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7.0</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59773505"/>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4.0</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4.0</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21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8.9</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8.5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89714456"/>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10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4.0</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solidFill>
                            <a:srgbClr val="C00000"/>
                          </a:solidFill>
                          <a:effectLst/>
                          <a:latin typeface="Times New Roman" panose="02020603050405020304" pitchFamily="18" charset="0"/>
                          <a:cs typeface="Times New Roman" panose="02020603050405020304" pitchFamily="18" charset="0"/>
                        </a:rPr>
                        <a:t>3.5</a:t>
                      </a:r>
                      <a:endParaRPr lang="zh-CN" sz="1400" kern="1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22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9.0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8.0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4524528"/>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11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4.5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4.2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23</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9.5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8.1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6882250"/>
                  </a:ext>
                </a:extLst>
              </a:tr>
              <a:tr h="0">
                <a:tc>
                  <a:txBody>
                    <a:bodyPr/>
                    <a:lstStyle/>
                    <a:p>
                      <a:pPr algn="ctr"/>
                      <a:r>
                        <a:rPr lang="en-US" sz="1400" kern="100" dirty="0">
                          <a:effectLst/>
                          <a:latin typeface="Times New Roman" panose="02020603050405020304" pitchFamily="18" charset="0"/>
                          <a:cs typeface="Times New Roman" panose="02020603050405020304" pitchFamily="18" charset="0"/>
                        </a:rPr>
                        <a:t>12</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4.6</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3.5</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24</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solidFill>
                      <a:schemeClr val="accent2">
                        <a:lumMod val="20000"/>
                        <a:lumOff val="80000"/>
                      </a:schemeClr>
                    </a:solidFill>
                  </a:tcPr>
                </a:tc>
                <a:tc>
                  <a:txBody>
                    <a:bodyPr/>
                    <a:lstStyle/>
                    <a:p>
                      <a:pPr algn="ctr"/>
                      <a:r>
                        <a:rPr lang="en-US" sz="1400" kern="100" dirty="0">
                          <a:effectLst/>
                          <a:latin typeface="Times New Roman" panose="02020603050405020304" pitchFamily="18" charset="0"/>
                          <a:cs typeface="Times New Roman" panose="02020603050405020304" pitchFamily="18" charset="0"/>
                        </a:rPr>
                        <a:t>10.0</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en-US" sz="1400" kern="100" dirty="0">
                          <a:effectLst/>
                          <a:latin typeface="Times New Roman" panose="02020603050405020304" pitchFamily="18" charset="0"/>
                          <a:cs typeface="Times New Roman" panose="02020603050405020304" pitchFamily="18" charset="0"/>
                        </a:rPr>
                        <a:t>8.1</a:t>
                      </a:r>
                      <a:endParaRPr 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83782487"/>
                  </a:ext>
                </a:extLst>
              </a:tr>
            </a:tbl>
          </a:graphicData>
        </a:graphic>
      </p:graphicFrame>
    </p:spTree>
    <p:extLst>
      <p:ext uri="{BB962C8B-B14F-4D97-AF65-F5344CB8AC3E}">
        <p14:creationId xmlns:p14="http://schemas.microsoft.com/office/powerpoint/2010/main" val="1831825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最小二乘法：引例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7</a:t>
            </a:fld>
            <a:endParaRPr lang="zh-CN" altLang="en-US" dirty="0">
              <a:solidFill>
                <a:prstClr val="black">
                  <a:tint val="75000"/>
                </a:prstClr>
              </a:solidFill>
            </a:endParaRPr>
          </a:p>
        </p:txBody>
      </p:sp>
      <p:pic>
        <p:nvPicPr>
          <p:cNvPr id="6" name="图片 5">
            <a:extLst>
              <a:ext uri="{FF2B5EF4-FFF2-40B4-BE49-F238E27FC236}">
                <a16:creationId xmlns:a16="http://schemas.microsoft.com/office/drawing/2014/main" id="{EBD75C67-F245-B82B-F4DC-BE8B32E3FC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1452" y="1064191"/>
            <a:ext cx="3746684" cy="3024336"/>
          </a:xfrm>
          <a:prstGeom prst="rect">
            <a:avLst/>
          </a:prstGeom>
        </p:spPr>
      </p:pic>
      <p:sp>
        <p:nvSpPr>
          <p:cNvPr id="8" name="文本框 7">
            <a:extLst>
              <a:ext uri="{FF2B5EF4-FFF2-40B4-BE49-F238E27FC236}">
                <a16:creationId xmlns:a16="http://schemas.microsoft.com/office/drawing/2014/main" id="{FEA68D28-CE05-567F-5D82-C2A4E1A4C850}"/>
              </a:ext>
            </a:extLst>
          </p:cNvPr>
          <p:cNvSpPr txBox="1"/>
          <p:nvPr/>
        </p:nvSpPr>
        <p:spPr>
          <a:xfrm>
            <a:off x="286390" y="4257855"/>
            <a:ext cx="8571220" cy="646331"/>
          </a:xfrm>
          <a:prstGeom prst="rect">
            <a:avLst/>
          </a:prstGeom>
          <a:solidFill>
            <a:schemeClr val="accent2">
              <a:lumMod val="20000"/>
              <a:lumOff val="80000"/>
            </a:schemeClr>
          </a:solidFill>
        </p:spPr>
        <p:txBody>
          <a:bodyPr wrap="square">
            <a:spAutoFit/>
          </a:bodyPr>
          <a:lstStyle/>
          <a:p>
            <a:r>
              <a:rPr lang="zh-CN" altLang="en-US" dirty="0"/>
              <a:t>从上图中可以看出纤维的强度与拉伸倍数大致成</a:t>
            </a:r>
            <a:r>
              <a:rPr lang="zh-CN" altLang="en-US" dirty="0">
                <a:solidFill>
                  <a:srgbClr val="C00000"/>
                </a:solidFill>
              </a:rPr>
              <a:t>线性关系</a:t>
            </a:r>
            <a:r>
              <a:rPr lang="zh-CN" altLang="en-US" dirty="0"/>
              <a:t>，可用</a:t>
            </a:r>
            <a:r>
              <a:rPr lang="zh-CN" altLang="en-US" dirty="0">
                <a:solidFill>
                  <a:srgbClr val="C00000"/>
                </a:solidFill>
              </a:rPr>
              <a:t>一条直线</a:t>
            </a:r>
            <a:r>
              <a:rPr lang="zh-CN" altLang="en-US" dirty="0"/>
              <a:t>来表示两者之间的关系。</a:t>
            </a:r>
          </a:p>
        </p:txBody>
      </p:sp>
      <p:pic>
        <p:nvPicPr>
          <p:cNvPr id="11" name="图片 10">
            <a:extLst>
              <a:ext uri="{FF2B5EF4-FFF2-40B4-BE49-F238E27FC236}">
                <a16:creationId xmlns:a16="http://schemas.microsoft.com/office/drawing/2014/main" id="{D26C3B8B-6779-98B0-0FCC-CCC9B84ACC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40095" y="1024308"/>
            <a:ext cx="3786619" cy="3089298"/>
          </a:xfrm>
          <a:prstGeom prst="rect">
            <a:avLst/>
          </a:prstGeom>
        </p:spPr>
      </p:pic>
      <p:sp>
        <p:nvSpPr>
          <p:cNvPr id="9" name="文本框 8">
            <a:extLst>
              <a:ext uri="{FF2B5EF4-FFF2-40B4-BE49-F238E27FC236}">
                <a16:creationId xmlns:a16="http://schemas.microsoft.com/office/drawing/2014/main" id="{231DB663-9FD9-19A7-2098-04010187183D}"/>
              </a:ext>
            </a:extLst>
          </p:cNvPr>
          <p:cNvSpPr txBox="1"/>
          <p:nvPr/>
        </p:nvSpPr>
        <p:spPr>
          <a:xfrm>
            <a:off x="5257056" y="1347614"/>
            <a:ext cx="1907232" cy="600164"/>
          </a:xfrm>
          <a:prstGeom prst="rect">
            <a:avLst/>
          </a:prstGeom>
          <a:noFill/>
        </p:spPr>
        <p:txBody>
          <a:bodyPr wrap="square">
            <a:spAutoFit/>
          </a:bodyPr>
          <a:lstStyle/>
          <a:p>
            <a:r>
              <a:rPr lang="en" altLang="zh-CN" sz="1100" b="0" i="0" dirty="0">
                <a:effectLst/>
                <a:latin typeface="Menlo" panose="020B0609030804020204" pitchFamily="49" charset="0"/>
              </a:rPr>
              <a:t>x0 = 2:0.1:10;</a:t>
            </a:r>
          </a:p>
          <a:p>
            <a:r>
              <a:rPr lang="en" altLang="zh-CN" sz="1100" b="0" i="0" dirty="0">
                <a:effectLst/>
                <a:latin typeface="Menlo" panose="020B0609030804020204" pitchFamily="49" charset="0"/>
              </a:rPr>
              <a:t>y0=interp1(x,y,x0);</a:t>
            </a:r>
          </a:p>
          <a:p>
            <a:r>
              <a:rPr lang="zh-CN" altLang="en-US" sz="1100" dirty="0">
                <a:latin typeface="Menlo" panose="020B0609030804020204" pitchFamily="49" charset="0"/>
              </a:rPr>
              <a:t>分段线性插值</a:t>
            </a:r>
            <a:endParaRPr lang="en" altLang="zh-CN" sz="1100" b="0" i="0" dirty="0">
              <a:effectLst/>
              <a:latin typeface="Menlo" panose="020B0609030804020204" pitchFamily="49" charset="0"/>
            </a:endParaRPr>
          </a:p>
        </p:txBody>
      </p:sp>
      <p:pic>
        <p:nvPicPr>
          <p:cNvPr id="13" name="图片 12">
            <a:extLst>
              <a:ext uri="{FF2B5EF4-FFF2-40B4-BE49-F238E27FC236}">
                <a16:creationId xmlns:a16="http://schemas.microsoft.com/office/drawing/2014/main" id="{6F353E3A-EDD6-AA57-9319-CD81DDD3B7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48212" y="1027046"/>
            <a:ext cx="3755838" cy="3061481"/>
          </a:xfrm>
          <a:prstGeom prst="rect">
            <a:avLst/>
          </a:prstGeom>
        </p:spPr>
      </p:pic>
      <p:sp>
        <p:nvSpPr>
          <p:cNvPr id="14" name="文本框 13">
            <a:extLst>
              <a:ext uri="{FF2B5EF4-FFF2-40B4-BE49-F238E27FC236}">
                <a16:creationId xmlns:a16="http://schemas.microsoft.com/office/drawing/2014/main" id="{AB4C8014-6E2C-EB30-F6AD-FC2440362505}"/>
              </a:ext>
            </a:extLst>
          </p:cNvPr>
          <p:cNvSpPr txBox="1"/>
          <p:nvPr/>
        </p:nvSpPr>
        <p:spPr>
          <a:xfrm>
            <a:off x="6660232" y="1707654"/>
            <a:ext cx="1580882" cy="369332"/>
          </a:xfrm>
          <a:prstGeom prst="rect">
            <a:avLst/>
          </a:prstGeom>
          <a:noFill/>
        </p:spPr>
        <p:txBody>
          <a:bodyPr wrap="none" rtlCol="0">
            <a:spAutoFit/>
          </a:bodyPr>
          <a:lstStyle/>
          <a:p>
            <a:r>
              <a:rPr kumimoji="1" lang="zh-CN" altLang="en-US" dirty="0"/>
              <a:t>三次样条插值</a:t>
            </a:r>
          </a:p>
        </p:txBody>
      </p:sp>
    </p:spTree>
    <p:extLst>
      <p:ext uri="{BB962C8B-B14F-4D97-AF65-F5344CB8AC3E}">
        <p14:creationId xmlns:p14="http://schemas.microsoft.com/office/powerpoint/2010/main" val="97074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9" grpId="1"/>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最小二乘法：引例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8</a:t>
            </a:fld>
            <a:endParaRPr lang="zh-CN" altLang="en-US" dirty="0">
              <a:solidFill>
                <a:prstClr val="black">
                  <a:tint val="75000"/>
                </a:prstClr>
              </a:solidFill>
            </a:endParaRPr>
          </a:p>
        </p:txBody>
      </p:sp>
      <p:sp>
        <p:nvSpPr>
          <p:cNvPr id="8" name="文本框 7">
            <a:extLst>
              <a:ext uri="{FF2B5EF4-FFF2-40B4-BE49-F238E27FC236}">
                <a16:creationId xmlns:a16="http://schemas.microsoft.com/office/drawing/2014/main" id="{FEA68D28-CE05-567F-5D82-C2A4E1A4C850}"/>
              </a:ext>
            </a:extLst>
          </p:cNvPr>
          <p:cNvSpPr txBox="1"/>
          <p:nvPr/>
        </p:nvSpPr>
        <p:spPr>
          <a:xfrm>
            <a:off x="286390" y="4257855"/>
            <a:ext cx="8571220" cy="646331"/>
          </a:xfrm>
          <a:prstGeom prst="rect">
            <a:avLst/>
          </a:prstGeom>
          <a:solidFill>
            <a:schemeClr val="accent2">
              <a:lumMod val="20000"/>
              <a:lumOff val="80000"/>
            </a:schemeClr>
          </a:solidFill>
        </p:spPr>
        <p:txBody>
          <a:bodyPr wrap="square">
            <a:spAutoFit/>
          </a:bodyPr>
          <a:lstStyle/>
          <a:p>
            <a:r>
              <a:rPr lang="zh-CN" altLang="en-US" dirty="0"/>
              <a:t>从上图中可以看出纤维的强度与拉伸倍数大致成</a:t>
            </a:r>
            <a:r>
              <a:rPr lang="zh-CN" altLang="en-US" dirty="0">
                <a:solidFill>
                  <a:srgbClr val="C00000"/>
                </a:solidFill>
              </a:rPr>
              <a:t>线性关系</a:t>
            </a:r>
            <a:r>
              <a:rPr lang="zh-CN" altLang="en-US" dirty="0"/>
              <a:t>，可用</a:t>
            </a:r>
            <a:r>
              <a:rPr lang="zh-CN" altLang="en-US" dirty="0">
                <a:solidFill>
                  <a:srgbClr val="C00000"/>
                </a:solidFill>
              </a:rPr>
              <a:t>一条直线</a:t>
            </a:r>
            <a:r>
              <a:rPr lang="zh-CN" altLang="en-US" dirty="0"/>
              <a:t>来表示两者之间的关系。</a:t>
            </a:r>
          </a:p>
        </p:txBody>
      </p:sp>
      <p:pic>
        <p:nvPicPr>
          <p:cNvPr id="4" name="图片 3">
            <a:extLst>
              <a:ext uri="{FF2B5EF4-FFF2-40B4-BE49-F238E27FC236}">
                <a16:creationId xmlns:a16="http://schemas.microsoft.com/office/drawing/2014/main" id="{73A75AB2-EDF7-084D-F21F-805C684834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86390" y="966611"/>
            <a:ext cx="3746684" cy="3024336"/>
          </a:xfrm>
          <a:prstGeom prst="rect">
            <a:avLst/>
          </a:prstGeom>
        </p:spPr>
      </p:pic>
      <p:cxnSp>
        <p:nvCxnSpPr>
          <p:cNvPr id="7" name="直线连接符 6">
            <a:extLst>
              <a:ext uri="{FF2B5EF4-FFF2-40B4-BE49-F238E27FC236}">
                <a16:creationId xmlns:a16="http://schemas.microsoft.com/office/drawing/2014/main" id="{AE1421B8-B7C3-7D3A-4153-6D8852DBD0FE}"/>
              </a:ext>
            </a:extLst>
          </p:cNvPr>
          <p:cNvCxnSpPr/>
          <p:nvPr/>
        </p:nvCxnSpPr>
        <p:spPr>
          <a:xfrm flipV="1">
            <a:off x="827584" y="1275606"/>
            <a:ext cx="2808312" cy="2376264"/>
          </a:xfrm>
          <a:prstGeom prst="line">
            <a:avLst/>
          </a:prstGeom>
        </p:spPr>
        <p:style>
          <a:lnRef idx="1">
            <a:schemeClr val="dk1"/>
          </a:lnRef>
          <a:fillRef idx="0">
            <a:schemeClr val="dk1"/>
          </a:fillRef>
          <a:effectRef idx="0">
            <a:schemeClr val="dk1"/>
          </a:effectRef>
          <a:fontRef idx="minor">
            <a:schemeClr val="tx1"/>
          </a:fontRef>
        </p:style>
      </p:cxnSp>
      <p:sp>
        <p:nvSpPr>
          <p:cNvPr id="10" name="文本框 9">
            <a:extLst>
              <a:ext uri="{FF2B5EF4-FFF2-40B4-BE49-F238E27FC236}">
                <a16:creationId xmlns:a16="http://schemas.microsoft.com/office/drawing/2014/main" id="{D6669DA6-30E5-205E-1CED-8B2CCBE7AAAE}"/>
              </a:ext>
            </a:extLst>
          </p:cNvPr>
          <p:cNvSpPr txBox="1"/>
          <p:nvPr/>
        </p:nvSpPr>
        <p:spPr>
          <a:xfrm>
            <a:off x="5090712" y="2248584"/>
            <a:ext cx="2987352" cy="646331"/>
          </a:xfrm>
          <a:prstGeom prst="rect">
            <a:avLst/>
          </a:prstGeom>
          <a:solidFill>
            <a:schemeClr val="accent2">
              <a:lumMod val="20000"/>
              <a:lumOff val="80000"/>
            </a:schemeClr>
          </a:solidFill>
        </p:spPr>
        <p:txBody>
          <a:bodyPr wrap="square" rtlCol="0">
            <a:spAutoFit/>
          </a:bodyPr>
          <a:lstStyle/>
          <a:p>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对于要拟合的直线</a:t>
            </a:r>
            <a:r>
              <a:rPr kumimoji="1" lang="en-US" altLang="zh-CN" i="1" dirty="0">
                <a:latin typeface="Times New Roman" panose="02020603050405020304" pitchFamily="18" charset="0"/>
                <a:ea typeface="SimSun" panose="02010600030101010101" pitchFamily="2" charset="-122"/>
                <a:cs typeface="Times New Roman" panose="02020603050405020304" pitchFamily="18" charset="0"/>
              </a:rPr>
              <a:t>y=a</a:t>
            </a:r>
            <a:r>
              <a:rPr kumimoji="1"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1</a:t>
            </a:r>
            <a:r>
              <a:rPr kumimoji="1" lang="en-US" altLang="zh-CN" i="1" dirty="0">
                <a:latin typeface="Times New Roman" panose="02020603050405020304" pitchFamily="18" charset="0"/>
                <a:ea typeface="SimSun" panose="02010600030101010101" pitchFamily="2" charset="-122"/>
                <a:cs typeface="Times New Roman" panose="02020603050405020304" pitchFamily="18" charset="0"/>
              </a:rPr>
              <a:t>x+a</a:t>
            </a:r>
            <a:r>
              <a:rPr kumimoji="1"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0</a:t>
            </a: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如何确定</a:t>
            </a:r>
            <a:r>
              <a:rPr kumimoji="1"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kumimoji="1"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1</a:t>
            </a: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和</a:t>
            </a:r>
            <a:r>
              <a:rPr kumimoji="1"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kumimoji="1"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0</a:t>
            </a: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的值？</a:t>
            </a:r>
          </a:p>
        </p:txBody>
      </p:sp>
      <p:cxnSp>
        <p:nvCxnSpPr>
          <p:cNvPr id="5" name="直线连接符 4">
            <a:extLst>
              <a:ext uri="{FF2B5EF4-FFF2-40B4-BE49-F238E27FC236}">
                <a16:creationId xmlns:a16="http://schemas.microsoft.com/office/drawing/2014/main" id="{D6741E1D-C86F-9B06-39E2-80283B59427C}"/>
              </a:ext>
            </a:extLst>
          </p:cNvPr>
          <p:cNvCxnSpPr>
            <a:cxnSpLocks/>
          </p:cNvCxnSpPr>
          <p:nvPr/>
        </p:nvCxnSpPr>
        <p:spPr>
          <a:xfrm flipV="1">
            <a:off x="859523" y="1152553"/>
            <a:ext cx="2704365" cy="256777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82717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最小二乘法：引例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9</a:t>
            </a:fld>
            <a:endParaRPr lang="zh-CN" altLang="en-US" dirty="0">
              <a:solidFill>
                <a:prstClr val="black">
                  <a:tint val="75000"/>
                </a:prstClr>
              </a:solidFill>
            </a:endParaRPr>
          </a:p>
        </p:txBody>
      </p:sp>
      <p:sp>
        <p:nvSpPr>
          <p:cNvPr id="6" name="文本框 5">
            <a:extLst>
              <a:ext uri="{FF2B5EF4-FFF2-40B4-BE49-F238E27FC236}">
                <a16:creationId xmlns:a16="http://schemas.microsoft.com/office/drawing/2014/main" id="{98A3BB62-3879-9D3A-0F84-86F66780A914}"/>
              </a:ext>
            </a:extLst>
          </p:cNvPr>
          <p:cNvSpPr txBox="1"/>
          <p:nvPr/>
        </p:nvSpPr>
        <p:spPr>
          <a:xfrm>
            <a:off x="318592" y="1046912"/>
            <a:ext cx="8363272" cy="1200329"/>
          </a:xfrm>
          <a:prstGeom prst="rect">
            <a:avLst/>
          </a:prstGeom>
          <a:noFill/>
        </p:spPr>
        <p:txBody>
          <a:bodyPr wrap="square">
            <a:spAutoFit/>
          </a:bodyPr>
          <a:lstStyle/>
          <a:p>
            <a:pPr>
              <a:lnSpc>
                <a:spcPct val="150000"/>
              </a:lnSpc>
            </a:pPr>
            <a:r>
              <a:rPr lang="zh-CN" altLang="zh-CN" dirty="0">
                <a:latin typeface="Times New Roman" panose="02020603050405020304" pitchFamily="18" charset="0"/>
                <a:ea typeface="SimSun" panose="02010600030101010101" pitchFamily="2" charset="-122"/>
                <a:cs typeface="Times New Roman" panose="02020603050405020304" pitchFamily="18" charset="0"/>
              </a:rPr>
              <a:t>令</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δ</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-y</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 </a:t>
            </a:r>
            <a:r>
              <a:rPr lang="zh-CN" altLang="en-US" dirty="0">
                <a:latin typeface="Times New Roman" panose="02020603050405020304" pitchFamily="18" charset="0"/>
                <a:ea typeface="SimSun" panose="02010600030101010101" pitchFamily="2" charset="-122"/>
                <a:cs typeface="Times New Roman" panose="02020603050405020304" pitchFamily="18" charset="0"/>
              </a:rPr>
              <a:t>，</a:t>
            </a:r>
            <a:r>
              <a:rPr lang="zh-CN" altLang="zh-CN" dirty="0"/>
              <a:t>根据最小二乘原理，即使误差的平方和达到最小，也就是</a:t>
            </a:r>
            <a:r>
              <a:rPr lang="zh-CN" altLang="en-US" dirty="0"/>
              <a:t>使                     为最小，</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n=24</a:t>
            </a:r>
            <a:endParaRPr lang="zh-CN" altLang="en-US" i="1" dirty="0">
              <a:latin typeface="Times New Roman" panose="02020603050405020304" pitchFamily="18" charset="0"/>
              <a:ea typeface="SimSun" panose="02010600030101010101" pitchFamily="2" charset="-122"/>
              <a:cs typeface="Times New Roman" panose="02020603050405020304" pitchFamily="18" charset="0"/>
            </a:endParaRPr>
          </a:p>
          <a:p>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graphicFrame>
        <p:nvGraphicFramePr>
          <p:cNvPr id="9" name="Object 10">
            <a:extLst>
              <a:ext uri="{FF2B5EF4-FFF2-40B4-BE49-F238E27FC236}">
                <a16:creationId xmlns:a16="http://schemas.microsoft.com/office/drawing/2014/main" id="{019F18C4-7AB7-711D-C781-44C5E319FB5A}"/>
              </a:ext>
            </a:extLst>
          </p:cNvPr>
          <p:cNvGraphicFramePr>
            <a:graphicFrameLocks noChangeAspect="1"/>
          </p:cNvGraphicFramePr>
          <p:nvPr>
            <p:extLst>
              <p:ext uri="{D42A27DB-BD31-4B8C-83A1-F6EECF244321}">
                <p14:modId xmlns:p14="http://schemas.microsoft.com/office/powerpoint/2010/main" val="3715967718"/>
              </p:ext>
            </p:extLst>
          </p:nvPr>
        </p:nvGraphicFramePr>
        <p:xfrm>
          <a:off x="755576" y="1419622"/>
          <a:ext cx="934513" cy="648072"/>
        </p:xfrm>
        <a:graphic>
          <a:graphicData uri="http://schemas.openxmlformats.org/presentationml/2006/ole">
            <mc:AlternateContent xmlns:mc="http://schemas.openxmlformats.org/markup-compatibility/2006">
              <mc:Choice xmlns:v="urn:schemas-microsoft-com:vml" Requires="v">
                <p:oleObj name="公式" r:id="rId3" imgW="14338300" imgH="9944100" progId="Equation.3">
                  <p:embed/>
                </p:oleObj>
              </mc:Choice>
              <mc:Fallback>
                <p:oleObj name="公式" r:id="rId3" imgW="14338300" imgH="9944100" progId="Equation.3">
                  <p:embed/>
                  <p:pic>
                    <p:nvPicPr>
                      <p:cNvPr id="16394" name="Object 10">
                        <a:extLst>
                          <a:ext uri="{FF2B5EF4-FFF2-40B4-BE49-F238E27FC236}">
                            <a16:creationId xmlns:a16="http://schemas.microsoft.com/office/drawing/2014/main" id="{D7291362-C7AC-C1FC-C894-A877F036FF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1419622"/>
                        <a:ext cx="934513" cy="648072"/>
                      </a:xfrm>
                      <a:prstGeom prst="rect">
                        <a:avLst/>
                      </a:prstGeom>
                      <a:noFill/>
                      <a:ln>
                        <a:noFill/>
                      </a:ln>
                      <a:effectLst/>
                    </p:spPr>
                  </p:pic>
                </p:oleObj>
              </mc:Fallback>
            </mc:AlternateContent>
          </a:graphicData>
        </a:graphic>
      </p:graphicFrame>
      <p:graphicFrame>
        <p:nvGraphicFramePr>
          <p:cNvPr id="11" name="Object 5">
            <a:extLst>
              <a:ext uri="{FF2B5EF4-FFF2-40B4-BE49-F238E27FC236}">
                <a16:creationId xmlns:a16="http://schemas.microsoft.com/office/drawing/2014/main" id="{62FFF22F-58F7-0DB9-A1DD-1356EDC47921}"/>
              </a:ext>
            </a:extLst>
          </p:cNvPr>
          <p:cNvGraphicFramePr>
            <a:graphicFrameLocks noChangeAspect="1"/>
          </p:cNvGraphicFramePr>
          <p:nvPr>
            <p:extLst>
              <p:ext uri="{D42A27DB-BD31-4B8C-83A1-F6EECF244321}">
                <p14:modId xmlns:p14="http://schemas.microsoft.com/office/powerpoint/2010/main" val="2694595247"/>
              </p:ext>
            </p:extLst>
          </p:nvPr>
        </p:nvGraphicFramePr>
        <p:xfrm>
          <a:off x="2051720" y="2179693"/>
          <a:ext cx="2016224" cy="472312"/>
        </p:xfrm>
        <a:graphic>
          <a:graphicData uri="http://schemas.openxmlformats.org/presentationml/2006/ole">
            <mc:AlternateContent xmlns:mc="http://schemas.openxmlformats.org/markup-compatibility/2006">
              <mc:Choice xmlns:v="urn:schemas-microsoft-com:vml" Requires="v">
                <p:oleObj name="公式" r:id="rId5" imgW="41249600" imgH="9944100" progId="Equation.3">
                  <p:embed/>
                </p:oleObj>
              </mc:Choice>
              <mc:Fallback>
                <p:oleObj name="公式" r:id="rId5" imgW="41249600" imgH="9944100" progId="Equation.3">
                  <p:embed/>
                  <p:pic>
                    <p:nvPicPr>
                      <p:cNvPr id="57349" name="Object 5">
                        <a:extLst>
                          <a:ext uri="{FF2B5EF4-FFF2-40B4-BE49-F238E27FC236}">
                            <a16:creationId xmlns:a16="http://schemas.microsoft.com/office/drawing/2014/main" id="{E2EC8EB6-D4D7-D272-5403-9638B4BA7BC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720" y="2179693"/>
                        <a:ext cx="2016224" cy="472312"/>
                      </a:xfrm>
                      <a:prstGeom prst="rect">
                        <a:avLst/>
                      </a:prstGeom>
                      <a:noFill/>
                      <a:ln>
                        <a:noFill/>
                      </a:ln>
                      <a:effectLst/>
                    </p:spPr>
                  </p:pic>
                </p:oleObj>
              </mc:Fallback>
            </mc:AlternateContent>
          </a:graphicData>
        </a:graphic>
      </p:graphicFrame>
      <p:sp>
        <p:nvSpPr>
          <p:cNvPr id="13" name="文本框 12">
            <a:extLst>
              <a:ext uri="{FF2B5EF4-FFF2-40B4-BE49-F238E27FC236}">
                <a16:creationId xmlns:a16="http://schemas.microsoft.com/office/drawing/2014/main" id="{4D173E7F-F707-7EBE-DBD9-BE563172DDD5}"/>
              </a:ext>
            </a:extLst>
          </p:cNvPr>
          <p:cNvSpPr txBox="1"/>
          <p:nvPr/>
        </p:nvSpPr>
        <p:spPr>
          <a:xfrm>
            <a:off x="318592" y="2231183"/>
            <a:ext cx="8363272" cy="646331"/>
          </a:xfrm>
          <a:prstGeom prst="rect">
            <a:avLst/>
          </a:prstGeom>
          <a:noFill/>
          <a:effectLst/>
        </p:spPr>
        <p:txBody>
          <a:bodyPr wrap="square">
            <a:spAutoFit/>
          </a:bodyPr>
          <a:lstStyle/>
          <a:p>
            <a:r>
              <a:rPr lang="zh-CN" altLang="en-US" dirty="0">
                <a:latin typeface="Times New Roman" panose="02020603050405020304" pitchFamily="18" charset="0"/>
                <a:ea typeface="SimSun" panose="02010600030101010101" pitchFamily="2" charset="-122"/>
                <a:cs typeface="Times New Roman" panose="02020603050405020304" pitchFamily="18" charset="0"/>
              </a:rPr>
              <a:t>即求使</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F</a:t>
            </a:r>
            <a:r>
              <a:rPr lang="zh-CN"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zh-CN" altLang="zh-CN" dirty="0"/>
              <a:t>有最小值的</a:t>
            </a:r>
            <a:r>
              <a:rPr lang="en-US" altLang="zh-CN" i="1" dirty="0"/>
              <a:t>a</a:t>
            </a:r>
            <a:r>
              <a:rPr lang="en-US" altLang="zh-CN" baseline="-25000" dirty="0"/>
              <a:t>0</a:t>
            </a:r>
            <a:r>
              <a:rPr lang="zh-CN" altLang="zh-CN" dirty="0"/>
              <a:t>和</a:t>
            </a:r>
            <a:r>
              <a:rPr lang="en-US" altLang="zh-CN" i="1" dirty="0"/>
              <a:t>a</a:t>
            </a:r>
            <a:r>
              <a:rPr lang="en-US" altLang="zh-CN" baseline="-25000" dirty="0"/>
              <a:t>1</a:t>
            </a:r>
            <a:r>
              <a:rPr lang="zh-CN" altLang="zh-CN" dirty="0"/>
              <a:t>的值</a:t>
            </a:r>
            <a:r>
              <a:rPr lang="en-US" altLang="zh-CN" dirty="0">
                <a:effectLst>
                  <a:outerShdw blurRad="38100" dist="38100" dir="2700000" algn="tl">
                    <a:srgbClr val="C0C0C0"/>
                  </a:outerShdw>
                </a:effectLst>
              </a:rPr>
              <a:t>.</a:t>
            </a:r>
          </a:p>
          <a:p>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5" name="文本框 14">
            <a:extLst>
              <a:ext uri="{FF2B5EF4-FFF2-40B4-BE49-F238E27FC236}">
                <a16:creationId xmlns:a16="http://schemas.microsoft.com/office/drawing/2014/main" id="{9B370849-8D84-5903-10C0-A0E097B305C4}"/>
              </a:ext>
            </a:extLst>
          </p:cNvPr>
          <p:cNvSpPr txBox="1"/>
          <p:nvPr/>
        </p:nvSpPr>
        <p:spPr>
          <a:xfrm>
            <a:off x="313656" y="2818473"/>
            <a:ext cx="2602160" cy="369332"/>
          </a:xfrm>
          <a:prstGeom prst="rect">
            <a:avLst/>
          </a:prstGeom>
          <a:noFill/>
        </p:spPr>
        <p:txBody>
          <a:bodyPr wrap="square">
            <a:spAutoFit/>
          </a:bodyPr>
          <a:lstStyle/>
          <a:p>
            <a:pPr>
              <a:spcBef>
                <a:spcPct val="50000"/>
              </a:spcBef>
            </a:pPr>
            <a:r>
              <a:rPr lang="zh-CN" altLang="en-US" dirty="0">
                <a:latin typeface="宋体" panose="02010600030101010101" pitchFamily="2" charset="-122"/>
              </a:rPr>
              <a:t>分别对</a:t>
            </a:r>
            <a:r>
              <a:rPr lang="en-US" altLang="zh-CN"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0</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1</a:t>
            </a:r>
            <a:r>
              <a:rPr lang="zh-CN" altLang="en-US" dirty="0">
                <a:latin typeface="宋体" panose="02010600030101010101" pitchFamily="2" charset="-122"/>
              </a:rPr>
              <a:t>求偏导</a:t>
            </a:r>
            <a:r>
              <a:rPr lang="en-US" altLang="zh-CN" dirty="0">
                <a:latin typeface="宋体" panose="02010600030101010101" pitchFamily="2" charset="-122"/>
              </a:rPr>
              <a:t>,</a:t>
            </a:r>
            <a:r>
              <a:rPr lang="zh-CN" altLang="en-US" dirty="0">
                <a:latin typeface="宋体" panose="02010600030101010101" pitchFamily="2" charset="-122"/>
              </a:rPr>
              <a:t>得</a:t>
            </a:r>
            <a:r>
              <a:rPr lang="en-US" altLang="zh-CN" dirty="0">
                <a:latin typeface="宋体" panose="02010600030101010101" pitchFamily="2" charset="-122"/>
              </a:rPr>
              <a:t>:</a:t>
            </a:r>
          </a:p>
        </p:txBody>
      </p:sp>
      <p:graphicFrame>
        <p:nvGraphicFramePr>
          <p:cNvPr id="16" name="Object 29">
            <a:extLst>
              <a:ext uri="{FF2B5EF4-FFF2-40B4-BE49-F238E27FC236}">
                <a16:creationId xmlns:a16="http://schemas.microsoft.com/office/drawing/2014/main" id="{A31336E0-78FD-FF87-929E-7ECD73AC6A4F}"/>
              </a:ext>
            </a:extLst>
          </p:cNvPr>
          <p:cNvGraphicFramePr>
            <a:graphicFrameLocks noChangeAspect="1"/>
          </p:cNvGraphicFramePr>
          <p:nvPr>
            <p:extLst>
              <p:ext uri="{D42A27DB-BD31-4B8C-83A1-F6EECF244321}">
                <p14:modId xmlns:p14="http://schemas.microsoft.com/office/powerpoint/2010/main" val="98492947"/>
              </p:ext>
            </p:extLst>
          </p:nvPr>
        </p:nvGraphicFramePr>
        <p:xfrm>
          <a:off x="2799127" y="2710943"/>
          <a:ext cx="1855980" cy="957366"/>
        </p:xfrm>
        <a:graphic>
          <a:graphicData uri="http://schemas.openxmlformats.org/presentationml/2006/ole">
            <mc:AlternateContent xmlns:mc="http://schemas.openxmlformats.org/markup-compatibility/2006">
              <mc:Choice xmlns:v="urn:schemas-microsoft-com:vml" Requires="v">
                <p:oleObj name="公式" r:id="rId7" imgW="45059600" imgH="19900900" progId="Equation.3">
                  <p:embed/>
                </p:oleObj>
              </mc:Choice>
              <mc:Fallback>
                <p:oleObj name="公式" r:id="rId7" imgW="45059600" imgH="19900900" progId="Equation.3">
                  <p:embed/>
                  <p:pic>
                    <p:nvPicPr>
                      <p:cNvPr id="57373" name="Object 29">
                        <a:extLst>
                          <a:ext uri="{FF2B5EF4-FFF2-40B4-BE49-F238E27FC236}">
                            <a16:creationId xmlns:a16="http://schemas.microsoft.com/office/drawing/2014/main" id="{5D6EB9E5-826B-14A6-9053-DC116FEC35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99127" y="2710943"/>
                        <a:ext cx="1855980" cy="957366"/>
                      </a:xfrm>
                      <a:prstGeom prst="rect">
                        <a:avLst/>
                      </a:prstGeom>
                      <a:solidFill>
                        <a:schemeClr val="bg1"/>
                      </a:solidFill>
                      <a:ln>
                        <a:noFill/>
                      </a:ln>
                      <a:effectLst/>
                    </p:spPr>
                  </p:pic>
                </p:oleObj>
              </mc:Fallback>
            </mc:AlternateContent>
          </a:graphicData>
        </a:graphic>
      </p:graphicFrame>
      <p:graphicFrame>
        <p:nvGraphicFramePr>
          <p:cNvPr id="17" name="Object 28">
            <a:extLst>
              <a:ext uri="{FF2B5EF4-FFF2-40B4-BE49-F238E27FC236}">
                <a16:creationId xmlns:a16="http://schemas.microsoft.com/office/drawing/2014/main" id="{FCC7FF7E-0FCC-3A3B-DCD5-90BF1D428B77}"/>
              </a:ext>
            </a:extLst>
          </p:cNvPr>
          <p:cNvGraphicFramePr>
            <a:graphicFrameLocks noChangeAspect="1"/>
          </p:cNvGraphicFramePr>
          <p:nvPr>
            <p:extLst>
              <p:ext uri="{D42A27DB-BD31-4B8C-83A1-F6EECF244321}">
                <p14:modId xmlns:p14="http://schemas.microsoft.com/office/powerpoint/2010/main" val="3313777418"/>
              </p:ext>
            </p:extLst>
          </p:nvPr>
        </p:nvGraphicFramePr>
        <p:xfrm>
          <a:off x="5004048" y="2783454"/>
          <a:ext cx="2952328" cy="808701"/>
        </p:xfrm>
        <a:graphic>
          <a:graphicData uri="http://schemas.openxmlformats.org/presentationml/2006/ole">
            <mc:AlternateContent xmlns:mc="http://schemas.openxmlformats.org/markup-compatibility/2006">
              <mc:Choice xmlns:v="urn:schemas-microsoft-com:vml" Requires="v">
                <p:oleObj name="公式" r:id="rId9" imgW="47396400" imgH="11112500" progId="Equation.3">
                  <p:embed/>
                </p:oleObj>
              </mc:Choice>
              <mc:Fallback>
                <p:oleObj name="公式" r:id="rId9" imgW="47396400" imgH="11112500" progId="Equation.3">
                  <p:embed/>
                  <p:pic>
                    <p:nvPicPr>
                      <p:cNvPr id="57372" name="Object 28">
                        <a:extLst>
                          <a:ext uri="{FF2B5EF4-FFF2-40B4-BE49-F238E27FC236}">
                            <a16:creationId xmlns:a16="http://schemas.microsoft.com/office/drawing/2014/main" id="{63EF9907-D6C6-F0F7-26B1-9D9E2F653FD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4048" y="2783454"/>
                        <a:ext cx="2952328" cy="808701"/>
                      </a:xfrm>
                      <a:prstGeom prst="rect">
                        <a:avLst/>
                      </a:prstGeom>
                      <a:solidFill>
                        <a:schemeClr val="bg1"/>
                      </a:solidFill>
                      <a:ln>
                        <a:noFill/>
                      </a:ln>
                      <a:effectLst/>
                    </p:spPr>
                  </p:pic>
                </p:oleObj>
              </mc:Fallback>
            </mc:AlternateContent>
          </a:graphicData>
        </a:graphic>
      </p:graphicFrame>
      <p:sp>
        <p:nvSpPr>
          <p:cNvPr id="19" name="文本框 18">
            <a:extLst>
              <a:ext uri="{FF2B5EF4-FFF2-40B4-BE49-F238E27FC236}">
                <a16:creationId xmlns:a16="http://schemas.microsoft.com/office/drawing/2014/main" id="{0158E764-3567-4EDB-0BB3-6DBE5EFD491A}"/>
              </a:ext>
            </a:extLst>
          </p:cNvPr>
          <p:cNvSpPr txBox="1"/>
          <p:nvPr/>
        </p:nvSpPr>
        <p:spPr>
          <a:xfrm>
            <a:off x="365593" y="3772116"/>
            <a:ext cx="4572000" cy="369332"/>
          </a:xfrm>
          <a:prstGeom prst="rect">
            <a:avLst/>
          </a:prstGeom>
          <a:noFill/>
        </p:spPr>
        <p:txBody>
          <a:bodyPr wrap="square">
            <a:spAutoFit/>
          </a:bodyPr>
          <a:lstStyle/>
          <a:p>
            <a:r>
              <a:rPr lang="zh-CN" altLang="en-US" dirty="0">
                <a:latin typeface="Times New Roman" panose="02020603050405020304" pitchFamily="18" charset="0"/>
                <a:ea typeface="SimSun" panose="02010600030101010101" pitchFamily="2" charset="-122"/>
                <a:cs typeface="Times New Roman" panose="02020603050405020304" pitchFamily="18" charset="0"/>
              </a:rPr>
              <a:t>解得：</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dirty="0">
                <a:latin typeface="Times New Roman" panose="02020603050405020304" pitchFamily="18" charset="0"/>
                <a:ea typeface="SimSun" panose="02010600030101010101" pitchFamily="2" charset="-122"/>
                <a:cs typeface="Times New Roman" panose="02020603050405020304" pitchFamily="18" charset="0"/>
              </a:rPr>
              <a:t>=0.15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=0.859 </a:t>
            </a: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21" name="文本框 20">
            <a:extLst>
              <a:ext uri="{FF2B5EF4-FFF2-40B4-BE49-F238E27FC236}">
                <a16:creationId xmlns:a16="http://schemas.microsoft.com/office/drawing/2014/main" id="{6134A8B8-DDBC-4010-208D-7ED3F700FB84}"/>
              </a:ext>
            </a:extLst>
          </p:cNvPr>
          <p:cNvSpPr txBox="1"/>
          <p:nvPr/>
        </p:nvSpPr>
        <p:spPr>
          <a:xfrm>
            <a:off x="3141072" y="3764654"/>
            <a:ext cx="4572000" cy="369332"/>
          </a:xfrm>
          <a:prstGeom prst="rect">
            <a:avLst/>
          </a:prstGeom>
          <a:noFill/>
        </p:spPr>
        <p:txBody>
          <a:bodyPr wrap="square">
            <a:spAutoFit/>
          </a:bodyPr>
          <a:lstStyle/>
          <a:p>
            <a:r>
              <a:rPr lang="zh-CN" altLang="en-US" dirty="0"/>
              <a:t>所求直线方程为：</a:t>
            </a:r>
            <a:r>
              <a:rPr lang="en-US" altLang="zh-CN" i="1" dirty="0">
                <a:latin typeface="Times New Roman" panose="02020603050405020304" pitchFamily="18" charset="0"/>
                <a:cs typeface="Times New Roman" panose="02020603050405020304" pitchFamily="18" charset="0"/>
              </a:rPr>
              <a:t>y</a:t>
            </a:r>
            <a:r>
              <a:rPr lang="en-US" altLang="zh-CN" dirty="0">
                <a:latin typeface="Times New Roman" panose="02020603050405020304" pitchFamily="18" charset="0"/>
                <a:cs typeface="Times New Roman" panose="02020603050405020304" pitchFamily="18" charset="0"/>
              </a:rPr>
              <a:t>=0.15+0.859</a:t>
            </a:r>
            <a:r>
              <a:rPr lang="en-US" altLang="zh-CN" i="1" dirty="0">
                <a:latin typeface="Times New Roman" panose="02020603050405020304" pitchFamily="18" charset="0"/>
                <a:cs typeface="Times New Roman" panose="02020603050405020304" pitchFamily="18" charset="0"/>
              </a:rPr>
              <a:t>x</a:t>
            </a:r>
            <a:endParaRPr lang="zh-CN" altLang="zh-CN" i="1" dirty="0">
              <a:latin typeface="Times New Roman" panose="02020603050405020304" pitchFamily="18" charset="0"/>
              <a:cs typeface="Times New Roman" panose="02020603050405020304" pitchFamily="18" charset="0"/>
            </a:endParaRPr>
          </a:p>
        </p:txBody>
      </p:sp>
      <p:sp>
        <p:nvSpPr>
          <p:cNvPr id="22" name="Rectangle 18">
            <a:extLst>
              <a:ext uri="{FF2B5EF4-FFF2-40B4-BE49-F238E27FC236}">
                <a16:creationId xmlns:a16="http://schemas.microsoft.com/office/drawing/2014/main" id="{F4112AE3-D1CD-3CFB-92EA-8C5B36B4A65A}"/>
              </a:ext>
            </a:extLst>
          </p:cNvPr>
          <p:cNvSpPr>
            <a:spLocks noChangeArrowheads="1"/>
          </p:cNvSpPr>
          <p:nvPr/>
        </p:nvSpPr>
        <p:spPr bwMode="auto">
          <a:xfrm>
            <a:off x="1468659" y="4329674"/>
            <a:ext cx="6372895" cy="341632"/>
          </a:xfrm>
          <a:prstGeom prst="rect">
            <a:avLst/>
          </a:prstGeom>
          <a:solidFill>
            <a:schemeClr val="accent2">
              <a:lumMod val="20000"/>
              <a:lumOff val="80000"/>
            </a:schemeClr>
          </a:solidFill>
          <a:ln w="9525">
            <a:noFill/>
            <a:miter lim="800000"/>
            <a:headEnd/>
            <a:tailEnd/>
          </a:ln>
          <a:effectLst/>
        </p:spPr>
        <p:txBody>
          <a:bodyPr wrap="square">
            <a:spAutoFit/>
          </a:bodyPr>
          <a:lstStyle/>
          <a:p>
            <a:pPr>
              <a:lnSpc>
                <a:spcPct val="90000"/>
              </a:lnSpc>
              <a:spcBef>
                <a:spcPct val="20000"/>
              </a:spcBef>
              <a:buFontTx/>
              <a:buChar char=" "/>
            </a:pPr>
            <a:r>
              <a:rPr lang="zh-CN" altLang="en-US" dirty="0">
                <a:latin typeface="Impact" panose="020B0806030902050204" pitchFamily="34" charset="0"/>
              </a:rPr>
              <a:t>我们称求使</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δ</a:t>
            </a:r>
            <a:r>
              <a:rPr lang="zh-CN" altLang="en-US" dirty="0">
                <a:latin typeface="Impact" panose="020B0806030902050204" pitchFamily="34" charset="0"/>
              </a:rPr>
              <a:t>达到最小的拟合曲线为曲线拟合的最小二乘法。</a:t>
            </a:r>
            <a:endParaRPr lang="en-US" altLang="zh-CN" dirty="0">
              <a:latin typeface="Impact" panose="020B0806030902050204" pitchFamily="34" charset="0"/>
            </a:endParaRPr>
          </a:p>
        </p:txBody>
      </p:sp>
    </p:spTree>
    <p:extLst>
      <p:ext uri="{BB962C8B-B14F-4D97-AF65-F5344CB8AC3E}">
        <p14:creationId xmlns:p14="http://schemas.microsoft.com/office/powerpoint/2010/main" val="1625357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P spid="15" grpId="0"/>
      <p:bldP spid="19" grpId="0"/>
      <p:bldP spid="21" grpId="0"/>
      <p:bldP spid="22" grpId="0" animBg="1"/>
      <p:bldP spid="22"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最小二乘法：引例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10</a:t>
            </a:fld>
            <a:endParaRPr lang="zh-CN" altLang="en-US" dirty="0">
              <a:solidFill>
                <a:prstClr val="black">
                  <a:tint val="75000"/>
                </a:prstClr>
              </a:solidFill>
            </a:endParaRPr>
          </a:p>
        </p:txBody>
      </p:sp>
      <p:pic>
        <p:nvPicPr>
          <p:cNvPr id="9" name="图片 8">
            <a:extLst>
              <a:ext uri="{FF2B5EF4-FFF2-40B4-BE49-F238E27FC236}">
                <a16:creationId xmlns:a16="http://schemas.microsoft.com/office/drawing/2014/main" id="{590C98FE-45F4-10F9-5530-2E6B70B89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7791" y="1064940"/>
            <a:ext cx="4528418" cy="3679935"/>
          </a:xfrm>
          <a:prstGeom prst="rect">
            <a:avLst/>
          </a:prstGeom>
        </p:spPr>
      </p:pic>
    </p:spTree>
    <p:extLst>
      <p:ext uri="{BB962C8B-B14F-4D97-AF65-F5344CB8AC3E}">
        <p14:creationId xmlns:p14="http://schemas.microsoft.com/office/powerpoint/2010/main" val="210325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基本概念：曲线拟合</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11</a:t>
            </a:fld>
            <a:endParaRPr lang="zh-CN" altLang="en-US" dirty="0">
              <a:solidFill>
                <a:prstClr val="black">
                  <a:tint val="75000"/>
                </a:prstClr>
              </a:solidFill>
            </a:endParaRPr>
          </a:p>
        </p:txBody>
      </p:sp>
      <p:sp>
        <p:nvSpPr>
          <p:cNvPr id="8" name="文本框 7">
            <a:extLst>
              <a:ext uri="{FF2B5EF4-FFF2-40B4-BE49-F238E27FC236}">
                <a16:creationId xmlns:a16="http://schemas.microsoft.com/office/drawing/2014/main" id="{5CF414D2-2FAC-647A-2CE4-2D18B4D8A7F2}"/>
              </a:ext>
            </a:extLst>
          </p:cNvPr>
          <p:cNvSpPr txBox="1"/>
          <p:nvPr/>
        </p:nvSpPr>
        <p:spPr>
          <a:xfrm>
            <a:off x="394810" y="1040106"/>
            <a:ext cx="8424936" cy="369332"/>
          </a:xfrm>
          <a:prstGeom prst="rect">
            <a:avLst/>
          </a:prstGeom>
          <a:noFill/>
        </p:spPr>
        <p:txBody>
          <a:bodyPr wrap="square">
            <a:spAutoFit/>
          </a:bodyPr>
          <a:lstStyle/>
          <a:p>
            <a:pPr algn="just">
              <a:spcBef>
                <a:spcPct val="50000"/>
              </a:spcBef>
            </a:pPr>
            <a:r>
              <a:rPr lang="zh-CN" altLang="en-US" dirty="0">
                <a:latin typeface="Times New Roman" panose="02020603050405020304" pitchFamily="18" charset="0"/>
                <a:ea typeface="SimSun" panose="02010600030101010101" pitchFamily="2" charset="-122"/>
                <a:cs typeface="Times New Roman" panose="02020603050405020304" pitchFamily="18" charset="0"/>
              </a:rPr>
              <a:t>设函数</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y=f(x)</a:t>
            </a:r>
            <a:r>
              <a:rPr lang="zh-CN" altLang="en-US" dirty="0">
                <a:latin typeface="Times New Roman" panose="02020603050405020304" pitchFamily="18" charset="0"/>
                <a:ea typeface="SimSun" panose="02010600030101010101" pitchFamily="2" charset="-122"/>
                <a:cs typeface="Times New Roman" panose="02020603050405020304" pitchFamily="18" charset="0"/>
              </a:rPr>
              <a:t>在</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n</a:t>
            </a:r>
            <a:r>
              <a:rPr lang="zh-CN" altLang="en-US" dirty="0">
                <a:latin typeface="Times New Roman" panose="02020603050405020304" pitchFamily="18" charset="0"/>
                <a:ea typeface="SimSun" panose="02010600030101010101" pitchFamily="2" charset="-122"/>
                <a:cs typeface="Times New Roman" panose="02020603050405020304" pitchFamily="18" charset="0"/>
              </a:rPr>
              <a:t>个点的观测数据为</a:t>
            </a:r>
          </a:p>
        </p:txBody>
      </p:sp>
      <p:sp>
        <p:nvSpPr>
          <p:cNvPr id="14" name="文本框 13">
            <a:extLst>
              <a:ext uri="{FF2B5EF4-FFF2-40B4-BE49-F238E27FC236}">
                <a16:creationId xmlns:a16="http://schemas.microsoft.com/office/drawing/2014/main" id="{FE06DA65-E0CE-77CA-5EA3-7535560166A9}"/>
              </a:ext>
            </a:extLst>
          </p:cNvPr>
          <p:cNvSpPr txBox="1"/>
          <p:nvPr/>
        </p:nvSpPr>
        <p:spPr>
          <a:xfrm>
            <a:off x="395536" y="3223624"/>
            <a:ext cx="8291264" cy="1286250"/>
          </a:xfrm>
          <a:prstGeom prst="rect">
            <a:avLst/>
          </a:prstGeom>
          <a:noFill/>
        </p:spPr>
        <p:txBody>
          <a:bodyPr wrap="square">
            <a:spAutoFit/>
          </a:bodyPr>
          <a:lstStyle/>
          <a:p>
            <a:pPr>
              <a:lnSpc>
                <a:spcPct val="150000"/>
              </a:lnSpc>
            </a:pPr>
            <a:r>
              <a:rPr lang="zh-CN" altLang="en-US" dirty="0">
                <a:latin typeface="Times New Roman" panose="02020603050405020304" pitchFamily="18" charset="0"/>
                <a:ea typeface="SimSun" panose="02010600030101010101" pitchFamily="2" charset="-122"/>
                <a:cs typeface="Times New Roman" panose="02020603050405020304" pitchFamily="18" charset="0"/>
              </a:rPr>
              <a:t>求一个简单的近似函数</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φ</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zh-CN" altLang="en-US" dirty="0">
                <a:latin typeface="Times New Roman" panose="02020603050405020304" pitchFamily="18" charset="0"/>
                <a:ea typeface="SimSun" panose="02010600030101010101" pitchFamily="2" charset="-122"/>
                <a:cs typeface="Times New Roman" panose="02020603050405020304" pitchFamily="18" charset="0"/>
              </a:rPr>
              <a:t>，使之“最好”地逼近</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f(x)</a:t>
            </a:r>
            <a:r>
              <a:rPr lang="zh-CN" altLang="en-US" dirty="0">
                <a:latin typeface="Times New Roman" panose="02020603050405020304" pitchFamily="18" charset="0"/>
                <a:ea typeface="SimSun" panose="02010600030101010101" pitchFamily="2" charset="-122"/>
                <a:cs typeface="Times New Roman" panose="02020603050405020304" pitchFamily="18" charset="0"/>
              </a:rPr>
              <a:t> ，而不必满足插值原则。这时没必要取</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φ</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latin typeface="Times New Roman" panose="02020603050405020304" pitchFamily="18" charset="0"/>
                <a:ea typeface="SimSun" panose="02010600030101010101" pitchFamily="2" charset="-122"/>
                <a:cs typeface="Times New Roman" panose="02020603050405020304" pitchFamily="18" charset="0"/>
              </a:rPr>
              <a:t>) =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dirty="0">
                <a:latin typeface="Times New Roman" panose="02020603050405020304" pitchFamily="18" charset="0"/>
                <a:ea typeface="SimSun" panose="02010600030101010101" pitchFamily="2" charset="-122"/>
                <a:cs typeface="Times New Roman" panose="02020603050405020304" pitchFamily="18" charset="0"/>
              </a:rPr>
              <a:t>而要</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使 </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sym typeface="Symbol" pitchFamily="2" charset="2"/>
              </a:rPr>
              <a:t></a:t>
            </a:r>
            <a:r>
              <a:rPr lang="en-US" altLang="zh-CN" baseline="-25000" dirty="0" err="1">
                <a:solidFill>
                  <a:srgbClr val="FF0000"/>
                </a:solidFill>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err="1">
                <a:solidFill>
                  <a:srgbClr val="FF0000"/>
                </a:solidFill>
                <a:latin typeface="Times New Roman" panose="02020603050405020304" pitchFamily="18" charset="0"/>
                <a:ea typeface="SimSun" panose="02010600030101010101" pitchFamily="2" charset="-122"/>
                <a:cs typeface="Times New Roman" panose="02020603050405020304" pitchFamily="18" charset="0"/>
              </a:rPr>
              <a:t>φ</a:t>
            </a:r>
            <a:r>
              <a:rPr lang="en-US" altLang="zh-CN"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x</a:t>
            </a:r>
            <a:r>
              <a:rPr lang="en-US" altLang="zh-CN" i="1" baseline="-2500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dirty="0">
                <a:solidFill>
                  <a:srgbClr val="FF0000"/>
                </a:solidFill>
                <a:latin typeface="Times New Roman" panose="02020603050405020304" pitchFamily="18" charset="0"/>
                <a:ea typeface="SimSun" panose="02010600030101010101" pitchFamily="2" charset="-122"/>
                <a:cs typeface="Times New Roman" panose="02020603050405020304" pitchFamily="18" charset="0"/>
                <a:sym typeface="Symbol" pitchFamily="2" charset="2"/>
              </a:rPr>
              <a:t></a:t>
            </a:r>
            <a:r>
              <a:rPr lang="en-US" altLang="zh-CN" i="1" dirty="0" err="1">
                <a:solidFill>
                  <a:srgbClr val="FF0000"/>
                </a:solidFill>
                <a:latin typeface="Times New Roman" panose="02020603050405020304" pitchFamily="18" charset="0"/>
                <a:ea typeface="SimSun" panose="02010600030101010101" pitchFamily="2" charset="-122"/>
                <a:cs typeface="Times New Roman" panose="02020603050405020304" pitchFamily="18" charset="0"/>
              </a:rPr>
              <a:t>y</a:t>
            </a:r>
            <a:r>
              <a:rPr lang="en-US" altLang="zh-CN" i="1" baseline="-25000" dirty="0" err="1">
                <a:solidFill>
                  <a:srgbClr val="FF0000"/>
                </a:solidFill>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 </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总体上尽可能地小</a:t>
            </a:r>
            <a:r>
              <a:rPr lang="zh-CN" altLang="en-US" dirty="0">
                <a:latin typeface="Times New Roman" panose="02020603050405020304" pitchFamily="18" charset="0"/>
                <a:ea typeface="SimSun" panose="02010600030101010101" pitchFamily="2" charset="-122"/>
                <a:cs typeface="Times New Roman" panose="02020603050405020304" pitchFamily="18" charset="0"/>
              </a:rPr>
              <a:t>。这种构造近似函数的方法称为</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曲线拟合</a:t>
            </a:r>
            <a:r>
              <a:rPr lang="zh-CN" altLang="en-US" dirty="0">
                <a:latin typeface="Times New Roman" panose="02020603050405020304" pitchFamily="18" charset="0"/>
                <a:ea typeface="SimSun" panose="02010600030101010101" pitchFamily="2" charset="-122"/>
                <a:cs typeface="Times New Roman" panose="02020603050405020304" pitchFamily="18" charset="0"/>
              </a:rPr>
              <a:t>，称函数</a:t>
            </a:r>
            <a:r>
              <a:rPr lang="en-US" altLang="zh-CN" i="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y=</a:t>
            </a:r>
            <a:r>
              <a:rPr lang="en-US" altLang="zh-CN" i="1" dirty="0" err="1">
                <a:solidFill>
                  <a:srgbClr val="FF0000"/>
                </a:solidFill>
                <a:latin typeface="Times New Roman" panose="02020603050405020304" pitchFamily="18" charset="0"/>
                <a:ea typeface="SimSun" panose="02010600030101010101" pitchFamily="2" charset="-122"/>
                <a:cs typeface="Times New Roman" panose="02020603050405020304" pitchFamily="18" charset="0"/>
              </a:rPr>
              <a:t>φ</a:t>
            </a:r>
            <a:r>
              <a:rPr lang="en-US" altLang="zh-CN" i="1"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(x)</a:t>
            </a:r>
            <a:r>
              <a:rPr lang="zh-CN" altLang="en-US" dirty="0">
                <a:latin typeface="Times New Roman" panose="02020603050405020304" pitchFamily="18" charset="0"/>
                <a:ea typeface="SimSun" panose="02010600030101010101" pitchFamily="2" charset="-122"/>
                <a:cs typeface="Times New Roman" panose="02020603050405020304" pitchFamily="18" charset="0"/>
              </a:rPr>
              <a:t>为经验公式或</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拟合曲线</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p>
        </p:txBody>
      </p:sp>
      <p:graphicFrame>
        <p:nvGraphicFramePr>
          <p:cNvPr id="23" name="表格 22">
            <a:extLst>
              <a:ext uri="{FF2B5EF4-FFF2-40B4-BE49-F238E27FC236}">
                <a16:creationId xmlns:a16="http://schemas.microsoft.com/office/drawing/2014/main" id="{44747B53-9CAD-FD8F-E59D-F16AED135149}"/>
              </a:ext>
            </a:extLst>
          </p:cNvPr>
          <p:cNvGraphicFramePr>
            <a:graphicFrameLocks noGrp="1"/>
          </p:cNvGraphicFramePr>
          <p:nvPr>
            <p:extLst>
              <p:ext uri="{D42A27DB-BD31-4B8C-83A1-F6EECF244321}">
                <p14:modId xmlns:p14="http://schemas.microsoft.com/office/powerpoint/2010/main" val="3605522031"/>
              </p:ext>
            </p:extLst>
          </p:nvPr>
        </p:nvGraphicFramePr>
        <p:xfrm>
          <a:off x="3516705" y="1945691"/>
          <a:ext cx="2181145" cy="741680"/>
        </p:xfrm>
        <a:graphic>
          <a:graphicData uri="http://schemas.openxmlformats.org/drawingml/2006/table">
            <a:tbl>
              <a:tblPr firstRow="1" bandRow="1">
                <a:tableStyleId>{5940675A-B579-460E-94D1-54222C63F5DA}</a:tableStyleId>
              </a:tblPr>
              <a:tblGrid>
                <a:gridCol w="491367">
                  <a:extLst>
                    <a:ext uri="{9D8B030D-6E8A-4147-A177-3AD203B41FA5}">
                      <a16:colId xmlns:a16="http://schemas.microsoft.com/office/drawing/2014/main" val="1751145181"/>
                    </a:ext>
                  </a:extLst>
                </a:gridCol>
                <a:gridCol w="1689778">
                  <a:extLst>
                    <a:ext uri="{9D8B030D-6E8A-4147-A177-3AD203B41FA5}">
                      <a16:colId xmlns:a16="http://schemas.microsoft.com/office/drawing/2014/main" val="869453702"/>
                    </a:ext>
                  </a:extLst>
                </a:gridCol>
              </a:tblGrid>
              <a:tr h="370840">
                <a:tc>
                  <a:txBody>
                    <a:bodyPr/>
                    <a:lstStyle/>
                    <a:p>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1</a:t>
                      </a:r>
                      <a:r>
                        <a:rPr kumimoji="0" lang="zh-CN" altLang="en-US" i="1" baseline="-25000" dirty="0">
                          <a:latin typeface="Times New Roman" panose="02020603050405020304" pitchFamily="18" charset="0"/>
                          <a:ea typeface="SimSun" panose="02010600030101010101" pitchFamily="2" charset="-122"/>
                          <a:cs typeface="Times New Roman" panose="02020603050405020304" pitchFamily="18" charset="0"/>
                        </a:rPr>
                        <a:t>，</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2</a:t>
                      </a:r>
                      <a:r>
                        <a:rPr kumimoji="0" lang="zh-CN" altLang="en-US" i="1" baseline="-25000" dirty="0">
                          <a:latin typeface="Times New Roman" panose="02020603050405020304" pitchFamily="18" charset="0"/>
                          <a:ea typeface="SimSun" panose="02010600030101010101" pitchFamily="2" charset="-122"/>
                          <a:cs typeface="Times New Roman" panose="02020603050405020304" pitchFamily="18" charset="0"/>
                        </a:rPr>
                        <a:t>，</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  </a:t>
                      </a:r>
                      <a:r>
                        <a:rPr kumimoji="0" lang="en-US" altLang="zh-CN" i="1" dirty="0" err="1">
                          <a:latin typeface="Times New Roman" panose="02020603050405020304" pitchFamily="18" charset="0"/>
                          <a:ea typeface="SimSun" panose="02010600030101010101" pitchFamily="2" charset="-122"/>
                          <a:cs typeface="Times New Roman" panose="02020603050405020304" pitchFamily="18" charset="0"/>
                        </a:rPr>
                        <a:t>x</a:t>
                      </a:r>
                      <a:r>
                        <a:rPr kumimoji="0"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n</a:t>
                      </a:r>
                      <a:endParaRPr lang="zh-CN" altLang="en-US" dirty="0"/>
                    </a:p>
                  </a:txBody>
                  <a:tcPr/>
                </a:tc>
                <a:extLst>
                  <a:ext uri="{0D108BD9-81ED-4DB2-BD59-A6C34878D82A}">
                    <a16:rowId xmlns:a16="http://schemas.microsoft.com/office/drawing/2014/main" val="1159926970"/>
                  </a:ext>
                </a:extLst>
              </a:tr>
              <a:tr h="370840">
                <a:tc>
                  <a:txBody>
                    <a:bodyPr/>
                    <a:lstStyle/>
                    <a:p>
                      <a:r>
                        <a:rPr kumimoji="0"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kumimoji="0"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y</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1</a:t>
                      </a:r>
                      <a:r>
                        <a:rPr kumimoji="0" lang="zh-CN" altLang="en-US" i="1" baseline="-25000" dirty="0">
                          <a:latin typeface="Times New Roman" panose="02020603050405020304" pitchFamily="18" charset="0"/>
                          <a:ea typeface="SimSun" panose="02010600030101010101" pitchFamily="2" charset="-122"/>
                          <a:cs typeface="Times New Roman" panose="02020603050405020304" pitchFamily="18" charset="0"/>
                        </a:rPr>
                        <a:t>，</a:t>
                      </a:r>
                      <a:r>
                        <a:rPr kumimoji="0" lang="en-US" altLang="zh-CN" i="1" dirty="0">
                          <a:latin typeface="Times New Roman" panose="02020603050405020304" pitchFamily="18" charset="0"/>
                          <a:ea typeface="SimSun" panose="02010600030101010101" pitchFamily="2" charset="-122"/>
                          <a:cs typeface="Times New Roman" panose="02020603050405020304" pitchFamily="18" charset="0"/>
                        </a:rPr>
                        <a:t>y</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2</a:t>
                      </a:r>
                      <a:r>
                        <a:rPr kumimoji="0" lang="zh-CN" altLang="en-US" i="1" baseline="-25000" dirty="0">
                          <a:latin typeface="Times New Roman" panose="02020603050405020304" pitchFamily="18" charset="0"/>
                          <a:ea typeface="SimSun" panose="02010600030101010101" pitchFamily="2" charset="-122"/>
                          <a:cs typeface="Times New Roman" panose="02020603050405020304" pitchFamily="18" charset="0"/>
                        </a:rPr>
                        <a:t>，</a:t>
                      </a:r>
                      <a:r>
                        <a:rPr kumimoji="0"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  </a:t>
                      </a:r>
                      <a:r>
                        <a:rPr kumimoji="0"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kumimoji="0"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n</a:t>
                      </a:r>
                      <a:endParaRPr lang="zh-CN" altLang="en-US" dirty="0"/>
                    </a:p>
                  </a:txBody>
                  <a:tcPr/>
                </a:tc>
                <a:extLst>
                  <a:ext uri="{0D108BD9-81ED-4DB2-BD59-A6C34878D82A}">
                    <a16:rowId xmlns:a16="http://schemas.microsoft.com/office/drawing/2014/main" val="502113276"/>
                  </a:ext>
                </a:extLst>
              </a:tr>
            </a:tbl>
          </a:graphicData>
        </a:graphic>
      </p:graphicFrame>
    </p:spTree>
    <p:extLst>
      <p:ext uri="{BB962C8B-B14F-4D97-AF65-F5344CB8AC3E}">
        <p14:creationId xmlns:p14="http://schemas.microsoft.com/office/powerpoint/2010/main" val="1428597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基本概念：残差</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12</a:t>
            </a:fld>
            <a:endParaRPr lang="zh-CN" altLang="en-US" dirty="0">
              <a:solidFill>
                <a:prstClr val="black">
                  <a:tint val="75000"/>
                </a:prstClr>
              </a:solidFill>
            </a:endParaRPr>
          </a:p>
        </p:txBody>
      </p:sp>
      <p:sp>
        <p:nvSpPr>
          <p:cNvPr id="8" name="文本框 7">
            <a:extLst>
              <a:ext uri="{FF2B5EF4-FFF2-40B4-BE49-F238E27FC236}">
                <a16:creationId xmlns:a16="http://schemas.microsoft.com/office/drawing/2014/main" id="{5CF414D2-2FAC-647A-2CE4-2D18B4D8A7F2}"/>
              </a:ext>
            </a:extLst>
          </p:cNvPr>
          <p:cNvSpPr txBox="1"/>
          <p:nvPr/>
        </p:nvSpPr>
        <p:spPr>
          <a:xfrm>
            <a:off x="395536" y="942327"/>
            <a:ext cx="8424936" cy="730456"/>
          </a:xfrm>
          <a:prstGeom prst="rect">
            <a:avLst/>
          </a:prstGeom>
          <a:solidFill>
            <a:schemeClr val="accent2">
              <a:lumMod val="20000"/>
              <a:lumOff val="80000"/>
            </a:schemeClr>
          </a:solidFill>
        </p:spPr>
        <p:txBody>
          <a:bodyPr wrap="square">
            <a:spAutoFit/>
          </a:bodyPr>
          <a:lstStyle/>
          <a:p>
            <a:pPr>
              <a:lnSpc>
                <a:spcPct val="120000"/>
              </a:lnSpc>
            </a:pPr>
            <a:r>
              <a:rPr lang="zh-CN" altLang="en-US" sz="1800" dirty="0"/>
              <a:t>曲线拟合不要求近似曲线严格过所有的数据点，但使求得的逼近函数与已知函数从总体上来说其偏差按某种方法度量达到总体上尽可能地小。</a:t>
            </a:r>
            <a:endParaRPr lang="zh-CN" altLang="en-US" dirty="0"/>
          </a:p>
        </p:txBody>
      </p:sp>
      <p:sp>
        <p:nvSpPr>
          <p:cNvPr id="6" name="文本框 5">
            <a:extLst>
              <a:ext uri="{FF2B5EF4-FFF2-40B4-BE49-F238E27FC236}">
                <a16:creationId xmlns:a16="http://schemas.microsoft.com/office/drawing/2014/main" id="{C849DE21-B1DF-D856-7D27-2CDEC910A919}"/>
              </a:ext>
            </a:extLst>
          </p:cNvPr>
          <p:cNvSpPr txBox="1"/>
          <p:nvPr/>
        </p:nvSpPr>
        <p:spPr>
          <a:xfrm>
            <a:off x="430742" y="1861627"/>
            <a:ext cx="8389730" cy="369332"/>
          </a:xfrm>
          <a:prstGeom prst="rect">
            <a:avLst/>
          </a:prstGeom>
          <a:noFill/>
        </p:spPr>
        <p:txBody>
          <a:bodyPr wrap="square">
            <a:spAutoFit/>
          </a:bodyPr>
          <a:lstStyle/>
          <a:p>
            <a:r>
              <a:rPr lang="zh-CN" altLang="en-US"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若令</a:t>
            </a:r>
            <a:r>
              <a:rPr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φ</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dirty="0">
                <a:latin typeface="Times New Roman" panose="02020603050405020304" pitchFamily="18" charset="0"/>
                <a:ea typeface="SimSun" panose="02010600030101010101" pitchFamily="2" charset="-122"/>
                <a:cs typeface="Times New Roman" panose="02020603050405020304" pitchFamily="18" charset="0"/>
              </a:rPr>
              <a:t>，称</a:t>
            </a:r>
            <a:r>
              <a:rPr lang="zh-CN" altLang="en-US"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1,</a:t>
            </a:r>
            <a:r>
              <a:rPr lang="zh-CN" altLang="en-US"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 </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2,…,</a:t>
            </a:r>
            <a:r>
              <a:rPr lang="zh-CN" altLang="en-US"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 </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n</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baseline="30000" dirty="0">
                <a:latin typeface="Times New Roman" panose="02020603050405020304" pitchFamily="18" charset="0"/>
                <a:ea typeface="SimSun" panose="02010600030101010101" pitchFamily="2" charset="-122"/>
                <a:cs typeface="Times New Roman" panose="02020603050405020304" pitchFamily="18" charset="0"/>
              </a:rPr>
              <a:t>T</a:t>
            </a:r>
            <a:r>
              <a:rPr lang="zh-CN" altLang="en-US" dirty="0">
                <a:latin typeface="Times New Roman" panose="02020603050405020304" pitchFamily="18" charset="0"/>
                <a:ea typeface="SimSun" panose="02010600030101010101" pitchFamily="2" charset="-122"/>
                <a:cs typeface="Times New Roman" panose="02020603050405020304" pitchFamily="18" charset="0"/>
              </a:rPr>
              <a:t>为</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残差</a:t>
            </a:r>
            <a:r>
              <a:rPr lang="zh-CN" altLang="en-US" dirty="0">
                <a:latin typeface="Times New Roman" panose="02020603050405020304" pitchFamily="18" charset="0"/>
                <a:ea typeface="SimSun" panose="02010600030101010101" pitchFamily="2" charset="-122"/>
                <a:cs typeface="Times New Roman" panose="02020603050405020304" pitchFamily="18" charset="0"/>
              </a:rPr>
              <a:t>。拟合问题变成残差大小的问题。</a:t>
            </a:r>
            <a:endParaRPr lang="zh-CN" altLang="en-US" i="1"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DB90C3F4-668C-E486-9D06-370BC560A538}"/>
              </a:ext>
            </a:extLst>
          </p:cNvPr>
          <p:cNvSpPr txBox="1"/>
          <p:nvPr/>
        </p:nvSpPr>
        <p:spPr>
          <a:xfrm>
            <a:off x="351771" y="2375919"/>
            <a:ext cx="7525634" cy="369332"/>
          </a:xfrm>
          <a:prstGeom prst="rect">
            <a:avLst/>
          </a:prstGeom>
          <a:noFill/>
        </p:spPr>
        <p:txBody>
          <a:bodyPr wrap="square">
            <a:spAutoFit/>
          </a:bodyPr>
          <a:lstStyle/>
          <a:p>
            <a:pPr algn="l"/>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“使 </a:t>
            </a:r>
            <a:r>
              <a:rPr lang="zh-CN" altLang="en-US" sz="1800"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a:t>
            </a:r>
            <a:r>
              <a:rPr lang="en-US" altLang="zh-CN" sz="1800"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φ</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1800"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sz="1800" i="1" baseline="-25000" dirty="0">
                <a:latin typeface="Times New Roman" panose="02020603050405020304" pitchFamily="18" charset="0"/>
                <a:ea typeface="SimSun" panose="02010600030101010101" pitchFamily="2" charset="-122"/>
                <a:cs typeface="Times New Roman" panose="02020603050405020304" pitchFamily="18" charset="0"/>
              </a:rPr>
              <a:t>i</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dirty="0">
                <a:latin typeface="Times New Roman" panose="02020603050405020304" pitchFamily="18" charset="0"/>
                <a:ea typeface="SimSun" panose="02010600030101010101" pitchFamily="2" charset="-122"/>
                <a:cs typeface="Times New Roman" panose="02020603050405020304" pitchFamily="18" charset="0"/>
                <a:sym typeface="Symbol" pitchFamily="2" charset="2"/>
              </a:rPr>
              <a:t></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sz="1800"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sz="1800"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1800" i="1" baseline="-25000"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尽可能地小”有不同的准则：</a:t>
            </a:r>
          </a:p>
        </p:txBody>
      </p:sp>
      <p:graphicFrame>
        <p:nvGraphicFramePr>
          <p:cNvPr id="10" name="Object 6">
            <a:extLst>
              <a:ext uri="{FF2B5EF4-FFF2-40B4-BE49-F238E27FC236}">
                <a16:creationId xmlns:a16="http://schemas.microsoft.com/office/drawing/2014/main" id="{D2A72FE4-628C-0FCA-2D25-E8054F8BED3D}"/>
              </a:ext>
            </a:extLst>
          </p:cNvPr>
          <p:cNvGraphicFramePr>
            <a:graphicFrameLocks noChangeAspect="1"/>
          </p:cNvGraphicFramePr>
          <p:nvPr>
            <p:extLst>
              <p:ext uri="{D42A27DB-BD31-4B8C-83A1-F6EECF244321}">
                <p14:modId xmlns:p14="http://schemas.microsoft.com/office/powerpoint/2010/main" val="638662967"/>
              </p:ext>
            </p:extLst>
          </p:nvPr>
        </p:nvGraphicFramePr>
        <p:xfrm>
          <a:off x="971600" y="3662057"/>
          <a:ext cx="2112450" cy="506932"/>
        </p:xfrm>
        <a:graphic>
          <a:graphicData uri="http://schemas.openxmlformats.org/presentationml/2006/ole">
            <mc:AlternateContent xmlns:mc="http://schemas.openxmlformats.org/markup-compatibility/2006">
              <mc:Choice xmlns:v="urn:schemas-microsoft-com:vml" Requires="v">
                <p:oleObj name="Equation" r:id="rId3" imgW="23406100" imgH="6438900" progId="Equation.DSMT4">
                  <p:embed/>
                </p:oleObj>
              </mc:Choice>
              <mc:Fallback>
                <p:oleObj name="Equation" r:id="rId3" imgW="23406100" imgH="6438900" progId="Equation.DSMT4">
                  <p:embed/>
                  <p:pic>
                    <p:nvPicPr>
                      <p:cNvPr id="181254" name="Object 6">
                        <a:extLst>
                          <a:ext uri="{FF2B5EF4-FFF2-40B4-BE49-F238E27FC236}">
                            <a16:creationId xmlns:a16="http://schemas.microsoft.com/office/drawing/2014/main" id="{8CA44FCD-FB4B-A4A2-903D-1E3AB563A5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600" y="3662057"/>
                        <a:ext cx="2112450" cy="506932"/>
                      </a:xfrm>
                      <a:prstGeom prst="rect">
                        <a:avLst/>
                      </a:prstGeom>
                      <a:noFill/>
                    </p:spPr>
                  </p:pic>
                </p:oleObj>
              </mc:Fallback>
            </mc:AlternateContent>
          </a:graphicData>
        </a:graphic>
      </p:graphicFrame>
      <p:graphicFrame>
        <p:nvGraphicFramePr>
          <p:cNvPr id="11" name="Object 9">
            <a:extLst>
              <a:ext uri="{FF2B5EF4-FFF2-40B4-BE49-F238E27FC236}">
                <a16:creationId xmlns:a16="http://schemas.microsoft.com/office/drawing/2014/main" id="{6C9A73D9-E9CB-CF67-6A0E-49C0467FF7AF}"/>
              </a:ext>
            </a:extLst>
          </p:cNvPr>
          <p:cNvGraphicFramePr>
            <a:graphicFrameLocks noChangeAspect="1"/>
          </p:cNvGraphicFramePr>
          <p:nvPr>
            <p:extLst>
              <p:ext uri="{D42A27DB-BD31-4B8C-83A1-F6EECF244321}">
                <p14:modId xmlns:p14="http://schemas.microsoft.com/office/powerpoint/2010/main" val="2336454059"/>
              </p:ext>
            </p:extLst>
          </p:nvPr>
        </p:nvGraphicFramePr>
        <p:xfrm>
          <a:off x="971600" y="2859782"/>
          <a:ext cx="1512168" cy="710260"/>
        </p:xfrm>
        <a:graphic>
          <a:graphicData uri="http://schemas.openxmlformats.org/presentationml/2006/ole">
            <mc:AlternateContent xmlns:mc="http://schemas.openxmlformats.org/markup-compatibility/2006">
              <mc:Choice xmlns:v="urn:schemas-microsoft-com:vml" Requires="v">
                <p:oleObj name="Equation" r:id="rId5" imgW="20777200" imgH="9944100" progId="Equation.DSMT4">
                  <p:embed/>
                </p:oleObj>
              </mc:Choice>
              <mc:Fallback>
                <p:oleObj name="Equation" r:id="rId5" imgW="20777200" imgH="9944100" progId="Equation.DSMT4">
                  <p:embed/>
                  <p:pic>
                    <p:nvPicPr>
                      <p:cNvPr id="181257" name="Object 9">
                        <a:extLst>
                          <a:ext uri="{FF2B5EF4-FFF2-40B4-BE49-F238E27FC236}">
                            <a16:creationId xmlns:a16="http://schemas.microsoft.com/office/drawing/2014/main" id="{FA42A7B3-BB90-8F30-2BCA-59F514099A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600" y="2859782"/>
                        <a:ext cx="1512168" cy="710260"/>
                      </a:xfrm>
                      <a:prstGeom prst="rect">
                        <a:avLst/>
                      </a:prstGeom>
                      <a:noFill/>
                    </p:spPr>
                  </p:pic>
                </p:oleObj>
              </mc:Fallback>
            </mc:AlternateContent>
          </a:graphicData>
        </a:graphic>
      </p:graphicFrame>
      <p:graphicFrame>
        <p:nvGraphicFramePr>
          <p:cNvPr id="12" name="Object 12">
            <a:extLst>
              <a:ext uri="{FF2B5EF4-FFF2-40B4-BE49-F238E27FC236}">
                <a16:creationId xmlns:a16="http://schemas.microsoft.com/office/drawing/2014/main" id="{598A8C6C-D2CC-EEE3-0B3C-712CD9115CCD}"/>
              </a:ext>
            </a:extLst>
          </p:cNvPr>
          <p:cNvGraphicFramePr>
            <a:graphicFrameLocks noChangeAspect="1"/>
          </p:cNvGraphicFramePr>
          <p:nvPr>
            <p:extLst>
              <p:ext uri="{D42A27DB-BD31-4B8C-83A1-F6EECF244321}">
                <p14:modId xmlns:p14="http://schemas.microsoft.com/office/powerpoint/2010/main" val="3928957522"/>
              </p:ext>
            </p:extLst>
          </p:nvPr>
        </p:nvGraphicFramePr>
        <p:xfrm>
          <a:off x="971600" y="4168989"/>
          <a:ext cx="1512169" cy="712915"/>
        </p:xfrm>
        <a:graphic>
          <a:graphicData uri="http://schemas.openxmlformats.org/presentationml/2006/ole">
            <mc:AlternateContent xmlns:mc="http://schemas.openxmlformats.org/markup-compatibility/2006">
              <mc:Choice xmlns:v="urn:schemas-microsoft-com:vml" Requires="v">
                <p:oleObj name="Equation" r:id="rId7" imgW="22237700" imgH="9944100" progId="Equation.DSMT4">
                  <p:embed/>
                </p:oleObj>
              </mc:Choice>
              <mc:Fallback>
                <p:oleObj name="Equation" r:id="rId7" imgW="22237700" imgH="9944100" progId="Equation.DSMT4">
                  <p:embed/>
                  <p:pic>
                    <p:nvPicPr>
                      <p:cNvPr id="181260" name="Object 12">
                        <a:extLst>
                          <a:ext uri="{FF2B5EF4-FFF2-40B4-BE49-F238E27FC236}">
                            <a16:creationId xmlns:a16="http://schemas.microsoft.com/office/drawing/2014/main" id="{5D5C8FBC-7467-00AD-5531-210CF36AFE4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600" y="4168989"/>
                        <a:ext cx="1512169" cy="712915"/>
                      </a:xfrm>
                      <a:prstGeom prst="rect">
                        <a:avLst/>
                      </a:prstGeom>
                      <a:noFill/>
                    </p:spPr>
                  </p:pic>
                </p:oleObj>
              </mc:Fallback>
            </mc:AlternateContent>
          </a:graphicData>
        </a:graphic>
      </p:graphicFrame>
      <p:graphicFrame>
        <p:nvGraphicFramePr>
          <p:cNvPr id="13" name="Object 5">
            <a:extLst>
              <a:ext uri="{FF2B5EF4-FFF2-40B4-BE49-F238E27FC236}">
                <a16:creationId xmlns:a16="http://schemas.microsoft.com/office/drawing/2014/main" id="{F45A274C-74E3-AC5F-6CD5-D060AE1AD7FC}"/>
              </a:ext>
            </a:extLst>
          </p:cNvPr>
          <p:cNvGraphicFramePr>
            <a:graphicFrameLocks noChangeAspect="1"/>
          </p:cNvGraphicFramePr>
          <p:nvPr>
            <p:extLst>
              <p:ext uri="{D42A27DB-BD31-4B8C-83A1-F6EECF244321}">
                <p14:modId xmlns:p14="http://schemas.microsoft.com/office/powerpoint/2010/main" val="2115646497"/>
              </p:ext>
            </p:extLst>
          </p:nvPr>
        </p:nvGraphicFramePr>
        <p:xfrm>
          <a:off x="3394508" y="2930590"/>
          <a:ext cx="2450568" cy="1878570"/>
        </p:xfrm>
        <a:graphic>
          <a:graphicData uri="http://schemas.openxmlformats.org/presentationml/2006/ole">
            <mc:AlternateContent xmlns:mc="http://schemas.openxmlformats.org/markup-compatibility/2006">
              <mc:Choice xmlns:v="urn:schemas-microsoft-com:vml" Requires="v">
                <p:oleObj name="公式" r:id="rId9" imgW="32473900" imgH="28092400" progId="Equation.3">
                  <p:embed/>
                </p:oleObj>
              </mc:Choice>
              <mc:Fallback>
                <p:oleObj name="公式" r:id="rId9" imgW="32473900" imgH="28092400" progId="Equation.3">
                  <p:embed/>
                  <p:pic>
                    <p:nvPicPr>
                      <p:cNvPr id="143365" name="Object 5">
                        <a:extLst>
                          <a:ext uri="{FF2B5EF4-FFF2-40B4-BE49-F238E27FC236}">
                            <a16:creationId xmlns:a16="http://schemas.microsoft.com/office/drawing/2014/main" id="{042E31F8-A416-F006-C7D2-4F9B0F79C4E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4508" y="2930590"/>
                        <a:ext cx="2450568" cy="1878570"/>
                      </a:xfrm>
                      <a:prstGeom prst="rect">
                        <a:avLst/>
                      </a:prstGeom>
                      <a:solidFill>
                        <a:schemeClr val="bg1"/>
                      </a:solidFill>
                      <a:ln w="9525">
                        <a:noFill/>
                        <a:miter lim="800000"/>
                        <a:headEnd/>
                        <a:tailEnd/>
                      </a:ln>
                      <a:effectLst/>
                    </p:spPr>
                  </p:pic>
                </p:oleObj>
              </mc:Fallback>
            </mc:AlternateContent>
          </a:graphicData>
        </a:graphic>
      </p:graphicFrame>
      <p:sp>
        <p:nvSpPr>
          <p:cNvPr id="15" name="文本框 14">
            <a:extLst>
              <a:ext uri="{FF2B5EF4-FFF2-40B4-BE49-F238E27FC236}">
                <a16:creationId xmlns:a16="http://schemas.microsoft.com/office/drawing/2014/main" id="{9AED53CE-B825-2136-5676-5935141AC14D}"/>
              </a:ext>
            </a:extLst>
          </p:cNvPr>
          <p:cNvSpPr txBox="1"/>
          <p:nvPr/>
        </p:nvSpPr>
        <p:spPr>
          <a:xfrm>
            <a:off x="6055180" y="3016367"/>
            <a:ext cx="2664938" cy="1291379"/>
          </a:xfrm>
          <a:prstGeom prst="rect">
            <a:avLst/>
          </a:prstGeom>
          <a:solidFill>
            <a:schemeClr val="accent2">
              <a:lumMod val="20000"/>
              <a:lumOff val="80000"/>
            </a:schemeClr>
          </a:solidFill>
        </p:spPr>
        <p:txBody>
          <a:bodyPr wrap="square">
            <a:spAutoFit/>
          </a:bodyPr>
          <a:lstStyle/>
          <a:p>
            <a:pPr>
              <a:lnSpc>
                <a:spcPct val="150000"/>
              </a:lnSpc>
            </a:pPr>
            <a:r>
              <a:rPr lang="zh-CN" altLang="en-US" dirty="0"/>
              <a:t>由最小二乘原理求得的拟合函数也称为</a:t>
            </a:r>
            <a:r>
              <a:rPr lang="zh-CN" altLang="en-US" dirty="0">
                <a:solidFill>
                  <a:srgbClr val="FF0000"/>
                </a:solidFill>
              </a:rPr>
              <a:t>最小二乘拟合函数</a:t>
            </a:r>
            <a:endParaRPr lang="zh-CN" altLang="en-US" dirty="0"/>
          </a:p>
        </p:txBody>
      </p:sp>
    </p:spTree>
    <p:extLst>
      <p:ext uri="{BB962C8B-B14F-4D97-AF65-F5344CB8AC3E}">
        <p14:creationId xmlns:p14="http://schemas.microsoft.com/office/powerpoint/2010/main" val="1325489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vertic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最小二乘拟合函数的求法：线性拟合</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13</a:t>
            </a:fld>
            <a:endParaRPr lang="zh-CN" altLang="en-US" dirty="0">
              <a:solidFill>
                <a:prstClr val="black">
                  <a:tint val="75000"/>
                </a:prstClr>
              </a:solidFill>
            </a:endParaRPr>
          </a:p>
        </p:txBody>
      </p:sp>
      <p:sp>
        <p:nvSpPr>
          <p:cNvPr id="5" name="文本框 4">
            <a:extLst>
              <a:ext uri="{FF2B5EF4-FFF2-40B4-BE49-F238E27FC236}">
                <a16:creationId xmlns:a16="http://schemas.microsoft.com/office/drawing/2014/main" id="{B1D2554A-FB29-81BF-6BD3-32BE0B742604}"/>
              </a:ext>
            </a:extLst>
          </p:cNvPr>
          <p:cNvSpPr txBox="1"/>
          <p:nvPr/>
        </p:nvSpPr>
        <p:spPr>
          <a:xfrm>
            <a:off x="395536" y="964588"/>
            <a:ext cx="8027985" cy="369332"/>
          </a:xfrm>
          <a:prstGeom prst="rect">
            <a:avLst/>
          </a:prstGeom>
          <a:noFill/>
        </p:spPr>
        <p:txBody>
          <a:bodyPr wrap="square">
            <a:spAutoFit/>
          </a:bodyPr>
          <a:lstStyle/>
          <a:p>
            <a:pPr>
              <a:spcBef>
                <a:spcPct val="50000"/>
              </a:spcBef>
            </a:pPr>
            <a:r>
              <a:rPr lang="zh-CN" altLang="en-US" dirty="0">
                <a:latin typeface="Times New Roman" panose="02020603050405020304" pitchFamily="18" charset="0"/>
                <a:ea typeface="SimSun" panose="02010600030101010101" pitchFamily="2" charset="-122"/>
                <a:cs typeface="Times New Roman" panose="02020603050405020304" pitchFamily="18" charset="0"/>
              </a:rPr>
              <a:t>对给定的一组数据</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i,</a:t>
            </a:r>
            <a:r>
              <a:rPr lang="zh-CN" altLang="en-US" baseline="-250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=1,2,...,n</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，设拟合函数为</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y=a</a:t>
            </a:r>
            <a:r>
              <a:rPr lang="en-US" altLang="zh-CN" sz="1800" baseline="-25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1</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x+ a</a:t>
            </a:r>
            <a:r>
              <a:rPr lang="en-US" altLang="zh-CN" sz="1800" baseline="-25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0</a:t>
            </a:r>
            <a:endParaRPr lang="zh-CN" altLang="en-US"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endParaRPr>
          </a:p>
        </p:txBody>
      </p:sp>
      <p:graphicFrame>
        <p:nvGraphicFramePr>
          <p:cNvPr id="7" name="Object 79">
            <a:extLst>
              <a:ext uri="{FF2B5EF4-FFF2-40B4-BE49-F238E27FC236}">
                <a16:creationId xmlns:a16="http://schemas.microsoft.com/office/drawing/2014/main" id="{A84B1E33-5499-8404-51C0-37C6C6349BF4}"/>
              </a:ext>
            </a:extLst>
          </p:cNvPr>
          <p:cNvGraphicFramePr>
            <a:graphicFrameLocks noChangeAspect="1"/>
          </p:cNvGraphicFramePr>
          <p:nvPr>
            <p:extLst>
              <p:ext uri="{D42A27DB-BD31-4B8C-83A1-F6EECF244321}">
                <p14:modId xmlns:p14="http://schemas.microsoft.com/office/powerpoint/2010/main" val="4290776601"/>
              </p:ext>
            </p:extLst>
          </p:nvPr>
        </p:nvGraphicFramePr>
        <p:xfrm>
          <a:off x="2657996" y="2466653"/>
          <a:ext cx="3323952" cy="1358502"/>
        </p:xfrm>
        <a:graphic>
          <a:graphicData uri="http://schemas.openxmlformats.org/presentationml/2006/ole">
            <mc:AlternateContent xmlns:mc="http://schemas.openxmlformats.org/markup-compatibility/2006">
              <mc:Choice xmlns:v="urn:schemas-microsoft-com:vml" Requires="v">
                <p:oleObj name="公式" r:id="rId3" imgW="45059600" imgH="19900900" progId="Equation.3">
                  <p:embed/>
                </p:oleObj>
              </mc:Choice>
              <mc:Fallback>
                <p:oleObj name="公式" r:id="rId3" imgW="45059600" imgH="19900900" progId="Equation.3">
                  <p:embed/>
                  <p:pic>
                    <p:nvPicPr>
                      <p:cNvPr id="146511" name="Object 79">
                        <a:extLst>
                          <a:ext uri="{FF2B5EF4-FFF2-40B4-BE49-F238E27FC236}">
                            <a16:creationId xmlns:a16="http://schemas.microsoft.com/office/drawing/2014/main" id="{C75F2C19-20F9-B7E9-3DB6-5BEA422AEC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996" y="2466653"/>
                        <a:ext cx="3323952" cy="1358502"/>
                      </a:xfrm>
                      <a:prstGeom prst="rect">
                        <a:avLst/>
                      </a:prstGeom>
                      <a:solidFill>
                        <a:schemeClr val="bg1"/>
                      </a:solidFill>
                      <a:ln>
                        <a:noFill/>
                      </a:ln>
                      <a:effectLst/>
                    </p:spPr>
                  </p:pic>
                </p:oleObj>
              </mc:Fallback>
            </mc:AlternateContent>
          </a:graphicData>
        </a:graphic>
      </p:graphicFrame>
      <p:graphicFrame>
        <p:nvGraphicFramePr>
          <p:cNvPr id="14" name="Object 73">
            <a:extLst>
              <a:ext uri="{FF2B5EF4-FFF2-40B4-BE49-F238E27FC236}">
                <a16:creationId xmlns:a16="http://schemas.microsoft.com/office/drawing/2014/main" id="{96BC0E44-30F4-2648-745A-6F7F5729736B}"/>
              </a:ext>
            </a:extLst>
          </p:cNvPr>
          <p:cNvGraphicFramePr>
            <a:graphicFrameLocks noChangeAspect="1"/>
          </p:cNvGraphicFramePr>
          <p:nvPr>
            <p:extLst>
              <p:ext uri="{D42A27DB-BD31-4B8C-83A1-F6EECF244321}">
                <p14:modId xmlns:p14="http://schemas.microsoft.com/office/powerpoint/2010/main" val="2343366762"/>
              </p:ext>
            </p:extLst>
          </p:nvPr>
        </p:nvGraphicFramePr>
        <p:xfrm>
          <a:off x="2094958" y="1365869"/>
          <a:ext cx="2196704" cy="521761"/>
        </p:xfrm>
        <a:graphic>
          <a:graphicData uri="http://schemas.openxmlformats.org/presentationml/2006/ole">
            <mc:AlternateContent xmlns:mc="http://schemas.openxmlformats.org/markup-compatibility/2006">
              <mc:Choice xmlns:v="urn:schemas-microsoft-com:vml" Requires="v">
                <p:oleObj name="公式" r:id="rId5" imgW="40665400" imgH="9944100" progId="Equation.3">
                  <p:embed/>
                </p:oleObj>
              </mc:Choice>
              <mc:Fallback>
                <p:oleObj name="公式" r:id="rId5" imgW="40665400" imgH="9944100" progId="Equation.3">
                  <p:embed/>
                  <p:pic>
                    <p:nvPicPr>
                      <p:cNvPr id="146505" name="Object 73">
                        <a:extLst>
                          <a:ext uri="{FF2B5EF4-FFF2-40B4-BE49-F238E27FC236}">
                            <a16:creationId xmlns:a16="http://schemas.microsoft.com/office/drawing/2014/main" id="{3BCAF0D2-CDDD-ED6F-67C3-170B36698B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4958" y="1365869"/>
                        <a:ext cx="2196704" cy="521761"/>
                      </a:xfrm>
                      <a:prstGeom prst="rect">
                        <a:avLst/>
                      </a:prstGeom>
                      <a:noFill/>
                      <a:ln>
                        <a:noFill/>
                      </a:ln>
                      <a:effectLst/>
                    </p:spPr>
                  </p:pic>
                </p:oleObj>
              </mc:Fallback>
            </mc:AlternateContent>
          </a:graphicData>
        </a:graphic>
      </p:graphicFrame>
      <p:sp>
        <p:nvSpPr>
          <p:cNvPr id="17" name="文本框 16">
            <a:extLst>
              <a:ext uri="{FF2B5EF4-FFF2-40B4-BE49-F238E27FC236}">
                <a16:creationId xmlns:a16="http://schemas.microsoft.com/office/drawing/2014/main" id="{832518E1-6F83-FEAF-F721-30216F259D6B}"/>
              </a:ext>
            </a:extLst>
          </p:cNvPr>
          <p:cNvSpPr txBox="1"/>
          <p:nvPr/>
        </p:nvSpPr>
        <p:spPr>
          <a:xfrm>
            <a:off x="395536" y="1442083"/>
            <a:ext cx="7848872" cy="369332"/>
          </a:xfrm>
          <a:prstGeom prst="rect">
            <a:avLst/>
          </a:prstGeom>
          <a:noFill/>
        </p:spPr>
        <p:txBody>
          <a:bodyPr wrap="square">
            <a:spAutoFit/>
          </a:bodyPr>
          <a:lstStyle/>
          <a:p>
            <a:r>
              <a:rPr lang="zh-CN" altLang="en-US" dirty="0">
                <a:latin typeface="Times New Roman" panose="02020603050405020304" pitchFamily="18" charset="0"/>
                <a:ea typeface="SimSun" panose="02010600030101010101" pitchFamily="2" charset="-122"/>
                <a:cs typeface="Times New Roman" panose="02020603050405020304" pitchFamily="18" charset="0"/>
              </a:rPr>
              <a:t>即求使</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F</a:t>
            </a:r>
            <a:r>
              <a:rPr lang="zh-CN"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zh-CN" altLang="zh-CN" dirty="0"/>
              <a:t>有最小值的</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800" baseline="-25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0</a:t>
            </a:r>
            <a:r>
              <a:rPr lang="zh-CN" altLang="zh-CN" dirty="0"/>
              <a:t>和</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800" baseline="-25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1</a:t>
            </a:r>
            <a:r>
              <a:rPr lang="zh-CN" altLang="zh-CN" dirty="0"/>
              <a:t>的值</a:t>
            </a:r>
            <a:r>
              <a:rPr lang="en-US" altLang="zh-CN" dirty="0">
                <a:effectLst>
                  <a:outerShdw blurRad="38100" dist="38100" dir="2700000" algn="tl">
                    <a:srgbClr val="C0C0C0"/>
                  </a:outerShdw>
                </a:effectLst>
              </a:rPr>
              <a:t>.</a:t>
            </a:r>
          </a:p>
        </p:txBody>
      </p:sp>
      <p:sp>
        <p:nvSpPr>
          <p:cNvPr id="19" name="文本框 18">
            <a:extLst>
              <a:ext uri="{FF2B5EF4-FFF2-40B4-BE49-F238E27FC236}">
                <a16:creationId xmlns:a16="http://schemas.microsoft.com/office/drawing/2014/main" id="{EBC2E736-B5D3-F4E4-26C7-9E8C114B85E6}"/>
              </a:ext>
            </a:extLst>
          </p:cNvPr>
          <p:cNvSpPr txBox="1"/>
          <p:nvPr/>
        </p:nvSpPr>
        <p:spPr>
          <a:xfrm>
            <a:off x="395536" y="1954368"/>
            <a:ext cx="4572000" cy="369332"/>
          </a:xfrm>
          <a:prstGeom prst="rect">
            <a:avLst/>
          </a:prstGeom>
          <a:noFill/>
        </p:spPr>
        <p:txBody>
          <a:bodyPr wrap="square">
            <a:spAutoFit/>
          </a:bodyPr>
          <a:lstStyle/>
          <a:p>
            <a:pPr>
              <a:spcBef>
                <a:spcPct val="50000"/>
              </a:spcBef>
            </a:pPr>
            <a:r>
              <a:rPr lang="zh-CN" altLang="en-US" dirty="0">
                <a:latin typeface="宋体" panose="02010600030101010101" pitchFamily="2" charset="-122"/>
              </a:rPr>
              <a:t>分别对</a:t>
            </a:r>
            <a:r>
              <a:rPr lang="en-US" altLang="zh-CN"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0</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a</a:t>
            </a:r>
            <a:r>
              <a:rPr lang="en-US" altLang="zh-CN" baseline="-25000" dirty="0">
                <a:latin typeface="Times New Roman" panose="02020603050405020304" pitchFamily="18" charset="0"/>
                <a:cs typeface="Times New Roman" panose="02020603050405020304" pitchFamily="18" charset="0"/>
              </a:rPr>
              <a:t>1</a:t>
            </a:r>
            <a:r>
              <a:rPr lang="zh-CN" altLang="en-US" dirty="0">
                <a:latin typeface="宋体" panose="02010600030101010101" pitchFamily="2" charset="-122"/>
              </a:rPr>
              <a:t>求偏导</a:t>
            </a:r>
            <a:r>
              <a:rPr lang="en-US" altLang="zh-CN" dirty="0">
                <a:latin typeface="宋体" panose="02010600030101010101" pitchFamily="2" charset="-122"/>
              </a:rPr>
              <a:t>,</a:t>
            </a:r>
            <a:r>
              <a:rPr lang="zh-CN" altLang="en-US" dirty="0">
                <a:latin typeface="宋体" panose="02010600030101010101" pitchFamily="2" charset="-122"/>
              </a:rPr>
              <a:t>得</a:t>
            </a:r>
            <a:r>
              <a:rPr lang="en-US" altLang="zh-CN" dirty="0">
                <a:latin typeface="宋体" panose="02010600030101010101" pitchFamily="2" charset="-122"/>
              </a:rPr>
              <a:t>:</a:t>
            </a:r>
          </a:p>
        </p:txBody>
      </p:sp>
      <p:sp>
        <p:nvSpPr>
          <p:cNvPr id="21" name="文本框 20">
            <a:extLst>
              <a:ext uri="{FF2B5EF4-FFF2-40B4-BE49-F238E27FC236}">
                <a16:creationId xmlns:a16="http://schemas.microsoft.com/office/drawing/2014/main" id="{9F940196-F769-3948-8EBC-000712EC8F89}"/>
              </a:ext>
            </a:extLst>
          </p:cNvPr>
          <p:cNvSpPr txBox="1"/>
          <p:nvPr/>
        </p:nvSpPr>
        <p:spPr>
          <a:xfrm>
            <a:off x="539552" y="3994246"/>
            <a:ext cx="3456384" cy="369332"/>
          </a:xfrm>
          <a:prstGeom prst="rect">
            <a:avLst/>
          </a:prstGeom>
          <a:noFill/>
        </p:spPr>
        <p:txBody>
          <a:bodyPr wrap="square">
            <a:spAutoFit/>
          </a:bodyPr>
          <a:lstStyle/>
          <a:p>
            <a:r>
              <a:rPr lang="zh-CN" altLang="en-US" dirty="0"/>
              <a:t>解得</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800" baseline="-25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0</a:t>
            </a:r>
            <a:r>
              <a:rPr lang="en-US" altLang="zh-CN" dirty="0">
                <a:latin typeface="宋体" panose="02010600030101010101" pitchFamily="2" charset="-122"/>
              </a:rPr>
              <a:t>,</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 a</a:t>
            </a:r>
            <a:r>
              <a:rPr lang="en-US" altLang="zh-CN" sz="1800" baseline="-25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1 </a:t>
            </a:r>
            <a:r>
              <a:rPr lang="zh-CN" altLang="en-US" dirty="0"/>
              <a:t>，代入</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y=a</a:t>
            </a:r>
            <a:r>
              <a:rPr lang="en-US" altLang="zh-CN" sz="1800" baseline="-25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1</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x+ a</a:t>
            </a:r>
            <a:r>
              <a:rPr lang="en-US" altLang="zh-CN" sz="1800" baseline="-250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0</a:t>
            </a:r>
            <a:r>
              <a:rPr lang="zh-CN" altLang="en-US" dirty="0"/>
              <a:t>即可。</a:t>
            </a:r>
          </a:p>
        </p:txBody>
      </p:sp>
    </p:spTree>
    <p:extLst>
      <p:ext uri="{BB962C8B-B14F-4D97-AF65-F5344CB8AC3E}">
        <p14:creationId xmlns:p14="http://schemas.microsoft.com/office/powerpoint/2010/main" val="749570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最小二乘拟合函数的求法：</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m</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次多项式拟合</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14</a:t>
            </a:fld>
            <a:endParaRPr lang="zh-CN" altLang="en-US" dirty="0">
              <a:solidFill>
                <a:prstClr val="black">
                  <a:tint val="75000"/>
                </a:prstClr>
              </a:solidFill>
            </a:endParaRPr>
          </a:p>
        </p:txBody>
      </p:sp>
      <p:sp>
        <p:nvSpPr>
          <p:cNvPr id="5" name="文本框 4">
            <a:extLst>
              <a:ext uri="{FF2B5EF4-FFF2-40B4-BE49-F238E27FC236}">
                <a16:creationId xmlns:a16="http://schemas.microsoft.com/office/drawing/2014/main" id="{B1D2554A-FB29-81BF-6BD3-32BE0B742604}"/>
              </a:ext>
            </a:extLst>
          </p:cNvPr>
          <p:cNvSpPr txBox="1"/>
          <p:nvPr/>
        </p:nvSpPr>
        <p:spPr>
          <a:xfrm>
            <a:off x="395536" y="964588"/>
            <a:ext cx="8568952" cy="369332"/>
          </a:xfrm>
          <a:prstGeom prst="rect">
            <a:avLst/>
          </a:prstGeom>
          <a:noFill/>
        </p:spPr>
        <p:txBody>
          <a:bodyPr wrap="square">
            <a:spAutoFit/>
          </a:bodyPr>
          <a:lstStyle/>
          <a:p>
            <a:pPr>
              <a:spcBef>
                <a:spcPct val="50000"/>
              </a:spcBef>
            </a:pPr>
            <a:r>
              <a:rPr lang="zh-CN" altLang="en-US" dirty="0">
                <a:latin typeface="Times New Roman" panose="02020603050405020304" pitchFamily="18" charset="0"/>
                <a:ea typeface="SimSun" panose="02010600030101010101" pitchFamily="2" charset="-122"/>
                <a:cs typeface="Times New Roman" panose="02020603050405020304" pitchFamily="18" charset="0"/>
              </a:rPr>
              <a:t>对给定的一组数据</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i,</a:t>
            </a:r>
            <a:r>
              <a:rPr lang="zh-CN" altLang="en-US" baseline="-25000"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=1,2,...,n</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，设拟合函数为</a:t>
            </a:r>
            <a:r>
              <a:rPr lang="en-US" altLang="zh-CN" sz="1800" i="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y</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2</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30000" dirty="0">
                <a:latin typeface="Times New Roman" panose="02020603050405020304" pitchFamily="18" charset="0"/>
                <a:ea typeface="SimSun" panose="02010600030101010101" pitchFamily="2" charset="-122"/>
                <a:cs typeface="Times New Roman" panose="02020603050405020304" pitchFamily="18" charset="0"/>
              </a:rPr>
              <a:t>2</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a</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m</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30000" dirty="0" err="1">
                <a:latin typeface="Times New Roman" panose="02020603050405020304" pitchFamily="18" charset="0"/>
                <a:ea typeface="SimSun" panose="02010600030101010101" pitchFamily="2" charset="-122"/>
                <a:cs typeface="Times New Roman" panose="02020603050405020304" pitchFamily="18" charset="0"/>
              </a:rPr>
              <a:t>m</a:t>
            </a:r>
            <a:endParaRPr lang="en-US" altLang="zh-CN" baseline="30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9" name="文本框 18">
            <a:extLst>
              <a:ext uri="{FF2B5EF4-FFF2-40B4-BE49-F238E27FC236}">
                <a16:creationId xmlns:a16="http://schemas.microsoft.com/office/drawing/2014/main" id="{EBC2E736-B5D3-F4E4-26C7-9E8C114B85E6}"/>
              </a:ext>
            </a:extLst>
          </p:cNvPr>
          <p:cNvSpPr txBox="1"/>
          <p:nvPr/>
        </p:nvSpPr>
        <p:spPr>
          <a:xfrm>
            <a:off x="389039" y="1583503"/>
            <a:ext cx="4572000" cy="369332"/>
          </a:xfrm>
          <a:prstGeom prst="rect">
            <a:avLst/>
          </a:prstGeom>
          <a:noFill/>
        </p:spPr>
        <p:txBody>
          <a:bodyPr wrap="square">
            <a:spAutoFit/>
          </a:bodyPr>
          <a:lstStyle/>
          <a:p>
            <a:pPr>
              <a:spcBef>
                <a:spcPct val="50000"/>
              </a:spcBef>
            </a:pPr>
            <a:r>
              <a:rPr lang="zh-CN" altLang="en-US" dirty="0">
                <a:latin typeface="宋体" panose="02010600030101010101" pitchFamily="2" charset="-122"/>
              </a:rPr>
              <a:t>分别对</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a</a:t>
            </a:r>
            <a:r>
              <a:rPr lang="en-US" altLang="zh-CN" i="1" baseline="-25000" dirty="0" err="1">
                <a:latin typeface="Times New Roman" panose="02020603050405020304" pitchFamily="18" charset="0"/>
                <a:ea typeface="SimSun" panose="02010600030101010101" pitchFamily="2" charset="-122"/>
                <a:cs typeface="Times New Roman" panose="02020603050405020304" pitchFamily="18" charset="0"/>
              </a:rPr>
              <a:t>k</a:t>
            </a:r>
            <a:r>
              <a:rPr lang="zh-CN" altLang="en-US" dirty="0">
                <a:latin typeface="宋体" panose="02010600030101010101" pitchFamily="2" charset="-122"/>
              </a:rPr>
              <a:t>求偏导</a:t>
            </a:r>
            <a:r>
              <a:rPr lang="en-US" altLang="zh-CN" dirty="0">
                <a:latin typeface="宋体" panose="02010600030101010101" pitchFamily="2" charset="-122"/>
              </a:rPr>
              <a:t>,</a:t>
            </a:r>
            <a:r>
              <a:rPr lang="zh-CN" altLang="en-US" dirty="0">
                <a:latin typeface="宋体" panose="02010600030101010101" pitchFamily="2" charset="-122"/>
              </a:rPr>
              <a:t>得</a:t>
            </a:r>
            <a:r>
              <a:rPr lang="en-US" altLang="zh-CN" dirty="0">
                <a:latin typeface="宋体" panose="02010600030101010101" pitchFamily="2" charset="-122"/>
              </a:rPr>
              <a:t>:</a:t>
            </a:r>
          </a:p>
        </p:txBody>
      </p:sp>
      <p:graphicFrame>
        <p:nvGraphicFramePr>
          <p:cNvPr id="6" name="Object 5">
            <a:extLst>
              <a:ext uri="{FF2B5EF4-FFF2-40B4-BE49-F238E27FC236}">
                <a16:creationId xmlns:a16="http://schemas.microsoft.com/office/drawing/2014/main" id="{2C6345D1-6D01-2138-DB8B-662A95D2F647}"/>
              </a:ext>
            </a:extLst>
          </p:cNvPr>
          <p:cNvGraphicFramePr>
            <a:graphicFrameLocks noChangeAspect="1"/>
          </p:cNvGraphicFramePr>
          <p:nvPr>
            <p:extLst>
              <p:ext uri="{D42A27DB-BD31-4B8C-83A1-F6EECF244321}">
                <p14:modId xmlns:p14="http://schemas.microsoft.com/office/powerpoint/2010/main" val="4035762514"/>
              </p:ext>
            </p:extLst>
          </p:nvPr>
        </p:nvGraphicFramePr>
        <p:xfrm>
          <a:off x="2238512" y="2571750"/>
          <a:ext cx="4666976" cy="1814339"/>
        </p:xfrm>
        <a:graphic>
          <a:graphicData uri="http://schemas.openxmlformats.org/presentationml/2006/ole">
            <mc:AlternateContent xmlns:mc="http://schemas.openxmlformats.org/markup-compatibility/2006">
              <mc:Choice xmlns:v="urn:schemas-microsoft-com:vml" Requires="v">
                <p:oleObj name="公式" r:id="rId3" imgW="79870300" imgH="31013400" progId="Equation.3">
                  <p:embed/>
                </p:oleObj>
              </mc:Choice>
              <mc:Fallback>
                <p:oleObj name="公式" r:id="rId3" imgW="79870300" imgH="31013400" progId="Equation.3">
                  <p:embed/>
                  <p:pic>
                    <p:nvPicPr>
                      <p:cNvPr id="82949" name="Object 5">
                        <a:extLst>
                          <a:ext uri="{FF2B5EF4-FFF2-40B4-BE49-F238E27FC236}">
                            <a16:creationId xmlns:a16="http://schemas.microsoft.com/office/drawing/2014/main" id="{C899F3B1-D1F6-00C2-7136-71882D0983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8512" y="2571750"/>
                        <a:ext cx="4666976" cy="1814339"/>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28425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多项式拟合：</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MATLAB</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15</a:t>
            </a:fld>
            <a:endParaRPr lang="zh-CN" altLang="en-US" dirty="0">
              <a:solidFill>
                <a:prstClr val="black">
                  <a:tint val="75000"/>
                </a:prstClr>
              </a:solidFill>
            </a:endParaRPr>
          </a:p>
        </p:txBody>
      </p:sp>
      <p:sp>
        <p:nvSpPr>
          <p:cNvPr id="7" name="文本框 6">
            <a:extLst>
              <a:ext uri="{FF2B5EF4-FFF2-40B4-BE49-F238E27FC236}">
                <a16:creationId xmlns:a16="http://schemas.microsoft.com/office/drawing/2014/main" id="{8FB7F8E6-B92C-E3D8-56E8-8C608AC84838}"/>
              </a:ext>
            </a:extLst>
          </p:cNvPr>
          <p:cNvSpPr txBox="1"/>
          <p:nvPr/>
        </p:nvSpPr>
        <p:spPr>
          <a:xfrm>
            <a:off x="3694675" y="1131018"/>
            <a:ext cx="1974594" cy="369332"/>
          </a:xfrm>
          <a:prstGeom prst="rect">
            <a:avLst/>
          </a:prstGeom>
          <a:noFill/>
        </p:spPr>
        <p:txBody>
          <a:bodyPr wrap="square">
            <a:spAutoFit/>
          </a:bodyPr>
          <a:lstStyle/>
          <a:p>
            <a:r>
              <a:rPr lang="en-US" altLang="zh-CN" i="1" dirty="0">
                <a:solidFill>
                  <a:srgbClr val="FF0000"/>
                </a:solidFill>
              </a:rPr>
              <a:t>p</a:t>
            </a:r>
            <a:r>
              <a:rPr lang="en-US" altLang="zh-CN" dirty="0">
                <a:solidFill>
                  <a:srgbClr val="FF0000"/>
                </a:solidFill>
              </a:rPr>
              <a:t>=</a:t>
            </a:r>
            <a:r>
              <a:rPr lang="en-US" altLang="zh-CN" i="1" dirty="0" err="1">
                <a:solidFill>
                  <a:srgbClr val="FF0000"/>
                </a:solidFill>
              </a:rPr>
              <a:t>polyfit</a:t>
            </a:r>
            <a:r>
              <a:rPr lang="en-US" altLang="zh-CN" dirty="0">
                <a:solidFill>
                  <a:srgbClr val="FF0000"/>
                </a:solidFill>
              </a:rPr>
              <a:t>(</a:t>
            </a:r>
            <a:r>
              <a:rPr lang="en-US" altLang="zh-CN" dirty="0" err="1">
                <a:solidFill>
                  <a:srgbClr val="FF0000"/>
                </a:solidFill>
              </a:rPr>
              <a:t>X,</a:t>
            </a:r>
            <a:r>
              <a:rPr lang="en-US" altLang="zh-CN" i="1" dirty="0" err="1">
                <a:solidFill>
                  <a:srgbClr val="FF0000"/>
                </a:solidFill>
              </a:rPr>
              <a:t>Y</a:t>
            </a:r>
            <a:r>
              <a:rPr lang="en-US" altLang="zh-CN" dirty="0" err="1">
                <a:solidFill>
                  <a:srgbClr val="FF0000"/>
                </a:solidFill>
              </a:rPr>
              <a:t>,</a:t>
            </a:r>
            <a:r>
              <a:rPr lang="en-US" altLang="zh-CN" i="1" dirty="0" err="1">
                <a:solidFill>
                  <a:srgbClr val="FF0000"/>
                </a:solidFill>
              </a:rPr>
              <a:t>n</a:t>
            </a:r>
            <a:r>
              <a:rPr lang="en-US" altLang="zh-CN" dirty="0">
                <a:solidFill>
                  <a:srgbClr val="FF0000"/>
                </a:solidFill>
              </a:rPr>
              <a:t>).</a:t>
            </a:r>
            <a:r>
              <a:rPr lang="en-US" altLang="zh-CN" dirty="0">
                <a:solidFill>
                  <a:srgbClr val="000000"/>
                </a:solidFill>
              </a:rPr>
              <a:t> </a:t>
            </a:r>
            <a:endParaRPr lang="zh-CN" altLang="en-US" dirty="0"/>
          </a:p>
        </p:txBody>
      </p:sp>
      <p:sp>
        <p:nvSpPr>
          <p:cNvPr id="9" name="文本框 8">
            <a:extLst>
              <a:ext uri="{FF2B5EF4-FFF2-40B4-BE49-F238E27FC236}">
                <a16:creationId xmlns:a16="http://schemas.microsoft.com/office/drawing/2014/main" id="{F5417B29-1609-7D3C-3BED-994E8884C2A9}"/>
              </a:ext>
            </a:extLst>
          </p:cNvPr>
          <p:cNvSpPr txBox="1"/>
          <p:nvPr/>
        </p:nvSpPr>
        <p:spPr>
          <a:xfrm>
            <a:off x="677144" y="1941388"/>
            <a:ext cx="8009656" cy="369332"/>
          </a:xfrm>
          <a:prstGeom prst="rect">
            <a:avLst/>
          </a:prstGeom>
          <a:noFill/>
        </p:spPr>
        <p:txBody>
          <a:bodyPr wrap="square">
            <a:spAutoFit/>
          </a:bodyPr>
          <a:lstStyle/>
          <a:p>
            <a:r>
              <a:rPr lang="zh-CN" altLang="en-US" dirty="0">
                <a:solidFill>
                  <a:srgbClr val="000000"/>
                </a:solidFill>
              </a:rPr>
              <a:t>求出已知数据</a:t>
            </a:r>
            <a:r>
              <a:rPr lang="en-US" altLang="zh-CN" dirty="0">
                <a:solidFill>
                  <a:srgbClr val="000000"/>
                </a:solidFill>
              </a:rPr>
              <a:t>(</a:t>
            </a:r>
            <a:r>
              <a:rPr lang="en-US" altLang="zh-CN" i="1" dirty="0">
                <a:solidFill>
                  <a:srgbClr val="000000"/>
                </a:solidFill>
              </a:rPr>
              <a:t>X</a:t>
            </a:r>
            <a:r>
              <a:rPr lang="en-US" altLang="zh-CN" dirty="0">
                <a:solidFill>
                  <a:srgbClr val="000000"/>
                </a:solidFill>
              </a:rPr>
              <a:t>,</a:t>
            </a:r>
            <a:r>
              <a:rPr lang="en-US" altLang="zh-CN" i="1" dirty="0">
                <a:solidFill>
                  <a:srgbClr val="000000"/>
                </a:solidFill>
              </a:rPr>
              <a:t>Y)</a:t>
            </a:r>
            <a:r>
              <a:rPr lang="zh-CN" altLang="en-US" dirty="0">
                <a:solidFill>
                  <a:srgbClr val="000000"/>
                </a:solidFill>
              </a:rPr>
              <a:t>的</a:t>
            </a:r>
            <a:r>
              <a:rPr lang="en-US" altLang="zh-CN" i="1" dirty="0">
                <a:solidFill>
                  <a:srgbClr val="0000FF"/>
                </a:solidFill>
              </a:rPr>
              <a:t>n</a:t>
            </a:r>
            <a:r>
              <a:rPr lang="zh-CN" altLang="en-US" dirty="0">
                <a:solidFill>
                  <a:srgbClr val="0000FF"/>
                </a:solidFill>
              </a:rPr>
              <a:t>次</a:t>
            </a:r>
            <a:r>
              <a:rPr lang="zh-CN" altLang="en-US" dirty="0">
                <a:solidFill>
                  <a:srgbClr val="000000"/>
                </a:solidFill>
              </a:rPr>
              <a:t>拟合多项式</a:t>
            </a:r>
            <a:r>
              <a:rPr lang="en-US" altLang="zh-CN" i="1" dirty="0">
                <a:solidFill>
                  <a:srgbClr val="000000"/>
                </a:solidFill>
              </a:rPr>
              <a:t>f</a:t>
            </a:r>
            <a:r>
              <a:rPr lang="en-US" altLang="zh-CN" dirty="0">
                <a:solidFill>
                  <a:srgbClr val="000000"/>
                </a:solidFill>
              </a:rPr>
              <a:t>(</a:t>
            </a:r>
            <a:r>
              <a:rPr lang="en-US" altLang="zh-CN" i="1" dirty="0">
                <a:solidFill>
                  <a:srgbClr val="000000"/>
                </a:solidFill>
              </a:rPr>
              <a:t>x</a:t>
            </a:r>
            <a:r>
              <a:rPr lang="en-US" altLang="zh-CN" dirty="0">
                <a:solidFill>
                  <a:srgbClr val="000000"/>
                </a:solidFill>
              </a:rPr>
              <a:t>)</a:t>
            </a:r>
            <a:r>
              <a:rPr lang="zh-CN" altLang="en-US" dirty="0">
                <a:solidFill>
                  <a:srgbClr val="0000FF"/>
                </a:solidFill>
              </a:rPr>
              <a:t>按降幂排列的系数</a:t>
            </a:r>
            <a:r>
              <a:rPr lang="en-US" altLang="zh-CN" i="1" dirty="0">
                <a:solidFill>
                  <a:srgbClr val="0000FF"/>
                </a:solidFill>
              </a:rPr>
              <a:t>p</a:t>
            </a:r>
            <a:r>
              <a:rPr lang="zh-CN" altLang="en-US" dirty="0">
                <a:solidFill>
                  <a:srgbClr val="000000"/>
                </a:solidFill>
              </a:rPr>
              <a:t>，</a:t>
            </a:r>
            <a:r>
              <a:rPr lang="en-US" altLang="zh-CN" i="1" dirty="0">
                <a:solidFill>
                  <a:srgbClr val="000000"/>
                </a:solidFill>
              </a:rPr>
              <a:t>X</a:t>
            </a:r>
            <a:r>
              <a:rPr lang="zh-CN" altLang="en-US" dirty="0">
                <a:solidFill>
                  <a:srgbClr val="000000"/>
                </a:solidFill>
              </a:rPr>
              <a:t>必须是单调的</a:t>
            </a:r>
            <a:r>
              <a:rPr lang="en-US" altLang="zh-CN" dirty="0">
                <a:solidFill>
                  <a:srgbClr val="000000"/>
                </a:solidFill>
              </a:rPr>
              <a:t>. </a:t>
            </a:r>
            <a:endParaRPr lang="zh-CN" altLang="en-US" dirty="0"/>
          </a:p>
        </p:txBody>
      </p:sp>
      <p:sp>
        <p:nvSpPr>
          <p:cNvPr id="11" name="文本框 10">
            <a:extLst>
              <a:ext uri="{FF2B5EF4-FFF2-40B4-BE49-F238E27FC236}">
                <a16:creationId xmlns:a16="http://schemas.microsoft.com/office/drawing/2014/main" id="{862EA88F-ADD5-6EAE-73DD-72A22CED222F}"/>
              </a:ext>
            </a:extLst>
          </p:cNvPr>
          <p:cNvSpPr txBox="1"/>
          <p:nvPr/>
        </p:nvSpPr>
        <p:spPr>
          <a:xfrm>
            <a:off x="3248980" y="2739788"/>
            <a:ext cx="2646040" cy="369332"/>
          </a:xfrm>
          <a:prstGeom prst="rect">
            <a:avLst/>
          </a:prstGeom>
          <a:noFill/>
        </p:spPr>
        <p:txBody>
          <a:bodyPr wrap="square">
            <a:spAutoFit/>
          </a:bodyPr>
          <a:lstStyle/>
          <a:p>
            <a:r>
              <a:rPr lang="en" altLang="zh-CN" b="0" i="0" dirty="0">
                <a:effectLst/>
                <a:latin typeface="Menlo" panose="020B0609030804020204" pitchFamily="49" charset="0"/>
              </a:rPr>
              <a:t>p = </a:t>
            </a:r>
            <a:r>
              <a:rPr lang="en" altLang="zh-CN" b="0" i="0" dirty="0" err="1">
                <a:effectLst/>
                <a:latin typeface="Menlo" panose="020B0609030804020204" pitchFamily="49" charset="0"/>
              </a:rPr>
              <a:t>polyfit</a:t>
            </a:r>
            <a:r>
              <a:rPr lang="en" altLang="zh-CN" b="0" i="0" dirty="0">
                <a:effectLst/>
                <a:latin typeface="Menlo" panose="020B0609030804020204" pitchFamily="49" charset="0"/>
              </a:rPr>
              <a:t>(x,y,1)</a:t>
            </a:r>
          </a:p>
        </p:txBody>
      </p:sp>
      <p:sp>
        <p:nvSpPr>
          <p:cNvPr id="12" name="文本框 11">
            <a:extLst>
              <a:ext uri="{FF2B5EF4-FFF2-40B4-BE49-F238E27FC236}">
                <a16:creationId xmlns:a16="http://schemas.microsoft.com/office/drawing/2014/main" id="{531440F1-4252-F524-25FE-A96221A0A346}"/>
              </a:ext>
            </a:extLst>
          </p:cNvPr>
          <p:cNvSpPr txBox="1"/>
          <p:nvPr/>
        </p:nvSpPr>
        <p:spPr>
          <a:xfrm>
            <a:off x="3568207" y="3653611"/>
            <a:ext cx="2007586" cy="646331"/>
          </a:xfrm>
          <a:prstGeom prst="rect">
            <a:avLst/>
          </a:prstGeom>
          <a:solidFill>
            <a:schemeClr val="accent2">
              <a:lumMod val="20000"/>
              <a:lumOff val="80000"/>
            </a:schemeClr>
          </a:solidFill>
        </p:spPr>
        <p:txBody>
          <a:bodyPr wrap="square">
            <a:spAutoFit/>
          </a:bodyPr>
          <a:lstStyle/>
          <a:p>
            <a:r>
              <a:rPr lang="zh-CN" altLang="en-US" dirty="0"/>
              <a:t>输出结果：</a:t>
            </a:r>
            <a:endParaRPr lang="en-US" altLang="zh-CN" dirty="0"/>
          </a:p>
          <a:p>
            <a:r>
              <a:rPr lang="en-US" altLang="zh-CN" dirty="0"/>
              <a:t>0.8587    0.1505</a:t>
            </a:r>
            <a:endParaRPr lang="zh-CN" altLang="en-US" dirty="0"/>
          </a:p>
        </p:txBody>
      </p:sp>
      <p:sp>
        <p:nvSpPr>
          <p:cNvPr id="13" name="文本框 12">
            <a:extLst>
              <a:ext uri="{FF2B5EF4-FFF2-40B4-BE49-F238E27FC236}">
                <a16:creationId xmlns:a16="http://schemas.microsoft.com/office/drawing/2014/main" id="{DC5377BB-9EB2-9E58-887A-FA42DD03CE6E}"/>
              </a:ext>
            </a:extLst>
          </p:cNvPr>
          <p:cNvSpPr txBox="1"/>
          <p:nvPr/>
        </p:nvSpPr>
        <p:spPr>
          <a:xfrm>
            <a:off x="2286000" y="4475101"/>
            <a:ext cx="4572000" cy="369332"/>
          </a:xfrm>
          <a:prstGeom prst="rect">
            <a:avLst/>
          </a:prstGeom>
          <a:noFill/>
        </p:spPr>
        <p:txBody>
          <a:bodyPr wrap="square">
            <a:spAutoFit/>
          </a:bodyPr>
          <a:lstStyle/>
          <a:p>
            <a:r>
              <a:rPr lang="zh-CN" altLang="en-US" dirty="0"/>
              <a:t>所求直线方程为：</a:t>
            </a:r>
            <a:r>
              <a:rPr lang="en-US" altLang="zh-CN" i="1" dirty="0">
                <a:latin typeface="Times New Roman" panose="02020603050405020304" pitchFamily="18" charset="0"/>
                <a:cs typeface="Times New Roman" panose="02020603050405020304" pitchFamily="18" charset="0"/>
              </a:rPr>
              <a:t>y</a:t>
            </a:r>
            <a:r>
              <a:rPr lang="en-US" altLang="zh-CN" dirty="0">
                <a:latin typeface="Times New Roman" panose="02020603050405020304" pitchFamily="18" charset="0"/>
                <a:cs typeface="Times New Roman" panose="02020603050405020304" pitchFamily="18" charset="0"/>
              </a:rPr>
              <a:t>=0.8587</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0.1505</a:t>
            </a:r>
            <a:endParaRPr lang="zh-CN"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373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最小二乘线性回归（拟合）</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16</a:t>
            </a:fld>
            <a:endParaRPr lang="zh-CN" altLang="en-US" dirty="0">
              <a:solidFill>
                <a:prstClr val="black">
                  <a:tint val="75000"/>
                </a:prstClr>
              </a:solidFill>
            </a:endParaRPr>
          </a:p>
        </p:txBody>
      </p:sp>
      <p:pic>
        <p:nvPicPr>
          <p:cNvPr id="9" name="图片 8">
            <a:extLst>
              <a:ext uri="{FF2B5EF4-FFF2-40B4-BE49-F238E27FC236}">
                <a16:creationId xmlns:a16="http://schemas.microsoft.com/office/drawing/2014/main" id="{C4ECC78A-16BB-B43F-3A4A-E9611BFB05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5536" y="892756"/>
            <a:ext cx="3489674" cy="3357988"/>
          </a:xfrm>
          <a:prstGeom prst="rect">
            <a:avLst/>
          </a:prstGeom>
        </p:spPr>
      </p:pic>
      <p:pic>
        <p:nvPicPr>
          <p:cNvPr id="17" name="图片 16">
            <a:extLst>
              <a:ext uri="{FF2B5EF4-FFF2-40B4-BE49-F238E27FC236}">
                <a16:creationId xmlns:a16="http://schemas.microsoft.com/office/drawing/2014/main" id="{C3FB09E5-8442-D719-AC2B-C687E358A9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8024" y="1259639"/>
            <a:ext cx="3808193" cy="288969"/>
          </a:xfrm>
          <a:prstGeom prst="rect">
            <a:avLst/>
          </a:prstGeom>
        </p:spPr>
      </p:pic>
      <p:pic>
        <p:nvPicPr>
          <p:cNvPr id="20" name="图片 19">
            <a:extLst>
              <a:ext uri="{FF2B5EF4-FFF2-40B4-BE49-F238E27FC236}">
                <a16:creationId xmlns:a16="http://schemas.microsoft.com/office/drawing/2014/main" id="{13FFDCDF-4B7E-4C9E-F00D-56E91B7D9E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2994" y="1548608"/>
            <a:ext cx="3296961" cy="328636"/>
          </a:xfrm>
          <a:prstGeom prst="rect">
            <a:avLst/>
          </a:prstGeom>
        </p:spPr>
      </p:pic>
      <p:pic>
        <p:nvPicPr>
          <p:cNvPr id="22" name="图片 21">
            <a:extLst>
              <a:ext uri="{FF2B5EF4-FFF2-40B4-BE49-F238E27FC236}">
                <a16:creationId xmlns:a16="http://schemas.microsoft.com/office/drawing/2014/main" id="{2834C144-6172-6324-8B62-11F10FF279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5536" y="4301568"/>
            <a:ext cx="3165081" cy="351675"/>
          </a:xfrm>
          <a:prstGeom prst="rect">
            <a:avLst/>
          </a:prstGeom>
        </p:spPr>
      </p:pic>
      <p:pic>
        <p:nvPicPr>
          <p:cNvPr id="24" name="图片 23">
            <a:extLst>
              <a:ext uri="{FF2B5EF4-FFF2-40B4-BE49-F238E27FC236}">
                <a16:creationId xmlns:a16="http://schemas.microsoft.com/office/drawing/2014/main" id="{7BB1F0C5-67FB-61AE-AF52-41379CAC8F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43608" y="4767264"/>
            <a:ext cx="1680226" cy="351675"/>
          </a:xfrm>
          <a:prstGeom prst="rect">
            <a:avLst/>
          </a:prstGeom>
        </p:spPr>
      </p:pic>
      <p:sp>
        <p:nvSpPr>
          <p:cNvPr id="26" name="文本框 25">
            <a:extLst>
              <a:ext uri="{FF2B5EF4-FFF2-40B4-BE49-F238E27FC236}">
                <a16:creationId xmlns:a16="http://schemas.microsoft.com/office/drawing/2014/main" id="{597DC47F-3FB2-06A2-9920-7C7AFC4117AE}"/>
              </a:ext>
            </a:extLst>
          </p:cNvPr>
          <p:cNvSpPr txBox="1"/>
          <p:nvPr/>
        </p:nvSpPr>
        <p:spPr>
          <a:xfrm>
            <a:off x="4788024" y="890307"/>
            <a:ext cx="2880320" cy="369332"/>
          </a:xfrm>
          <a:prstGeom prst="rect">
            <a:avLst/>
          </a:prstGeom>
          <a:noFill/>
        </p:spPr>
        <p:txBody>
          <a:bodyPr wrap="square">
            <a:spAutoFit/>
          </a:bodyPr>
          <a:lstStyle/>
          <a:p>
            <a:r>
              <a:rPr lang="en-US" altLang="zh-CN"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1.</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 最小二乘解的唯一性</a:t>
            </a:r>
          </a:p>
        </p:txBody>
      </p:sp>
      <p:pic>
        <p:nvPicPr>
          <p:cNvPr id="5" name="图片 4">
            <a:extLst>
              <a:ext uri="{FF2B5EF4-FFF2-40B4-BE49-F238E27FC236}">
                <a16:creationId xmlns:a16="http://schemas.microsoft.com/office/drawing/2014/main" id="{6BDD93C1-D61E-2E49-945C-022488D322A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88024" y="2060126"/>
            <a:ext cx="2944133" cy="508124"/>
          </a:xfrm>
          <a:prstGeom prst="rect">
            <a:avLst/>
          </a:prstGeom>
        </p:spPr>
      </p:pic>
      <p:pic>
        <p:nvPicPr>
          <p:cNvPr id="7" name="图片 6">
            <a:extLst>
              <a:ext uri="{FF2B5EF4-FFF2-40B4-BE49-F238E27FC236}">
                <a16:creationId xmlns:a16="http://schemas.microsoft.com/office/drawing/2014/main" id="{C7879F9D-03D0-A540-9CF7-FB9DECBEDD72}"/>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12994" y="2628709"/>
            <a:ext cx="2235165" cy="354908"/>
          </a:xfrm>
          <a:prstGeom prst="rect">
            <a:avLst/>
          </a:prstGeom>
        </p:spPr>
      </p:pic>
      <p:pic>
        <p:nvPicPr>
          <p:cNvPr id="10" name="图片 9">
            <a:extLst>
              <a:ext uri="{FF2B5EF4-FFF2-40B4-BE49-F238E27FC236}">
                <a16:creationId xmlns:a16="http://schemas.microsoft.com/office/drawing/2014/main" id="{539C31E0-1C3C-AD43-A74A-B0588DD3BF2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804674" y="3098428"/>
            <a:ext cx="2134344" cy="449336"/>
          </a:xfrm>
          <a:prstGeom prst="rect">
            <a:avLst/>
          </a:prstGeom>
        </p:spPr>
      </p:pic>
      <p:pic>
        <p:nvPicPr>
          <p:cNvPr id="12" name="图片 11">
            <a:extLst>
              <a:ext uri="{FF2B5EF4-FFF2-40B4-BE49-F238E27FC236}">
                <a16:creationId xmlns:a16="http://schemas.microsoft.com/office/drawing/2014/main" id="{62B3E4D6-AD55-364C-B7E5-CF344334249F}"/>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788024" y="3725705"/>
            <a:ext cx="1135478" cy="316312"/>
          </a:xfrm>
          <a:prstGeom prst="rect">
            <a:avLst/>
          </a:prstGeom>
        </p:spPr>
      </p:pic>
      <p:pic>
        <p:nvPicPr>
          <p:cNvPr id="14" name="图片 13">
            <a:extLst>
              <a:ext uri="{FF2B5EF4-FFF2-40B4-BE49-F238E27FC236}">
                <a16:creationId xmlns:a16="http://schemas.microsoft.com/office/drawing/2014/main" id="{4295D0B0-8927-1B46-9970-F16D1A73D57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88024" y="4216655"/>
            <a:ext cx="1481590" cy="357625"/>
          </a:xfrm>
          <a:prstGeom prst="rect">
            <a:avLst/>
          </a:prstGeom>
        </p:spPr>
      </p:pic>
    </p:spTree>
    <p:extLst>
      <p:ext uri="{BB962C8B-B14F-4D97-AF65-F5344CB8AC3E}">
        <p14:creationId xmlns:p14="http://schemas.microsoft.com/office/powerpoint/2010/main" val="167452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最小二乘线性回归（拟合）</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17</a:t>
            </a:fld>
            <a:endParaRPr lang="zh-CN" altLang="en-US" dirty="0">
              <a:solidFill>
                <a:prstClr val="black">
                  <a:tint val="75000"/>
                </a:prstClr>
              </a:solidFill>
            </a:endParaRPr>
          </a:p>
        </p:txBody>
      </p:sp>
      <p:sp>
        <p:nvSpPr>
          <p:cNvPr id="28" name="文本框 27">
            <a:extLst>
              <a:ext uri="{FF2B5EF4-FFF2-40B4-BE49-F238E27FC236}">
                <a16:creationId xmlns:a16="http://schemas.microsoft.com/office/drawing/2014/main" id="{AEE1EF46-DE68-F39A-86EC-85BB9AD8B660}"/>
              </a:ext>
            </a:extLst>
          </p:cNvPr>
          <p:cNvSpPr txBox="1"/>
          <p:nvPr/>
        </p:nvSpPr>
        <p:spPr>
          <a:xfrm>
            <a:off x="1475656" y="1010294"/>
            <a:ext cx="4369175" cy="369332"/>
          </a:xfrm>
          <a:prstGeom prst="rect">
            <a:avLst/>
          </a:prstGeom>
          <a:noFill/>
        </p:spPr>
        <p:txBody>
          <a:bodyPr wrap="square">
            <a:spAutoFit/>
          </a:bodyPr>
          <a:lstStyle/>
          <a:p>
            <a:r>
              <a:rPr lang="en-US" altLang="zh-CN"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2.</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 极大似然估计与最小二乘估计的等价性</a:t>
            </a:r>
          </a:p>
        </p:txBody>
      </p:sp>
      <p:pic>
        <p:nvPicPr>
          <p:cNvPr id="31" name="图片 30">
            <a:extLst>
              <a:ext uri="{FF2B5EF4-FFF2-40B4-BE49-F238E27FC236}">
                <a16:creationId xmlns:a16="http://schemas.microsoft.com/office/drawing/2014/main" id="{5A357E15-9A76-CF8E-8C47-3350021037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04397" y="1389930"/>
            <a:ext cx="2814592" cy="1224138"/>
          </a:xfrm>
          <a:prstGeom prst="rect">
            <a:avLst/>
          </a:prstGeom>
        </p:spPr>
      </p:pic>
      <p:sp>
        <p:nvSpPr>
          <p:cNvPr id="33" name="文本框 32">
            <a:extLst>
              <a:ext uri="{FF2B5EF4-FFF2-40B4-BE49-F238E27FC236}">
                <a16:creationId xmlns:a16="http://schemas.microsoft.com/office/drawing/2014/main" id="{7E4E945B-0DC7-2029-5259-91AB8DF2361E}"/>
              </a:ext>
            </a:extLst>
          </p:cNvPr>
          <p:cNvSpPr txBox="1"/>
          <p:nvPr/>
        </p:nvSpPr>
        <p:spPr>
          <a:xfrm>
            <a:off x="1550835" y="2791322"/>
            <a:ext cx="3082915" cy="369332"/>
          </a:xfrm>
          <a:prstGeom prst="rect">
            <a:avLst/>
          </a:prstGeom>
          <a:noFill/>
        </p:spPr>
        <p:txBody>
          <a:bodyPr wrap="square">
            <a:spAutoFit/>
          </a:bodyPr>
          <a:lstStyle/>
          <a:p>
            <a:r>
              <a:rPr lang="en-US" altLang="zh-CN"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3.</a:t>
            </a:r>
            <a:r>
              <a:rPr lang="zh-CN" altLang="en-US"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 最小二乘估计的稳定性</a:t>
            </a:r>
          </a:p>
        </p:txBody>
      </p:sp>
      <p:pic>
        <p:nvPicPr>
          <p:cNvPr id="35" name="图片 34">
            <a:extLst>
              <a:ext uri="{FF2B5EF4-FFF2-40B4-BE49-F238E27FC236}">
                <a16:creationId xmlns:a16="http://schemas.microsoft.com/office/drawing/2014/main" id="{7089170B-6BAB-8E01-7193-2C08B12C0E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0661" y="3274429"/>
            <a:ext cx="3206454" cy="576248"/>
          </a:xfrm>
          <a:prstGeom prst="rect">
            <a:avLst/>
          </a:prstGeom>
        </p:spPr>
      </p:pic>
      <p:pic>
        <p:nvPicPr>
          <p:cNvPr id="37" name="图片 36">
            <a:extLst>
              <a:ext uri="{FF2B5EF4-FFF2-40B4-BE49-F238E27FC236}">
                <a16:creationId xmlns:a16="http://schemas.microsoft.com/office/drawing/2014/main" id="{C460AF44-DA47-A3B0-F139-EB352F2750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0661" y="4091628"/>
            <a:ext cx="2814593" cy="429345"/>
          </a:xfrm>
          <a:prstGeom prst="rect">
            <a:avLst/>
          </a:prstGeom>
        </p:spPr>
      </p:pic>
    </p:spTree>
    <p:extLst>
      <p:ext uri="{BB962C8B-B14F-4D97-AF65-F5344CB8AC3E}">
        <p14:creationId xmlns:p14="http://schemas.microsoft.com/office/powerpoint/2010/main" val="412883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MATLAB</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18</a:t>
            </a:fld>
            <a:endParaRPr lang="zh-CN" altLang="en-US" dirty="0">
              <a:solidFill>
                <a:prstClr val="black">
                  <a:tint val="75000"/>
                </a:prstClr>
              </a:solidFill>
            </a:endParaRPr>
          </a:p>
        </p:txBody>
      </p:sp>
      <p:sp>
        <p:nvSpPr>
          <p:cNvPr id="5" name="文本框 4">
            <a:extLst>
              <a:ext uri="{FF2B5EF4-FFF2-40B4-BE49-F238E27FC236}">
                <a16:creationId xmlns:a16="http://schemas.microsoft.com/office/drawing/2014/main" id="{A77E70A8-9CAE-C008-7D5F-0C036C605419}"/>
              </a:ext>
            </a:extLst>
          </p:cNvPr>
          <p:cNvSpPr txBox="1"/>
          <p:nvPr/>
        </p:nvSpPr>
        <p:spPr>
          <a:xfrm>
            <a:off x="2286000" y="1134512"/>
            <a:ext cx="4572000" cy="1200329"/>
          </a:xfrm>
          <a:prstGeom prst="rect">
            <a:avLst/>
          </a:prstGeom>
          <a:noFill/>
        </p:spPr>
        <p:txBody>
          <a:bodyPr wrap="square">
            <a:spAutoFit/>
          </a:bodyPr>
          <a:lstStyle/>
          <a:p>
            <a:r>
              <a:rPr lang="en" altLang="zh-CN" b="0" i="0" dirty="0">
                <a:effectLst/>
                <a:latin typeface="Menlo" panose="020B0609030804020204" pitchFamily="49" charset="0"/>
              </a:rPr>
              <a:t>A = [x, ones(length(x),1)];</a:t>
            </a:r>
          </a:p>
          <a:p>
            <a:r>
              <a:rPr lang="en" altLang="zh-CN" b="0" i="0" dirty="0">
                <a:solidFill>
                  <a:srgbClr val="008013"/>
                </a:solidFill>
                <a:effectLst/>
                <a:latin typeface="Menlo" panose="020B0609030804020204" pitchFamily="49" charset="0"/>
              </a:rPr>
              <a:t>%beta = [a1, a0];</a:t>
            </a:r>
            <a:endParaRPr lang="en" altLang="zh-CN" b="0" i="0" dirty="0">
              <a:effectLst/>
              <a:latin typeface="Menlo" panose="020B0609030804020204" pitchFamily="49" charset="0"/>
            </a:endParaRPr>
          </a:p>
          <a:p>
            <a:r>
              <a:rPr lang="en" altLang="zh-CN" b="0" i="0" dirty="0">
                <a:effectLst/>
                <a:latin typeface="Menlo" panose="020B0609030804020204" pitchFamily="49" charset="0"/>
              </a:rPr>
              <a:t>beta = inv(A'*A)*A'*y;</a:t>
            </a:r>
          </a:p>
          <a:p>
            <a:r>
              <a:rPr lang="en" altLang="zh-CN" b="0" i="0" dirty="0" err="1">
                <a:effectLst/>
                <a:latin typeface="Menlo" panose="020B0609030804020204" pitchFamily="49" charset="0"/>
              </a:rPr>
              <a:t>disp</a:t>
            </a:r>
            <a:r>
              <a:rPr lang="en" altLang="zh-CN" b="0" i="0" dirty="0">
                <a:effectLst/>
                <a:latin typeface="Menlo" panose="020B0609030804020204" pitchFamily="49" charset="0"/>
              </a:rPr>
              <a:t>(beta)</a:t>
            </a:r>
          </a:p>
        </p:txBody>
      </p:sp>
      <p:sp>
        <p:nvSpPr>
          <p:cNvPr id="7" name="文本框 6">
            <a:extLst>
              <a:ext uri="{FF2B5EF4-FFF2-40B4-BE49-F238E27FC236}">
                <a16:creationId xmlns:a16="http://schemas.microsoft.com/office/drawing/2014/main" id="{D062742A-39A2-64E2-1A9F-8D671150FB17}"/>
              </a:ext>
            </a:extLst>
          </p:cNvPr>
          <p:cNvSpPr txBox="1"/>
          <p:nvPr/>
        </p:nvSpPr>
        <p:spPr>
          <a:xfrm>
            <a:off x="3568207" y="2663980"/>
            <a:ext cx="2007586" cy="923330"/>
          </a:xfrm>
          <a:prstGeom prst="rect">
            <a:avLst/>
          </a:prstGeom>
          <a:solidFill>
            <a:schemeClr val="accent2">
              <a:lumMod val="20000"/>
              <a:lumOff val="80000"/>
            </a:schemeClr>
          </a:solidFill>
        </p:spPr>
        <p:txBody>
          <a:bodyPr wrap="square">
            <a:spAutoFit/>
          </a:bodyPr>
          <a:lstStyle/>
          <a:p>
            <a:r>
              <a:rPr lang="zh-CN" altLang="en-US" dirty="0"/>
              <a:t>输出结果：</a:t>
            </a:r>
            <a:endParaRPr lang="en-US" altLang="zh-CN" dirty="0"/>
          </a:p>
          <a:p>
            <a:r>
              <a:rPr lang="zh-CN" altLang="en-US" dirty="0"/>
              <a:t>0.8587</a:t>
            </a:r>
          </a:p>
          <a:p>
            <a:r>
              <a:rPr lang="zh-CN" altLang="en-US" dirty="0"/>
              <a:t>0.1505</a:t>
            </a:r>
          </a:p>
        </p:txBody>
      </p:sp>
      <p:sp>
        <p:nvSpPr>
          <p:cNvPr id="10" name="文本框 9">
            <a:extLst>
              <a:ext uri="{FF2B5EF4-FFF2-40B4-BE49-F238E27FC236}">
                <a16:creationId xmlns:a16="http://schemas.microsoft.com/office/drawing/2014/main" id="{7EB293B6-88E8-62A3-A44B-B17200E9FEE0}"/>
              </a:ext>
            </a:extLst>
          </p:cNvPr>
          <p:cNvSpPr txBox="1"/>
          <p:nvPr/>
        </p:nvSpPr>
        <p:spPr>
          <a:xfrm>
            <a:off x="3568207" y="4020407"/>
            <a:ext cx="2007586" cy="369332"/>
          </a:xfrm>
          <a:prstGeom prst="rect">
            <a:avLst/>
          </a:prstGeom>
          <a:noFill/>
        </p:spPr>
        <p:txBody>
          <a:bodyPr wrap="square">
            <a:spAutoFit/>
          </a:bodyPr>
          <a:lstStyle/>
          <a:p>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dirty="0">
                <a:latin typeface="Times New Roman" panose="02020603050405020304" pitchFamily="18" charset="0"/>
                <a:ea typeface="SimSun" panose="02010600030101010101" pitchFamily="2" charset="-122"/>
                <a:cs typeface="Times New Roman" panose="02020603050405020304" pitchFamily="18" charset="0"/>
              </a:rPr>
              <a:t>=0.15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=0.859 </a:t>
            </a:r>
            <a:endParaRPr lang="zh-CN" altLang="en-US" dirty="0"/>
          </a:p>
        </p:txBody>
      </p:sp>
    </p:spTree>
    <p:extLst>
      <p:ext uri="{BB962C8B-B14F-4D97-AF65-F5344CB8AC3E}">
        <p14:creationId xmlns:p14="http://schemas.microsoft.com/office/powerpoint/2010/main" val="1381773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非线性拟合：引例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19</a:t>
            </a:fld>
            <a:endParaRPr lang="zh-CN" altLang="en-US" dirty="0">
              <a:solidFill>
                <a:prstClr val="black">
                  <a:tint val="75000"/>
                </a:prstClr>
              </a:solidFill>
            </a:endParaRPr>
          </a:p>
        </p:txBody>
      </p:sp>
      <p:graphicFrame>
        <p:nvGraphicFramePr>
          <p:cNvPr id="4" name="Group 3">
            <a:extLst>
              <a:ext uri="{FF2B5EF4-FFF2-40B4-BE49-F238E27FC236}">
                <a16:creationId xmlns:a16="http://schemas.microsoft.com/office/drawing/2014/main" id="{03ACCB2A-345A-3002-7BDA-17F155046A80}"/>
              </a:ext>
            </a:extLst>
          </p:cNvPr>
          <p:cNvGraphicFramePr>
            <a:graphicFrameLocks noGrp="1"/>
          </p:cNvGraphicFramePr>
          <p:nvPr>
            <p:extLst>
              <p:ext uri="{D42A27DB-BD31-4B8C-83A1-F6EECF244321}">
                <p14:modId xmlns:p14="http://schemas.microsoft.com/office/powerpoint/2010/main" val="3765837076"/>
              </p:ext>
            </p:extLst>
          </p:nvPr>
        </p:nvGraphicFramePr>
        <p:xfrm>
          <a:off x="1043608" y="1629121"/>
          <a:ext cx="7470924" cy="807666"/>
        </p:xfrm>
        <a:graphic>
          <a:graphicData uri="http://schemas.openxmlformats.org/drawingml/2006/table">
            <a:tbl>
              <a:tblPr/>
              <a:tblGrid>
                <a:gridCol w="830844">
                  <a:extLst>
                    <a:ext uri="{9D8B030D-6E8A-4147-A177-3AD203B41FA5}">
                      <a16:colId xmlns:a16="http://schemas.microsoft.com/office/drawing/2014/main" val="1836273116"/>
                    </a:ext>
                  </a:extLst>
                </a:gridCol>
                <a:gridCol w="828176">
                  <a:extLst>
                    <a:ext uri="{9D8B030D-6E8A-4147-A177-3AD203B41FA5}">
                      <a16:colId xmlns:a16="http://schemas.microsoft.com/office/drawing/2014/main" val="3547282684"/>
                    </a:ext>
                  </a:extLst>
                </a:gridCol>
                <a:gridCol w="830844">
                  <a:extLst>
                    <a:ext uri="{9D8B030D-6E8A-4147-A177-3AD203B41FA5}">
                      <a16:colId xmlns:a16="http://schemas.microsoft.com/office/drawing/2014/main" val="894202719"/>
                    </a:ext>
                  </a:extLst>
                </a:gridCol>
                <a:gridCol w="830843">
                  <a:extLst>
                    <a:ext uri="{9D8B030D-6E8A-4147-A177-3AD203B41FA5}">
                      <a16:colId xmlns:a16="http://schemas.microsoft.com/office/drawing/2014/main" val="2825721146"/>
                    </a:ext>
                  </a:extLst>
                </a:gridCol>
                <a:gridCol w="829510">
                  <a:extLst>
                    <a:ext uri="{9D8B030D-6E8A-4147-A177-3AD203B41FA5}">
                      <a16:colId xmlns:a16="http://schemas.microsoft.com/office/drawing/2014/main" val="2638799126"/>
                    </a:ext>
                  </a:extLst>
                </a:gridCol>
                <a:gridCol w="830844">
                  <a:extLst>
                    <a:ext uri="{9D8B030D-6E8A-4147-A177-3AD203B41FA5}">
                      <a16:colId xmlns:a16="http://schemas.microsoft.com/office/drawing/2014/main" val="1745449151"/>
                    </a:ext>
                  </a:extLst>
                </a:gridCol>
                <a:gridCol w="830843">
                  <a:extLst>
                    <a:ext uri="{9D8B030D-6E8A-4147-A177-3AD203B41FA5}">
                      <a16:colId xmlns:a16="http://schemas.microsoft.com/office/drawing/2014/main" val="1804165231"/>
                    </a:ext>
                  </a:extLst>
                </a:gridCol>
                <a:gridCol w="828177">
                  <a:extLst>
                    <a:ext uri="{9D8B030D-6E8A-4147-A177-3AD203B41FA5}">
                      <a16:colId xmlns:a16="http://schemas.microsoft.com/office/drawing/2014/main" val="3358500724"/>
                    </a:ext>
                  </a:extLst>
                </a:gridCol>
                <a:gridCol w="830843">
                  <a:extLst>
                    <a:ext uri="{9D8B030D-6E8A-4147-A177-3AD203B41FA5}">
                      <a16:colId xmlns:a16="http://schemas.microsoft.com/office/drawing/2014/main" val="2272065591"/>
                    </a:ext>
                  </a:extLst>
                </a:gridCol>
              </a:tblGrid>
              <a:tr h="404274">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65868255"/>
                  </a:ext>
                </a:extLst>
              </a:tr>
              <a:tr h="403392">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8.80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9.22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9.86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23333009"/>
                  </a:ext>
                </a:extLst>
              </a:tr>
            </a:tbl>
          </a:graphicData>
        </a:graphic>
      </p:graphicFrame>
      <p:graphicFrame>
        <p:nvGraphicFramePr>
          <p:cNvPr id="6" name="Group 35">
            <a:extLst>
              <a:ext uri="{FF2B5EF4-FFF2-40B4-BE49-F238E27FC236}">
                <a16:creationId xmlns:a16="http://schemas.microsoft.com/office/drawing/2014/main" id="{E1EC80BF-A231-5EC8-F60B-826442F52952}"/>
              </a:ext>
            </a:extLst>
          </p:cNvPr>
          <p:cNvGraphicFramePr>
            <a:graphicFrameLocks noGrp="1"/>
          </p:cNvGraphicFramePr>
          <p:nvPr>
            <p:extLst>
              <p:ext uri="{D42A27DB-BD31-4B8C-83A1-F6EECF244321}">
                <p14:modId xmlns:p14="http://schemas.microsoft.com/office/powerpoint/2010/main" val="2921364946"/>
              </p:ext>
            </p:extLst>
          </p:nvPr>
        </p:nvGraphicFramePr>
        <p:xfrm>
          <a:off x="1043607" y="2718878"/>
          <a:ext cx="7470925" cy="858769"/>
        </p:xfrm>
        <a:graphic>
          <a:graphicData uri="http://schemas.openxmlformats.org/drawingml/2006/table">
            <a:tbl>
              <a:tblPr/>
              <a:tblGrid>
                <a:gridCol w="830844">
                  <a:extLst>
                    <a:ext uri="{9D8B030D-6E8A-4147-A177-3AD203B41FA5}">
                      <a16:colId xmlns:a16="http://schemas.microsoft.com/office/drawing/2014/main" val="60523905"/>
                    </a:ext>
                  </a:extLst>
                </a:gridCol>
                <a:gridCol w="828176">
                  <a:extLst>
                    <a:ext uri="{9D8B030D-6E8A-4147-A177-3AD203B41FA5}">
                      <a16:colId xmlns:a16="http://schemas.microsoft.com/office/drawing/2014/main" val="3564195542"/>
                    </a:ext>
                  </a:extLst>
                </a:gridCol>
                <a:gridCol w="830844">
                  <a:extLst>
                    <a:ext uri="{9D8B030D-6E8A-4147-A177-3AD203B41FA5}">
                      <a16:colId xmlns:a16="http://schemas.microsoft.com/office/drawing/2014/main" val="3408526479"/>
                    </a:ext>
                  </a:extLst>
                </a:gridCol>
                <a:gridCol w="830843">
                  <a:extLst>
                    <a:ext uri="{9D8B030D-6E8A-4147-A177-3AD203B41FA5}">
                      <a16:colId xmlns:a16="http://schemas.microsoft.com/office/drawing/2014/main" val="2627457367"/>
                    </a:ext>
                  </a:extLst>
                </a:gridCol>
                <a:gridCol w="829510">
                  <a:extLst>
                    <a:ext uri="{9D8B030D-6E8A-4147-A177-3AD203B41FA5}">
                      <a16:colId xmlns:a16="http://schemas.microsoft.com/office/drawing/2014/main" val="1791408800"/>
                    </a:ext>
                  </a:extLst>
                </a:gridCol>
                <a:gridCol w="830844">
                  <a:extLst>
                    <a:ext uri="{9D8B030D-6E8A-4147-A177-3AD203B41FA5}">
                      <a16:colId xmlns:a16="http://schemas.microsoft.com/office/drawing/2014/main" val="176722965"/>
                    </a:ext>
                  </a:extLst>
                </a:gridCol>
                <a:gridCol w="830843">
                  <a:extLst>
                    <a:ext uri="{9D8B030D-6E8A-4147-A177-3AD203B41FA5}">
                      <a16:colId xmlns:a16="http://schemas.microsoft.com/office/drawing/2014/main" val="1695082439"/>
                    </a:ext>
                  </a:extLst>
                </a:gridCol>
                <a:gridCol w="828178">
                  <a:extLst>
                    <a:ext uri="{9D8B030D-6E8A-4147-A177-3AD203B41FA5}">
                      <a16:colId xmlns:a16="http://schemas.microsoft.com/office/drawing/2014/main" val="1878743648"/>
                    </a:ext>
                  </a:extLst>
                </a:gridCol>
                <a:gridCol w="830843">
                  <a:extLst>
                    <a:ext uri="{9D8B030D-6E8A-4147-A177-3AD203B41FA5}">
                      <a16:colId xmlns:a16="http://schemas.microsoft.com/office/drawing/2014/main" val="2531094214"/>
                    </a:ext>
                  </a:extLst>
                </a:gridCol>
              </a:tblGrid>
              <a:tr h="356359">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51224004"/>
                  </a:ext>
                </a:extLst>
              </a:tr>
              <a:tr h="462529">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10.55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10.58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Impact" panose="020B0806030902050204" pitchFamily="34" charset="0"/>
                          <a:ea typeface="宋体" panose="02010600030101010101" pitchFamily="2" charset="-122"/>
                        </a:defRPr>
                      </a:lvl1pPr>
                      <a:lvl2pPr>
                        <a:spcBef>
                          <a:spcPct val="20000"/>
                        </a:spcBef>
                        <a:defRPr sz="2400">
                          <a:solidFill>
                            <a:schemeClr val="tx1"/>
                          </a:solidFill>
                          <a:latin typeface="Impact" panose="020B0806030902050204" pitchFamily="34" charset="0"/>
                          <a:ea typeface="宋体" panose="02010600030101010101" pitchFamily="2" charset="-122"/>
                        </a:defRPr>
                      </a:lvl2pPr>
                      <a:lvl3pPr>
                        <a:spcBef>
                          <a:spcPct val="20000"/>
                        </a:spcBef>
                        <a:defRPr sz="2000">
                          <a:solidFill>
                            <a:schemeClr val="tx1"/>
                          </a:solidFill>
                          <a:latin typeface="Impact" panose="020B0806030902050204" pitchFamily="34" charset="0"/>
                          <a:ea typeface="宋体" panose="02010600030101010101" pitchFamily="2" charset="-122"/>
                        </a:defRPr>
                      </a:lvl3pPr>
                      <a:lvl4pPr>
                        <a:spcBef>
                          <a:spcPct val="20000"/>
                        </a:spcBef>
                        <a:defRPr>
                          <a:solidFill>
                            <a:schemeClr val="tx1"/>
                          </a:solidFill>
                          <a:latin typeface="Impact" panose="020B0806030902050204" pitchFamily="34" charset="0"/>
                          <a:ea typeface="宋体" panose="02010600030101010101" pitchFamily="2" charset="-122"/>
                        </a:defRPr>
                      </a:lvl4pPr>
                      <a:lvl5pPr>
                        <a:spcBef>
                          <a:spcPct val="20000"/>
                        </a:spcBef>
                        <a:defRPr>
                          <a:solidFill>
                            <a:schemeClr val="tx1"/>
                          </a:solidFill>
                          <a:latin typeface="Impact" panose="020B0806030902050204" pitchFamily="34" charset="0"/>
                          <a:ea typeface="宋体" panose="02010600030101010101" pitchFamily="2" charset="-122"/>
                        </a:defRPr>
                      </a:lvl5pPr>
                      <a:lvl6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6pPr>
                      <a:lvl7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7pPr>
                      <a:lvl8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8pPr>
                      <a:lvl9pPr fontAlgn="base">
                        <a:spcBef>
                          <a:spcPct val="20000"/>
                        </a:spcBef>
                        <a:spcAft>
                          <a:spcPct val="0"/>
                        </a:spcAft>
                        <a:defRPr>
                          <a:solidFill>
                            <a:schemeClr val="tx1"/>
                          </a:solidFill>
                          <a:latin typeface="Impact" panose="020B080603090205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36985027"/>
                  </a:ext>
                </a:extLst>
              </a:tr>
            </a:tbl>
          </a:graphicData>
        </a:graphic>
      </p:graphicFrame>
      <p:sp>
        <p:nvSpPr>
          <p:cNvPr id="9" name="文本框 8">
            <a:extLst>
              <a:ext uri="{FF2B5EF4-FFF2-40B4-BE49-F238E27FC236}">
                <a16:creationId xmlns:a16="http://schemas.microsoft.com/office/drawing/2014/main" id="{12028EEC-1E3B-DB55-5FEB-0A36206D80FA}"/>
              </a:ext>
            </a:extLst>
          </p:cNvPr>
          <p:cNvSpPr txBox="1"/>
          <p:nvPr/>
        </p:nvSpPr>
        <p:spPr>
          <a:xfrm>
            <a:off x="899592" y="977699"/>
            <a:ext cx="7128792" cy="369332"/>
          </a:xfrm>
          <a:prstGeom prst="rect">
            <a:avLst/>
          </a:prstGeom>
          <a:noFill/>
        </p:spPr>
        <p:txBody>
          <a:bodyPr wrap="square">
            <a:spAutoFit/>
          </a:bodyPr>
          <a:lstStyle/>
          <a:p>
            <a:pPr>
              <a:spcBef>
                <a:spcPct val="50000"/>
              </a:spcBef>
            </a:pPr>
            <a:r>
              <a:rPr lang="zh-CN" altLang="en-US" sz="1800" dirty="0">
                <a:latin typeface="Times New Roman" panose="02020603050405020304" pitchFamily="18" charset="0"/>
                <a:cs typeface="Times New Roman" panose="02020603050405020304" pitchFamily="18" charset="0"/>
              </a:rPr>
              <a:t>某化学反应中，测得生物浓度</a:t>
            </a:r>
            <a:r>
              <a:rPr lang="en-US" altLang="zh-CN" sz="1800" dirty="0">
                <a:latin typeface="Times New Roman" panose="02020603050405020304" pitchFamily="18" charset="0"/>
                <a:cs typeface="Times New Roman" panose="02020603050405020304" pitchFamily="18" charset="0"/>
              </a:rPr>
              <a:t>y(%)</a:t>
            </a:r>
            <a:r>
              <a:rPr lang="zh-CN" altLang="en-US" sz="1800" dirty="0">
                <a:latin typeface="Times New Roman" panose="02020603050405020304" pitchFamily="18" charset="0"/>
                <a:cs typeface="Times New Roman" panose="02020603050405020304" pitchFamily="18" charset="0"/>
              </a:rPr>
              <a:t>与时间</a:t>
            </a:r>
            <a:r>
              <a:rPr lang="en-US" altLang="zh-CN" sz="1800" dirty="0">
                <a:latin typeface="Times New Roman" panose="02020603050405020304" pitchFamily="18" charset="0"/>
                <a:cs typeface="Times New Roman" panose="02020603050405020304" pitchFamily="18" charset="0"/>
              </a:rPr>
              <a:t>t(min)</a:t>
            </a:r>
            <a:r>
              <a:rPr lang="zh-CN" altLang="en-US" sz="1800" dirty="0">
                <a:latin typeface="Times New Roman" panose="02020603050405020304" pitchFamily="18" charset="0"/>
                <a:cs typeface="Times New Roman" panose="02020603050405020304" pitchFamily="18" charset="0"/>
              </a:rPr>
              <a:t>的数据如下：</a:t>
            </a:r>
            <a:endParaRPr lang="en-US" altLang="zh-CN" sz="18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D6ACE000-D393-3A75-6129-79570EB57431}"/>
              </a:ext>
            </a:extLst>
          </p:cNvPr>
          <p:cNvSpPr txBox="1"/>
          <p:nvPr/>
        </p:nvSpPr>
        <p:spPr>
          <a:xfrm>
            <a:off x="1040377" y="3808634"/>
            <a:ext cx="4572000" cy="369332"/>
          </a:xfrm>
          <a:prstGeom prst="rect">
            <a:avLst/>
          </a:prstGeom>
          <a:noFill/>
        </p:spPr>
        <p:txBody>
          <a:bodyPr wrap="square">
            <a:spAutoFit/>
          </a:bodyPr>
          <a:lstStyle/>
          <a:p>
            <a:pPr>
              <a:spcBef>
                <a:spcPct val="50000"/>
              </a:spcBef>
            </a:pPr>
            <a:r>
              <a:rPr lang="zh-CN" altLang="en-US" sz="1800" dirty="0">
                <a:latin typeface="Times New Roman" panose="02020603050405020304" pitchFamily="18" charset="0"/>
                <a:cs typeface="Times New Roman" panose="02020603050405020304" pitchFamily="18" charset="0"/>
              </a:rPr>
              <a:t>求</a:t>
            </a:r>
            <a:r>
              <a:rPr lang="en-US" altLang="zh-CN" sz="1800" dirty="0">
                <a:latin typeface="Times New Roman" panose="02020603050405020304" pitchFamily="18" charset="0"/>
                <a:cs typeface="Times New Roman" panose="02020603050405020304" pitchFamily="18" charset="0"/>
              </a:rPr>
              <a:t>y</a:t>
            </a:r>
            <a:r>
              <a:rPr lang="zh-CN" altLang="en-US" sz="1800" dirty="0">
                <a:latin typeface="Times New Roman" panose="02020603050405020304" pitchFamily="18" charset="0"/>
                <a:cs typeface="Times New Roman" panose="02020603050405020304" pitchFamily="18" charset="0"/>
              </a:rPr>
              <a:t>与</a:t>
            </a:r>
            <a:r>
              <a:rPr lang="en-US" altLang="zh-CN" sz="1800" dirty="0">
                <a:latin typeface="Times New Roman" panose="02020603050405020304" pitchFamily="18" charset="0"/>
                <a:cs typeface="Times New Roman" panose="02020603050405020304" pitchFamily="18" charset="0"/>
              </a:rPr>
              <a:t>t</a:t>
            </a:r>
            <a:r>
              <a:rPr lang="zh-CN" altLang="en-US" sz="1800" dirty="0">
                <a:latin typeface="Times New Roman" panose="02020603050405020304" pitchFamily="18" charset="0"/>
                <a:cs typeface="Times New Roman" panose="02020603050405020304" pitchFamily="18" charset="0"/>
              </a:rPr>
              <a:t>的近似函数关系。</a:t>
            </a:r>
          </a:p>
        </p:txBody>
      </p:sp>
    </p:spTree>
    <p:extLst>
      <p:ext uri="{BB962C8B-B14F-4D97-AF65-F5344CB8AC3E}">
        <p14:creationId xmlns:p14="http://schemas.microsoft.com/office/powerpoint/2010/main" val="1646306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非线性拟合：引例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20</a:t>
            </a:fld>
            <a:endParaRPr lang="zh-CN" altLang="en-US" dirty="0">
              <a:solidFill>
                <a:prstClr val="black">
                  <a:tint val="75000"/>
                </a:prstClr>
              </a:solidFill>
            </a:endParaRPr>
          </a:p>
        </p:txBody>
      </p:sp>
      <p:pic>
        <p:nvPicPr>
          <p:cNvPr id="7" name="图片 6">
            <a:extLst>
              <a:ext uri="{FF2B5EF4-FFF2-40B4-BE49-F238E27FC236}">
                <a16:creationId xmlns:a16="http://schemas.microsoft.com/office/drawing/2014/main" id="{58D4493F-629A-BA47-87B1-3D30FC980C1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1275606"/>
            <a:ext cx="3833789" cy="3073434"/>
          </a:xfrm>
          <a:prstGeom prst="rect">
            <a:avLst/>
          </a:prstGeom>
        </p:spPr>
      </p:pic>
      <p:pic>
        <p:nvPicPr>
          <p:cNvPr id="10" name="图片 9">
            <a:extLst>
              <a:ext uri="{FF2B5EF4-FFF2-40B4-BE49-F238E27FC236}">
                <a16:creationId xmlns:a16="http://schemas.microsoft.com/office/drawing/2014/main" id="{260690FD-319C-14F8-76E7-A5CC9D8C94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30371" y="1275606"/>
            <a:ext cx="3903425" cy="3073434"/>
          </a:xfrm>
          <a:prstGeom prst="rect">
            <a:avLst/>
          </a:prstGeom>
        </p:spPr>
      </p:pic>
      <p:pic>
        <p:nvPicPr>
          <p:cNvPr id="13" name="图片 12">
            <a:extLst>
              <a:ext uri="{FF2B5EF4-FFF2-40B4-BE49-F238E27FC236}">
                <a16:creationId xmlns:a16="http://schemas.microsoft.com/office/drawing/2014/main" id="{2A901A9B-861F-A94A-4263-1BE4155EE03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65188" y="1275606"/>
            <a:ext cx="3833789" cy="3089919"/>
          </a:xfrm>
          <a:prstGeom prst="rect">
            <a:avLst/>
          </a:prstGeom>
        </p:spPr>
      </p:pic>
      <p:pic>
        <p:nvPicPr>
          <p:cNvPr id="15" name="图片 14">
            <a:extLst>
              <a:ext uri="{FF2B5EF4-FFF2-40B4-BE49-F238E27FC236}">
                <a16:creationId xmlns:a16="http://schemas.microsoft.com/office/drawing/2014/main" id="{394AC52B-9480-9ECF-B418-F245E7F9615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065188" y="1273852"/>
            <a:ext cx="3833789" cy="3075188"/>
          </a:xfrm>
          <a:prstGeom prst="rect">
            <a:avLst/>
          </a:prstGeom>
        </p:spPr>
      </p:pic>
    </p:spTree>
    <p:extLst>
      <p:ext uri="{BB962C8B-B14F-4D97-AF65-F5344CB8AC3E}">
        <p14:creationId xmlns:p14="http://schemas.microsoft.com/office/powerpoint/2010/main" val="10635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非线性拟合：引例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21</a:t>
            </a:fld>
            <a:endParaRPr lang="zh-CN" altLang="en-US" dirty="0">
              <a:solidFill>
                <a:prstClr val="black">
                  <a:tint val="75000"/>
                </a:prstClr>
              </a:solidFill>
            </a:endParaRPr>
          </a:p>
        </p:txBody>
      </p:sp>
      <p:graphicFrame>
        <p:nvGraphicFramePr>
          <p:cNvPr id="4" name="Object 3">
            <a:extLst>
              <a:ext uri="{FF2B5EF4-FFF2-40B4-BE49-F238E27FC236}">
                <a16:creationId xmlns:a16="http://schemas.microsoft.com/office/drawing/2014/main" id="{B201E55B-E4B0-F596-57CE-799ED1C29B72}"/>
              </a:ext>
            </a:extLst>
          </p:cNvPr>
          <p:cNvGraphicFramePr>
            <a:graphicFrameLocks noChangeAspect="1"/>
          </p:cNvGraphicFramePr>
          <p:nvPr>
            <p:extLst>
              <p:ext uri="{D42A27DB-BD31-4B8C-83A1-F6EECF244321}">
                <p14:modId xmlns:p14="http://schemas.microsoft.com/office/powerpoint/2010/main" val="3372852828"/>
              </p:ext>
            </p:extLst>
          </p:nvPr>
        </p:nvGraphicFramePr>
        <p:xfrm>
          <a:off x="1379227" y="1009849"/>
          <a:ext cx="864372" cy="576248"/>
        </p:xfrm>
        <a:graphic>
          <a:graphicData uri="http://schemas.openxmlformats.org/presentationml/2006/ole">
            <mc:AlternateContent xmlns:mc="http://schemas.openxmlformats.org/markup-compatibility/2006">
              <mc:Choice xmlns:v="urn:schemas-microsoft-com:vml" Requires="v">
                <p:oleObj name="公式" r:id="rId3" imgW="11404600" imgH="7607300" progId="Equation.3">
                  <p:embed/>
                </p:oleObj>
              </mc:Choice>
              <mc:Fallback>
                <p:oleObj name="公式" r:id="rId3" imgW="11404600" imgH="7607300" progId="Equation.3">
                  <p:embed/>
                  <p:pic>
                    <p:nvPicPr>
                      <p:cNvPr id="134147" name="Object 3">
                        <a:extLst>
                          <a:ext uri="{FF2B5EF4-FFF2-40B4-BE49-F238E27FC236}">
                            <a16:creationId xmlns:a16="http://schemas.microsoft.com/office/drawing/2014/main" id="{EE1E0B26-E3E5-2629-3980-D52C08A765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9227" y="1009849"/>
                        <a:ext cx="864372" cy="576248"/>
                      </a:xfrm>
                      <a:prstGeom prst="rect">
                        <a:avLst/>
                      </a:prstGeom>
                      <a:noFill/>
                      <a:ln>
                        <a:noFill/>
                      </a:ln>
                      <a:effectLst/>
                    </p:spPr>
                  </p:pic>
                </p:oleObj>
              </mc:Fallback>
            </mc:AlternateContent>
          </a:graphicData>
        </a:graphic>
      </p:graphicFrame>
      <p:sp>
        <p:nvSpPr>
          <p:cNvPr id="6" name="文本框 5">
            <a:extLst>
              <a:ext uri="{FF2B5EF4-FFF2-40B4-BE49-F238E27FC236}">
                <a16:creationId xmlns:a16="http://schemas.microsoft.com/office/drawing/2014/main" id="{7A3591BB-FFA1-87E0-45A9-349EDD55AF39}"/>
              </a:ext>
            </a:extLst>
          </p:cNvPr>
          <p:cNvSpPr txBox="1"/>
          <p:nvPr/>
        </p:nvSpPr>
        <p:spPr>
          <a:xfrm>
            <a:off x="395536" y="1793762"/>
            <a:ext cx="7471744" cy="369332"/>
          </a:xfrm>
          <a:prstGeom prst="rect">
            <a:avLst/>
          </a:prstGeom>
          <a:noFill/>
        </p:spPr>
        <p:txBody>
          <a:bodyPr wrap="square">
            <a:spAutoFit/>
          </a:bodyPr>
          <a:lstStyle/>
          <a:p>
            <a:r>
              <a:rPr lang="zh-CN" altLang="en-US" dirty="0">
                <a:latin typeface="Times New Roman" panose="02020603050405020304" pitchFamily="18" charset="0"/>
                <a:ea typeface="SimSun" panose="02010600030101010101" pitchFamily="2" charset="-122"/>
                <a:cs typeface="Times New Roman" panose="02020603050405020304" pitchFamily="18" charset="0"/>
              </a:rPr>
              <a:t>或者</a:t>
            </a:r>
            <a:r>
              <a:rPr lang="en-US" altLang="zh-CN" dirty="0">
                <a:latin typeface="Times New Roman" panose="02020603050405020304" pitchFamily="18" charset="0"/>
                <a:ea typeface="SimSun" panose="02010600030101010101" pitchFamily="2" charset="-122"/>
                <a:cs typeface="Times New Roman" panose="02020603050405020304" pitchFamily="18" charset="0"/>
              </a:rPr>
              <a:t>z=</a:t>
            </a:r>
            <a:r>
              <a:rPr lang="en-US" altLang="zh-CN" dirty="0" err="1">
                <a:latin typeface="Times New Roman" panose="02020603050405020304" pitchFamily="18" charset="0"/>
                <a:ea typeface="SimSun" panose="02010600030101010101" pitchFamily="2" charset="-122"/>
                <a:cs typeface="Times New Roman" panose="02020603050405020304" pitchFamily="18" charset="0"/>
              </a:rPr>
              <a:t>lny</a:t>
            </a:r>
            <a:r>
              <a:rPr lang="en-US" altLang="zh-CN" dirty="0">
                <a:latin typeface="Times New Roman" panose="02020603050405020304" pitchFamily="18" charset="0"/>
                <a:ea typeface="SimSun" panose="02010600030101010101" pitchFamily="2" charset="-122"/>
                <a:cs typeface="Times New Roman" panose="02020603050405020304" pitchFamily="18" charset="0"/>
              </a:rPr>
              <a:t> ≈ ln</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dirty="0">
                <a:latin typeface="Times New Roman" panose="02020603050405020304" pitchFamily="18" charset="0"/>
                <a:ea typeface="SimSun" panose="02010600030101010101" pitchFamily="2" charset="-122"/>
                <a:cs typeface="Times New Roman" panose="02020603050405020304" pitchFamily="18" charset="0"/>
              </a:rPr>
              <a:t>+bt</a:t>
            </a:r>
            <a:r>
              <a:rPr lang="en-US" altLang="zh-CN" baseline="30000" dirty="0">
                <a:latin typeface="Times New Roman" panose="02020603050405020304" pitchFamily="18" charset="0"/>
                <a:ea typeface="SimSun" panose="02010600030101010101" pitchFamily="2" charset="-122"/>
                <a:cs typeface="Times New Roman" panose="02020603050405020304" pitchFamily="18" charset="0"/>
              </a:rPr>
              <a:t>-1</a:t>
            </a:r>
            <a:r>
              <a:rPr lang="zh-CN" altLang="en-US" dirty="0">
                <a:latin typeface="Times New Roman" panose="02020603050405020304" pitchFamily="18" charset="0"/>
                <a:ea typeface="SimSun" panose="02010600030101010101" pitchFamily="2" charset="-122"/>
                <a:cs typeface="Times New Roman" panose="02020603050405020304" pitchFamily="18" charset="0"/>
              </a:rPr>
              <a:t>，即</a:t>
            </a:r>
            <a:r>
              <a:rPr lang="en-US" altLang="zh-CN" dirty="0">
                <a:latin typeface="Times New Roman" panose="02020603050405020304" pitchFamily="18" charset="0"/>
                <a:ea typeface="SimSun" panose="02010600030101010101" pitchFamily="2" charset="-122"/>
                <a:cs typeface="Times New Roman" panose="02020603050405020304" pitchFamily="18" charset="0"/>
              </a:rPr>
              <a:t>z =c</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dirty="0">
                <a:latin typeface="Times New Roman" panose="02020603050405020304" pitchFamily="18" charset="0"/>
                <a:ea typeface="SimSun" panose="02010600030101010101" pitchFamily="2" charset="-122"/>
                <a:cs typeface="Times New Roman" panose="02020603050405020304" pitchFamily="18" charset="0"/>
              </a:rPr>
              <a:t>+c</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t</a:t>
            </a:r>
            <a:r>
              <a:rPr lang="en-US" altLang="zh-CN" baseline="30000" dirty="0">
                <a:latin typeface="Times New Roman" panose="02020603050405020304" pitchFamily="18" charset="0"/>
                <a:ea typeface="SimSun" panose="02010600030101010101" pitchFamily="2" charset="-122"/>
                <a:cs typeface="Times New Roman" panose="02020603050405020304" pitchFamily="18" charset="0"/>
              </a:rPr>
              <a:t>-1</a:t>
            </a:r>
            <a:r>
              <a:rPr lang="zh-CN" altLang="en-US" dirty="0">
                <a:latin typeface="Times New Roman" panose="02020603050405020304" pitchFamily="18" charset="0"/>
                <a:ea typeface="SimSun" panose="02010600030101010101" pitchFamily="2" charset="-122"/>
                <a:cs typeface="Times New Roman" panose="02020603050405020304" pitchFamily="18" charset="0"/>
              </a:rPr>
              <a:t>，其中</a:t>
            </a:r>
            <a:r>
              <a:rPr lang="en-US" altLang="zh-CN" dirty="0">
                <a:latin typeface="Times New Roman" panose="02020603050405020304" pitchFamily="18" charset="0"/>
                <a:ea typeface="SimSun" panose="02010600030101010101" pitchFamily="2" charset="-122"/>
                <a:cs typeface="Times New Roman" panose="02020603050405020304" pitchFamily="18" charset="0"/>
              </a:rPr>
              <a:t>c</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en-US" altLang="zh-CN" dirty="0" err="1">
                <a:latin typeface="Times New Roman" panose="02020603050405020304" pitchFamily="18" charset="0"/>
                <a:ea typeface="SimSun" panose="02010600030101010101" pitchFamily="2" charset="-122"/>
                <a:cs typeface="Times New Roman" panose="02020603050405020304" pitchFamily="18" charset="0"/>
              </a:rPr>
              <a:t>ln</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a</a:t>
            </a:r>
            <a:r>
              <a:rPr lang="zh-CN" altLang="en-US" dirty="0">
                <a:latin typeface="Times New Roman" panose="02020603050405020304" pitchFamily="18" charset="0"/>
                <a:ea typeface="SimSun" panose="02010600030101010101" pitchFamily="2" charset="-122"/>
                <a:cs typeface="Times New Roman" panose="02020603050405020304" pitchFamily="18" charset="0"/>
              </a:rPr>
              <a:t>，</a:t>
            </a:r>
            <a:r>
              <a:rPr lang="en-US" altLang="zh-CN" dirty="0">
                <a:latin typeface="Times New Roman" panose="02020603050405020304" pitchFamily="18" charset="0"/>
                <a:ea typeface="SimSun" panose="02010600030101010101" pitchFamily="2" charset="-122"/>
                <a:cs typeface="Times New Roman" panose="02020603050405020304" pitchFamily="18" charset="0"/>
              </a:rPr>
              <a:t>c</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=b</a:t>
            </a: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graphicFrame>
        <p:nvGraphicFramePr>
          <p:cNvPr id="11" name="Object 10">
            <a:extLst>
              <a:ext uri="{FF2B5EF4-FFF2-40B4-BE49-F238E27FC236}">
                <a16:creationId xmlns:a16="http://schemas.microsoft.com/office/drawing/2014/main" id="{8B3E91AA-F275-7BEE-0BFF-4124677670EC}"/>
              </a:ext>
            </a:extLst>
          </p:cNvPr>
          <p:cNvGraphicFramePr>
            <a:graphicFrameLocks noChangeAspect="1"/>
          </p:cNvGraphicFramePr>
          <p:nvPr>
            <p:extLst>
              <p:ext uri="{D42A27DB-BD31-4B8C-83A1-F6EECF244321}">
                <p14:modId xmlns:p14="http://schemas.microsoft.com/office/powerpoint/2010/main" val="1865976584"/>
              </p:ext>
            </p:extLst>
          </p:nvPr>
        </p:nvGraphicFramePr>
        <p:xfrm>
          <a:off x="2193149" y="2383341"/>
          <a:ext cx="4757700" cy="843993"/>
        </p:xfrm>
        <a:graphic>
          <a:graphicData uri="http://schemas.openxmlformats.org/presentationml/2006/ole">
            <mc:AlternateContent xmlns:mc="http://schemas.openxmlformats.org/markup-compatibility/2006">
              <mc:Choice xmlns:v="urn:schemas-microsoft-com:vml" Requires="v">
                <p:oleObj name="公式" r:id="rId5" imgW="69342000" imgH="12293600" progId="Equation.3">
                  <p:embed/>
                </p:oleObj>
              </mc:Choice>
              <mc:Fallback>
                <p:oleObj name="公式" r:id="rId5" imgW="69342000" imgH="12293600" progId="Equation.3">
                  <p:embed/>
                  <p:pic>
                    <p:nvPicPr>
                      <p:cNvPr id="134154" name="Object 10">
                        <a:extLst>
                          <a:ext uri="{FF2B5EF4-FFF2-40B4-BE49-F238E27FC236}">
                            <a16:creationId xmlns:a16="http://schemas.microsoft.com/office/drawing/2014/main" id="{7C1137C1-1B9F-90CC-873F-492491CFCE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3149" y="2383341"/>
                        <a:ext cx="4757700" cy="843993"/>
                      </a:xfrm>
                      <a:prstGeom prst="rect">
                        <a:avLst/>
                      </a:prstGeom>
                      <a:noFill/>
                      <a:ln>
                        <a:noFill/>
                      </a:ln>
                      <a:effectLst/>
                    </p:spPr>
                  </p:pic>
                </p:oleObj>
              </mc:Fallback>
            </mc:AlternateContent>
          </a:graphicData>
        </a:graphic>
      </p:graphicFrame>
      <p:sp>
        <p:nvSpPr>
          <p:cNvPr id="14" name="文本框 13">
            <a:extLst>
              <a:ext uri="{FF2B5EF4-FFF2-40B4-BE49-F238E27FC236}">
                <a16:creationId xmlns:a16="http://schemas.microsoft.com/office/drawing/2014/main" id="{44F5FDE1-F5A6-7848-1202-1E4411E9C5E5}"/>
              </a:ext>
            </a:extLst>
          </p:cNvPr>
          <p:cNvSpPr txBox="1"/>
          <p:nvPr/>
        </p:nvSpPr>
        <p:spPr>
          <a:xfrm>
            <a:off x="484632" y="3460141"/>
            <a:ext cx="8202168" cy="369332"/>
          </a:xfrm>
          <a:prstGeom prst="rect">
            <a:avLst/>
          </a:prstGeom>
          <a:noFill/>
        </p:spPr>
        <p:txBody>
          <a:bodyPr wrap="square">
            <a:spAutoFit/>
          </a:bodyPr>
          <a:lstStyle/>
          <a:p>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求得</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c</a:t>
            </a:r>
            <a:r>
              <a:rPr lang="en-US" altLang="zh-CN" sz="1800" baseline="-25000" dirty="0">
                <a:latin typeface="Times New Roman" panose="02020603050405020304" pitchFamily="18" charset="0"/>
                <a:ea typeface="SimSun" panose="02010600030101010101" pitchFamily="2" charset="-122"/>
                <a:cs typeface="Times New Roman" panose="02020603050405020304" pitchFamily="18" charset="0"/>
              </a:rPr>
              <a:t>0</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=2.427033135</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c</a:t>
            </a:r>
            <a:r>
              <a:rPr lang="en-US" altLang="zh-CN" sz="1800"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 -1.056683779</a:t>
            </a: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graphicFrame>
        <p:nvGraphicFramePr>
          <p:cNvPr id="15" name="Object 6">
            <a:extLst>
              <a:ext uri="{FF2B5EF4-FFF2-40B4-BE49-F238E27FC236}">
                <a16:creationId xmlns:a16="http://schemas.microsoft.com/office/drawing/2014/main" id="{01601474-12AD-86AF-9FF9-07759A3B86C9}"/>
              </a:ext>
            </a:extLst>
          </p:cNvPr>
          <p:cNvGraphicFramePr>
            <a:graphicFrameLocks noChangeAspect="1"/>
          </p:cNvGraphicFramePr>
          <p:nvPr>
            <p:extLst>
              <p:ext uri="{D42A27DB-BD31-4B8C-83A1-F6EECF244321}">
                <p14:modId xmlns:p14="http://schemas.microsoft.com/office/powerpoint/2010/main" val="3072936162"/>
              </p:ext>
            </p:extLst>
          </p:nvPr>
        </p:nvGraphicFramePr>
        <p:xfrm>
          <a:off x="2770804" y="4083573"/>
          <a:ext cx="3602391" cy="536091"/>
        </p:xfrm>
        <a:graphic>
          <a:graphicData uri="http://schemas.openxmlformats.org/presentationml/2006/ole">
            <mc:AlternateContent xmlns:mc="http://schemas.openxmlformats.org/markup-compatibility/2006">
              <mc:Choice xmlns:v="urn:schemas-microsoft-com:vml" Requires="v">
                <p:oleObj name="公式" r:id="rId7" imgW="39204900" imgH="5854700" progId="Equation.3">
                  <p:embed/>
                </p:oleObj>
              </mc:Choice>
              <mc:Fallback>
                <p:oleObj name="公式" r:id="rId7" imgW="39204900" imgH="5854700" progId="Equation.3">
                  <p:embed/>
                  <p:pic>
                    <p:nvPicPr>
                      <p:cNvPr id="135174" name="Object 6">
                        <a:extLst>
                          <a:ext uri="{FF2B5EF4-FFF2-40B4-BE49-F238E27FC236}">
                            <a16:creationId xmlns:a16="http://schemas.microsoft.com/office/drawing/2014/main" id="{262DF80A-A600-A4B3-A148-E6D0B941C3E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0804" y="4083573"/>
                        <a:ext cx="3602391" cy="536091"/>
                      </a:xfrm>
                      <a:prstGeom prst="rect">
                        <a:avLst/>
                      </a:prstGeom>
                      <a:noFill/>
                      <a:ln>
                        <a:noFill/>
                      </a:ln>
                      <a:effectLst/>
                    </p:spPr>
                  </p:pic>
                </p:oleObj>
              </mc:Fallback>
            </mc:AlternateContent>
          </a:graphicData>
        </a:graphic>
      </p:graphicFrame>
      <p:sp>
        <p:nvSpPr>
          <p:cNvPr id="17" name="文本框 16">
            <a:extLst>
              <a:ext uri="{FF2B5EF4-FFF2-40B4-BE49-F238E27FC236}">
                <a16:creationId xmlns:a16="http://schemas.microsoft.com/office/drawing/2014/main" id="{9C55699F-D1B0-833A-580F-F2271668EDA7}"/>
              </a:ext>
            </a:extLst>
          </p:cNvPr>
          <p:cNvSpPr txBox="1"/>
          <p:nvPr/>
        </p:nvSpPr>
        <p:spPr>
          <a:xfrm>
            <a:off x="352802" y="1204183"/>
            <a:ext cx="7099518" cy="369332"/>
          </a:xfrm>
          <a:prstGeom prst="rect">
            <a:avLst/>
          </a:prstGeom>
          <a:noFill/>
        </p:spPr>
        <p:txBody>
          <a:bodyPr wrap="square">
            <a:spAutoFit/>
          </a:bodyPr>
          <a:lstStyle/>
          <a:p>
            <a:r>
              <a:rPr lang="zh-CN" altLang="en-US" dirty="0"/>
              <a:t>鉴于曲线                   有类似特点，所以可设想：</a:t>
            </a:r>
          </a:p>
        </p:txBody>
      </p:sp>
      <p:graphicFrame>
        <p:nvGraphicFramePr>
          <p:cNvPr id="18" name="Object 4">
            <a:extLst>
              <a:ext uri="{FF2B5EF4-FFF2-40B4-BE49-F238E27FC236}">
                <a16:creationId xmlns:a16="http://schemas.microsoft.com/office/drawing/2014/main" id="{DF6C73E8-BA34-2098-1DE3-AC300C9F46B0}"/>
              </a:ext>
            </a:extLst>
          </p:cNvPr>
          <p:cNvGraphicFramePr>
            <a:graphicFrameLocks noChangeAspect="1"/>
          </p:cNvGraphicFramePr>
          <p:nvPr>
            <p:extLst>
              <p:ext uri="{D42A27DB-BD31-4B8C-83A1-F6EECF244321}">
                <p14:modId xmlns:p14="http://schemas.microsoft.com/office/powerpoint/2010/main" val="2071439015"/>
              </p:ext>
            </p:extLst>
          </p:nvPr>
        </p:nvGraphicFramePr>
        <p:xfrm>
          <a:off x="5076056" y="963942"/>
          <a:ext cx="914360" cy="609573"/>
        </p:xfrm>
        <a:graphic>
          <a:graphicData uri="http://schemas.openxmlformats.org/presentationml/2006/ole">
            <mc:AlternateContent xmlns:mc="http://schemas.openxmlformats.org/markup-compatibility/2006">
              <mc:Choice xmlns:v="urn:schemas-microsoft-com:vml" Requires="v">
                <p:oleObj name="公式" r:id="rId9" imgW="11404600" imgH="7607300" progId="Equation.3">
                  <p:embed/>
                </p:oleObj>
              </mc:Choice>
              <mc:Fallback>
                <p:oleObj name="公式" r:id="rId9" imgW="11404600" imgH="7607300" progId="Equation.3">
                  <p:embed/>
                  <p:pic>
                    <p:nvPicPr>
                      <p:cNvPr id="134148" name="Object 4">
                        <a:extLst>
                          <a:ext uri="{FF2B5EF4-FFF2-40B4-BE49-F238E27FC236}">
                            <a16:creationId xmlns:a16="http://schemas.microsoft.com/office/drawing/2014/main" id="{50442610-6C71-2CBE-36FB-DA998D6EB89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76056" y="963942"/>
                        <a:ext cx="914360" cy="609573"/>
                      </a:xfrm>
                      <a:prstGeom prst="rect">
                        <a:avLst/>
                      </a:prstGeom>
                      <a:noFill/>
                      <a:ln w="9525">
                        <a:noFill/>
                        <a:miter lim="800000"/>
                        <a:headEnd/>
                        <a:tailEnd/>
                      </a:ln>
                      <a:effectLst/>
                    </p:spPr>
                  </p:pic>
                </p:oleObj>
              </mc:Fallback>
            </mc:AlternateContent>
          </a:graphicData>
        </a:graphic>
      </p:graphicFrame>
    </p:spTree>
    <p:extLst>
      <p:ext uri="{BB962C8B-B14F-4D97-AF65-F5344CB8AC3E}">
        <p14:creationId xmlns:p14="http://schemas.microsoft.com/office/powerpoint/2010/main" val="1163900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非线性拟合：引例</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22</a:t>
            </a:fld>
            <a:endParaRPr lang="zh-CN" altLang="en-US" dirty="0">
              <a:solidFill>
                <a:prstClr val="black">
                  <a:tint val="75000"/>
                </a:prstClr>
              </a:solidFill>
            </a:endParaRPr>
          </a:p>
        </p:txBody>
      </p:sp>
      <p:graphicFrame>
        <p:nvGraphicFramePr>
          <p:cNvPr id="15" name="Object 6">
            <a:extLst>
              <a:ext uri="{FF2B5EF4-FFF2-40B4-BE49-F238E27FC236}">
                <a16:creationId xmlns:a16="http://schemas.microsoft.com/office/drawing/2014/main" id="{01601474-12AD-86AF-9FF9-07759A3B86C9}"/>
              </a:ext>
            </a:extLst>
          </p:cNvPr>
          <p:cNvGraphicFramePr>
            <a:graphicFrameLocks noChangeAspect="1"/>
          </p:cNvGraphicFramePr>
          <p:nvPr>
            <p:extLst>
              <p:ext uri="{D42A27DB-BD31-4B8C-83A1-F6EECF244321}">
                <p14:modId xmlns:p14="http://schemas.microsoft.com/office/powerpoint/2010/main" val="1091526586"/>
              </p:ext>
            </p:extLst>
          </p:nvPr>
        </p:nvGraphicFramePr>
        <p:xfrm>
          <a:off x="2770804" y="4231173"/>
          <a:ext cx="3602391" cy="536091"/>
        </p:xfrm>
        <a:graphic>
          <a:graphicData uri="http://schemas.openxmlformats.org/presentationml/2006/ole">
            <mc:AlternateContent xmlns:mc="http://schemas.openxmlformats.org/markup-compatibility/2006">
              <mc:Choice xmlns:v="urn:schemas-microsoft-com:vml" Requires="v">
                <p:oleObj name="公式" r:id="rId3" imgW="39204900" imgH="5854700" progId="Equation.3">
                  <p:embed/>
                </p:oleObj>
              </mc:Choice>
              <mc:Fallback>
                <p:oleObj name="公式" r:id="rId3" imgW="39204900" imgH="5854700" progId="Equation.3">
                  <p:embed/>
                  <p:pic>
                    <p:nvPicPr>
                      <p:cNvPr id="15" name="Object 6">
                        <a:extLst>
                          <a:ext uri="{FF2B5EF4-FFF2-40B4-BE49-F238E27FC236}">
                            <a16:creationId xmlns:a16="http://schemas.microsoft.com/office/drawing/2014/main" id="{01601474-12AD-86AF-9FF9-07759A3B86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0804" y="4231173"/>
                        <a:ext cx="3602391" cy="536091"/>
                      </a:xfrm>
                      <a:prstGeom prst="rect">
                        <a:avLst/>
                      </a:prstGeom>
                      <a:noFill/>
                      <a:ln>
                        <a:noFill/>
                      </a:ln>
                      <a:effectLst/>
                    </p:spPr>
                  </p:pic>
                </p:oleObj>
              </mc:Fallback>
            </mc:AlternateContent>
          </a:graphicData>
        </a:graphic>
      </p:graphicFrame>
      <p:pic>
        <p:nvPicPr>
          <p:cNvPr id="7" name="图片 6">
            <a:extLst>
              <a:ext uri="{FF2B5EF4-FFF2-40B4-BE49-F238E27FC236}">
                <a16:creationId xmlns:a16="http://schemas.microsoft.com/office/drawing/2014/main" id="{089B8B2B-ABC8-845D-4133-92DAD4DFDFC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01897" y="1057089"/>
            <a:ext cx="3740203" cy="3029322"/>
          </a:xfrm>
          <a:prstGeom prst="rect">
            <a:avLst/>
          </a:prstGeom>
        </p:spPr>
      </p:pic>
    </p:spTree>
    <p:extLst>
      <p:ext uri="{BB962C8B-B14F-4D97-AF65-F5344CB8AC3E}">
        <p14:creationId xmlns:p14="http://schemas.microsoft.com/office/powerpoint/2010/main" val="244374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5"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vertic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常用的非线性曲线</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：双曲线</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23</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61F83212-2011-62B9-DEC1-4230B3CD73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95936" y="1491630"/>
            <a:ext cx="3890054" cy="3003798"/>
          </a:xfrm>
          <a:prstGeom prst="rect">
            <a:avLst/>
          </a:prstGeom>
        </p:spPr>
      </p:pic>
      <p:pic>
        <p:nvPicPr>
          <p:cNvPr id="8" name="图片 7">
            <a:extLst>
              <a:ext uri="{FF2B5EF4-FFF2-40B4-BE49-F238E27FC236}">
                <a16:creationId xmlns:a16="http://schemas.microsoft.com/office/drawing/2014/main" id="{6FE87E10-0773-6D1F-1179-4AAC33082A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8010" y="2427734"/>
            <a:ext cx="1346200" cy="825500"/>
          </a:xfrm>
          <a:prstGeom prst="rect">
            <a:avLst/>
          </a:prstGeom>
        </p:spPr>
      </p:pic>
      <p:pic>
        <p:nvPicPr>
          <p:cNvPr id="10" name="图片 9">
            <a:extLst>
              <a:ext uri="{FF2B5EF4-FFF2-40B4-BE49-F238E27FC236}">
                <a16:creationId xmlns:a16="http://schemas.microsoft.com/office/drawing/2014/main" id="{0B9C8456-D65F-0D01-4C0E-D379AAFDBF0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24128" y="4479581"/>
            <a:ext cx="658177" cy="506290"/>
          </a:xfrm>
          <a:prstGeom prst="rect">
            <a:avLst/>
          </a:prstGeom>
        </p:spPr>
      </p:pic>
    </p:spTree>
    <p:extLst>
      <p:ext uri="{BB962C8B-B14F-4D97-AF65-F5344CB8AC3E}">
        <p14:creationId xmlns:p14="http://schemas.microsoft.com/office/powerpoint/2010/main" val="41664876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常用的非线性曲线</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：幂函数曲线</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24</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61F83212-2011-62B9-DEC1-4230B3CD73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045628" y="1491630"/>
            <a:ext cx="3790669" cy="3003798"/>
          </a:xfrm>
          <a:prstGeom prst="rect">
            <a:avLst/>
          </a:prstGeom>
        </p:spPr>
      </p:pic>
      <p:pic>
        <p:nvPicPr>
          <p:cNvPr id="8" name="图片 7">
            <a:extLst>
              <a:ext uri="{FF2B5EF4-FFF2-40B4-BE49-F238E27FC236}">
                <a16:creationId xmlns:a16="http://schemas.microsoft.com/office/drawing/2014/main" id="{6FE87E10-0773-6D1F-1179-4AAC33082A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27584" y="2715766"/>
            <a:ext cx="2442130" cy="424267"/>
          </a:xfrm>
          <a:prstGeom prst="rect">
            <a:avLst/>
          </a:prstGeom>
        </p:spPr>
      </p:pic>
      <p:pic>
        <p:nvPicPr>
          <p:cNvPr id="10" name="图片 9">
            <a:extLst>
              <a:ext uri="{FF2B5EF4-FFF2-40B4-BE49-F238E27FC236}">
                <a16:creationId xmlns:a16="http://schemas.microsoft.com/office/drawing/2014/main" id="{0B9C8456-D65F-0D01-4C0E-D379AAFDBF0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724128" y="4503050"/>
            <a:ext cx="658177" cy="459352"/>
          </a:xfrm>
          <a:prstGeom prst="rect">
            <a:avLst/>
          </a:prstGeom>
        </p:spPr>
      </p:pic>
    </p:spTree>
    <p:extLst>
      <p:ext uri="{BB962C8B-B14F-4D97-AF65-F5344CB8AC3E}">
        <p14:creationId xmlns:p14="http://schemas.microsoft.com/office/powerpoint/2010/main" val="3631375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常用的非线性曲线</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3</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：指数曲线</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25</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61F83212-2011-62B9-DEC1-4230B3CD73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045628" y="1512273"/>
            <a:ext cx="3790669" cy="2962512"/>
          </a:xfrm>
          <a:prstGeom prst="rect">
            <a:avLst/>
          </a:prstGeom>
        </p:spPr>
      </p:pic>
      <p:pic>
        <p:nvPicPr>
          <p:cNvPr id="8" name="图片 7">
            <a:extLst>
              <a:ext uri="{FF2B5EF4-FFF2-40B4-BE49-F238E27FC236}">
                <a16:creationId xmlns:a16="http://schemas.microsoft.com/office/drawing/2014/main" id="{6FE87E10-0773-6D1F-1179-4AAC33082A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68697" y="2715766"/>
            <a:ext cx="2159904" cy="424267"/>
          </a:xfrm>
          <a:prstGeom prst="rect">
            <a:avLst/>
          </a:prstGeom>
        </p:spPr>
      </p:pic>
      <p:pic>
        <p:nvPicPr>
          <p:cNvPr id="10" name="图片 9">
            <a:extLst>
              <a:ext uri="{FF2B5EF4-FFF2-40B4-BE49-F238E27FC236}">
                <a16:creationId xmlns:a16="http://schemas.microsoft.com/office/drawing/2014/main" id="{0B9C8456-D65F-0D01-4C0E-D379AAFDBF0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724128" y="4524303"/>
            <a:ext cx="658177" cy="416845"/>
          </a:xfrm>
          <a:prstGeom prst="rect">
            <a:avLst/>
          </a:prstGeom>
        </p:spPr>
      </p:pic>
    </p:spTree>
    <p:extLst>
      <p:ext uri="{BB962C8B-B14F-4D97-AF65-F5344CB8AC3E}">
        <p14:creationId xmlns:p14="http://schemas.microsoft.com/office/powerpoint/2010/main" val="889429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常用的非线性曲线</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4</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：倒指数曲线</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26</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61F83212-2011-62B9-DEC1-4230B3CD73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045628" y="1540659"/>
            <a:ext cx="3790669" cy="2905739"/>
          </a:xfrm>
          <a:prstGeom prst="rect">
            <a:avLst/>
          </a:prstGeom>
        </p:spPr>
      </p:pic>
      <p:pic>
        <p:nvPicPr>
          <p:cNvPr id="8" name="图片 7">
            <a:extLst>
              <a:ext uri="{FF2B5EF4-FFF2-40B4-BE49-F238E27FC236}">
                <a16:creationId xmlns:a16="http://schemas.microsoft.com/office/drawing/2014/main" id="{6FE87E10-0773-6D1F-1179-4AAC33082A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187624" y="2074961"/>
            <a:ext cx="2057052" cy="424267"/>
          </a:xfrm>
          <a:prstGeom prst="rect">
            <a:avLst/>
          </a:prstGeom>
        </p:spPr>
      </p:pic>
      <p:sp>
        <p:nvSpPr>
          <p:cNvPr id="4" name="文本框 3">
            <a:extLst>
              <a:ext uri="{FF2B5EF4-FFF2-40B4-BE49-F238E27FC236}">
                <a16:creationId xmlns:a16="http://schemas.microsoft.com/office/drawing/2014/main" id="{FA268A37-6CF3-2376-5A2B-BE58FB4AA735}"/>
              </a:ext>
            </a:extLst>
          </p:cNvPr>
          <p:cNvSpPr txBox="1"/>
          <p:nvPr/>
        </p:nvSpPr>
        <p:spPr>
          <a:xfrm>
            <a:off x="5676879" y="4446398"/>
            <a:ext cx="795411" cy="646331"/>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a=1</a:t>
            </a:r>
          </a:p>
          <a:p>
            <a:r>
              <a:rPr kumimoji="1" lang="en-US" altLang="zh-CN" dirty="0">
                <a:latin typeface="Times New Roman" panose="02020603050405020304" pitchFamily="18" charset="0"/>
                <a:cs typeface="Times New Roman" panose="02020603050405020304" pitchFamily="18" charset="0"/>
              </a:rPr>
              <a:t>b=-0.1</a:t>
            </a:r>
            <a:endParaRPr kumimoji="1" lang="zh-CN" alt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864A183A-2266-C9DA-ECF5-A582871891B4}"/>
              </a:ext>
            </a:extLst>
          </p:cNvPr>
          <p:cNvSpPr txBox="1"/>
          <p:nvPr/>
        </p:nvSpPr>
        <p:spPr>
          <a:xfrm>
            <a:off x="107504" y="2993528"/>
            <a:ext cx="4572000" cy="955070"/>
          </a:xfrm>
          <a:prstGeom prst="rect">
            <a:avLst/>
          </a:prstGeom>
          <a:noFill/>
        </p:spPr>
        <p:txBody>
          <a:bodyPr wrap="square">
            <a:spAutoFit/>
          </a:bodyPr>
          <a:lstStyle/>
          <a:p>
            <a:pPr eaLnBrk="0" hangingPunct="0">
              <a:lnSpc>
                <a:spcPct val="120000"/>
              </a:lnSpc>
            </a:pPr>
            <a:r>
              <a:rPr kumimoji="1" lang="zh-CN" altLang="en-US" sz="1600" dirty="0"/>
              <a:t>线性化方法</a:t>
            </a:r>
            <a:endParaRPr kumimoji="1" lang="en-US" altLang="zh-CN" sz="1600" dirty="0"/>
          </a:p>
          <a:p>
            <a:pPr marL="285750" indent="-285750" eaLnBrk="0" hangingPunct="0">
              <a:lnSpc>
                <a:spcPct val="120000"/>
              </a:lnSpc>
              <a:buFont typeface="Arial" panose="020B0604020202020204" pitchFamily="34" charset="0"/>
              <a:buChar char="•"/>
            </a:pPr>
            <a:r>
              <a:rPr kumimoji="1" lang="zh-CN" altLang="en-US" sz="1600" dirty="0">
                <a:latin typeface="Times New Roman" panose="02020603050405020304" pitchFamily="18" charset="0"/>
                <a:cs typeface="Times New Roman" panose="02020603050405020304" pitchFamily="18" charset="0"/>
              </a:rPr>
              <a:t>两端取对数得：</a:t>
            </a:r>
            <a:r>
              <a:rPr kumimoji="1" lang="en-US" altLang="zh-CN" sz="1600" dirty="0" err="1">
                <a:latin typeface="Times New Roman" panose="02020603050405020304" pitchFamily="18" charset="0"/>
                <a:cs typeface="Times New Roman" panose="02020603050405020304" pitchFamily="18" charset="0"/>
              </a:rPr>
              <a:t>ln</a:t>
            </a:r>
            <a:r>
              <a:rPr kumimoji="1" lang="en-US" altLang="zh-CN" sz="1600" i="1" dirty="0" err="1">
                <a:latin typeface="Times New Roman" panose="02020603050405020304" pitchFamily="18" charset="0"/>
                <a:cs typeface="Times New Roman" panose="02020603050405020304" pitchFamily="18" charset="0"/>
              </a:rPr>
              <a:t>y</a:t>
            </a:r>
            <a:r>
              <a:rPr kumimoji="1" lang="en-US" altLang="zh-CN" sz="1600" i="1" dirty="0">
                <a:latin typeface="Times New Roman" panose="02020603050405020304" pitchFamily="18" charset="0"/>
                <a:cs typeface="Times New Roman" panose="02020603050405020304" pitchFamily="18" charset="0"/>
              </a:rPr>
              <a:t> </a:t>
            </a:r>
            <a:r>
              <a:rPr kumimoji="1" lang="en-US" altLang="zh-CN" sz="1600" dirty="0">
                <a:latin typeface="Times New Roman" panose="02020603050405020304" pitchFamily="18" charset="0"/>
                <a:cs typeface="Times New Roman" panose="02020603050405020304" pitchFamily="18" charset="0"/>
              </a:rPr>
              <a:t>= </a:t>
            </a:r>
            <a:r>
              <a:rPr kumimoji="1" lang="en-US" altLang="zh-CN" sz="1600" dirty="0" err="1">
                <a:latin typeface="Times New Roman" panose="02020603050405020304" pitchFamily="18" charset="0"/>
                <a:cs typeface="Times New Roman" panose="02020603050405020304" pitchFamily="18" charset="0"/>
              </a:rPr>
              <a:t>ln</a:t>
            </a:r>
            <a:r>
              <a:rPr kumimoji="1" lang="en-US" altLang="zh-CN" sz="1600" i="1" dirty="0" err="1">
                <a:latin typeface="Times New Roman" panose="02020603050405020304" pitchFamily="18" charset="0"/>
                <a:cs typeface="Times New Roman" panose="02020603050405020304" pitchFamily="18" charset="0"/>
                <a:sym typeface="Symbol" pitchFamily="2" charset="2"/>
              </a:rPr>
              <a:t>a</a:t>
            </a:r>
            <a:r>
              <a:rPr kumimoji="1" lang="en-US" altLang="zh-CN" sz="1600" dirty="0">
                <a:latin typeface="Times New Roman" panose="02020603050405020304" pitchFamily="18" charset="0"/>
                <a:cs typeface="Times New Roman" panose="02020603050405020304" pitchFamily="18" charset="0"/>
                <a:sym typeface="Symbol" pitchFamily="2" charset="2"/>
              </a:rPr>
              <a:t> + </a:t>
            </a:r>
            <a:r>
              <a:rPr kumimoji="1" lang="en-US" altLang="zh-CN" sz="1600" i="1" dirty="0">
                <a:latin typeface="Times New Roman" panose="02020603050405020304" pitchFamily="18" charset="0"/>
                <a:cs typeface="Times New Roman" panose="02020603050405020304" pitchFamily="18" charset="0"/>
                <a:sym typeface="Symbol" pitchFamily="2" charset="2"/>
              </a:rPr>
              <a:t>b / x</a:t>
            </a:r>
          </a:p>
          <a:p>
            <a:pPr marL="285750" indent="-285750" eaLnBrk="0" hangingPunct="0">
              <a:lnSpc>
                <a:spcPct val="120000"/>
              </a:lnSpc>
              <a:buFont typeface="Arial" panose="020B0604020202020204" pitchFamily="34" charset="0"/>
              <a:buChar char="•"/>
            </a:pPr>
            <a:r>
              <a:rPr kumimoji="1" lang="zh-CN" altLang="en-US" sz="1600" dirty="0">
                <a:latin typeface="Times New Roman" panose="02020603050405020304" pitchFamily="18" charset="0"/>
                <a:cs typeface="Times New Roman" panose="02020603050405020304" pitchFamily="18" charset="0"/>
                <a:sym typeface="Symbol" pitchFamily="2" charset="2"/>
              </a:rPr>
              <a:t>令：</a:t>
            </a:r>
            <a:r>
              <a:rPr kumimoji="1" lang="en-US" altLang="zh-CN" sz="1600" i="1" dirty="0">
                <a:latin typeface="Times New Roman" panose="02020603050405020304" pitchFamily="18" charset="0"/>
                <a:cs typeface="Times New Roman" panose="02020603050405020304" pitchFamily="18" charset="0"/>
                <a:sym typeface="Symbol" pitchFamily="2" charset="2"/>
              </a:rPr>
              <a:t>y</a:t>
            </a:r>
            <a:r>
              <a:rPr kumimoji="1" lang="en-US" altLang="zh-CN" sz="1600" i="1" dirty="0">
                <a:latin typeface="Times New Roman" panose="02020603050405020304" pitchFamily="18" charset="0"/>
                <a:ea typeface="楷体_GB2312" pitchFamily="49" charset="-122"/>
                <a:cs typeface="Times New Roman" panose="02020603050405020304" pitchFamily="18" charset="0"/>
                <a:sym typeface="Symbol" pitchFamily="2" charset="2"/>
              </a:rPr>
              <a:t>'</a:t>
            </a:r>
            <a:r>
              <a:rPr kumimoji="1" lang="en-US" altLang="zh-CN" sz="1600" i="1" dirty="0">
                <a:latin typeface="Times New Roman" panose="02020603050405020304" pitchFamily="18" charset="0"/>
                <a:cs typeface="Times New Roman" panose="02020603050405020304" pitchFamily="18" charset="0"/>
                <a:sym typeface="Symbol" pitchFamily="2" charset="2"/>
              </a:rPr>
              <a:t> </a:t>
            </a:r>
            <a:r>
              <a:rPr kumimoji="1" lang="en-US" altLang="zh-CN" sz="1600" dirty="0">
                <a:latin typeface="Times New Roman" panose="02020603050405020304" pitchFamily="18" charset="0"/>
                <a:cs typeface="Times New Roman" panose="02020603050405020304" pitchFamily="18" charset="0"/>
                <a:sym typeface="Symbol" pitchFamily="2" charset="2"/>
              </a:rPr>
              <a:t>= </a:t>
            </a:r>
            <a:r>
              <a:rPr kumimoji="1" lang="en-US" altLang="zh-CN" sz="1600" dirty="0" err="1">
                <a:latin typeface="Times New Roman" panose="02020603050405020304" pitchFamily="18" charset="0"/>
                <a:cs typeface="Times New Roman" panose="02020603050405020304" pitchFamily="18" charset="0"/>
                <a:sym typeface="Symbol" pitchFamily="2" charset="2"/>
              </a:rPr>
              <a:t>ln</a:t>
            </a:r>
            <a:r>
              <a:rPr kumimoji="1" lang="en-US" altLang="zh-CN" sz="1600" i="1" dirty="0" err="1">
                <a:latin typeface="Times New Roman" panose="02020603050405020304" pitchFamily="18" charset="0"/>
                <a:cs typeface="Times New Roman" panose="02020603050405020304" pitchFamily="18" charset="0"/>
                <a:sym typeface="Symbol" pitchFamily="2" charset="2"/>
              </a:rPr>
              <a:t>y</a:t>
            </a:r>
            <a:r>
              <a:rPr kumimoji="1" lang="zh-CN" altLang="en-US" sz="1600" dirty="0">
                <a:latin typeface="Times New Roman" panose="02020603050405020304" pitchFamily="18" charset="0"/>
                <a:cs typeface="Times New Roman" panose="02020603050405020304" pitchFamily="18" charset="0"/>
                <a:sym typeface="Symbol" pitchFamily="2" charset="2"/>
              </a:rPr>
              <a:t>， </a:t>
            </a:r>
            <a:r>
              <a:rPr kumimoji="1" lang="en-US" altLang="zh-CN" sz="1600" i="1" dirty="0">
                <a:latin typeface="Times New Roman" panose="02020603050405020304" pitchFamily="18" charset="0"/>
                <a:cs typeface="Times New Roman" panose="02020603050405020304" pitchFamily="18" charset="0"/>
                <a:sym typeface="Symbol" pitchFamily="2" charset="2"/>
              </a:rPr>
              <a:t>x</a:t>
            </a:r>
            <a:r>
              <a:rPr kumimoji="1" lang="en-US" altLang="zh-CN" sz="1600" i="1" dirty="0">
                <a:latin typeface="Times New Roman" panose="02020603050405020304" pitchFamily="18" charset="0"/>
                <a:ea typeface="楷体_GB2312" pitchFamily="49" charset="-122"/>
                <a:cs typeface="Times New Roman" panose="02020603050405020304" pitchFamily="18" charset="0"/>
                <a:sym typeface="Symbol" pitchFamily="2" charset="2"/>
              </a:rPr>
              <a:t>'</a:t>
            </a:r>
            <a:r>
              <a:rPr kumimoji="1" lang="en-US" altLang="zh-CN" sz="1600" dirty="0">
                <a:latin typeface="Times New Roman" panose="02020603050405020304" pitchFamily="18" charset="0"/>
                <a:ea typeface="楷体_GB2312" pitchFamily="49" charset="-122"/>
                <a:cs typeface="Times New Roman" panose="02020603050405020304" pitchFamily="18" charset="0"/>
                <a:sym typeface="Symbol" pitchFamily="2" charset="2"/>
              </a:rPr>
              <a:t> </a:t>
            </a:r>
            <a:r>
              <a:rPr kumimoji="1" lang="en-US" altLang="zh-CN" sz="1600" dirty="0">
                <a:latin typeface="Times New Roman" panose="02020603050405020304" pitchFamily="18" charset="0"/>
                <a:cs typeface="Times New Roman" panose="02020603050405020304" pitchFamily="18" charset="0"/>
                <a:sym typeface="Symbol" pitchFamily="2" charset="2"/>
              </a:rPr>
              <a:t>= 1/</a:t>
            </a:r>
            <a:r>
              <a:rPr kumimoji="1" lang="en-US" altLang="zh-CN" sz="1600" i="1" dirty="0">
                <a:latin typeface="Times New Roman" panose="02020603050405020304" pitchFamily="18" charset="0"/>
                <a:cs typeface="Times New Roman" panose="02020603050405020304" pitchFamily="18" charset="0"/>
                <a:sym typeface="Symbol" pitchFamily="2" charset="2"/>
              </a:rPr>
              <a:t>x</a:t>
            </a:r>
            <a:r>
              <a:rPr kumimoji="1" lang="zh-CN" altLang="en-US" sz="1600" dirty="0">
                <a:latin typeface="Times New Roman" panose="02020603050405020304" pitchFamily="18" charset="0"/>
                <a:cs typeface="Times New Roman" panose="02020603050405020304" pitchFamily="18" charset="0"/>
                <a:sym typeface="Symbol" pitchFamily="2" charset="2"/>
              </a:rPr>
              <a:t>，则有</a:t>
            </a:r>
            <a:r>
              <a:rPr kumimoji="1" lang="en-US" altLang="zh-CN" sz="1600" i="1" dirty="0">
                <a:latin typeface="Times New Roman" panose="02020603050405020304" pitchFamily="18" charset="0"/>
                <a:cs typeface="Times New Roman" panose="02020603050405020304" pitchFamily="18" charset="0"/>
                <a:sym typeface="Symbol" pitchFamily="2" charset="2"/>
              </a:rPr>
              <a:t>y</a:t>
            </a:r>
            <a:r>
              <a:rPr kumimoji="1" lang="en-US" altLang="zh-CN" sz="1600" i="1" baseline="30000" dirty="0">
                <a:latin typeface="Times New Roman" panose="02020603050405020304" pitchFamily="18" charset="0"/>
                <a:cs typeface="Times New Roman" panose="02020603050405020304" pitchFamily="18" charset="0"/>
                <a:sym typeface="Symbol" pitchFamily="2" charset="2"/>
              </a:rPr>
              <a:t>'</a:t>
            </a:r>
            <a:r>
              <a:rPr kumimoji="1" lang="en-US" altLang="zh-CN" sz="1600" i="1" dirty="0">
                <a:latin typeface="Times New Roman" panose="02020603050405020304" pitchFamily="18" charset="0"/>
                <a:cs typeface="Times New Roman" panose="02020603050405020304" pitchFamily="18" charset="0"/>
                <a:sym typeface="Symbol" pitchFamily="2" charset="2"/>
              </a:rPr>
              <a:t> </a:t>
            </a:r>
            <a:r>
              <a:rPr kumimoji="1" lang="en-US" altLang="zh-CN" sz="1600" dirty="0">
                <a:latin typeface="Times New Roman" panose="02020603050405020304" pitchFamily="18" charset="0"/>
                <a:cs typeface="Times New Roman" panose="02020603050405020304" pitchFamily="18" charset="0"/>
                <a:sym typeface="Symbol" pitchFamily="2" charset="2"/>
              </a:rPr>
              <a:t>= </a:t>
            </a:r>
            <a:r>
              <a:rPr kumimoji="1" lang="en-US" altLang="zh-CN" sz="1600" dirty="0" err="1">
                <a:latin typeface="Times New Roman" panose="02020603050405020304" pitchFamily="18" charset="0"/>
                <a:cs typeface="Times New Roman" panose="02020603050405020304" pitchFamily="18" charset="0"/>
              </a:rPr>
              <a:t>ln</a:t>
            </a:r>
            <a:r>
              <a:rPr kumimoji="1" lang="en-US" altLang="zh-CN" sz="1600" i="1" dirty="0" err="1">
                <a:latin typeface="Times New Roman" panose="02020603050405020304" pitchFamily="18" charset="0"/>
                <a:cs typeface="Times New Roman" panose="02020603050405020304" pitchFamily="18" charset="0"/>
                <a:sym typeface="Symbol" pitchFamily="2" charset="2"/>
              </a:rPr>
              <a:t>a</a:t>
            </a:r>
            <a:r>
              <a:rPr kumimoji="1" lang="en-US" altLang="zh-CN" sz="1600" dirty="0">
                <a:latin typeface="Times New Roman" panose="02020603050405020304" pitchFamily="18" charset="0"/>
                <a:cs typeface="Times New Roman" panose="02020603050405020304" pitchFamily="18" charset="0"/>
                <a:sym typeface="Symbol" pitchFamily="2" charset="2"/>
              </a:rPr>
              <a:t> + </a:t>
            </a:r>
            <a:r>
              <a:rPr kumimoji="1" lang="en-US" altLang="zh-CN" sz="1600" i="1" dirty="0">
                <a:latin typeface="Times New Roman" panose="02020603050405020304" pitchFamily="18" charset="0"/>
                <a:cs typeface="Times New Roman" panose="02020603050405020304" pitchFamily="18" charset="0"/>
                <a:sym typeface="Symbol" pitchFamily="2" charset="2"/>
              </a:rPr>
              <a:t>bx</a:t>
            </a:r>
            <a:r>
              <a:rPr kumimoji="1" lang="en-US" altLang="zh-CN" sz="1600" i="1" dirty="0">
                <a:latin typeface="Times New Roman" panose="02020603050405020304" pitchFamily="18" charset="0"/>
                <a:ea typeface="楷体_GB2312" pitchFamily="49" charset="-122"/>
                <a:cs typeface="Times New Roman" panose="02020603050405020304" pitchFamily="18" charset="0"/>
                <a:sym typeface="Symbol" pitchFamily="2" charset="2"/>
              </a:rPr>
              <a:t>'</a:t>
            </a:r>
          </a:p>
        </p:txBody>
      </p:sp>
    </p:spTree>
    <p:extLst>
      <p:ext uri="{BB962C8B-B14F-4D97-AF65-F5344CB8AC3E}">
        <p14:creationId xmlns:p14="http://schemas.microsoft.com/office/powerpoint/2010/main" val="1984347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常用的非线性曲线</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：对数曲线</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27</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61F83212-2011-62B9-DEC1-4230B3CD73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073461" y="1540659"/>
            <a:ext cx="3735002" cy="2905739"/>
          </a:xfrm>
          <a:prstGeom prst="rect">
            <a:avLst/>
          </a:prstGeom>
        </p:spPr>
      </p:pic>
      <p:pic>
        <p:nvPicPr>
          <p:cNvPr id="8" name="图片 7">
            <a:extLst>
              <a:ext uri="{FF2B5EF4-FFF2-40B4-BE49-F238E27FC236}">
                <a16:creationId xmlns:a16="http://schemas.microsoft.com/office/drawing/2014/main" id="{6FE87E10-0773-6D1F-1179-4AAC33082A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20123" y="2779505"/>
            <a:ext cx="2057052" cy="296788"/>
          </a:xfrm>
          <a:prstGeom prst="rect">
            <a:avLst/>
          </a:prstGeom>
        </p:spPr>
      </p:pic>
      <p:sp>
        <p:nvSpPr>
          <p:cNvPr id="4" name="文本框 3">
            <a:extLst>
              <a:ext uri="{FF2B5EF4-FFF2-40B4-BE49-F238E27FC236}">
                <a16:creationId xmlns:a16="http://schemas.microsoft.com/office/drawing/2014/main" id="{FA268A37-6CF3-2376-5A2B-BE58FB4AA735}"/>
              </a:ext>
            </a:extLst>
          </p:cNvPr>
          <p:cNvSpPr txBox="1"/>
          <p:nvPr/>
        </p:nvSpPr>
        <p:spPr>
          <a:xfrm>
            <a:off x="5676879" y="4446398"/>
            <a:ext cx="545342" cy="646331"/>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a=1</a:t>
            </a:r>
          </a:p>
          <a:p>
            <a:r>
              <a:rPr kumimoji="1" lang="en-US" altLang="zh-CN" dirty="0">
                <a:latin typeface="Times New Roman" panose="02020603050405020304" pitchFamily="18" charset="0"/>
                <a:cs typeface="Times New Roman" panose="02020603050405020304" pitchFamily="18" charset="0"/>
              </a:rPr>
              <a:t>b=2</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54052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常用的非线性曲线</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6</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型曲线</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28</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61F83212-2011-62B9-DEC1-4230B3CD73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01311" y="1540659"/>
            <a:ext cx="3679302" cy="2905739"/>
          </a:xfrm>
          <a:prstGeom prst="rect">
            <a:avLst/>
          </a:prstGeom>
        </p:spPr>
      </p:pic>
      <p:pic>
        <p:nvPicPr>
          <p:cNvPr id="8" name="图片 7">
            <a:extLst>
              <a:ext uri="{FF2B5EF4-FFF2-40B4-BE49-F238E27FC236}">
                <a16:creationId xmlns:a16="http://schemas.microsoft.com/office/drawing/2014/main" id="{6FE87E10-0773-6D1F-1179-4AAC33082A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312272" y="2592878"/>
            <a:ext cx="1263700" cy="576248"/>
          </a:xfrm>
          <a:prstGeom prst="rect">
            <a:avLst/>
          </a:prstGeom>
        </p:spPr>
      </p:pic>
      <p:sp>
        <p:nvSpPr>
          <p:cNvPr id="4" name="文本框 3">
            <a:extLst>
              <a:ext uri="{FF2B5EF4-FFF2-40B4-BE49-F238E27FC236}">
                <a16:creationId xmlns:a16="http://schemas.microsoft.com/office/drawing/2014/main" id="{FA268A37-6CF3-2376-5A2B-BE58FB4AA735}"/>
              </a:ext>
            </a:extLst>
          </p:cNvPr>
          <p:cNvSpPr txBox="1"/>
          <p:nvPr/>
        </p:nvSpPr>
        <p:spPr>
          <a:xfrm>
            <a:off x="5676879" y="4446398"/>
            <a:ext cx="545342" cy="646331"/>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a=1</a:t>
            </a:r>
          </a:p>
          <a:p>
            <a:r>
              <a:rPr kumimoji="1" lang="en-US" altLang="zh-CN" dirty="0">
                <a:latin typeface="Times New Roman" panose="02020603050405020304" pitchFamily="18" charset="0"/>
                <a:cs typeface="Times New Roman" panose="02020603050405020304" pitchFamily="18" charset="0"/>
              </a:rPr>
              <a:t>b=2</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4242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常用的非线性曲线</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7</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：多项式曲线</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29</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61F83212-2011-62B9-DEC1-4230B3CD733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01311" y="1571250"/>
            <a:ext cx="3679302" cy="2844556"/>
          </a:xfrm>
          <a:prstGeom prst="rect">
            <a:avLst/>
          </a:prstGeom>
        </p:spPr>
      </p:pic>
      <p:pic>
        <p:nvPicPr>
          <p:cNvPr id="8" name="图片 7">
            <a:extLst>
              <a:ext uri="{FF2B5EF4-FFF2-40B4-BE49-F238E27FC236}">
                <a16:creationId xmlns:a16="http://schemas.microsoft.com/office/drawing/2014/main" id="{6FE87E10-0773-6D1F-1179-4AAC33082AA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99592" y="2669710"/>
            <a:ext cx="2645420" cy="445141"/>
          </a:xfrm>
          <a:prstGeom prst="rect">
            <a:avLst/>
          </a:prstGeom>
        </p:spPr>
      </p:pic>
    </p:spTree>
    <p:extLst>
      <p:ext uri="{BB962C8B-B14F-4D97-AF65-F5344CB8AC3E}">
        <p14:creationId xmlns:p14="http://schemas.microsoft.com/office/powerpoint/2010/main" val="2141475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：噪声水平建模</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30</a:t>
            </a:fld>
            <a:endParaRPr lang="zh-CN" altLang="en-US" dirty="0">
              <a:solidFill>
                <a:prstClr val="black">
                  <a:tint val="75000"/>
                </a:prstClr>
              </a:solidFill>
            </a:endParaRPr>
          </a:p>
        </p:txBody>
      </p:sp>
      <p:pic>
        <p:nvPicPr>
          <p:cNvPr id="18434" name="Picture 2" descr="Panasonic LUMIX FZ80 noise test scene">
            <a:extLst>
              <a:ext uri="{FF2B5EF4-FFF2-40B4-BE49-F238E27FC236}">
                <a16:creationId xmlns:a16="http://schemas.microsoft.com/office/drawing/2014/main" id="{EB32EE86-6CD1-F5DC-2671-B84DD856FE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0" y="1118228"/>
            <a:ext cx="4953000" cy="330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1742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：噪声水平建模</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31</a:t>
            </a:fld>
            <a:endParaRPr lang="zh-CN" altLang="en-US" dirty="0">
              <a:solidFill>
                <a:prstClr val="black">
                  <a:tint val="75000"/>
                </a:prstClr>
              </a:solidFill>
            </a:endParaRPr>
          </a:p>
        </p:txBody>
      </p:sp>
      <p:pic>
        <p:nvPicPr>
          <p:cNvPr id="6" name="图片 5">
            <a:extLst>
              <a:ext uri="{FF2B5EF4-FFF2-40B4-BE49-F238E27FC236}">
                <a16:creationId xmlns:a16="http://schemas.microsoft.com/office/drawing/2014/main" id="{9EDCDB8A-CB23-D59F-16E4-52B6A94AEF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3469" y="1492878"/>
            <a:ext cx="3975100" cy="2552700"/>
          </a:xfrm>
          <a:prstGeom prst="rect">
            <a:avLst/>
          </a:prstGeom>
        </p:spPr>
      </p:pic>
      <p:sp>
        <p:nvSpPr>
          <p:cNvPr id="4" name="文本框 3">
            <a:extLst>
              <a:ext uri="{FF2B5EF4-FFF2-40B4-BE49-F238E27FC236}">
                <a16:creationId xmlns:a16="http://schemas.microsoft.com/office/drawing/2014/main" id="{599049C0-5E8A-CE2C-50CE-97FA7F7645E2}"/>
              </a:ext>
            </a:extLst>
          </p:cNvPr>
          <p:cNvSpPr txBox="1"/>
          <p:nvPr/>
        </p:nvSpPr>
        <p:spPr>
          <a:xfrm>
            <a:off x="5835715" y="2380882"/>
            <a:ext cx="1713931"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logy</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a</a:t>
            </a:r>
            <a:r>
              <a:rPr kumimoji="1" lang="zh-CN" altLang="en-US" dirty="0">
                <a:latin typeface="Times New Roman" panose="02020603050405020304" pitchFamily="18" charset="0"/>
                <a:cs typeface="Times New Roman" panose="02020603050405020304" pitchFamily="18" charset="0"/>
              </a:rPr>
              <a:t>*</a:t>
            </a:r>
            <a:r>
              <a:rPr kumimoji="1" lang="en-US" altLang="zh-CN" dirty="0" err="1">
                <a:latin typeface="Times New Roman" panose="02020603050405020304" pitchFamily="18" charset="0"/>
                <a:cs typeface="Times New Roman" panose="02020603050405020304" pitchFamily="18" charset="0"/>
              </a:rPr>
              <a:t>logx+b</a:t>
            </a:r>
            <a:endParaRPr kumimoji="1" lang="zh-CN" altLang="en-US"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BA6C3B6F-A205-88F0-4639-264EB2A07B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4831" y="3075806"/>
            <a:ext cx="3695700" cy="863600"/>
          </a:xfrm>
          <a:prstGeom prst="rect">
            <a:avLst/>
          </a:prstGeom>
        </p:spPr>
      </p:pic>
    </p:spTree>
    <p:extLst>
      <p:ext uri="{BB962C8B-B14F-4D97-AF65-F5344CB8AC3E}">
        <p14:creationId xmlns:p14="http://schemas.microsoft.com/office/powerpoint/2010/main" val="3562222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：噪声水平建模</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32</a:t>
            </a:fld>
            <a:endParaRPr lang="zh-CN" altLang="en-US" dirty="0">
              <a:solidFill>
                <a:prstClr val="black">
                  <a:tint val="75000"/>
                </a:prstClr>
              </a:solidFill>
            </a:endParaRPr>
          </a:p>
        </p:txBody>
      </p:sp>
      <p:pic>
        <p:nvPicPr>
          <p:cNvPr id="8" name="图片 7">
            <a:extLst>
              <a:ext uri="{FF2B5EF4-FFF2-40B4-BE49-F238E27FC236}">
                <a16:creationId xmlns:a16="http://schemas.microsoft.com/office/drawing/2014/main" id="{18F6B0CF-B03B-65FB-DB8F-435293BD30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583" y="987574"/>
            <a:ext cx="4124955" cy="1296144"/>
          </a:xfrm>
          <a:prstGeom prst="rect">
            <a:avLst/>
          </a:prstGeom>
        </p:spPr>
      </p:pic>
      <p:pic>
        <p:nvPicPr>
          <p:cNvPr id="11" name="图片 10">
            <a:extLst>
              <a:ext uri="{FF2B5EF4-FFF2-40B4-BE49-F238E27FC236}">
                <a16:creationId xmlns:a16="http://schemas.microsoft.com/office/drawing/2014/main" id="{4E546AB5-A7E3-3CFC-0ACC-F0E8E76600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9338" y="2357755"/>
            <a:ext cx="7772400" cy="2590800"/>
          </a:xfrm>
          <a:prstGeom prst="rect">
            <a:avLst/>
          </a:prstGeom>
        </p:spPr>
      </p:pic>
      <p:pic>
        <p:nvPicPr>
          <p:cNvPr id="13" name="图片 12">
            <a:extLst>
              <a:ext uri="{FF2B5EF4-FFF2-40B4-BE49-F238E27FC236}">
                <a16:creationId xmlns:a16="http://schemas.microsoft.com/office/drawing/2014/main" id="{A9F782E9-EF66-8A80-1BED-25343763A3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1122" y="1061554"/>
            <a:ext cx="3502236" cy="1296201"/>
          </a:xfrm>
          <a:prstGeom prst="rect">
            <a:avLst/>
          </a:prstGeom>
        </p:spPr>
      </p:pic>
    </p:spTree>
    <p:extLst>
      <p:ext uri="{BB962C8B-B14F-4D97-AF65-F5344CB8AC3E}">
        <p14:creationId xmlns:p14="http://schemas.microsoft.com/office/powerpoint/2010/main" val="34537181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：白平衡矫正</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33</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9A10C98A-7AE3-2B13-DA19-1714D67070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203598"/>
            <a:ext cx="7772400" cy="3316471"/>
          </a:xfrm>
          <a:prstGeom prst="rect">
            <a:avLst/>
          </a:prstGeom>
        </p:spPr>
      </p:pic>
    </p:spTree>
    <p:extLst>
      <p:ext uri="{BB962C8B-B14F-4D97-AF65-F5344CB8AC3E}">
        <p14:creationId xmlns:p14="http://schemas.microsoft.com/office/powerpoint/2010/main" val="2959931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：白平衡矫正</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34</a:t>
            </a:fld>
            <a:endParaRPr lang="zh-CN" altLang="en-US" dirty="0">
              <a:solidFill>
                <a:prstClr val="black">
                  <a:tint val="75000"/>
                </a:prstClr>
              </a:solidFill>
            </a:endParaRPr>
          </a:p>
        </p:txBody>
      </p:sp>
      <p:pic>
        <p:nvPicPr>
          <p:cNvPr id="6" name="图片 5">
            <a:extLst>
              <a:ext uri="{FF2B5EF4-FFF2-40B4-BE49-F238E27FC236}">
                <a16:creationId xmlns:a16="http://schemas.microsoft.com/office/drawing/2014/main" id="{26875BFD-E5FE-C0AF-E3FD-D223B930F4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2736" y="932527"/>
            <a:ext cx="6838528" cy="3844142"/>
          </a:xfrm>
          <a:prstGeom prst="rect">
            <a:avLst/>
          </a:prstGeom>
        </p:spPr>
      </p:pic>
    </p:spTree>
    <p:extLst>
      <p:ext uri="{BB962C8B-B14F-4D97-AF65-F5344CB8AC3E}">
        <p14:creationId xmlns:p14="http://schemas.microsoft.com/office/powerpoint/2010/main" val="1473328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：白平衡矫正</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35</a:t>
            </a:fld>
            <a:endParaRPr lang="zh-CN" altLang="en-US" dirty="0">
              <a:solidFill>
                <a:prstClr val="black">
                  <a:tint val="75000"/>
                </a:prstClr>
              </a:solidFill>
            </a:endParaRPr>
          </a:p>
        </p:txBody>
      </p:sp>
      <p:pic>
        <p:nvPicPr>
          <p:cNvPr id="5" name="图片 4">
            <a:extLst>
              <a:ext uri="{FF2B5EF4-FFF2-40B4-BE49-F238E27FC236}">
                <a16:creationId xmlns:a16="http://schemas.microsoft.com/office/drawing/2014/main" id="{DCD1F788-2FC2-0D52-CEB2-09A11DD336E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391" y="902858"/>
            <a:ext cx="8641213" cy="1184191"/>
          </a:xfrm>
          <a:prstGeom prst="rect">
            <a:avLst/>
          </a:prstGeom>
        </p:spPr>
      </p:pic>
      <p:pic>
        <p:nvPicPr>
          <p:cNvPr id="8" name="图片 7">
            <a:extLst>
              <a:ext uri="{FF2B5EF4-FFF2-40B4-BE49-F238E27FC236}">
                <a16:creationId xmlns:a16="http://schemas.microsoft.com/office/drawing/2014/main" id="{34FC46EA-BD40-3D7E-FB64-BEA4307BF5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1391" y="2194284"/>
            <a:ext cx="3259835" cy="2754271"/>
          </a:xfrm>
          <a:prstGeom prst="rect">
            <a:avLst/>
          </a:prstGeom>
        </p:spPr>
      </p:pic>
      <p:pic>
        <p:nvPicPr>
          <p:cNvPr id="10" name="图片 9">
            <a:extLst>
              <a:ext uri="{FF2B5EF4-FFF2-40B4-BE49-F238E27FC236}">
                <a16:creationId xmlns:a16="http://schemas.microsoft.com/office/drawing/2014/main" id="{298E1349-DFBC-73B9-D9E9-AC451BAD4C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2500" y="2129382"/>
            <a:ext cx="3924300" cy="381000"/>
          </a:xfrm>
          <a:prstGeom prst="rect">
            <a:avLst/>
          </a:prstGeom>
        </p:spPr>
      </p:pic>
      <p:sp>
        <p:nvSpPr>
          <p:cNvPr id="11" name="文本框 10">
            <a:extLst>
              <a:ext uri="{FF2B5EF4-FFF2-40B4-BE49-F238E27FC236}">
                <a16:creationId xmlns:a16="http://schemas.microsoft.com/office/drawing/2014/main" id="{F963F5CF-86D5-8FC5-F722-8CE397D2FA8D}"/>
              </a:ext>
            </a:extLst>
          </p:cNvPr>
          <p:cNvSpPr txBox="1"/>
          <p:nvPr/>
        </p:nvSpPr>
        <p:spPr>
          <a:xfrm>
            <a:off x="7582010" y="3255274"/>
            <a:ext cx="1104790" cy="923330"/>
          </a:xfrm>
          <a:prstGeom prst="rect">
            <a:avLst/>
          </a:prstGeom>
          <a:noFill/>
        </p:spPr>
        <p:txBody>
          <a:bodyPr wrap="none" rtlCol="0">
            <a:spAutoFit/>
          </a:bodyPr>
          <a:lstStyle/>
          <a:p>
            <a:r>
              <a:rPr kumimoji="1" lang="en-US" altLang="zh-CN" dirty="0"/>
              <a:t>R</a:t>
            </a:r>
          </a:p>
          <a:p>
            <a:r>
              <a:rPr kumimoji="1" lang="en-US" altLang="zh-CN" dirty="0"/>
              <a:t>G</a:t>
            </a:r>
            <a:r>
              <a:rPr kumimoji="1" lang="zh-CN" altLang="en-US" dirty="0"/>
              <a:t>  </a:t>
            </a:r>
            <a:r>
              <a:rPr kumimoji="1" lang="en-US" altLang="zh-CN" dirty="0"/>
              <a:t>=</a:t>
            </a:r>
            <a:r>
              <a:rPr kumimoji="1" lang="zh-CN" altLang="en-US" dirty="0"/>
              <a:t> </a:t>
            </a:r>
            <a:r>
              <a:rPr kumimoji="1" lang="en-US" altLang="zh-CN" dirty="0"/>
              <a:t>M</a:t>
            </a:r>
            <a:r>
              <a:rPr kumimoji="1" lang="en-US" altLang="zh-CN" baseline="-25000" dirty="0"/>
              <a:t>3x11</a:t>
            </a:r>
            <a:endParaRPr kumimoji="1" lang="en-US" altLang="zh-CN" dirty="0"/>
          </a:p>
          <a:p>
            <a:r>
              <a:rPr kumimoji="1" lang="en-US" altLang="zh-CN" dirty="0"/>
              <a:t>B</a:t>
            </a:r>
            <a:endParaRPr kumimoji="1" lang="zh-CN" altLang="en-US" dirty="0"/>
          </a:p>
        </p:txBody>
      </p:sp>
      <p:pic>
        <p:nvPicPr>
          <p:cNvPr id="12" name="图片 11">
            <a:extLst>
              <a:ext uri="{FF2B5EF4-FFF2-40B4-BE49-F238E27FC236}">
                <a16:creationId xmlns:a16="http://schemas.microsoft.com/office/drawing/2014/main" id="{B6C84EB1-887E-889D-93D5-DEDD4C5176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5400000">
            <a:off x="7776943" y="3698635"/>
            <a:ext cx="2133923" cy="314210"/>
          </a:xfrm>
          <a:prstGeom prst="rect">
            <a:avLst/>
          </a:prstGeom>
        </p:spPr>
      </p:pic>
      <p:pic>
        <p:nvPicPr>
          <p:cNvPr id="13" name="图片 12">
            <a:extLst>
              <a:ext uri="{FF2B5EF4-FFF2-40B4-BE49-F238E27FC236}">
                <a16:creationId xmlns:a16="http://schemas.microsoft.com/office/drawing/2014/main" id="{514E4923-BB29-2924-B7FA-771B44D73A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11226" y="3541530"/>
            <a:ext cx="2133923" cy="314210"/>
          </a:xfrm>
          <a:prstGeom prst="rect">
            <a:avLst/>
          </a:prstGeom>
        </p:spPr>
      </p:pic>
      <p:sp>
        <p:nvSpPr>
          <p:cNvPr id="15" name="文本框 14">
            <a:extLst>
              <a:ext uri="{FF2B5EF4-FFF2-40B4-BE49-F238E27FC236}">
                <a16:creationId xmlns:a16="http://schemas.microsoft.com/office/drawing/2014/main" id="{145AF76C-2422-0720-639C-DBE02F8E0828}"/>
              </a:ext>
            </a:extLst>
          </p:cNvPr>
          <p:cNvSpPr txBox="1"/>
          <p:nvPr/>
        </p:nvSpPr>
        <p:spPr>
          <a:xfrm>
            <a:off x="5644988" y="3236970"/>
            <a:ext cx="1272604" cy="923330"/>
          </a:xfrm>
          <a:prstGeom prst="rect">
            <a:avLst/>
          </a:prstGeom>
          <a:noFill/>
        </p:spPr>
        <p:txBody>
          <a:bodyPr wrap="square">
            <a:spAutoFit/>
          </a:bodyPr>
          <a:lstStyle/>
          <a:p>
            <a:r>
              <a:rPr kumimoji="1" lang="zh-CN" altLang="en-US" dirty="0"/>
              <a:t>              </a:t>
            </a:r>
            <a:r>
              <a:rPr kumimoji="1" lang="en-US" altLang="zh-CN" dirty="0"/>
              <a:t>R</a:t>
            </a:r>
          </a:p>
          <a:p>
            <a:r>
              <a:rPr kumimoji="1" lang="en-US" altLang="zh-CN" dirty="0"/>
              <a:t>M</a:t>
            </a:r>
            <a:r>
              <a:rPr kumimoji="1" lang="en-US" altLang="zh-CN" baseline="-25000" dirty="0"/>
              <a:t>11x3</a:t>
            </a:r>
            <a:r>
              <a:rPr kumimoji="1" lang="en-US" altLang="zh-CN" dirty="0"/>
              <a:t> =</a:t>
            </a:r>
            <a:r>
              <a:rPr kumimoji="1" lang="zh-CN" altLang="en-US" dirty="0"/>
              <a:t> </a:t>
            </a:r>
            <a:r>
              <a:rPr kumimoji="1" lang="en-US" altLang="zh-CN" dirty="0"/>
              <a:t>G</a:t>
            </a:r>
          </a:p>
          <a:p>
            <a:r>
              <a:rPr kumimoji="1" lang="zh-CN" altLang="en-US" dirty="0"/>
              <a:t>              </a:t>
            </a:r>
            <a:r>
              <a:rPr kumimoji="1" lang="en-US" altLang="zh-CN" dirty="0"/>
              <a:t>B</a:t>
            </a:r>
            <a:endParaRPr kumimoji="1" lang="zh-CN" altLang="en-US" dirty="0"/>
          </a:p>
        </p:txBody>
      </p:sp>
    </p:spTree>
    <p:extLst>
      <p:ext uri="{BB962C8B-B14F-4D97-AF65-F5344CB8AC3E}">
        <p14:creationId xmlns:p14="http://schemas.microsoft.com/office/powerpoint/2010/main" val="198187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633670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：白平衡矫正</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36</a:t>
            </a:fld>
            <a:endParaRPr lang="zh-CN" altLang="en-US" dirty="0">
              <a:solidFill>
                <a:prstClr val="black">
                  <a:tint val="75000"/>
                </a:prstClr>
              </a:solidFill>
            </a:endParaRPr>
          </a:p>
        </p:txBody>
      </p:sp>
      <p:pic>
        <p:nvPicPr>
          <p:cNvPr id="6" name="图片 5">
            <a:extLst>
              <a:ext uri="{FF2B5EF4-FFF2-40B4-BE49-F238E27FC236}">
                <a16:creationId xmlns:a16="http://schemas.microsoft.com/office/drawing/2014/main" id="{BC48EF3A-5523-7693-B05C-6EC79EC725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5800" y="1006238"/>
            <a:ext cx="7772400" cy="3761026"/>
          </a:xfrm>
          <a:prstGeom prst="rect">
            <a:avLst/>
          </a:prstGeom>
        </p:spPr>
      </p:pic>
    </p:spTree>
    <p:extLst>
      <p:ext uri="{BB962C8B-B14F-4D97-AF65-F5344CB8AC3E}">
        <p14:creationId xmlns:p14="http://schemas.microsoft.com/office/powerpoint/2010/main" val="4632249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应用场景总结</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37</a:t>
            </a:fld>
            <a:endParaRPr lang="zh-CN" altLang="en-US" dirty="0">
              <a:solidFill>
                <a:prstClr val="black">
                  <a:tint val="75000"/>
                </a:prstClr>
              </a:solidFill>
            </a:endParaRPr>
          </a:p>
        </p:txBody>
      </p:sp>
      <p:sp>
        <p:nvSpPr>
          <p:cNvPr id="5" name="文本框 4">
            <a:extLst>
              <a:ext uri="{FF2B5EF4-FFF2-40B4-BE49-F238E27FC236}">
                <a16:creationId xmlns:a16="http://schemas.microsoft.com/office/drawing/2014/main" id="{92375014-7035-F888-1441-91E2650846F1}"/>
              </a:ext>
            </a:extLst>
          </p:cNvPr>
          <p:cNvSpPr txBox="1"/>
          <p:nvPr/>
        </p:nvSpPr>
        <p:spPr>
          <a:xfrm>
            <a:off x="337393" y="1117994"/>
            <a:ext cx="3802559" cy="1436483"/>
          </a:xfrm>
          <a:prstGeom prst="rect">
            <a:avLst/>
          </a:prstGeom>
          <a:solidFill>
            <a:schemeClr val="accent2">
              <a:lumMod val="20000"/>
              <a:lumOff val="80000"/>
            </a:schemeClr>
          </a:solidFill>
        </p:spPr>
        <p:txBody>
          <a:bodyPr wrap="square">
            <a:spAutoFit/>
          </a:bodyPr>
          <a:lstStyle/>
          <a:p>
            <a:pPr>
              <a:lnSpc>
                <a:spcPct val="150000"/>
              </a:lnSpc>
            </a:pPr>
            <a:r>
              <a:rPr lang="zh-CN" altLang="en-US" b="1" dirty="0">
                <a:latin typeface="Times New Roman" panose="02020603050405020304" pitchFamily="18" charset="0"/>
                <a:ea typeface="SimSun" panose="02010600030101010101" pitchFamily="2" charset="-122"/>
                <a:cs typeface="Times New Roman" panose="02020603050405020304" pitchFamily="18" charset="0"/>
              </a:rPr>
              <a:t>插值法（</a:t>
            </a:r>
            <a:r>
              <a:rPr lang="en" altLang="zh-CN" b="1" dirty="0">
                <a:latin typeface="Times New Roman" panose="02020603050405020304" pitchFamily="18" charset="0"/>
                <a:ea typeface="SimSun" panose="02010600030101010101" pitchFamily="2" charset="-122"/>
                <a:cs typeface="Times New Roman" panose="02020603050405020304" pitchFamily="18" charset="0"/>
              </a:rPr>
              <a:t>Interpolation</a:t>
            </a:r>
            <a:r>
              <a:rPr lang="zh-CN" altLang="en" b="1" dirty="0">
                <a:latin typeface="Times New Roman" panose="02020603050405020304" pitchFamily="18" charset="0"/>
                <a:ea typeface="SimSun" panose="02010600030101010101" pitchFamily="2" charset="-122"/>
                <a:cs typeface="Times New Roman" panose="02020603050405020304" pitchFamily="18" charset="0"/>
              </a:rPr>
              <a:t>）</a:t>
            </a:r>
            <a:r>
              <a:rPr lang="zh-CN" altLang="en" dirty="0">
                <a:latin typeface="Times New Roman" panose="02020603050405020304" pitchFamily="18" charset="0"/>
                <a:ea typeface="SimSun" panose="02010600030101010101" pitchFamily="2" charset="-122"/>
                <a:cs typeface="Times New Roman" panose="02020603050405020304" pitchFamily="18" charset="0"/>
              </a:rPr>
              <a:t>：</a:t>
            </a:r>
          </a:p>
          <a:p>
            <a:pPr marL="285750" indent="-285750">
              <a:lnSpc>
                <a:spcPct val="150000"/>
              </a:lnSpc>
              <a:buFont typeface="Arial" panose="020B0604020202020204" pitchFamily="34" charset="0"/>
              <a:buChar char="•"/>
            </a:pPr>
            <a:r>
              <a:rPr lang="zh-CN" altLang="en-US" sz="1400" dirty="0"/>
              <a:t>数据</a:t>
            </a:r>
            <a:r>
              <a:rPr lang="zh-CN" altLang="en-US" sz="1400" dirty="0">
                <a:solidFill>
                  <a:srgbClr val="C00000"/>
                </a:solidFill>
              </a:rPr>
              <a:t>精确可靠</a:t>
            </a:r>
            <a:r>
              <a:rPr lang="zh-CN" altLang="en-US" sz="1400" dirty="0"/>
              <a:t>，无明显误差或噪声。</a:t>
            </a:r>
            <a:endParaRPr lang="en-US" altLang="zh-CN" sz="1400" dirty="0"/>
          </a:p>
          <a:p>
            <a:pPr marL="285750" indent="-285750">
              <a:lnSpc>
                <a:spcPct val="150000"/>
              </a:lnSpc>
              <a:buFont typeface="Arial" panose="020B0604020202020204" pitchFamily="34" charset="0"/>
              <a:buChar char="•"/>
            </a:pPr>
            <a:r>
              <a:rPr lang="zh-CN" altLang="en-US" sz="1400" dirty="0"/>
              <a:t>需要在已知数据点之间进行精确计算。</a:t>
            </a:r>
            <a:endParaRPr lang="en-US" altLang="zh-CN" sz="1400" dirty="0"/>
          </a:p>
          <a:p>
            <a:pPr marL="285750" indent="-285750">
              <a:lnSpc>
                <a:spcPct val="150000"/>
              </a:lnSpc>
              <a:buFont typeface="Arial" panose="020B0604020202020204" pitchFamily="34" charset="0"/>
              <a:buChar char="•"/>
            </a:pPr>
            <a:r>
              <a:rPr lang="zh-CN" altLang="en-US" sz="1400" dirty="0"/>
              <a:t>应用于</a:t>
            </a:r>
            <a:r>
              <a:rPr lang="zh-CN" altLang="en-US" sz="1400" dirty="0">
                <a:solidFill>
                  <a:srgbClr val="C00000"/>
                </a:solidFill>
              </a:rPr>
              <a:t>计算机图形学</a:t>
            </a:r>
            <a:r>
              <a:rPr lang="zh-CN" altLang="en-US" sz="1400" dirty="0"/>
              <a:t>、</a:t>
            </a:r>
            <a:r>
              <a:rPr lang="zh-CN" altLang="en-US" sz="1400" dirty="0">
                <a:solidFill>
                  <a:srgbClr val="C00000"/>
                </a:solidFill>
              </a:rPr>
              <a:t>精密工程</a:t>
            </a:r>
            <a:r>
              <a:rPr lang="zh-CN" altLang="en-US" sz="1400" dirty="0"/>
              <a:t>等领域。</a:t>
            </a:r>
            <a:endParaRPr lang="en-US" altLang="zh-CN" sz="1400" i="1"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39A21268-8C79-06A4-F111-8C92B0B4D47B}"/>
              </a:ext>
            </a:extLst>
          </p:cNvPr>
          <p:cNvSpPr txBox="1"/>
          <p:nvPr/>
        </p:nvSpPr>
        <p:spPr>
          <a:xfrm>
            <a:off x="5004048" y="1117994"/>
            <a:ext cx="3888432" cy="1440394"/>
          </a:xfrm>
          <a:prstGeom prst="rect">
            <a:avLst/>
          </a:prstGeom>
          <a:solidFill>
            <a:schemeClr val="accent2">
              <a:lumMod val="20000"/>
              <a:lumOff val="80000"/>
            </a:schemeClr>
          </a:solidFill>
        </p:spPr>
        <p:txBody>
          <a:bodyPr wrap="square">
            <a:spAutoFit/>
          </a:bodyPr>
          <a:lstStyle/>
          <a:p>
            <a:pPr>
              <a:lnSpc>
                <a:spcPct val="150000"/>
              </a:lnSpc>
            </a:pPr>
            <a:r>
              <a:rPr lang="zh-CN" altLang="en-US" b="1" dirty="0">
                <a:latin typeface="Times New Roman" panose="02020603050405020304" pitchFamily="18" charset="0"/>
                <a:ea typeface="SimSun" panose="02010600030101010101" pitchFamily="2" charset="-122"/>
                <a:cs typeface="Times New Roman" panose="02020603050405020304" pitchFamily="18" charset="0"/>
              </a:rPr>
              <a:t>拟合法（</a:t>
            </a:r>
            <a:r>
              <a:rPr lang="en" altLang="zh-CN" b="1" dirty="0">
                <a:latin typeface="Times New Roman" panose="02020603050405020304" pitchFamily="18" charset="0"/>
                <a:ea typeface="SimSun" panose="02010600030101010101" pitchFamily="2" charset="-122"/>
                <a:cs typeface="Times New Roman" panose="02020603050405020304" pitchFamily="18" charset="0"/>
              </a:rPr>
              <a:t>Approximation/Fitting</a:t>
            </a:r>
            <a:r>
              <a:rPr lang="zh-CN" altLang="en" b="1" dirty="0">
                <a:latin typeface="Times New Roman" panose="02020603050405020304" pitchFamily="18" charset="0"/>
                <a:ea typeface="SimSun" panose="02010600030101010101" pitchFamily="2" charset="-122"/>
                <a:cs typeface="Times New Roman" panose="02020603050405020304" pitchFamily="18" charset="0"/>
              </a:rPr>
              <a:t>）</a:t>
            </a:r>
            <a:r>
              <a:rPr lang="zh-CN" altLang="en" dirty="0">
                <a:latin typeface="Times New Roman" panose="02020603050405020304" pitchFamily="18" charset="0"/>
                <a:ea typeface="SimSun" panose="02010600030101010101" pitchFamily="2" charset="-122"/>
                <a:cs typeface="Times New Roman" panose="02020603050405020304" pitchFamily="18" charset="0"/>
              </a:rPr>
              <a:t>：</a:t>
            </a:r>
            <a:endParaRPr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400" dirty="0"/>
              <a:t>数据</a:t>
            </a:r>
            <a:r>
              <a:rPr lang="zh-CN" altLang="en-US" sz="1400" dirty="0">
                <a:solidFill>
                  <a:srgbClr val="C00000"/>
                </a:solidFill>
              </a:rPr>
              <a:t>存在误差或噪声</a:t>
            </a:r>
            <a:r>
              <a:rPr lang="zh-CN" altLang="en-US" sz="1400" dirty="0"/>
              <a:t>，需要考虑统计误差。</a:t>
            </a:r>
            <a:endParaRPr lang="en-US" altLang="zh-CN" sz="1400" dirty="0"/>
          </a:p>
          <a:p>
            <a:pPr marL="285750" indent="-285750">
              <a:lnSpc>
                <a:spcPct val="150000"/>
              </a:lnSpc>
              <a:buFont typeface="Arial" panose="020B0604020202020204" pitchFamily="34" charset="0"/>
              <a:buChar char="•"/>
            </a:pPr>
            <a:r>
              <a:rPr lang="zh-CN" altLang="en-US" sz="1400" dirty="0"/>
              <a:t>需要分析数据的总体趋势或规律。</a:t>
            </a:r>
            <a:endParaRPr lang="en-US" altLang="zh-CN" sz="1400" dirty="0"/>
          </a:p>
          <a:p>
            <a:pPr marL="285750" indent="-285750">
              <a:lnSpc>
                <a:spcPct val="150000"/>
              </a:lnSpc>
              <a:buFont typeface="Arial" panose="020B0604020202020204" pitchFamily="34" charset="0"/>
              <a:buChar char="•"/>
            </a:pPr>
            <a:r>
              <a:rPr lang="zh-CN" altLang="en-US" sz="1400" dirty="0"/>
              <a:t>应用于</a:t>
            </a:r>
            <a:r>
              <a:rPr lang="zh-CN" altLang="en-US" sz="1400" dirty="0">
                <a:solidFill>
                  <a:srgbClr val="C00000"/>
                </a:solidFill>
              </a:rPr>
              <a:t>实验数据分析、机器学习</a:t>
            </a:r>
            <a:r>
              <a:rPr lang="zh-CN" altLang="en-US" sz="1400" dirty="0"/>
              <a:t>等领域。</a:t>
            </a:r>
            <a:endParaRPr lang="zh-CN" altLang="en" sz="1400" dirty="0"/>
          </a:p>
        </p:txBody>
      </p:sp>
      <p:sp>
        <p:nvSpPr>
          <p:cNvPr id="9" name="文本框 8">
            <a:extLst>
              <a:ext uri="{FF2B5EF4-FFF2-40B4-BE49-F238E27FC236}">
                <a16:creationId xmlns:a16="http://schemas.microsoft.com/office/drawing/2014/main" id="{580B555B-D27C-E6F7-AF4F-BFC2C5CED929}"/>
              </a:ext>
            </a:extLst>
          </p:cNvPr>
          <p:cNvSpPr txBox="1"/>
          <p:nvPr/>
        </p:nvSpPr>
        <p:spPr>
          <a:xfrm>
            <a:off x="1546599" y="2724795"/>
            <a:ext cx="877163" cy="369332"/>
          </a:xfrm>
          <a:prstGeom prst="rect">
            <a:avLst/>
          </a:prstGeom>
          <a:noFill/>
        </p:spPr>
        <p:txBody>
          <a:bodyPr wrap="none" rtlCol="0">
            <a:spAutoFit/>
          </a:bodyPr>
          <a:lstStyle/>
          <a:p>
            <a:r>
              <a:rPr kumimoji="1" lang="zh-CN" altLang="en-US" b="1" dirty="0"/>
              <a:t>插值法</a:t>
            </a:r>
          </a:p>
        </p:txBody>
      </p:sp>
      <p:sp>
        <p:nvSpPr>
          <p:cNvPr id="13" name="文本框 12">
            <a:extLst>
              <a:ext uri="{FF2B5EF4-FFF2-40B4-BE49-F238E27FC236}">
                <a16:creationId xmlns:a16="http://schemas.microsoft.com/office/drawing/2014/main" id="{F11FCE51-C06A-D31B-EE31-02DF57E7B7DA}"/>
              </a:ext>
            </a:extLst>
          </p:cNvPr>
          <p:cNvSpPr txBox="1"/>
          <p:nvPr/>
        </p:nvSpPr>
        <p:spPr>
          <a:xfrm>
            <a:off x="6508879" y="2724795"/>
            <a:ext cx="878767" cy="369332"/>
          </a:xfrm>
          <a:prstGeom prst="rect">
            <a:avLst/>
          </a:prstGeom>
          <a:noFill/>
        </p:spPr>
        <p:txBody>
          <a:bodyPr wrap="none" rtlCol="0">
            <a:spAutoFit/>
          </a:bodyPr>
          <a:lstStyle/>
          <a:p>
            <a:r>
              <a:rPr kumimoji="1" lang="zh-CN" altLang="en-US" b="1" dirty="0"/>
              <a:t>拟合法</a:t>
            </a:r>
          </a:p>
        </p:txBody>
      </p:sp>
      <p:cxnSp>
        <p:nvCxnSpPr>
          <p:cNvPr id="15" name="直线箭头连接符 14">
            <a:extLst>
              <a:ext uri="{FF2B5EF4-FFF2-40B4-BE49-F238E27FC236}">
                <a16:creationId xmlns:a16="http://schemas.microsoft.com/office/drawing/2014/main" id="{227AEC7F-5A30-8A68-54DB-EEB2E1C82371}"/>
              </a:ext>
            </a:extLst>
          </p:cNvPr>
          <p:cNvCxnSpPr>
            <a:cxnSpLocks/>
          </p:cNvCxnSpPr>
          <p:nvPr/>
        </p:nvCxnSpPr>
        <p:spPr>
          <a:xfrm>
            <a:off x="4139952" y="3470905"/>
            <a:ext cx="864096" cy="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321F062E-7C37-218A-F052-EC089BEDC464}"/>
              </a:ext>
            </a:extLst>
          </p:cNvPr>
          <p:cNvSpPr txBox="1"/>
          <p:nvPr/>
        </p:nvSpPr>
        <p:spPr>
          <a:xfrm>
            <a:off x="5290184" y="3094127"/>
            <a:ext cx="2965132" cy="707886"/>
          </a:xfrm>
          <a:prstGeom prst="rect">
            <a:avLst/>
          </a:prstGeom>
          <a:noFill/>
        </p:spPr>
        <p:txBody>
          <a:bodyPr wrap="square">
            <a:spAutoFit/>
          </a:bodyPr>
          <a:lstStyle/>
          <a:p>
            <a:r>
              <a:rPr kumimoji="1" lang="zh-CN" altLang="en-US" sz="1000" dirty="0"/>
              <a:t>最小二乘法</a:t>
            </a:r>
            <a:endParaRPr kumimoji="1" lang="en-US" altLang="zh-CN" sz="1000" dirty="0"/>
          </a:p>
          <a:p>
            <a:pPr marL="171450" indent="-171450">
              <a:buFont typeface="Arial" panose="020B0604020202020204" pitchFamily="34" charset="0"/>
              <a:buChar char="•"/>
            </a:pPr>
            <a:r>
              <a:rPr kumimoji="1" lang="zh-CN" altLang="en-US" sz="1000" dirty="0"/>
              <a:t>线性拟合：</a:t>
            </a:r>
            <a:r>
              <a:rPr kumimoji="1" lang="en-US" altLang="zh-CN" sz="1000" dirty="0"/>
              <a:t>Ax=y</a:t>
            </a:r>
            <a:r>
              <a:rPr kumimoji="1" lang="zh-CN" altLang="en-US" sz="1000" dirty="0"/>
              <a:t>的最小二乘解为</a:t>
            </a:r>
            <a:r>
              <a:rPr kumimoji="1" lang="en-US" altLang="zh-CN" sz="1000" dirty="0"/>
              <a:t>x=(A</a:t>
            </a:r>
            <a:r>
              <a:rPr kumimoji="1" lang="en-US" altLang="zh-CN" sz="1000" baseline="30000" dirty="0"/>
              <a:t>T</a:t>
            </a:r>
            <a:r>
              <a:rPr kumimoji="1" lang="en-US" altLang="zh-CN" sz="1000" dirty="0"/>
              <a:t>A)</a:t>
            </a:r>
            <a:r>
              <a:rPr kumimoji="1" lang="en-US" altLang="zh-CN" sz="1000" baseline="30000" dirty="0"/>
              <a:t>-1</a:t>
            </a:r>
            <a:r>
              <a:rPr kumimoji="1" lang="en-US" altLang="zh-CN" sz="1000" dirty="0"/>
              <a:t>A</a:t>
            </a:r>
            <a:r>
              <a:rPr kumimoji="1" lang="en-US" altLang="zh-CN" sz="1000" baseline="30000" dirty="0"/>
              <a:t>T</a:t>
            </a:r>
            <a:r>
              <a:rPr kumimoji="1" lang="en-US" altLang="zh-CN" sz="1000" dirty="0"/>
              <a:t> y</a:t>
            </a:r>
          </a:p>
          <a:p>
            <a:pPr marL="171450" indent="-171450">
              <a:buFont typeface="Arial" panose="020B0604020202020204" pitchFamily="34" charset="0"/>
              <a:buChar char="•"/>
            </a:pPr>
            <a:r>
              <a:rPr kumimoji="1" lang="zh-CN" altLang="en-US" sz="1000" dirty="0"/>
              <a:t>对数模型拟合：</a:t>
            </a:r>
            <a:r>
              <a:rPr kumimoji="1" lang="zh-CN" altLang="en-US" sz="1000" dirty="0">
                <a:solidFill>
                  <a:srgbClr val="0012FE"/>
                </a:solidFill>
              </a:rPr>
              <a:t>噪声水平建模</a:t>
            </a:r>
            <a:endParaRPr kumimoji="1" lang="en-US" altLang="zh-CN" sz="1000" dirty="0">
              <a:solidFill>
                <a:srgbClr val="0012FE"/>
              </a:solidFill>
            </a:endParaRPr>
          </a:p>
          <a:p>
            <a:pPr marL="171450" indent="-171450">
              <a:buFont typeface="Arial" panose="020B0604020202020204" pitchFamily="34" charset="0"/>
              <a:buChar char="•"/>
            </a:pPr>
            <a:r>
              <a:rPr kumimoji="1" lang="zh-CN" altLang="en-US" sz="1000" dirty="0"/>
              <a:t>多项式拟合：</a:t>
            </a:r>
            <a:r>
              <a:rPr kumimoji="1" lang="zh-CN" altLang="en-US" sz="1000" dirty="0">
                <a:solidFill>
                  <a:srgbClr val="0012FE"/>
                </a:solidFill>
              </a:rPr>
              <a:t>白平衡矫正</a:t>
            </a:r>
            <a:endParaRPr kumimoji="1" lang="en-US" altLang="zh-CN" sz="1000" dirty="0">
              <a:solidFill>
                <a:srgbClr val="0012FE"/>
              </a:solidFill>
            </a:endParaRPr>
          </a:p>
        </p:txBody>
      </p:sp>
      <p:sp>
        <p:nvSpPr>
          <p:cNvPr id="4" name="文本框 3">
            <a:extLst>
              <a:ext uri="{FF2B5EF4-FFF2-40B4-BE49-F238E27FC236}">
                <a16:creationId xmlns:a16="http://schemas.microsoft.com/office/drawing/2014/main" id="{7E23E179-485C-F87D-962B-589FE4A27BCD}"/>
              </a:ext>
            </a:extLst>
          </p:cNvPr>
          <p:cNvSpPr txBox="1"/>
          <p:nvPr/>
        </p:nvSpPr>
        <p:spPr>
          <a:xfrm>
            <a:off x="3943339" y="3207684"/>
            <a:ext cx="1183382" cy="246221"/>
          </a:xfrm>
          <a:prstGeom prst="rect">
            <a:avLst/>
          </a:prstGeom>
          <a:noFill/>
        </p:spPr>
        <p:txBody>
          <a:bodyPr wrap="square">
            <a:spAutoFit/>
          </a:bodyPr>
          <a:lstStyle/>
          <a:p>
            <a:pPr algn="ctr"/>
            <a:r>
              <a:rPr lang="zh-CN" altLang="en-US" sz="1000" dirty="0">
                <a:latin typeface="Times New Roman" panose="02020603050405020304" pitchFamily="18" charset="0"/>
                <a:ea typeface="SimSun" panose="02010600030101010101" pitchFamily="2" charset="-122"/>
                <a:cs typeface="Times New Roman" panose="02020603050405020304" pitchFamily="18" charset="0"/>
              </a:rPr>
              <a:t>观测点有误差</a:t>
            </a:r>
            <a:endParaRPr lang="zh-CN" altLang="en-US" sz="1000" dirty="0"/>
          </a:p>
        </p:txBody>
      </p:sp>
      <p:sp>
        <p:nvSpPr>
          <p:cNvPr id="12" name="文本框 11">
            <a:extLst>
              <a:ext uri="{FF2B5EF4-FFF2-40B4-BE49-F238E27FC236}">
                <a16:creationId xmlns:a16="http://schemas.microsoft.com/office/drawing/2014/main" id="{A4672E95-1E03-F649-B88B-B7AB0EC400AF}"/>
              </a:ext>
            </a:extLst>
          </p:cNvPr>
          <p:cNvSpPr txBox="1"/>
          <p:nvPr/>
        </p:nvSpPr>
        <p:spPr>
          <a:xfrm>
            <a:off x="442539" y="3270850"/>
            <a:ext cx="825867" cy="400110"/>
          </a:xfrm>
          <a:prstGeom prst="rect">
            <a:avLst/>
          </a:prstGeom>
          <a:noFill/>
        </p:spPr>
        <p:txBody>
          <a:bodyPr wrap="none" rtlCol="0">
            <a:spAutoFit/>
          </a:bodyPr>
          <a:lstStyle/>
          <a:p>
            <a:pPr algn="ctr"/>
            <a:r>
              <a:rPr kumimoji="1" lang="zh-CN" altLang="en-US" sz="1000" dirty="0"/>
              <a:t>拉格朗日</a:t>
            </a:r>
            <a:endParaRPr kumimoji="1" lang="en-US" altLang="zh-CN" sz="1000" dirty="0"/>
          </a:p>
          <a:p>
            <a:pPr algn="ctr"/>
            <a:r>
              <a:rPr kumimoji="1" lang="zh-CN" altLang="en-US" sz="1000" dirty="0"/>
              <a:t>多项式插值</a:t>
            </a:r>
          </a:p>
        </p:txBody>
      </p:sp>
      <p:sp>
        <p:nvSpPr>
          <p:cNvPr id="14" name="文本框 13">
            <a:extLst>
              <a:ext uri="{FF2B5EF4-FFF2-40B4-BE49-F238E27FC236}">
                <a16:creationId xmlns:a16="http://schemas.microsoft.com/office/drawing/2014/main" id="{2616D863-B4E5-6C4A-9066-0A031F6764FB}"/>
              </a:ext>
            </a:extLst>
          </p:cNvPr>
          <p:cNvSpPr txBox="1"/>
          <p:nvPr/>
        </p:nvSpPr>
        <p:spPr>
          <a:xfrm>
            <a:off x="1985181" y="3261102"/>
            <a:ext cx="569387" cy="400110"/>
          </a:xfrm>
          <a:prstGeom prst="rect">
            <a:avLst/>
          </a:prstGeom>
          <a:noFill/>
        </p:spPr>
        <p:txBody>
          <a:bodyPr wrap="none" rtlCol="0">
            <a:spAutoFit/>
          </a:bodyPr>
          <a:lstStyle/>
          <a:p>
            <a:r>
              <a:rPr kumimoji="1" lang="zh-CN" altLang="en-US" sz="1000" dirty="0"/>
              <a:t>分段低</a:t>
            </a:r>
            <a:endParaRPr kumimoji="1" lang="en-US" altLang="zh-CN" sz="1000" dirty="0"/>
          </a:p>
          <a:p>
            <a:r>
              <a:rPr kumimoji="1" lang="zh-CN" altLang="en-US" sz="1000" dirty="0"/>
              <a:t>次插值</a:t>
            </a:r>
          </a:p>
        </p:txBody>
      </p:sp>
      <p:cxnSp>
        <p:nvCxnSpPr>
          <p:cNvPr id="16" name="直线箭头连接符 15">
            <a:extLst>
              <a:ext uri="{FF2B5EF4-FFF2-40B4-BE49-F238E27FC236}">
                <a16:creationId xmlns:a16="http://schemas.microsoft.com/office/drawing/2014/main" id="{9421B650-8946-4740-859E-D8A46B1223EB}"/>
              </a:ext>
            </a:extLst>
          </p:cNvPr>
          <p:cNvCxnSpPr>
            <a:cxnSpLocks/>
            <a:stCxn id="12" idx="3"/>
            <a:endCxn id="14" idx="1"/>
          </p:cNvCxnSpPr>
          <p:nvPr/>
        </p:nvCxnSpPr>
        <p:spPr>
          <a:xfrm flipV="1">
            <a:off x="1268406" y="3461157"/>
            <a:ext cx="716775" cy="9748"/>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14A18FAC-358E-1140-B530-F82FD8FF6AB4}"/>
              </a:ext>
            </a:extLst>
          </p:cNvPr>
          <p:cNvSpPr txBox="1"/>
          <p:nvPr/>
        </p:nvSpPr>
        <p:spPr>
          <a:xfrm>
            <a:off x="1185378" y="3195120"/>
            <a:ext cx="793217" cy="246221"/>
          </a:xfrm>
          <a:prstGeom prst="rect">
            <a:avLst/>
          </a:prstGeom>
          <a:noFill/>
        </p:spPr>
        <p:txBody>
          <a:bodyPr wrap="square" rtlCol="0">
            <a:spAutoFit/>
          </a:bodyPr>
          <a:lstStyle/>
          <a:p>
            <a:r>
              <a:rPr lang="en" altLang="zh-CN" sz="1000" dirty="0">
                <a:solidFill>
                  <a:srgbClr val="191B1F"/>
                </a:solidFill>
                <a:latin typeface="Times New Roman" panose="02020603050405020304" pitchFamily="18" charset="0"/>
                <a:cs typeface="Times New Roman" panose="02020603050405020304" pitchFamily="18" charset="0"/>
              </a:rPr>
              <a:t>Runge</a:t>
            </a:r>
            <a:r>
              <a:rPr kumimoji="1" lang="zh-CN" altLang="en-US" sz="1000" dirty="0"/>
              <a:t>现象</a:t>
            </a:r>
          </a:p>
        </p:txBody>
      </p:sp>
      <p:sp>
        <p:nvSpPr>
          <p:cNvPr id="20" name="文本框 19">
            <a:extLst>
              <a:ext uri="{FF2B5EF4-FFF2-40B4-BE49-F238E27FC236}">
                <a16:creationId xmlns:a16="http://schemas.microsoft.com/office/drawing/2014/main" id="{1F11FD53-FCC7-4640-B8AA-5F83BC17718E}"/>
              </a:ext>
            </a:extLst>
          </p:cNvPr>
          <p:cNvSpPr txBox="1"/>
          <p:nvPr/>
        </p:nvSpPr>
        <p:spPr>
          <a:xfrm>
            <a:off x="1233174" y="3470905"/>
            <a:ext cx="697627" cy="246221"/>
          </a:xfrm>
          <a:prstGeom prst="rect">
            <a:avLst/>
          </a:prstGeom>
          <a:noFill/>
        </p:spPr>
        <p:txBody>
          <a:bodyPr wrap="none" rtlCol="0">
            <a:spAutoFit/>
          </a:bodyPr>
          <a:lstStyle/>
          <a:p>
            <a:r>
              <a:rPr kumimoji="1" lang="zh-CN" altLang="en-US" sz="1000" dirty="0"/>
              <a:t>复杂度高</a:t>
            </a:r>
          </a:p>
        </p:txBody>
      </p:sp>
      <p:sp>
        <p:nvSpPr>
          <p:cNvPr id="21" name="文本框 20">
            <a:extLst>
              <a:ext uri="{FF2B5EF4-FFF2-40B4-BE49-F238E27FC236}">
                <a16:creationId xmlns:a16="http://schemas.microsoft.com/office/drawing/2014/main" id="{DD0F77B4-4F3A-104C-90CD-ED21080CA72B}"/>
              </a:ext>
            </a:extLst>
          </p:cNvPr>
          <p:cNvSpPr txBox="1"/>
          <p:nvPr/>
        </p:nvSpPr>
        <p:spPr>
          <a:xfrm>
            <a:off x="2899711" y="3147814"/>
            <a:ext cx="954107" cy="246221"/>
          </a:xfrm>
          <a:prstGeom prst="rect">
            <a:avLst/>
          </a:prstGeom>
          <a:noFill/>
        </p:spPr>
        <p:txBody>
          <a:bodyPr wrap="none" rtlCol="0">
            <a:spAutoFit/>
          </a:bodyPr>
          <a:lstStyle/>
          <a:p>
            <a:r>
              <a:rPr kumimoji="1" lang="zh-CN" altLang="en-US" sz="1000" dirty="0"/>
              <a:t>分段线性插值</a:t>
            </a:r>
          </a:p>
        </p:txBody>
      </p:sp>
      <p:sp>
        <p:nvSpPr>
          <p:cNvPr id="22" name="文本框 21">
            <a:extLst>
              <a:ext uri="{FF2B5EF4-FFF2-40B4-BE49-F238E27FC236}">
                <a16:creationId xmlns:a16="http://schemas.microsoft.com/office/drawing/2014/main" id="{67336214-1FF1-DE41-B7C5-3EC210F61108}"/>
              </a:ext>
            </a:extLst>
          </p:cNvPr>
          <p:cNvSpPr txBox="1"/>
          <p:nvPr/>
        </p:nvSpPr>
        <p:spPr>
          <a:xfrm>
            <a:off x="2899711" y="3573134"/>
            <a:ext cx="954107" cy="246221"/>
          </a:xfrm>
          <a:prstGeom prst="rect">
            <a:avLst/>
          </a:prstGeom>
          <a:noFill/>
        </p:spPr>
        <p:txBody>
          <a:bodyPr wrap="none" rtlCol="0">
            <a:spAutoFit/>
          </a:bodyPr>
          <a:lstStyle/>
          <a:p>
            <a:r>
              <a:rPr kumimoji="1" lang="zh-CN" altLang="en-US" sz="1000" dirty="0"/>
              <a:t>三次样条插值</a:t>
            </a:r>
          </a:p>
        </p:txBody>
      </p:sp>
      <p:cxnSp>
        <p:nvCxnSpPr>
          <p:cNvPr id="23" name="直线箭头连接符 22">
            <a:extLst>
              <a:ext uri="{FF2B5EF4-FFF2-40B4-BE49-F238E27FC236}">
                <a16:creationId xmlns:a16="http://schemas.microsoft.com/office/drawing/2014/main" id="{70FC0430-2EF7-CF45-9C0F-26D6CFF980F5}"/>
              </a:ext>
            </a:extLst>
          </p:cNvPr>
          <p:cNvCxnSpPr>
            <a:cxnSpLocks/>
            <a:stCxn id="14" idx="3"/>
            <a:endCxn id="21" idx="1"/>
          </p:cNvCxnSpPr>
          <p:nvPr/>
        </p:nvCxnSpPr>
        <p:spPr>
          <a:xfrm flipV="1">
            <a:off x="2554568" y="3270925"/>
            <a:ext cx="345143" cy="190232"/>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9F478389-D56B-DC40-9F6F-5042D40B4863}"/>
              </a:ext>
            </a:extLst>
          </p:cNvPr>
          <p:cNvCxnSpPr>
            <a:cxnSpLocks/>
            <a:stCxn id="14" idx="3"/>
            <a:endCxn id="22" idx="1"/>
          </p:cNvCxnSpPr>
          <p:nvPr/>
        </p:nvCxnSpPr>
        <p:spPr>
          <a:xfrm>
            <a:off x="2554568" y="3461157"/>
            <a:ext cx="345143" cy="235088"/>
          </a:xfrm>
          <a:prstGeom prst="straightConnector1">
            <a:avLst/>
          </a:prstGeom>
          <a:ln>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a:extLst>
              <a:ext uri="{FF2B5EF4-FFF2-40B4-BE49-F238E27FC236}">
                <a16:creationId xmlns:a16="http://schemas.microsoft.com/office/drawing/2014/main" id="{CB398889-876A-B842-A602-DEF397F91B7D}"/>
              </a:ext>
            </a:extLst>
          </p:cNvPr>
          <p:cNvCxnSpPr>
            <a:cxnSpLocks/>
            <a:stCxn id="21" idx="2"/>
            <a:endCxn id="22" idx="0"/>
          </p:cNvCxnSpPr>
          <p:nvPr/>
        </p:nvCxnSpPr>
        <p:spPr>
          <a:xfrm>
            <a:off x="3376765" y="3394035"/>
            <a:ext cx="0" cy="17909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B54F8A8A-0B5A-AD46-8701-E170DE8929C1}"/>
              </a:ext>
            </a:extLst>
          </p:cNvPr>
          <p:cNvSpPr txBox="1"/>
          <p:nvPr/>
        </p:nvSpPr>
        <p:spPr>
          <a:xfrm>
            <a:off x="3368166" y="3348306"/>
            <a:ext cx="697627" cy="246221"/>
          </a:xfrm>
          <a:prstGeom prst="rect">
            <a:avLst/>
          </a:prstGeom>
          <a:noFill/>
        </p:spPr>
        <p:txBody>
          <a:bodyPr wrap="none" rtlCol="0">
            <a:spAutoFit/>
          </a:bodyPr>
          <a:lstStyle/>
          <a:p>
            <a:r>
              <a:rPr kumimoji="1" lang="zh-CN" altLang="en-US" sz="1000" dirty="0"/>
              <a:t>光滑性差</a:t>
            </a:r>
          </a:p>
        </p:txBody>
      </p:sp>
      <p:sp>
        <p:nvSpPr>
          <p:cNvPr id="41" name="文本框 40">
            <a:extLst>
              <a:ext uri="{FF2B5EF4-FFF2-40B4-BE49-F238E27FC236}">
                <a16:creationId xmlns:a16="http://schemas.microsoft.com/office/drawing/2014/main" id="{F774E62F-B06F-E042-A008-77C7C8EECD13}"/>
              </a:ext>
            </a:extLst>
          </p:cNvPr>
          <p:cNvSpPr txBox="1"/>
          <p:nvPr/>
        </p:nvSpPr>
        <p:spPr>
          <a:xfrm>
            <a:off x="470283" y="4022476"/>
            <a:ext cx="1460518" cy="707886"/>
          </a:xfrm>
          <a:prstGeom prst="rect">
            <a:avLst/>
          </a:prstGeom>
          <a:noFill/>
        </p:spPr>
        <p:txBody>
          <a:bodyPr wrap="square">
            <a:spAutoFit/>
          </a:bodyPr>
          <a:lstStyle/>
          <a:p>
            <a:r>
              <a:rPr kumimoji="1" lang="zh-CN" altLang="en-US" sz="1000" dirty="0">
                <a:solidFill>
                  <a:srgbClr val="C00000"/>
                </a:solidFill>
              </a:rPr>
              <a:t>一维分段插值</a:t>
            </a:r>
            <a:endParaRPr kumimoji="1" lang="en-US" altLang="zh-CN" sz="1000" dirty="0">
              <a:solidFill>
                <a:srgbClr val="C00000"/>
              </a:solidFill>
            </a:endParaRPr>
          </a:p>
          <a:p>
            <a:pPr marL="171450" indent="-171450">
              <a:buFont typeface="Arial" panose="020B0604020202020204" pitchFamily="34" charset="0"/>
              <a:buChar char="•"/>
            </a:pPr>
            <a:r>
              <a:rPr kumimoji="1" lang="zh-CN" altLang="en-US" sz="1000" dirty="0">
                <a:solidFill>
                  <a:srgbClr val="0012FE"/>
                </a:solidFill>
              </a:rPr>
              <a:t>神经网络激活函数</a:t>
            </a:r>
            <a:endParaRPr kumimoji="1" lang="en-US" altLang="zh-CN" sz="1000" dirty="0">
              <a:solidFill>
                <a:srgbClr val="0012FE"/>
              </a:solidFill>
            </a:endParaRPr>
          </a:p>
          <a:p>
            <a:pPr marL="171450" indent="-171450">
              <a:buFont typeface="Arial" panose="020B0604020202020204" pitchFamily="34" charset="0"/>
              <a:buChar char="•"/>
            </a:pPr>
            <a:r>
              <a:rPr kumimoji="1" lang="zh-CN" altLang="en-US" sz="1000" dirty="0">
                <a:solidFill>
                  <a:srgbClr val="0012FE"/>
                </a:solidFill>
              </a:rPr>
              <a:t>色调映射</a:t>
            </a:r>
            <a:endParaRPr kumimoji="1" lang="en-US" altLang="zh-CN" sz="1000" dirty="0">
              <a:solidFill>
                <a:srgbClr val="0012FE"/>
              </a:solidFill>
            </a:endParaRPr>
          </a:p>
          <a:p>
            <a:pPr marL="171450" indent="-171450">
              <a:buFont typeface="Arial" panose="020B0604020202020204" pitchFamily="34" charset="0"/>
              <a:buChar char="•"/>
            </a:pPr>
            <a:r>
              <a:rPr kumimoji="1" lang="zh-CN" altLang="en-US" sz="1000" dirty="0">
                <a:solidFill>
                  <a:srgbClr val="0012FE"/>
                </a:solidFill>
              </a:rPr>
              <a:t>色彩增强</a:t>
            </a:r>
          </a:p>
        </p:txBody>
      </p:sp>
      <p:sp>
        <p:nvSpPr>
          <p:cNvPr id="42" name="文本框 41">
            <a:extLst>
              <a:ext uri="{FF2B5EF4-FFF2-40B4-BE49-F238E27FC236}">
                <a16:creationId xmlns:a16="http://schemas.microsoft.com/office/drawing/2014/main" id="{F3FEA155-9AAD-C743-A8E0-23DFD5F0DC8E}"/>
              </a:ext>
            </a:extLst>
          </p:cNvPr>
          <p:cNvSpPr txBox="1"/>
          <p:nvPr/>
        </p:nvSpPr>
        <p:spPr>
          <a:xfrm>
            <a:off x="2471234" y="4022476"/>
            <a:ext cx="2532814" cy="861774"/>
          </a:xfrm>
          <a:prstGeom prst="rect">
            <a:avLst/>
          </a:prstGeom>
          <a:noFill/>
        </p:spPr>
        <p:txBody>
          <a:bodyPr wrap="square">
            <a:spAutoFit/>
          </a:bodyPr>
          <a:lstStyle/>
          <a:p>
            <a:r>
              <a:rPr kumimoji="1" lang="zh-CN" altLang="en-US" sz="1000" dirty="0">
                <a:solidFill>
                  <a:srgbClr val="C00000"/>
                </a:solidFill>
              </a:rPr>
              <a:t>二维分段插值</a:t>
            </a:r>
            <a:endParaRPr kumimoji="1" lang="en-US" altLang="zh-CN" sz="1000" dirty="0">
              <a:solidFill>
                <a:srgbClr val="C00000"/>
              </a:solidFill>
            </a:endParaRPr>
          </a:p>
          <a:p>
            <a:pPr marL="171450" indent="-171450">
              <a:buFont typeface="Arial" panose="020B0604020202020204" pitchFamily="34" charset="0"/>
              <a:buChar char="•"/>
            </a:pPr>
            <a:r>
              <a:rPr kumimoji="1" lang="zh-CN" altLang="en-US" sz="1000" dirty="0">
                <a:solidFill>
                  <a:srgbClr val="0012FE"/>
                </a:solidFill>
              </a:rPr>
              <a:t>图像插值（</a:t>
            </a:r>
            <a:r>
              <a:rPr kumimoji="1" lang="en-US" altLang="zh-CN" sz="1000" dirty="0">
                <a:solidFill>
                  <a:srgbClr val="0012FE"/>
                </a:solidFill>
              </a:rPr>
              <a:t>bilinear</a:t>
            </a:r>
            <a:r>
              <a:rPr kumimoji="1" lang="zh-CN" altLang="en-US" sz="1000" dirty="0">
                <a:solidFill>
                  <a:srgbClr val="0012FE"/>
                </a:solidFill>
              </a:rPr>
              <a:t>、</a:t>
            </a:r>
            <a:r>
              <a:rPr kumimoji="1" lang="en-US" altLang="zh-CN" sz="1000" dirty="0">
                <a:solidFill>
                  <a:srgbClr val="0012FE"/>
                </a:solidFill>
              </a:rPr>
              <a:t>bicubic</a:t>
            </a:r>
            <a:r>
              <a:rPr kumimoji="1" lang="zh-CN" altLang="en-US" sz="1000" dirty="0">
                <a:solidFill>
                  <a:srgbClr val="0012FE"/>
                </a:solidFill>
              </a:rPr>
              <a:t>）</a:t>
            </a:r>
            <a:endParaRPr kumimoji="1" lang="en-US" altLang="zh-CN" sz="1000" dirty="0">
              <a:solidFill>
                <a:srgbClr val="0012FE"/>
              </a:solidFill>
            </a:endParaRPr>
          </a:p>
          <a:p>
            <a:pPr marL="171450" indent="-171450">
              <a:buFont typeface="Arial" panose="020B0604020202020204" pitchFamily="34" charset="0"/>
              <a:buChar char="•"/>
            </a:pPr>
            <a:r>
              <a:rPr kumimoji="1" lang="zh-CN" altLang="en-US" sz="1000" dirty="0">
                <a:solidFill>
                  <a:srgbClr val="0012FE"/>
                </a:solidFill>
              </a:rPr>
              <a:t>相机去马赛克</a:t>
            </a:r>
            <a:endParaRPr kumimoji="1" lang="en-US" altLang="zh-CN" sz="1000" dirty="0">
              <a:solidFill>
                <a:srgbClr val="0012FE"/>
              </a:solidFill>
            </a:endParaRPr>
          </a:p>
          <a:p>
            <a:pPr marL="171450" indent="-171450">
              <a:buFont typeface="Arial" panose="020B0604020202020204" pitchFamily="34" charset="0"/>
              <a:buChar char="•"/>
            </a:pPr>
            <a:r>
              <a:rPr kumimoji="1" lang="zh-CN" altLang="en-US" sz="1000" dirty="0">
                <a:solidFill>
                  <a:srgbClr val="0012FE"/>
                </a:solidFill>
              </a:rPr>
              <a:t>神经网络上采样（</a:t>
            </a:r>
            <a:r>
              <a:rPr kumimoji="1" lang="en-US" altLang="zh-CN" sz="1000" dirty="0">
                <a:solidFill>
                  <a:srgbClr val="0012FE"/>
                </a:solidFill>
              </a:rPr>
              <a:t>Transposed</a:t>
            </a:r>
            <a:r>
              <a:rPr kumimoji="1" lang="zh-CN" altLang="en-US" sz="1000" dirty="0">
                <a:solidFill>
                  <a:srgbClr val="0012FE"/>
                </a:solidFill>
              </a:rPr>
              <a:t> </a:t>
            </a:r>
            <a:r>
              <a:rPr kumimoji="1" lang="en-US" altLang="zh-CN" sz="1000" dirty="0">
                <a:solidFill>
                  <a:srgbClr val="0012FE"/>
                </a:solidFill>
              </a:rPr>
              <a:t>Conv</a:t>
            </a:r>
            <a:r>
              <a:rPr kumimoji="1" lang="zh-CN" altLang="en-US" sz="1000" dirty="0">
                <a:solidFill>
                  <a:srgbClr val="0012FE"/>
                </a:solidFill>
              </a:rPr>
              <a:t>、</a:t>
            </a:r>
            <a:r>
              <a:rPr kumimoji="1" lang="en-US" altLang="zh-CN" sz="1000" dirty="0" err="1">
                <a:solidFill>
                  <a:srgbClr val="0012FE"/>
                </a:solidFill>
              </a:rPr>
              <a:t>Nearest+Conv</a:t>
            </a:r>
            <a:r>
              <a:rPr kumimoji="1" lang="zh-CN" altLang="en-US" sz="1000" dirty="0">
                <a:solidFill>
                  <a:srgbClr val="0012FE"/>
                </a:solidFill>
              </a:rPr>
              <a:t>）</a:t>
            </a:r>
          </a:p>
        </p:txBody>
      </p:sp>
    </p:spTree>
    <p:extLst>
      <p:ext uri="{BB962C8B-B14F-4D97-AF65-F5344CB8AC3E}">
        <p14:creationId xmlns:p14="http://schemas.microsoft.com/office/powerpoint/2010/main" val="36278005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logo-05"/>
          <p:cNvPicPr>
            <a:picLocks noChangeAspect="1"/>
          </p:cNvPicPr>
          <p:nvPr/>
        </p:nvPicPr>
        <p:blipFill>
          <a:blip r:embed="rId3"/>
          <a:stretch>
            <a:fillRect/>
          </a:stretch>
        </p:blipFill>
        <p:spPr>
          <a:xfrm>
            <a:off x="7119461" y="-962025"/>
            <a:ext cx="3331845" cy="3074670"/>
          </a:xfrm>
          <a:prstGeom prst="rect">
            <a:avLst/>
          </a:prstGeom>
        </p:spPr>
      </p:pic>
      <p:pic>
        <p:nvPicPr>
          <p:cNvPr id="15" name="图片 14" descr="logo-06 - 副本"/>
          <p:cNvPicPr>
            <a:picLocks noChangeAspect="1"/>
          </p:cNvPicPr>
          <p:nvPr/>
        </p:nvPicPr>
        <p:blipFill>
          <a:blip r:embed="rId4"/>
          <a:stretch>
            <a:fillRect/>
          </a:stretch>
        </p:blipFill>
        <p:spPr>
          <a:xfrm>
            <a:off x="-713423" y="2828925"/>
            <a:ext cx="2627948" cy="2424589"/>
          </a:xfrm>
          <a:prstGeom prst="rect">
            <a:avLst/>
          </a:prstGeom>
        </p:spPr>
      </p:pic>
      <p:pic>
        <p:nvPicPr>
          <p:cNvPr id="3" name="图片 2" descr="logo-08"/>
          <p:cNvPicPr>
            <a:picLocks noChangeAspect="1"/>
          </p:cNvPicPr>
          <p:nvPr/>
        </p:nvPicPr>
        <p:blipFill>
          <a:blip r:embed="rId5"/>
          <a:stretch>
            <a:fillRect/>
          </a:stretch>
        </p:blipFill>
        <p:spPr>
          <a:xfrm>
            <a:off x="296227" y="3999547"/>
            <a:ext cx="3649028" cy="1414463"/>
          </a:xfrm>
          <a:prstGeom prst="rect">
            <a:avLst/>
          </a:prstGeom>
        </p:spPr>
      </p:pic>
      <p:pic>
        <p:nvPicPr>
          <p:cNvPr id="4" name="图片 3" descr="logo-08"/>
          <p:cNvPicPr>
            <a:picLocks noChangeAspect="1"/>
          </p:cNvPicPr>
          <p:nvPr/>
        </p:nvPicPr>
        <p:blipFill>
          <a:blip r:embed="rId5"/>
          <a:stretch>
            <a:fillRect/>
          </a:stretch>
        </p:blipFill>
        <p:spPr>
          <a:xfrm flipH="1">
            <a:off x="5180647" y="3999547"/>
            <a:ext cx="3649028" cy="1414463"/>
          </a:xfrm>
          <a:prstGeom prst="rect">
            <a:avLst/>
          </a:prstGeom>
        </p:spPr>
      </p:pic>
      <p:pic>
        <p:nvPicPr>
          <p:cNvPr id="21" name="图片 20" descr="logo_画板 1 副本 3"/>
          <p:cNvPicPr>
            <a:picLocks noChangeAspect="1"/>
          </p:cNvPicPr>
          <p:nvPr/>
        </p:nvPicPr>
        <p:blipFill>
          <a:blip r:embed="rId6"/>
          <a:stretch>
            <a:fillRect/>
          </a:stretch>
        </p:blipFill>
        <p:spPr>
          <a:xfrm>
            <a:off x="-7144" y="3741420"/>
            <a:ext cx="9175433" cy="1402080"/>
          </a:xfrm>
          <a:prstGeom prst="rect">
            <a:avLst/>
          </a:prstGeom>
        </p:spPr>
      </p:pic>
      <p:sp>
        <p:nvSpPr>
          <p:cNvPr id="5" name="文本框 4">
            <a:extLst>
              <a:ext uri="{FF2B5EF4-FFF2-40B4-BE49-F238E27FC236}">
                <a16:creationId xmlns:a16="http://schemas.microsoft.com/office/drawing/2014/main" id="{1588D036-7622-F8BD-C137-43F710997E75}"/>
              </a:ext>
            </a:extLst>
          </p:cNvPr>
          <p:cNvSpPr txBox="1"/>
          <p:nvPr/>
        </p:nvSpPr>
        <p:spPr>
          <a:xfrm>
            <a:off x="1808368" y="1845304"/>
            <a:ext cx="5581650" cy="968791"/>
          </a:xfrm>
          <a:prstGeom prst="rect">
            <a:avLst/>
          </a:prstGeom>
          <a:noFill/>
        </p:spPr>
        <p:txBody>
          <a:bodyPr wrap="square">
            <a:spAutoFit/>
          </a:bodyPr>
          <a:lstStyle/>
          <a:p>
            <a:pPr marR="0" algn="ctr" fontAlgn="auto">
              <a:lnSpc>
                <a:spcPct val="150000"/>
              </a:lnSpc>
              <a:spcBef>
                <a:spcPts val="0"/>
              </a:spcBef>
              <a:spcAft>
                <a:spcPts val="0"/>
              </a:spcAft>
              <a:buClrTx/>
              <a:buSzTx/>
              <a:buFontTx/>
              <a:buNone/>
              <a:defRPr/>
            </a:pPr>
            <a:r>
              <a:rPr lang="zh-CN" altLang="en-US" sz="4500" b="1" dirty="0">
                <a:solidFill>
                  <a:srgbClr val="B88F4D"/>
                </a:solidFill>
                <a:latin typeface="宋体" panose="02010600030101010101" pitchFamily="2" charset="-122"/>
                <a:ea typeface="宋体" panose="02010600030101010101" pitchFamily="2" charset="-122"/>
                <a:sym typeface="+mn-ea"/>
              </a:rPr>
              <a:t>学习数模，共享欢乐</a:t>
            </a:r>
            <a:endParaRPr lang="en-US" altLang="zh-CN" sz="4500" b="1" dirty="0">
              <a:solidFill>
                <a:srgbClr val="B88F4D"/>
              </a:solidFill>
              <a:latin typeface="宋体" panose="02010600030101010101" pitchFamily="2" charset="-122"/>
              <a:ea typeface="宋体" panose="02010600030101010101" pitchFamily="2" charset="-122"/>
              <a:sym typeface="+mn-ea"/>
            </a:endParaRPr>
          </a:p>
        </p:txBody>
      </p:sp>
      <p:pic>
        <p:nvPicPr>
          <p:cNvPr id="6" name="图片 5" descr="底图-04">
            <a:extLst>
              <a:ext uri="{FF2B5EF4-FFF2-40B4-BE49-F238E27FC236}">
                <a16:creationId xmlns:a16="http://schemas.microsoft.com/office/drawing/2014/main" id="{BE0CB60D-5243-0623-383A-876C2A5F348F}"/>
              </a:ext>
            </a:extLst>
          </p:cNvPr>
          <p:cNvPicPr>
            <a:picLocks noChangeAspect="1"/>
          </p:cNvPicPr>
          <p:nvPr/>
        </p:nvPicPr>
        <p:blipFill>
          <a:blip r:embed="rId7">
            <a:duotone>
              <a:prstClr val="black"/>
              <a:schemeClr val="accent4">
                <a:tint val="45000"/>
                <a:satMod val="400000"/>
              </a:schemeClr>
            </a:duotone>
          </a:blip>
          <a:srcRect r="4676"/>
          <a:stretch>
            <a:fillRect/>
          </a:stretch>
        </p:blipFill>
        <p:spPr>
          <a:xfrm flipH="1">
            <a:off x="-7145" y="14363"/>
            <a:ext cx="7042684" cy="1670446"/>
          </a:xfrm>
          <a:prstGeom prst="rect">
            <a:avLst/>
          </a:prstGeom>
        </p:spPr>
      </p:pic>
    </p:spTree>
    <p:custDataLst>
      <p:tags r:id="rId1"/>
    </p:custDataLst>
    <p:extLst>
      <p:ext uri="{BB962C8B-B14F-4D97-AF65-F5344CB8AC3E}">
        <p14:creationId xmlns:p14="http://schemas.microsoft.com/office/powerpoint/2010/main" val="400088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JjOTFmM2U0OTNlMDBmNWY1YTQyNjhhM2Y4ZGQwMWE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5396"/>
  <p:tag name="KSO_WM_UNIT_ID" val="custom20205396_7*a*1"/>
  <p:tag name="KSO_WM_UNIT_ISNUMDGMTITLE" val="0"/>
</p:tagLst>
</file>

<file path=ppt/tags/tag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33887</TotalTime>
  <Words>1811</Words>
  <Application>Microsoft Office PowerPoint</Application>
  <PresentationFormat>全屏显示(16:9)</PresentationFormat>
  <Paragraphs>364</Paragraphs>
  <Slides>38</Slides>
  <Notes>37</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2</vt:i4>
      </vt:variant>
      <vt:variant>
        <vt:lpstr>幻灯片标题</vt:lpstr>
      </vt:variant>
      <vt:variant>
        <vt:i4>38</vt:i4>
      </vt:variant>
    </vt:vector>
  </HeadingPairs>
  <TitlesOfParts>
    <vt:vector size="60" baseType="lpstr">
      <vt:lpstr>HEITI SC MEDIUM</vt:lpstr>
      <vt:lpstr>HEITI SC MEDIUM</vt:lpstr>
      <vt:lpstr>Menlo</vt:lpstr>
      <vt:lpstr>等线</vt:lpstr>
      <vt:lpstr>方正小标宋简体</vt:lpstr>
      <vt:lpstr>华文新魏</vt:lpstr>
      <vt:lpstr>隶书</vt:lpstr>
      <vt:lpstr>宋体</vt:lpstr>
      <vt:lpstr>宋体</vt:lpstr>
      <vt:lpstr>微软雅黑</vt:lpstr>
      <vt:lpstr>Arial</vt:lpstr>
      <vt:lpstr>Calibri</vt:lpstr>
      <vt:lpstr>Cambria Math</vt:lpstr>
      <vt:lpstr>Impact</vt:lpstr>
      <vt:lpstr>Open Sans</vt:lpstr>
      <vt:lpstr>Times New Roman</vt:lpstr>
      <vt:lpstr>Wingdings</vt:lpstr>
      <vt:lpstr>Office 主题​​</vt:lpstr>
      <vt:lpstr>1_Office 主题​​</vt:lpstr>
      <vt:lpstr>3_Office 主题</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范利群</dc:creator>
  <cp:lastModifiedBy>永铭 田</cp:lastModifiedBy>
  <cp:revision>1148</cp:revision>
  <dcterms:created xsi:type="dcterms:W3CDTF">2019-07-09T19:19:00Z</dcterms:created>
  <dcterms:modified xsi:type="dcterms:W3CDTF">2025-01-02T12:10:17Z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SaveFontToCloudKey">
    <vt:lpwstr>394297376_btnclosed</vt:lpwstr>
  </property>
  <property fmtid="{D5CDD505-2E9C-101B-9397-08002B2CF9AE}" pid="3" name="KSOProductBuildVer">
    <vt:lpwstr>2052-12.1.0.16388</vt:lpwstr>
  </property>
  <property fmtid="{D5CDD505-2E9C-101B-9397-08002B2CF9AE}" pid="4" name="ICV">
    <vt:lpwstr>C0DBDE7E3A2D4F4C84FC7BA13130DBAF_13</vt:lpwstr>
  </property>
</Properties>
</file>