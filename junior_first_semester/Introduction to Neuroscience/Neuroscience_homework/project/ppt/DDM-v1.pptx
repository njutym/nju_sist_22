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3.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4.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5.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6.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9" r:id="rId2"/>
    <p:sldId id="260" r:id="rId3"/>
    <p:sldId id="309" r:id="rId4"/>
    <p:sldId id="257" r:id="rId5"/>
    <p:sldId id="289" r:id="rId6"/>
    <p:sldId id="310" r:id="rId7"/>
    <p:sldId id="290" r:id="rId8"/>
    <p:sldId id="311" r:id="rId9"/>
    <p:sldId id="291" r:id="rId10"/>
    <p:sldId id="292" r:id="rId11"/>
    <p:sldId id="312" r:id="rId12"/>
    <p:sldId id="295" r:id="rId13"/>
    <p:sldId id="294" r:id="rId14"/>
    <p:sldId id="296" r:id="rId15"/>
    <p:sldId id="297" r:id="rId16"/>
    <p:sldId id="299" r:id="rId17"/>
    <p:sldId id="300" r:id="rId18"/>
    <p:sldId id="301" r:id="rId19"/>
    <p:sldId id="302" r:id="rId20"/>
    <p:sldId id="303" r:id="rId21"/>
    <p:sldId id="313" r:id="rId22"/>
    <p:sldId id="304" r:id="rId23"/>
    <p:sldId id="305" r:id="rId24"/>
    <p:sldId id="307" r:id="rId25"/>
    <p:sldId id="314" r:id="rId26"/>
    <p:sldId id="308" r:id="rId27"/>
    <p:sldId id="306"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8" autoAdjust="0"/>
    <p:restoredTop sz="96314" autoAdjust="0"/>
  </p:normalViewPr>
  <p:slideViewPr>
    <p:cSldViewPr snapToGrid="0">
      <p:cViewPr>
        <p:scale>
          <a:sx n="100" d="100"/>
          <a:sy n="100" d="100"/>
        </p:scale>
        <p:origin x="36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2024/11/24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4026893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4B9ED47-EE91-4403-9E82-880EC51C5D5D}" type="slidenum">
              <a:rPr lang="zh-CN" altLang="en-US" smtClean="0"/>
              <a:t>2</a:t>
            </a:fld>
            <a:endParaRPr lang="zh-CN" altLang="en-US"/>
          </a:p>
        </p:txBody>
      </p:sp>
    </p:spTree>
    <p:extLst>
      <p:ext uri="{BB962C8B-B14F-4D97-AF65-F5344CB8AC3E}">
        <p14:creationId xmlns:p14="http://schemas.microsoft.com/office/powerpoint/2010/main" val="3007810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9C52E-0173-A9C5-9C53-78603A58E8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6D5E44-D1CF-B4F0-DB35-AF9DAEEFE1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9947A4-FE93-22A7-C3F6-854E7087C41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726E8A3-3867-B245-56F0-9406E0F722A7}"/>
              </a:ext>
            </a:extLst>
          </p:cNvPr>
          <p:cNvSpPr>
            <a:spLocks noGrp="1"/>
          </p:cNvSpPr>
          <p:nvPr>
            <p:ph type="sldNum" sz="quarter" idx="5"/>
          </p:nvPr>
        </p:nvSpPr>
        <p:spPr/>
        <p:txBody>
          <a:bodyPr/>
          <a:lstStyle/>
          <a:p>
            <a:fld id="{F4B9ED47-EE91-4403-9E82-880EC51C5D5D}" type="slidenum">
              <a:rPr lang="zh-CN" altLang="en-US" smtClean="0"/>
              <a:t>3</a:t>
            </a:fld>
            <a:endParaRPr lang="zh-CN" altLang="en-US"/>
          </a:p>
        </p:txBody>
      </p:sp>
    </p:spTree>
    <p:extLst>
      <p:ext uri="{BB962C8B-B14F-4D97-AF65-F5344CB8AC3E}">
        <p14:creationId xmlns:p14="http://schemas.microsoft.com/office/powerpoint/2010/main" val="2951481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E7FD8-3485-AD49-33A0-7C78D9073F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38AC4A-A020-DB40-3A96-6A2D59EE2A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90E9EF2-8B4C-3880-559B-0F750ED8F06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B1FCF3F-FBE2-9E8D-191F-2226799A0F67}"/>
              </a:ext>
            </a:extLst>
          </p:cNvPr>
          <p:cNvSpPr>
            <a:spLocks noGrp="1"/>
          </p:cNvSpPr>
          <p:nvPr>
            <p:ph type="sldNum" sz="quarter" idx="5"/>
          </p:nvPr>
        </p:nvSpPr>
        <p:spPr/>
        <p:txBody>
          <a:bodyPr/>
          <a:lstStyle/>
          <a:p>
            <a:fld id="{F4B9ED47-EE91-4403-9E82-880EC51C5D5D}" type="slidenum">
              <a:rPr lang="zh-CN" altLang="en-US" smtClean="0"/>
              <a:t>6</a:t>
            </a:fld>
            <a:endParaRPr lang="zh-CN" altLang="en-US"/>
          </a:p>
        </p:txBody>
      </p:sp>
    </p:spTree>
    <p:extLst>
      <p:ext uri="{BB962C8B-B14F-4D97-AF65-F5344CB8AC3E}">
        <p14:creationId xmlns:p14="http://schemas.microsoft.com/office/powerpoint/2010/main" val="3429387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F5A46-D9CE-B3B1-77CF-23DAE53856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CD9605-066D-4049-1CD9-173F23739B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AA2F9C-106E-4192-6254-03BD7705CDC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59AB952-5D32-7D53-1A8F-795947F4358A}"/>
              </a:ext>
            </a:extLst>
          </p:cNvPr>
          <p:cNvSpPr>
            <a:spLocks noGrp="1"/>
          </p:cNvSpPr>
          <p:nvPr>
            <p:ph type="sldNum" sz="quarter" idx="5"/>
          </p:nvPr>
        </p:nvSpPr>
        <p:spPr/>
        <p:txBody>
          <a:bodyPr/>
          <a:lstStyle/>
          <a:p>
            <a:fld id="{F4B9ED47-EE91-4403-9E82-880EC51C5D5D}" type="slidenum">
              <a:rPr lang="zh-CN" altLang="en-US" smtClean="0"/>
              <a:t>11</a:t>
            </a:fld>
            <a:endParaRPr lang="zh-CN" altLang="en-US"/>
          </a:p>
        </p:txBody>
      </p:sp>
    </p:spTree>
    <p:extLst>
      <p:ext uri="{BB962C8B-B14F-4D97-AF65-F5344CB8AC3E}">
        <p14:creationId xmlns:p14="http://schemas.microsoft.com/office/powerpoint/2010/main" val="337927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B591D-C7E8-E559-8524-9E39F3715F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0F1412-DA49-25BF-C952-BFEFEA1E70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F2C5608-0F6C-6CA2-AD0F-81F198243C1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827D30C-9C11-F603-89E3-23131632F2D5}"/>
              </a:ext>
            </a:extLst>
          </p:cNvPr>
          <p:cNvSpPr>
            <a:spLocks noGrp="1"/>
          </p:cNvSpPr>
          <p:nvPr>
            <p:ph type="sldNum" sz="quarter" idx="5"/>
          </p:nvPr>
        </p:nvSpPr>
        <p:spPr/>
        <p:txBody>
          <a:bodyPr/>
          <a:lstStyle/>
          <a:p>
            <a:fld id="{F4B9ED47-EE91-4403-9E82-880EC51C5D5D}" type="slidenum">
              <a:rPr lang="zh-CN" altLang="en-US" smtClean="0"/>
              <a:t>21</a:t>
            </a:fld>
            <a:endParaRPr lang="zh-CN" altLang="en-US"/>
          </a:p>
        </p:txBody>
      </p:sp>
    </p:spTree>
    <p:extLst>
      <p:ext uri="{BB962C8B-B14F-4D97-AF65-F5344CB8AC3E}">
        <p14:creationId xmlns:p14="http://schemas.microsoft.com/office/powerpoint/2010/main" val="1265766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0EE2A-F7E4-B74C-55BA-491F20D7E7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27DCD3-51D0-70AC-96C8-ACA42A2594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4E53ED-48E2-D119-3065-C26822699D4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1AFFE33-86A7-1D27-751F-3B7AE4F174F2}"/>
              </a:ext>
            </a:extLst>
          </p:cNvPr>
          <p:cNvSpPr>
            <a:spLocks noGrp="1"/>
          </p:cNvSpPr>
          <p:nvPr>
            <p:ph type="sldNum" sz="quarter" idx="5"/>
          </p:nvPr>
        </p:nvSpPr>
        <p:spPr/>
        <p:txBody>
          <a:bodyPr/>
          <a:lstStyle/>
          <a:p>
            <a:fld id="{F4B9ED47-EE91-4403-9E82-880EC51C5D5D}" type="slidenum">
              <a:rPr lang="zh-CN" altLang="en-US" smtClean="0"/>
              <a:t>25</a:t>
            </a:fld>
            <a:endParaRPr lang="zh-CN" altLang="en-US"/>
          </a:p>
        </p:txBody>
      </p:sp>
    </p:spTree>
    <p:extLst>
      <p:ext uri="{BB962C8B-B14F-4D97-AF65-F5344CB8AC3E}">
        <p14:creationId xmlns:p14="http://schemas.microsoft.com/office/powerpoint/2010/main" val="4254390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2024/11/24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2024/11/24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2024/11/24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2024/11/24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4.xml"/><Relationship Id="rId7" Type="http://schemas.openxmlformats.org/officeDocument/2006/relationships/slideLayout" Target="../slideLayouts/slideLayout6.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10.xml"/><Relationship Id="rId7" Type="http://schemas.openxmlformats.org/officeDocument/2006/relationships/slideLayout" Target="../slideLayouts/slideLayout6.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9"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5.xml.rels><?xml version="1.0" encoding="UTF-8" standalone="yes"?>
<Relationships xmlns="http://schemas.openxmlformats.org/package/2006/relationships"><Relationship Id="rId3" Type="http://schemas.openxmlformats.org/officeDocument/2006/relationships/hyperlink" Target="https://psycnet.apa.org/doi/10.1037/0033-295X.85.2.59"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17.xml"/><Relationship Id="rId7" Type="http://schemas.openxmlformats.org/officeDocument/2006/relationships/slideLayout" Target="../slideLayouts/slideLayout6.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9"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23.xml"/><Relationship Id="rId7" Type="http://schemas.openxmlformats.org/officeDocument/2006/relationships/slideLayout" Target="../slideLayouts/slideLayout6.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9"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29.xml"/><Relationship Id="rId7" Type="http://schemas.openxmlformats.org/officeDocument/2006/relationships/slideLayout" Target="../slideLayouts/slideLayout6.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9"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36.xml"/><Relationship Id="rId7" Type="http://schemas.openxmlformats.org/officeDocument/2006/relationships/slideLayout" Target="../slideLayouts/slideLayout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9" Type="http://schemas.openxmlformats.org/officeDocument/2006/relationships/image" Target="../media/image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6.xml"/><Relationship Id="rId1" Type="http://schemas.openxmlformats.org/officeDocument/2006/relationships/tags" Target="../tags/tag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080" y="-5080"/>
            <a:ext cx="12205335" cy="6863080"/>
            <a:chOff x="-8" y="-8"/>
            <a:chExt cx="19221" cy="10808"/>
          </a:xfrm>
        </p:grpSpPr>
        <p:pic>
          <p:nvPicPr>
            <p:cNvPr id="109" name="图片 108"/>
            <p:cNvPicPr>
              <a:picLocks noChangeAspect="1"/>
            </p:cNvPicPr>
            <p:nvPr/>
          </p:nvPicPr>
          <p:blipFill>
            <a:blip r:embed="rId3"/>
            <a:srcRect b="17500"/>
            <a:stretch>
              <a:fillRect/>
            </a:stretch>
          </p:blipFill>
          <p:spPr>
            <a:xfrm>
              <a:off x="14" y="-8"/>
              <a:ext cx="19182" cy="10808"/>
            </a:xfrm>
            <a:prstGeom prst="rect">
              <a:avLst/>
            </a:prstGeom>
          </p:spPr>
        </p:pic>
        <p:sp>
          <p:nvSpPr>
            <p:cNvPr id="5" name="矩形 4"/>
            <p:cNvSpPr/>
            <p:nvPr/>
          </p:nvSpPr>
          <p:spPr>
            <a:xfrm>
              <a:off x="-8" y="0"/>
              <a:ext cx="19221" cy="10800"/>
            </a:xfrm>
            <a:prstGeom prst="rect">
              <a:avLst/>
            </a:prstGeom>
            <a:gradFill>
              <a:gsLst>
                <a:gs pos="28000">
                  <a:srgbClr val="FFFFFF">
                    <a:alpha val="100000"/>
                  </a:srgbClr>
                </a:gs>
                <a:gs pos="79000">
                  <a:schemeClr val="bg1">
                    <a:alpha val="92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p:cNvSpPr>
            <a:spLocks noChangeAspect="1"/>
          </p:cNvSpPr>
          <p:nvPr>
            <p:custDataLst>
              <p:tags r:id="rId1"/>
            </p:custDataLst>
          </p:nvPr>
        </p:nvSpPr>
        <p:spPr>
          <a:xfrm>
            <a:off x="-13970" y="0"/>
            <a:ext cx="12610854" cy="6858000"/>
          </a:xfrm>
          <a:prstGeom prst="rect">
            <a:avLst/>
          </a:prstGeom>
          <a:solidFill>
            <a:schemeClr val="accent2">
              <a:alpha val="9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p:cNvSpPr txBox="1"/>
          <p:nvPr/>
        </p:nvSpPr>
        <p:spPr>
          <a:xfrm>
            <a:off x="1006475" y="1327280"/>
            <a:ext cx="10599420" cy="178779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8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Deep Insights into the Drift Diffusion Model: From Basics to Variants</a:t>
            </a:r>
            <a:endParaRPr lang="zh-CN" altLang="en-US" sz="48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7" name="文本占位符 85"/>
          <p:cNvSpPr txBox="1"/>
          <p:nvPr/>
        </p:nvSpPr>
        <p:spPr>
          <a:xfrm>
            <a:off x="1006475" y="4407514"/>
            <a:ext cx="5520614" cy="369332"/>
          </a:xfrm>
          <a:prstGeom prst="rect">
            <a:avLst/>
          </a:prstGeom>
        </p:spPr>
        <p:txBody>
          <a:bodyPr wrap="non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spcBef>
                <a:spcPts val="0"/>
              </a:spcBef>
              <a:buNone/>
            </a:pPr>
            <a:r>
              <a:rPr lang="en-US" sz="2000" dirty="0">
                <a:solidFill>
                  <a:schemeClr val="bg1"/>
                </a:solidFill>
                <a:latin typeface="Times New Roman" panose="02020603050405020304" pitchFamily="18" charset="0"/>
                <a:cs typeface="Times New Roman" panose="02020603050405020304" pitchFamily="18" charset="0"/>
                <a:sym typeface="+mn-lt"/>
              </a:rPr>
              <a:t>Yong-Ming Tian, Zong-Yi Chen, Shiqi Liu, Yajie Li</a:t>
            </a:r>
            <a:endParaRPr sz="2000" dirty="0">
              <a:solidFill>
                <a:schemeClr val="bg1"/>
              </a:solidFill>
              <a:latin typeface="Times New Roman" panose="02020603050405020304" pitchFamily="18" charset="0"/>
              <a:cs typeface="Times New Roman" panose="02020603050405020304" pitchFamily="18" charset="0"/>
              <a:sym typeface="+mn-lt"/>
            </a:endParaRPr>
          </a:p>
        </p:txBody>
      </p:sp>
      <p:cxnSp>
        <p:nvCxnSpPr>
          <p:cNvPr id="10" name="直接连接符 9"/>
          <p:cNvCxnSpPr/>
          <p:nvPr/>
        </p:nvCxnSpPr>
        <p:spPr>
          <a:xfrm>
            <a:off x="1006475" y="3775319"/>
            <a:ext cx="42926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349885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1410335" y="16852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3265170" y="53854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9946005" y="4836795"/>
            <a:ext cx="1659890" cy="173228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287000" y="459105"/>
            <a:ext cx="1905000" cy="190500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5732780" y="107950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9222740" y="2101850"/>
            <a:ext cx="548640" cy="54864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5080" y="-5080"/>
            <a:ext cx="10185400" cy="6863080"/>
            <a:chOff x="-8" y="-8"/>
            <a:chExt cx="19221" cy="10808"/>
          </a:xfrm>
        </p:grpSpPr>
        <p:pic>
          <p:nvPicPr>
            <p:cNvPr id="109" name="图片 108"/>
            <p:cNvPicPr>
              <a:picLocks noChangeAspect="1"/>
            </p:cNvPicPr>
            <p:nvPr/>
          </p:nvPicPr>
          <p:blipFill>
            <a:blip r:embed="rId9"/>
            <a:srcRect b="17500"/>
            <a:stretch>
              <a:fillRect/>
            </a:stretch>
          </p:blipFill>
          <p:spPr>
            <a:xfrm>
              <a:off x="14" y="-8"/>
              <a:ext cx="19182" cy="10808"/>
            </a:xfrm>
            <a:prstGeom prst="rect">
              <a:avLst/>
            </a:prstGeom>
          </p:spPr>
        </p:pic>
        <p:sp>
          <p:nvSpPr>
            <p:cNvPr id="9" name="矩形 8"/>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2A68A64D-94C3-AD3B-2BF5-F080573F842D}"/>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8421C38C-9180-55A9-AC1F-54CD0C738FAA}"/>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E0647246-129A-4623-34BE-EF33EE2314B7}"/>
              </a:ext>
            </a:extLst>
          </p:cNvPr>
          <p:cNvSpPr txBox="1"/>
          <p:nvPr/>
        </p:nvSpPr>
        <p:spPr>
          <a:xfrm>
            <a:off x="5273038" y="1916167"/>
            <a:ext cx="5432474"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E641A4FD-E695-A862-A910-5EF0FECEF80A}"/>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95D21221-2293-E9AE-8E86-4FD01DBAD191}"/>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9004DFBA-C2F4-9945-47CF-7D41ECD821CE}"/>
              </a:ext>
            </a:extLst>
          </p:cNvPr>
          <p:cNvSpPr txBox="1"/>
          <p:nvPr/>
        </p:nvSpPr>
        <p:spPr>
          <a:xfrm>
            <a:off x="5238445" y="3168106"/>
            <a:ext cx="5803237"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B2F8A4EE-404C-6140-2EF1-7E99449DDA16}"/>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BC4D8C79-D905-C607-7648-B8CAA25948C9}"/>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119923FE-6BE7-B69B-C65E-5F8DFAC363E9}"/>
              </a:ext>
            </a:extLst>
          </p:cNvPr>
          <p:cNvSpPr txBox="1"/>
          <p:nvPr/>
        </p:nvSpPr>
        <p:spPr>
          <a:xfrm>
            <a:off x="5273038" y="4428239"/>
            <a:ext cx="6410178"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0A4FE81A-1F42-FC3B-9806-A80A50108EDE}"/>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24C68E90-8F41-1D91-1C93-0948CCA9AF06}"/>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A33C10DC-0D8E-B8B8-45A0-EB53F10829EE}"/>
              </a:ext>
            </a:extLst>
          </p:cNvPr>
          <p:cNvSpPr txBox="1"/>
          <p:nvPr/>
        </p:nvSpPr>
        <p:spPr>
          <a:xfrm>
            <a:off x="5273040" y="5680178"/>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48593A66-936C-1358-DB55-A024C508552C}"/>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933423EE-7A56-3567-5B99-EFC43F666F2D}"/>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
        <p:nvSpPr>
          <p:cNvPr id="16" name="文本框 15">
            <a:extLst>
              <a:ext uri="{FF2B5EF4-FFF2-40B4-BE49-F238E27FC236}">
                <a16:creationId xmlns:a16="http://schemas.microsoft.com/office/drawing/2014/main" id="{52B09DF7-15DA-54A5-90DA-91E73C15B36B}"/>
              </a:ext>
            </a:extLst>
          </p:cNvPr>
          <p:cNvSpPr txBox="1"/>
          <p:nvPr/>
        </p:nvSpPr>
        <p:spPr>
          <a:xfrm>
            <a:off x="609600" y="952500"/>
            <a:ext cx="2063750" cy="1477328"/>
          </a:xfrm>
          <a:prstGeom prst="rect">
            <a:avLst/>
          </a:prstGeom>
          <a:noFill/>
        </p:spPr>
        <p:txBody>
          <a:bodyPr wrap="square" rtlCol="0">
            <a:spAutoFit/>
          </a:bodyPr>
          <a:lstStyle/>
          <a:p>
            <a:r>
              <a:rPr lang="zh-CN" altLang="en-US" dirty="0">
                <a:solidFill>
                  <a:srgbClr val="FF0000"/>
                </a:solidFill>
              </a:rPr>
              <a:t>把每个数字改宽了，改为了一行，可能是格式问题，你的版本在我这显示数字是两行</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C424B-55F7-3181-D224-59601F7A64D3}"/>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5C4A87C9-54D7-8AE5-7372-C1F0F654FD14}"/>
              </a:ext>
            </a:extLst>
          </p:cNvPr>
          <p:cNvGrpSpPr/>
          <p:nvPr/>
        </p:nvGrpSpPr>
        <p:grpSpPr>
          <a:xfrm>
            <a:off x="-5080" y="-5080"/>
            <a:ext cx="10185400" cy="6863080"/>
            <a:chOff x="-8" y="-8"/>
            <a:chExt cx="19221" cy="10808"/>
          </a:xfrm>
        </p:grpSpPr>
        <p:pic>
          <p:nvPicPr>
            <p:cNvPr id="109" name="图片 108">
              <a:extLst>
                <a:ext uri="{FF2B5EF4-FFF2-40B4-BE49-F238E27FC236}">
                  <a16:creationId xmlns:a16="http://schemas.microsoft.com/office/drawing/2014/main" id="{0ABE1AB5-69DB-4EDA-0D0E-844F21E7BAA9}"/>
                </a:ext>
              </a:extLst>
            </p:cNvPr>
            <p:cNvPicPr>
              <a:picLocks noChangeAspect="1"/>
            </p:cNvPicPr>
            <p:nvPr/>
          </p:nvPicPr>
          <p:blipFill>
            <a:blip r:embed="rId9"/>
            <a:srcRect b="17500"/>
            <a:stretch>
              <a:fillRect/>
            </a:stretch>
          </p:blipFill>
          <p:spPr>
            <a:xfrm>
              <a:off x="14" y="-8"/>
              <a:ext cx="19182" cy="10808"/>
            </a:xfrm>
            <a:prstGeom prst="rect">
              <a:avLst/>
            </a:prstGeom>
          </p:spPr>
        </p:pic>
        <p:sp>
          <p:nvSpPr>
            <p:cNvPr id="9" name="矩形 8">
              <a:extLst>
                <a:ext uri="{FF2B5EF4-FFF2-40B4-BE49-F238E27FC236}">
                  <a16:creationId xmlns:a16="http://schemas.microsoft.com/office/drawing/2014/main" id="{C8C657A5-C818-627B-6BBD-FD78F5943727}"/>
                </a:ext>
              </a:extLst>
            </p:cNvPr>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1B9342E2-B7B3-FD29-3645-C98FBB24BA11}"/>
              </a:ext>
            </a:extLst>
          </p:cNvPr>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3783B010-77C5-8B2C-2B02-941888C19343}"/>
              </a:ext>
            </a:extLst>
          </p:cNvPr>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a:extLst>
              <a:ext uri="{FF2B5EF4-FFF2-40B4-BE49-F238E27FC236}">
                <a16:creationId xmlns:a16="http://schemas.microsoft.com/office/drawing/2014/main" id="{B26997F5-E628-5F25-3B78-489AE82ADB77}"/>
              </a:ext>
            </a:extLst>
          </p:cNvPr>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a:extLst>
              <a:ext uri="{FF2B5EF4-FFF2-40B4-BE49-F238E27FC236}">
                <a16:creationId xmlns:a16="http://schemas.microsoft.com/office/drawing/2014/main" id="{A0A0080E-311C-1901-2892-7653FCB05C48}"/>
              </a:ext>
            </a:extLst>
          </p:cNvPr>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48DC5273-6920-97D6-6923-6265F2BEA1F7}"/>
              </a:ext>
            </a:extLst>
          </p:cNvPr>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CC925BA6-19D4-0F8B-588E-900277322FF8}"/>
              </a:ext>
            </a:extLst>
          </p:cNvPr>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F546BDC7-84F2-8E73-6748-4B45B82C272F}"/>
              </a:ext>
            </a:extLst>
          </p:cNvPr>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8A902111-0CC9-3F24-3AFE-AFC689513984}"/>
              </a:ext>
            </a:extLst>
          </p:cNvPr>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B6E408D7-4E27-1A6F-D186-17FC208AA9A7}"/>
              </a:ext>
            </a:extLst>
          </p:cNvPr>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62734617-BCC9-433D-4187-A91E0FBC8E7D}"/>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D361E038-E604-11FF-3091-99F57CD0EC6B}"/>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ECC55D42-30C8-919B-6F54-F329E7B37DF1}"/>
              </a:ext>
            </a:extLst>
          </p:cNvPr>
          <p:cNvSpPr txBox="1"/>
          <p:nvPr/>
        </p:nvSpPr>
        <p:spPr>
          <a:xfrm>
            <a:off x="5273038" y="1916167"/>
            <a:ext cx="5432474"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662138DF-D83D-3254-D16C-E4744F90BD0B}"/>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EAEC4AD9-BE13-1E6E-C438-245093BB4DEC}"/>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ECD35F38-B78D-A9F3-0DB3-CC13A476D431}"/>
              </a:ext>
            </a:extLst>
          </p:cNvPr>
          <p:cNvSpPr txBox="1"/>
          <p:nvPr/>
        </p:nvSpPr>
        <p:spPr>
          <a:xfrm>
            <a:off x="5238445" y="3168106"/>
            <a:ext cx="5803237"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FD2A7500-53C9-58E4-18DC-E9CD3E2043D5}"/>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3946141D-B0AE-466B-C4EC-056D2E6F984F}"/>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24EC383D-931D-9C74-8371-35061580F039}"/>
              </a:ext>
            </a:extLst>
          </p:cNvPr>
          <p:cNvSpPr txBox="1"/>
          <p:nvPr/>
        </p:nvSpPr>
        <p:spPr>
          <a:xfrm>
            <a:off x="5273038" y="4428239"/>
            <a:ext cx="6410178"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858FDB8C-D6BA-4370-74D2-1D9EEA18C7E2}"/>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6C877ED2-CA80-EAF3-CE26-4DAD304134BC}"/>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6B90F83C-151B-BE7C-250B-3CED53E0EE36}"/>
              </a:ext>
            </a:extLst>
          </p:cNvPr>
          <p:cNvSpPr txBox="1"/>
          <p:nvPr/>
        </p:nvSpPr>
        <p:spPr>
          <a:xfrm>
            <a:off x="5273040" y="5680178"/>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901E483B-F531-C7F9-45E3-8466039A22F8}"/>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EB4CF970-73AE-1276-F142-28835F8C6D61}"/>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
        <p:nvSpPr>
          <p:cNvPr id="16" name="文本框 15">
            <a:extLst>
              <a:ext uri="{FF2B5EF4-FFF2-40B4-BE49-F238E27FC236}">
                <a16:creationId xmlns:a16="http://schemas.microsoft.com/office/drawing/2014/main" id="{1092A680-B6A6-E365-AB70-41CF84CF2746}"/>
              </a:ext>
            </a:extLst>
          </p:cNvPr>
          <p:cNvSpPr txBox="1"/>
          <p:nvPr/>
        </p:nvSpPr>
        <p:spPr>
          <a:xfrm>
            <a:off x="609600" y="952500"/>
            <a:ext cx="2063750" cy="923330"/>
          </a:xfrm>
          <a:prstGeom prst="rect">
            <a:avLst/>
          </a:prstGeom>
          <a:noFill/>
        </p:spPr>
        <p:txBody>
          <a:bodyPr wrap="square" rtlCol="0">
            <a:spAutoFit/>
          </a:bodyPr>
          <a:lstStyle/>
          <a:p>
            <a:r>
              <a:rPr lang="zh-CN" altLang="en-US" dirty="0">
                <a:solidFill>
                  <a:srgbClr val="FF0000"/>
                </a:solidFill>
              </a:rPr>
              <a:t>这里每一章节开头加一张</a:t>
            </a:r>
            <a:r>
              <a:rPr lang="en-US" altLang="zh-CN" dirty="0">
                <a:solidFill>
                  <a:srgbClr val="FF0000"/>
                </a:solidFill>
              </a:rPr>
              <a:t>ppt</a:t>
            </a:r>
            <a:r>
              <a:rPr lang="zh-CN" altLang="en-US" dirty="0">
                <a:solidFill>
                  <a:srgbClr val="FF0000"/>
                </a:solidFill>
              </a:rPr>
              <a:t>彰显自己的逻辑</a:t>
            </a:r>
          </a:p>
        </p:txBody>
      </p:sp>
    </p:spTree>
    <p:extLst>
      <p:ext uri="{BB962C8B-B14F-4D97-AF65-F5344CB8AC3E}">
        <p14:creationId xmlns:p14="http://schemas.microsoft.com/office/powerpoint/2010/main" val="2429638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p:cNvGrpSpPr>
            <a:grpSpLocks noChangeAspect="1"/>
          </p:cNvGrpSpPr>
          <p:nvPr>
            <p:custDataLst>
              <p:tags r:id="rId1"/>
            </p:custDataLst>
          </p:nvPr>
        </p:nvGrpSpPr>
        <p:grpSpPr>
          <a:xfrm>
            <a:off x="-3387577" y="1923819"/>
            <a:ext cx="11850077" cy="2450858"/>
            <a:chOff x="1" y="1895348"/>
            <a:chExt cx="7123176" cy="3143504"/>
          </a:xfrm>
        </p:grpSpPr>
        <p:sp>
          <p:nvSpPr>
            <p:cNvPr id="10" name="í$ḻídè"/>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6" name="ïşlíďe"/>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4" name="椭圆 3"/>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509272" y="468691"/>
            <a:ext cx="5689010"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grpSp>
        <p:nvGrpSpPr>
          <p:cNvPr id="7" name="组合 6"/>
          <p:cNvGrpSpPr/>
          <p:nvPr/>
        </p:nvGrpSpPr>
        <p:grpSpPr>
          <a:xfrm>
            <a:off x="10638155" y="640715"/>
            <a:ext cx="956310" cy="222250"/>
            <a:chOff x="16633" y="9089"/>
            <a:chExt cx="1506" cy="350"/>
          </a:xfrm>
        </p:grpSpPr>
        <p:grpSp>
          <p:nvGrpSpPr>
            <p:cNvPr id="49" name="组合 48"/>
            <p:cNvGrpSpPr/>
            <p:nvPr/>
          </p:nvGrpSpPr>
          <p:grpSpPr>
            <a:xfrm>
              <a:off x="16633" y="9089"/>
              <a:ext cx="351" cy="351"/>
              <a:chOff x="10882313" y="6396038"/>
              <a:chExt cx="303212" cy="303212"/>
            </a:xfrm>
          </p:grpSpPr>
          <p:sp>
            <p:nvSpPr>
              <p:cNvPr id="50" name="任意多边形: 形状 49"/>
              <p:cNvSpPr>
                <a:spLocks noChangeAspect="1"/>
              </p:cNvSpPr>
              <p:nvPr/>
            </p:nvSpPr>
            <p:spPr bwMode="auto">
              <a:xfrm>
                <a:off x="10982939" y="6442640"/>
                <a:ext cx="101961" cy="210009"/>
              </a:xfrm>
              <a:custGeom>
                <a:avLst/>
                <a:gdLst>
                  <a:gd name="connsiteX0" fmla="*/ 153435 w 326134"/>
                  <a:gd name="connsiteY0" fmla="*/ 529358 h 671736"/>
                  <a:gd name="connsiteX1" fmla="*/ 119645 w 326134"/>
                  <a:gd name="connsiteY1" fmla="*/ 546898 h 671736"/>
                  <a:gd name="connsiteX2" fmla="*/ 159446 w 326134"/>
                  <a:gd name="connsiteY2" fmla="*/ 561302 h 671736"/>
                  <a:gd name="connsiteX3" fmla="*/ 159446 w 326134"/>
                  <a:gd name="connsiteY3" fmla="*/ 529682 h 671736"/>
                  <a:gd name="connsiteX4" fmla="*/ 153435 w 326134"/>
                  <a:gd name="connsiteY4" fmla="*/ 529358 h 671736"/>
                  <a:gd name="connsiteX5" fmla="*/ 226631 w 326134"/>
                  <a:gd name="connsiteY5" fmla="*/ 422217 h 671736"/>
                  <a:gd name="connsiteX6" fmla="*/ 202308 w 326134"/>
                  <a:gd name="connsiteY6" fmla="*/ 424428 h 671736"/>
                  <a:gd name="connsiteX7" fmla="*/ 202308 w 326134"/>
                  <a:gd name="connsiteY7" fmla="*/ 474666 h 671736"/>
                  <a:gd name="connsiteX8" fmla="*/ 252558 w 326134"/>
                  <a:gd name="connsiteY8" fmla="*/ 441764 h 671736"/>
                  <a:gd name="connsiteX9" fmla="*/ 226631 w 326134"/>
                  <a:gd name="connsiteY9" fmla="*/ 422217 h 671736"/>
                  <a:gd name="connsiteX10" fmla="*/ 149921 w 326134"/>
                  <a:gd name="connsiteY10" fmla="*/ 298453 h 671736"/>
                  <a:gd name="connsiteX11" fmla="*/ 88390 w 326134"/>
                  <a:gd name="connsiteY11" fmla="*/ 343711 h 671736"/>
                  <a:gd name="connsiteX12" fmla="*/ 149921 w 326134"/>
                  <a:gd name="connsiteY12" fmla="*/ 379555 h 671736"/>
                  <a:gd name="connsiteX13" fmla="*/ 217727 w 326134"/>
                  <a:gd name="connsiteY13" fmla="*/ 142410 h 671736"/>
                  <a:gd name="connsiteX14" fmla="*/ 208658 w 326134"/>
                  <a:gd name="connsiteY14" fmla="*/ 143472 h 671736"/>
                  <a:gd name="connsiteX15" fmla="*/ 208658 w 326134"/>
                  <a:gd name="connsiteY15" fmla="*/ 222253 h 671736"/>
                  <a:gd name="connsiteX16" fmla="*/ 270961 w 326134"/>
                  <a:gd name="connsiteY16" fmla="*/ 166600 h 671736"/>
                  <a:gd name="connsiteX17" fmla="*/ 217727 w 326134"/>
                  <a:gd name="connsiteY17" fmla="*/ 142410 h 671736"/>
                  <a:gd name="connsiteX18" fmla="*/ 176946 w 326134"/>
                  <a:gd name="connsiteY18" fmla="*/ 57 h 671736"/>
                  <a:gd name="connsiteX19" fmla="*/ 222429 w 326134"/>
                  <a:gd name="connsiteY19" fmla="*/ 17460 h 671736"/>
                  <a:gd name="connsiteX20" fmla="*/ 209421 w 326134"/>
                  <a:gd name="connsiteY20" fmla="*/ 68451 h 671736"/>
                  <a:gd name="connsiteX21" fmla="*/ 209421 w 326134"/>
                  <a:gd name="connsiteY21" fmla="*/ 91957 h 671736"/>
                  <a:gd name="connsiteX22" fmla="*/ 325412 w 326134"/>
                  <a:gd name="connsiteY22" fmla="*/ 151627 h 671736"/>
                  <a:gd name="connsiteX23" fmla="*/ 205085 w 326134"/>
                  <a:gd name="connsiteY23" fmla="*/ 278199 h 671736"/>
                  <a:gd name="connsiteX24" fmla="*/ 205085 w 326134"/>
                  <a:gd name="connsiteY24" fmla="*/ 376202 h 671736"/>
                  <a:gd name="connsiteX25" fmla="*/ 304092 w 326134"/>
                  <a:gd name="connsiteY25" fmla="*/ 432979 h 671736"/>
                  <a:gd name="connsiteX26" fmla="*/ 193883 w 326134"/>
                  <a:gd name="connsiteY26" fmla="*/ 519409 h 671736"/>
                  <a:gd name="connsiteX27" fmla="*/ 193883 w 326134"/>
                  <a:gd name="connsiteY27" fmla="*/ 575101 h 671736"/>
                  <a:gd name="connsiteX28" fmla="*/ 326134 w 326134"/>
                  <a:gd name="connsiteY28" fmla="*/ 618859 h 671736"/>
                  <a:gd name="connsiteX29" fmla="*/ 194606 w 326134"/>
                  <a:gd name="connsiteY29" fmla="*/ 599692 h 671736"/>
                  <a:gd name="connsiteX30" fmla="*/ 170396 w 326134"/>
                  <a:gd name="connsiteY30" fmla="*/ 671658 h 671736"/>
                  <a:gd name="connsiteX31" fmla="*/ 159556 w 326134"/>
                  <a:gd name="connsiteY31" fmla="*/ 598246 h 671736"/>
                  <a:gd name="connsiteX32" fmla="*/ 63078 w 326134"/>
                  <a:gd name="connsiteY32" fmla="*/ 542192 h 671736"/>
                  <a:gd name="connsiteX33" fmla="*/ 153413 w 326134"/>
                  <a:gd name="connsiteY33" fmla="*/ 479630 h 671736"/>
                  <a:gd name="connsiteX34" fmla="*/ 153413 w 326134"/>
                  <a:gd name="connsiteY34" fmla="*/ 410919 h 671736"/>
                  <a:gd name="connsiteX35" fmla="*/ 38868 w 326134"/>
                  <a:gd name="connsiteY35" fmla="*/ 356312 h 671736"/>
                  <a:gd name="connsiteX36" fmla="*/ 149800 w 326134"/>
                  <a:gd name="connsiteY36" fmla="*/ 239142 h 671736"/>
                  <a:gd name="connsiteX37" fmla="*/ 149800 w 326134"/>
                  <a:gd name="connsiteY37" fmla="*/ 167177 h 671736"/>
                  <a:gd name="connsiteX38" fmla="*/ 11768 w 326134"/>
                  <a:gd name="connsiteY38" fmla="*/ 206234 h 671736"/>
                  <a:gd name="connsiteX39" fmla="*/ 27305 w 326134"/>
                  <a:gd name="connsiteY39" fmla="*/ 144756 h 671736"/>
                  <a:gd name="connsiteX40" fmla="*/ 148355 w 326134"/>
                  <a:gd name="connsiteY40" fmla="*/ 97743 h 671736"/>
                  <a:gd name="connsiteX41" fmla="*/ 148355 w 326134"/>
                  <a:gd name="connsiteY41" fmla="*/ 63750 h 671736"/>
                  <a:gd name="connsiteX42" fmla="*/ 134985 w 326134"/>
                  <a:gd name="connsiteY42" fmla="*/ 30117 h 671736"/>
                  <a:gd name="connsiteX43" fmla="*/ 176946 w 326134"/>
                  <a:gd name="connsiteY43" fmla="*/ 57 h 671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134" h="671736">
                    <a:moveTo>
                      <a:pt x="153435" y="529358"/>
                    </a:moveTo>
                    <a:cubicBezTo>
                      <a:pt x="142586" y="529177"/>
                      <a:pt x="120751" y="530824"/>
                      <a:pt x="119645" y="546898"/>
                    </a:cubicBezTo>
                    <a:cubicBezTo>
                      <a:pt x="118171" y="568329"/>
                      <a:pt x="159446" y="561302"/>
                      <a:pt x="159446" y="561302"/>
                    </a:cubicBezTo>
                    <a:lnTo>
                      <a:pt x="159446" y="529682"/>
                    </a:lnTo>
                    <a:cubicBezTo>
                      <a:pt x="159446" y="529682"/>
                      <a:pt x="157051" y="529419"/>
                      <a:pt x="153435" y="529358"/>
                    </a:cubicBezTo>
                    <a:close/>
                    <a:moveTo>
                      <a:pt x="226631" y="422217"/>
                    </a:moveTo>
                    <a:cubicBezTo>
                      <a:pt x="214336" y="421509"/>
                      <a:pt x="202308" y="424428"/>
                      <a:pt x="202308" y="424428"/>
                    </a:cubicBezTo>
                    <a:lnTo>
                      <a:pt x="202308" y="474666"/>
                    </a:lnTo>
                    <a:cubicBezTo>
                      <a:pt x="202308" y="474666"/>
                      <a:pt x="254696" y="470421"/>
                      <a:pt x="252558" y="441764"/>
                    </a:cubicBezTo>
                    <a:cubicBezTo>
                      <a:pt x="251489" y="427259"/>
                      <a:pt x="238926" y="422925"/>
                      <a:pt x="226631" y="422217"/>
                    </a:cubicBezTo>
                    <a:close/>
                    <a:moveTo>
                      <a:pt x="149921" y="298453"/>
                    </a:moveTo>
                    <a:cubicBezTo>
                      <a:pt x="149921" y="298453"/>
                      <a:pt x="92302" y="306056"/>
                      <a:pt x="88390" y="343711"/>
                    </a:cubicBezTo>
                    <a:cubicBezTo>
                      <a:pt x="84833" y="381003"/>
                      <a:pt x="149921" y="379555"/>
                      <a:pt x="149921" y="379555"/>
                    </a:cubicBezTo>
                    <a:close/>
                    <a:moveTo>
                      <a:pt x="217727" y="142410"/>
                    </a:moveTo>
                    <a:cubicBezTo>
                      <a:pt x="212256" y="142839"/>
                      <a:pt x="208658" y="143472"/>
                      <a:pt x="208658" y="143472"/>
                    </a:cubicBezTo>
                    <a:lnTo>
                      <a:pt x="208658" y="222253"/>
                    </a:lnTo>
                    <a:cubicBezTo>
                      <a:pt x="208658" y="222253"/>
                      <a:pt x="275333" y="199486"/>
                      <a:pt x="270961" y="166600"/>
                    </a:cubicBezTo>
                    <a:cubicBezTo>
                      <a:pt x="267409" y="141665"/>
                      <a:pt x="234140" y="141123"/>
                      <a:pt x="217727" y="142410"/>
                    </a:cubicBezTo>
                    <a:close/>
                    <a:moveTo>
                      <a:pt x="176946" y="57"/>
                    </a:moveTo>
                    <a:cubicBezTo>
                      <a:pt x="197226" y="-712"/>
                      <a:pt x="218093" y="6431"/>
                      <a:pt x="222429" y="17460"/>
                    </a:cubicBezTo>
                    <a:cubicBezTo>
                      <a:pt x="231463" y="39520"/>
                      <a:pt x="209421" y="68451"/>
                      <a:pt x="209421" y="68451"/>
                    </a:cubicBezTo>
                    <a:lnTo>
                      <a:pt x="209421" y="91957"/>
                    </a:lnTo>
                    <a:cubicBezTo>
                      <a:pt x="324689" y="73514"/>
                      <a:pt x="325412" y="151627"/>
                      <a:pt x="325412" y="151627"/>
                    </a:cubicBezTo>
                    <a:cubicBezTo>
                      <a:pt x="323966" y="248907"/>
                      <a:pt x="205085" y="278199"/>
                      <a:pt x="205085" y="278199"/>
                    </a:cubicBezTo>
                    <a:lnTo>
                      <a:pt x="205085" y="376202"/>
                    </a:lnTo>
                    <a:cubicBezTo>
                      <a:pt x="205085" y="376202"/>
                      <a:pt x="301924" y="369693"/>
                      <a:pt x="304092" y="432979"/>
                    </a:cubicBezTo>
                    <a:cubicBezTo>
                      <a:pt x="306260" y="496265"/>
                      <a:pt x="193883" y="519409"/>
                      <a:pt x="193883" y="519409"/>
                    </a:cubicBezTo>
                    <a:lnTo>
                      <a:pt x="193883" y="575101"/>
                    </a:lnTo>
                    <a:cubicBezTo>
                      <a:pt x="220261" y="589205"/>
                      <a:pt x="326134" y="618859"/>
                      <a:pt x="326134" y="618859"/>
                    </a:cubicBezTo>
                    <a:cubicBezTo>
                      <a:pt x="293252" y="618859"/>
                      <a:pt x="194606" y="599692"/>
                      <a:pt x="194606" y="599692"/>
                    </a:cubicBezTo>
                    <a:cubicBezTo>
                      <a:pt x="195329" y="654661"/>
                      <a:pt x="180875" y="673104"/>
                      <a:pt x="170396" y="671658"/>
                    </a:cubicBezTo>
                    <a:cubicBezTo>
                      <a:pt x="160279" y="670211"/>
                      <a:pt x="159556" y="598246"/>
                      <a:pt x="159556" y="598246"/>
                    </a:cubicBezTo>
                    <a:cubicBezTo>
                      <a:pt x="159556" y="598246"/>
                      <a:pt x="66691" y="584865"/>
                      <a:pt x="63078" y="542192"/>
                    </a:cubicBezTo>
                    <a:cubicBezTo>
                      <a:pt x="59465" y="499519"/>
                      <a:pt x="153413" y="479630"/>
                      <a:pt x="153413" y="479630"/>
                    </a:cubicBezTo>
                    <a:lnTo>
                      <a:pt x="153413" y="410919"/>
                    </a:lnTo>
                    <a:cubicBezTo>
                      <a:pt x="153413" y="410919"/>
                      <a:pt x="47902" y="418152"/>
                      <a:pt x="38868" y="356312"/>
                    </a:cubicBezTo>
                    <a:cubicBezTo>
                      <a:pt x="30196" y="294473"/>
                      <a:pt x="149800" y="239142"/>
                      <a:pt x="149800" y="239142"/>
                    </a:cubicBezTo>
                    <a:lnTo>
                      <a:pt x="149800" y="167177"/>
                    </a:lnTo>
                    <a:cubicBezTo>
                      <a:pt x="90179" y="167177"/>
                      <a:pt x="32364" y="214190"/>
                      <a:pt x="11768" y="206234"/>
                    </a:cubicBezTo>
                    <a:cubicBezTo>
                      <a:pt x="-8829" y="197916"/>
                      <a:pt x="-1602" y="163922"/>
                      <a:pt x="27305" y="144756"/>
                    </a:cubicBezTo>
                    <a:cubicBezTo>
                      <a:pt x="55851" y="125951"/>
                      <a:pt x="148355" y="97743"/>
                      <a:pt x="148355" y="97743"/>
                    </a:cubicBezTo>
                    <a:lnTo>
                      <a:pt x="148355" y="63750"/>
                    </a:lnTo>
                    <a:cubicBezTo>
                      <a:pt x="127758" y="55794"/>
                      <a:pt x="134985" y="30117"/>
                      <a:pt x="134985" y="30117"/>
                    </a:cubicBezTo>
                    <a:cubicBezTo>
                      <a:pt x="136972" y="9504"/>
                      <a:pt x="156665" y="825"/>
                      <a:pt x="176946" y="57"/>
                    </a:cubicBezTo>
                    <a:close/>
                  </a:path>
                </a:pathLst>
              </a:custGeom>
              <a:solidFill>
                <a:schemeClr val="accent1"/>
              </a:solid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51" name="椭圆 50"/>
              <p:cNvSpPr/>
              <p:nvPr/>
            </p:nvSpPr>
            <p:spPr>
              <a:xfrm>
                <a:off x="10882313" y="6396038"/>
                <a:ext cx="303212" cy="303212"/>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2" name="组合 51"/>
            <p:cNvGrpSpPr/>
            <p:nvPr/>
          </p:nvGrpSpPr>
          <p:grpSpPr>
            <a:xfrm>
              <a:off x="17211" y="9089"/>
              <a:ext cx="351" cy="351"/>
              <a:chOff x="11237431" y="6396038"/>
              <a:chExt cx="303212" cy="303212"/>
            </a:xfrm>
          </p:grpSpPr>
          <p:grpSp>
            <p:nvGrpSpPr>
              <p:cNvPr id="53" name="组合 52"/>
              <p:cNvGrpSpPr>
                <a:grpSpLocks noChangeAspect="1"/>
              </p:cNvGrpSpPr>
              <p:nvPr/>
            </p:nvGrpSpPr>
            <p:grpSpPr>
              <a:xfrm>
                <a:off x="11294041" y="6451104"/>
                <a:ext cx="213972" cy="210009"/>
                <a:chOff x="3263255" y="1417662"/>
                <a:chExt cx="415236" cy="407545"/>
              </a:xfrm>
              <a:solidFill>
                <a:schemeClr val="accent4"/>
              </a:solidFill>
            </p:grpSpPr>
            <p:sp>
              <p:nvSpPr>
                <p:cNvPr id="55" name="Freeform 99"/>
                <p:cNvSpPr/>
                <p:nvPr/>
              </p:nvSpPr>
              <p:spPr bwMode="auto">
                <a:xfrm>
                  <a:off x="3263255" y="1452265"/>
                  <a:ext cx="63439" cy="74973"/>
                </a:xfrm>
                <a:custGeom>
                  <a:avLst/>
                  <a:gdLst>
                    <a:gd name="T0" fmla="*/ 380 w 437"/>
                    <a:gd name="T1" fmla="*/ 0 h 517"/>
                    <a:gd name="T2" fmla="*/ 356 w 437"/>
                    <a:gd name="T3" fmla="*/ 326 h 517"/>
                    <a:gd name="T4" fmla="*/ 110 w 437"/>
                    <a:gd name="T5" fmla="*/ 517 h 517"/>
                    <a:gd name="T6" fmla="*/ 380 w 437"/>
                    <a:gd name="T7" fmla="*/ 0 h 517"/>
                  </a:gdLst>
                  <a:ahLst/>
                  <a:cxnLst>
                    <a:cxn ang="0">
                      <a:pos x="T0" y="T1"/>
                    </a:cxn>
                    <a:cxn ang="0">
                      <a:pos x="T2" y="T3"/>
                    </a:cxn>
                    <a:cxn ang="0">
                      <a:pos x="T4" y="T5"/>
                    </a:cxn>
                    <a:cxn ang="0">
                      <a:pos x="T6" y="T7"/>
                    </a:cxn>
                  </a:cxnLst>
                  <a:rect l="0" t="0" r="r" b="b"/>
                  <a:pathLst>
                    <a:path w="437" h="517">
                      <a:moveTo>
                        <a:pt x="380" y="0"/>
                      </a:moveTo>
                      <a:cubicBezTo>
                        <a:pt x="380" y="0"/>
                        <a:pt x="437" y="159"/>
                        <a:pt x="356" y="326"/>
                      </a:cubicBezTo>
                      <a:cubicBezTo>
                        <a:pt x="275" y="493"/>
                        <a:pt x="110" y="517"/>
                        <a:pt x="110" y="517"/>
                      </a:cubicBezTo>
                      <a:cubicBezTo>
                        <a:pt x="110" y="517"/>
                        <a:pt x="0" y="98"/>
                        <a:pt x="380" y="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56" name="Freeform 100"/>
                <p:cNvSpPr/>
                <p:nvPr/>
              </p:nvSpPr>
              <p:spPr bwMode="auto">
                <a:xfrm>
                  <a:off x="3318364" y="1466363"/>
                  <a:ext cx="80100" cy="84585"/>
                </a:xfrm>
                <a:custGeom>
                  <a:avLst/>
                  <a:gdLst>
                    <a:gd name="T0" fmla="*/ 368 w 547"/>
                    <a:gd name="T1" fmla="*/ 0 h 581"/>
                    <a:gd name="T2" fmla="*/ 525 w 547"/>
                    <a:gd name="T3" fmla="*/ 257 h 581"/>
                    <a:gd name="T4" fmla="*/ 370 w 547"/>
                    <a:gd name="T5" fmla="*/ 581 h 581"/>
                    <a:gd name="T6" fmla="*/ 368 w 547"/>
                    <a:gd name="T7" fmla="*/ 0 h 581"/>
                  </a:gdLst>
                  <a:ahLst/>
                  <a:cxnLst>
                    <a:cxn ang="0">
                      <a:pos x="T0" y="T1"/>
                    </a:cxn>
                    <a:cxn ang="0">
                      <a:pos x="T2" y="T3"/>
                    </a:cxn>
                    <a:cxn ang="0">
                      <a:pos x="T4" y="T5"/>
                    </a:cxn>
                    <a:cxn ang="0">
                      <a:pos x="T6" y="T7"/>
                    </a:cxn>
                  </a:cxnLst>
                  <a:rect l="0" t="0" r="r" b="b"/>
                  <a:pathLst>
                    <a:path w="547" h="581">
                      <a:moveTo>
                        <a:pt x="368" y="0"/>
                      </a:moveTo>
                      <a:cubicBezTo>
                        <a:pt x="368" y="0"/>
                        <a:pt x="502" y="78"/>
                        <a:pt x="525" y="257"/>
                      </a:cubicBezTo>
                      <a:cubicBezTo>
                        <a:pt x="547" y="436"/>
                        <a:pt x="370" y="581"/>
                        <a:pt x="370" y="581"/>
                      </a:cubicBezTo>
                      <a:cubicBezTo>
                        <a:pt x="370" y="581"/>
                        <a:pt x="0" y="276"/>
                        <a:pt x="368" y="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57" name="Freeform 101"/>
                <p:cNvSpPr/>
                <p:nvPr/>
              </p:nvSpPr>
              <p:spPr bwMode="auto">
                <a:xfrm>
                  <a:off x="3392696" y="1417662"/>
                  <a:ext cx="73051" cy="99964"/>
                </a:xfrm>
                <a:custGeom>
                  <a:avLst/>
                  <a:gdLst>
                    <a:gd name="T0" fmla="*/ 298 w 500"/>
                    <a:gd name="T1" fmla="*/ 0 h 683"/>
                    <a:gd name="T2" fmla="*/ 491 w 500"/>
                    <a:gd name="T3" fmla="*/ 324 h 683"/>
                    <a:gd name="T4" fmla="*/ 355 w 500"/>
                    <a:gd name="T5" fmla="*/ 683 h 683"/>
                    <a:gd name="T6" fmla="*/ 298 w 500"/>
                    <a:gd name="T7" fmla="*/ 0 h 683"/>
                  </a:gdLst>
                  <a:ahLst/>
                  <a:cxnLst>
                    <a:cxn ang="0">
                      <a:pos x="T0" y="T1"/>
                    </a:cxn>
                    <a:cxn ang="0">
                      <a:pos x="T2" y="T3"/>
                    </a:cxn>
                    <a:cxn ang="0">
                      <a:pos x="T4" y="T5"/>
                    </a:cxn>
                    <a:cxn ang="0">
                      <a:pos x="T6" y="T7"/>
                    </a:cxn>
                  </a:cxnLst>
                  <a:rect l="0" t="0" r="r" b="b"/>
                  <a:pathLst>
                    <a:path w="500" h="683">
                      <a:moveTo>
                        <a:pt x="298" y="0"/>
                      </a:moveTo>
                      <a:cubicBezTo>
                        <a:pt x="298" y="0"/>
                        <a:pt x="483" y="145"/>
                        <a:pt x="491" y="324"/>
                      </a:cubicBezTo>
                      <a:cubicBezTo>
                        <a:pt x="500" y="504"/>
                        <a:pt x="355" y="683"/>
                        <a:pt x="355" y="683"/>
                      </a:cubicBezTo>
                      <a:cubicBezTo>
                        <a:pt x="355" y="683"/>
                        <a:pt x="0" y="316"/>
                        <a:pt x="298" y="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58" name="Freeform 102"/>
                <p:cNvSpPr/>
                <p:nvPr/>
              </p:nvSpPr>
              <p:spPr bwMode="auto">
                <a:xfrm>
                  <a:off x="3489456" y="1438808"/>
                  <a:ext cx="71128" cy="71128"/>
                </a:xfrm>
                <a:custGeom>
                  <a:avLst/>
                  <a:gdLst>
                    <a:gd name="T0" fmla="*/ 449 w 486"/>
                    <a:gd name="T1" fmla="*/ 0 h 487"/>
                    <a:gd name="T2" fmla="*/ 344 w 486"/>
                    <a:gd name="T3" fmla="*/ 363 h 487"/>
                    <a:gd name="T4" fmla="*/ 39 w 486"/>
                    <a:gd name="T5" fmla="*/ 469 h 487"/>
                    <a:gd name="T6" fmla="*/ 449 w 486"/>
                    <a:gd name="T7" fmla="*/ 0 h 487"/>
                  </a:gdLst>
                  <a:ahLst/>
                  <a:cxnLst>
                    <a:cxn ang="0">
                      <a:pos x="T0" y="T1"/>
                    </a:cxn>
                    <a:cxn ang="0">
                      <a:pos x="T2" y="T3"/>
                    </a:cxn>
                    <a:cxn ang="0">
                      <a:pos x="T4" y="T5"/>
                    </a:cxn>
                    <a:cxn ang="0">
                      <a:pos x="T6" y="T7"/>
                    </a:cxn>
                  </a:cxnLst>
                  <a:rect l="0" t="0" r="r" b="b"/>
                  <a:pathLst>
                    <a:path w="486" h="487">
                      <a:moveTo>
                        <a:pt x="449" y="0"/>
                      </a:moveTo>
                      <a:cubicBezTo>
                        <a:pt x="449" y="0"/>
                        <a:pt x="486" y="238"/>
                        <a:pt x="344" y="363"/>
                      </a:cubicBezTo>
                      <a:cubicBezTo>
                        <a:pt x="201" y="487"/>
                        <a:pt x="39" y="469"/>
                        <a:pt x="39" y="469"/>
                      </a:cubicBezTo>
                      <a:cubicBezTo>
                        <a:pt x="39" y="469"/>
                        <a:pt x="0" y="100"/>
                        <a:pt x="449" y="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59" name="Freeform 103"/>
                <p:cNvSpPr/>
                <p:nvPr/>
              </p:nvSpPr>
              <p:spPr bwMode="auto">
                <a:xfrm>
                  <a:off x="3579808" y="1471489"/>
                  <a:ext cx="97401" cy="74973"/>
                </a:xfrm>
                <a:custGeom>
                  <a:avLst/>
                  <a:gdLst>
                    <a:gd name="T0" fmla="*/ 669 w 669"/>
                    <a:gd name="T1" fmla="*/ 179 h 512"/>
                    <a:gd name="T2" fmla="*/ 358 w 669"/>
                    <a:gd name="T3" fmla="*/ 0 h 512"/>
                    <a:gd name="T4" fmla="*/ 0 w 669"/>
                    <a:gd name="T5" fmla="*/ 141 h 512"/>
                    <a:gd name="T6" fmla="*/ 669 w 669"/>
                    <a:gd name="T7" fmla="*/ 179 h 512"/>
                  </a:gdLst>
                  <a:ahLst/>
                  <a:cxnLst>
                    <a:cxn ang="0">
                      <a:pos x="T0" y="T1"/>
                    </a:cxn>
                    <a:cxn ang="0">
                      <a:pos x="T2" y="T3"/>
                    </a:cxn>
                    <a:cxn ang="0">
                      <a:pos x="T4" y="T5"/>
                    </a:cxn>
                    <a:cxn ang="0">
                      <a:pos x="T6" y="T7"/>
                    </a:cxn>
                  </a:cxnLst>
                  <a:rect l="0" t="0" r="r" b="b"/>
                  <a:pathLst>
                    <a:path w="669" h="512">
                      <a:moveTo>
                        <a:pt x="669" y="179"/>
                      </a:moveTo>
                      <a:cubicBezTo>
                        <a:pt x="669" y="179"/>
                        <a:pt x="557" y="0"/>
                        <a:pt x="358" y="0"/>
                      </a:cubicBezTo>
                      <a:cubicBezTo>
                        <a:pt x="159" y="0"/>
                        <a:pt x="0" y="141"/>
                        <a:pt x="0" y="141"/>
                      </a:cubicBezTo>
                      <a:cubicBezTo>
                        <a:pt x="0" y="141"/>
                        <a:pt x="267" y="512"/>
                        <a:pt x="669" y="179"/>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0" name="Freeform 104"/>
                <p:cNvSpPr/>
                <p:nvPr/>
              </p:nvSpPr>
              <p:spPr bwMode="auto">
                <a:xfrm>
                  <a:off x="3506117" y="1518267"/>
                  <a:ext cx="109576" cy="71769"/>
                </a:xfrm>
                <a:custGeom>
                  <a:avLst/>
                  <a:gdLst>
                    <a:gd name="T0" fmla="*/ 752 w 752"/>
                    <a:gd name="T1" fmla="*/ 171 h 489"/>
                    <a:gd name="T2" fmla="*/ 380 w 752"/>
                    <a:gd name="T3" fmla="*/ 10 h 489"/>
                    <a:gd name="T4" fmla="*/ 0 w 752"/>
                    <a:gd name="T5" fmla="*/ 153 h 489"/>
                    <a:gd name="T6" fmla="*/ 752 w 752"/>
                    <a:gd name="T7" fmla="*/ 171 h 489"/>
                  </a:gdLst>
                  <a:ahLst/>
                  <a:cxnLst>
                    <a:cxn ang="0">
                      <a:pos x="T0" y="T1"/>
                    </a:cxn>
                    <a:cxn ang="0">
                      <a:pos x="T2" y="T3"/>
                    </a:cxn>
                    <a:cxn ang="0">
                      <a:pos x="T4" y="T5"/>
                    </a:cxn>
                    <a:cxn ang="0">
                      <a:pos x="T6" y="T7"/>
                    </a:cxn>
                  </a:cxnLst>
                  <a:rect l="0" t="0" r="r" b="b"/>
                  <a:pathLst>
                    <a:path w="752" h="489">
                      <a:moveTo>
                        <a:pt x="752" y="171"/>
                      </a:moveTo>
                      <a:cubicBezTo>
                        <a:pt x="752" y="171"/>
                        <a:pt x="577" y="0"/>
                        <a:pt x="380" y="10"/>
                      </a:cubicBezTo>
                      <a:cubicBezTo>
                        <a:pt x="183" y="20"/>
                        <a:pt x="0" y="153"/>
                        <a:pt x="0" y="153"/>
                      </a:cubicBezTo>
                      <a:cubicBezTo>
                        <a:pt x="0" y="153"/>
                        <a:pt x="324" y="489"/>
                        <a:pt x="752" y="171"/>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1" name="Freeform 105"/>
                <p:cNvSpPr/>
                <p:nvPr/>
              </p:nvSpPr>
              <p:spPr bwMode="auto">
                <a:xfrm>
                  <a:off x="3602236" y="1568249"/>
                  <a:ext cx="76255" cy="69847"/>
                </a:xfrm>
                <a:custGeom>
                  <a:avLst/>
                  <a:gdLst>
                    <a:gd name="T0" fmla="*/ 526 w 526"/>
                    <a:gd name="T1" fmla="*/ 361 h 477"/>
                    <a:gd name="T2" fmla="*/ 339 w 526"/>
                    <a:gd name="T3" fmla="*/ 76 h 477"/>
                    <a:gd name="T4" fmla="*/ 0 w 526"/>
                    <a:gd name="T5" fmla="*/ 66 h 477"/>
                    <a:gd name="T6" fmla="*/ 526 w 526"/>
                    <a:gd name="T7" fmla="*/ 361 h 477"/>
                  </a:gdLst>
                  <a:ahLst/>
                  <a:cxnLst>
                    <a:cxn ang="0">
                      <a:pos x="T0" y="T1"/>
                    </a:cxn>
                    <a:cxn ang="0">
                      <a:pos x="T2" y="T3"/>
                    </a:cxn>
                    <a:cxn ang="0">
                      <a:pos x="T4" y="T5"/>
                    </a:cxn>
                    <a:cxn ang="0">
                      <a:pos x="T6" y="T7"/>
                    </a:cxn>
                  </a:cxnLst>
                  <a:rect l="0" t="0" r="r" b="b"/>
                  <a:pathLst>
                    <a:path w="526" h="477">
                      <a:moveTo>
                        <a:pt x="526" y="361"/>
                      </a:moveTo>
                      <a:cubicBezTo>
                        <a:pt x="526" y="361"/>
                        <a:pt x="485" y="151"/>
                        <a:pt x="339" y="76"/>
                      </a:cubicBezTo>
                      <a:cubicBezTo>
                        <a:pt x="193" y="0"/>
                        <a:pt x="0" y="66"/>
                        <a:pt x="0" y="66"/>
                      </a:cubicBezTo>
                      <a:cubicBezTo>
                        <a:pt x="0" y="66"/>
                        <a:pt x="97" y="477"/>
                        <a:pt x="526" y="361"/>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2" name="Freeform 106"/>
                <p:cNvSpPr/>
                <p:nvPr/>
              </p:nvSpPr>
              <p:spPr bwMode="auto">
                <a:xfrm>
                  <a:off x="3525981" y="1586191"/>
                  <a:ext cx="77536" cy="65361"/>
                </a:xfrm>
                <a:custGeom>
                  <a:avLst/>
                  <a:gdLst>
                    <a:gd name="T0" fmla="*/ 531 w 531"/>
                    <a:gd name="T1" fmla="*/ 326 h 446"/>
                    <a:gd name="T2" fmla="*/ 305 w 531"/>
                    <a:gd name="T3" fmla="*/ 44 h 446"/>
                    <a:gd name="T4" fmla="*/ 0 w 531"/>
                    <a:gd name="T5" fmla="*/ 38 h 446"/>
                    <a:gd name="T6" fmla="*/ 531 w 531"/>
                    <a:gd name="T7" fmla="*/ 326 h 446"/>
                  </a:gdLst>
                  <a:ahLst/>
                  <a:cxnLst>
                    <a:cxn ang="0">
                      <a:pos x="T0" y="T1"/>
                    </a:cxn>
                    <a:cxn ang="0">
                      <a:pos x="T2" y="T3"/>
                    </a:cxn>
                    <a:cxn ang="0">
                      <a:pos x="T4" y="T5"/>
                    </a:cxn>
                    <a:cxn ang="0">
                      <a:pos x="T6" y="T7"/>
                    </a:cxn>
                  </a:cxnLst>
                  <a:rect l="0" t="0" r="r" b="b"/>
                  <a:pathLst>
                    <a:path w="531" h="446">
                      <a:moveTo>
                        <a:pt x="531" y="326"/>
                      </a:moveTo>
                      <a:cubicBezTo>
                        <a:pt x="531" y="326"/>
                        <a:pt x="435" y="89"/>
                        <a:pt x="305" y="44"/>
                      </a:cubicBezTo>
                      <a:cubicBezTo>
                        <a:pt x="175" y="0"/>
                        <a:pt x="0" y="38"/>
                        <a:pt x="0" y="38"/>
                      </a:cubicBezTo>
                      <a:cubicBezTo>
                        <a:pt x="0" y="38"/>
                        <a:pt x="96" y="446"/>
                        <a:pt x="531" y="326"/>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3" name="Freeform 107"/>
                <p:cNvSpPr/>
                <p:nvPr/>
              </p:nvSpPr>
              <p:spPr bwMode="auto">
                <a:xfrm>
                  <a:off x="3406153" y="1539413"/>
                  <a:ext cx="101246" cy="87789"/>
                </a:xfrm>
                <a:custGeom>
                  <a:avLst/>
                  <a:gdLst>
                    <a:gd name="T0" fmla="*/ 697 w 697"/>
                    <a:gd name="T1" fmla="*/ 232 h 599"/>
                    <a:gd name="T2" fmla="*/ 433 w 697"/>
                    <a:gd name="T3" fmla="*/ 24 h 599"/>
                    <a:gd name="T4" fmla="*/ 0 w 697"/>
                    <a:gd name="T5" fmla="*/ 140 h 599"/>
                    <a:gd name="T6" fmla="*/ 697 w 697"/>
                    <a:gd name="T7" fmla="*/ 232 h 599"/>
                  </a:gdLst>
                  <a:ahLst/>
                  <a:cxnLst>
                    <a:cxn ang="0">
                      <a:pos x="T0" y="T1"/>
                    </a:cxn>
                    <a:cxn ang="0">
                      <a:pos x="T2" y="T3"/>
                    </a:cxn>
                    <a:cxn ang="0">
                      <a:pos x="T4" y="T5"/>
                    </a:cxn>
                    <a:cxn ang="0">
                      <a:pos x="T6" y="T7"/>
                    </a:cxn>
                  </a:cxnLst>
                  <a:rect l="0" t="0" r="r" b="b"/>
                  <a:pathLst>
                    <a:path w="697" h="599">
                      <a:moveTo>
                        <a:pt x="697" y="232"/>
                      </a:moveTo>
                      <a:cubicBezTo>
                        <a:pt x="697" y="232"/>
                        <a:pt x="616" y="49"/>
                        <a:pt x="433" y="24"/>
                      </a:cubicBezTo>
                      <a:cubicBezTo>
                        <a:pt x="250" y="0"/>
                        <a:pt x="0" y="140"/>
                        <a:pt x="0" y="140"/>
                      </a:cubicBezTo>
                      <a:cubicBezTo>
                        <a:pt x="0" y="140"/>
                        <a:pt x="356" y="599"/>
                        <a:pt x="697" y="232"/>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4" name="Freeform 108"/>
                <p:cNvSpPr/>
                <p:nvPr/>
              </p:nvSpPr>
              <p:spPr bwMode="auto">
                <a:xfrm>
                  <a:off x="3408716" y="1601570"/>
                  <a:ext cx="89071" cy="70487"/>
                </a:xfrm>
                <a:custGeom>
                  <a:avLst/>
                  <a:gdLst>
                    <a:gd name="T0" fmla="*/ 614 w 614"/>
                    <a:gd name="T1" fmla="*/ 324 h 483"/>
                    <a:gd name="T2" fmla="*/ 356 w 614"/>
                    <a:gd name="T3" fmla="*/ 49 h 483"/>
                    <a:gd name="T4" fmla="*/ 0 w 614"/>
                    <a:gd name="T5" fmla="*/ 67 h 483"/>
                    <a:gd name="T6" fmla="*/ 614 w 614"/>
                    <a:gd name="T7" fmla="*/ 324 h 483"/>
                  </a:gdLst>
                  <a:ahLst/>
                  <a:cxnLst>
                    <a:cxn ang="0">
                      <a:pos x="T0" y="T1"/>
                    </a:cxn>
                    <a:cxn ang="0">
                      <a:pos x="T2" y="T3"/>
                    </a:cxn>
                    <a:cxn ang="0">
                      <a:pos x="T4" y="T5"/>
                    </a:cxn>
                    <a:cxn ang="0">
                      <a:pos x="T6" y="T7"/>
                    </a:cxn>
                  </a:cxnLst>
                  <a:rect l="0" t="0" r="r" b="b"/>
                  <a:pathLst>
                    <a:path w="614" h="483">
                      <a:moveTo>
                        <a:pt x="614" y="324"/>
                      </a:moveTo>
                      <a:cubicBezTo>
                        <a:pt x="614" y="324"/>
                        <a:pt x="466" y="97"/>
                        <a:pt x="356" y="49"/>
                      </a:cubicBezTo>
                      <a:cubicBezTo>
                        <a:pt x="246" y="0"/>
                        <a:pt x="0" y="67"/>
                        <a:pt x="0" y="67"/>
                      </a:cubicBezTo>
                      <a:cubicBezTo>
                        <a:pt x="0" y="67"/>
                        <a:pt x="132" y="483"/>
                        <a:pt x="614" y="324"/>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 name="Freeform 109"/>
                <p:cNvSpPr/>
                <p:nvPr/>
              </p:nvSpPr>
              <p:spPr bwMode="auto">
                <a:xfrm>
                  <a:off x="3503554" y="1609901"/>
                  <a:ext cx="74332" cy="171092"/>
                </a:xfrm>
                <a:custGeom>
                  <a:avLst/>
                  <a:gdLst>
                    <a:gd name="T0" fmla="*/ 0 w 508"/>
                    <a:gd name="T1" fmla="*/ 0 h 1171"/>
                    <a:gd name="T2" fmla="*/ 51 w 508"/>
                    <a:gd name="T3" fmla="*/ 187 h 1171"/>
                    <a:gd name="T4" fmla="*/ 282 w 508"/>
                    <a:gd name="T5" fmla="*/ 587 h 1171"/>
                    <a:gd name="T6" fmla="*/ 323 w 508"/>
                    <a:gd name="T7" fmla="*/ 1171 h 1171"/>
                    <a:gd name="T8" fmla="*/ 0 w 508"/>
                    <a:gd name="T9" fmla="*/ 0 h 1171"/>
                  </a:gdLst>
                  <a:ahLst/>
                  <a:cxnLst>
                    <a:cxn ang="0">
                      <a:pos x="T0" y="T1"/>
                    </a:cxn>
                    <a:cxn ang="0">
                      <a:pos x="T2" y="T3"/>
                    </a:cxn>
                    <a:cxn ang="0">
                      <a:pos x="T4" y="T5"/>
                    </a:cxn>
                    <a:cxn ang="0">
                      <a:pos x="T6" y="T7"/>
                    </a:cxn>
                    <a:cxn ang="0">
                      <a:pos x="T8" y="T9"/>
                    </a:cxn>
                  </a:cxnLst>
                  <a:rect l="0" t="0" r="r" b="b"/>
                  <a:pathLst>
                    <a:path w="508" h="1171">
                      <a:moveTo>
                        <a:pt x="0" y="0"/>
                      </a:moveTo>
                      <a:lnTo>
                        <a:pt x="51" y="187"/>
                      </a:lnTo>
                      <a:cubicBezTo>
                        <a:pt x="51" y="187"/>
                        <a:pt x="227" y="313"/>
                        <a:pt x="282" y="587"/>
                      </a:cubicBezTo>
                      <a:cubicBezTo>
                        <a:pt x="337" y="860"/>
                        <a:pt x="323" y="1171"/>
                        <a:pt x="323" y="1171"/>
                      </a:cubicBezTo>
                      <a:cubicBezTo>
                        <a:pt x="323" y="1171"/>
                        <a:pt x="508" y="324"/>
                        <a:pt x="0" y="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6" name="Freeform 110"/>
                <p:cNvSpPr/>
                <p:nvPr/>
              </p:nvSpPr>
              <p:spPr bwMode="auto">
                <a:xfrm>
                  <a:off x="3436911" y="1665650"/>
                  <a:ext cx="54468" cy="112780"/>
                </a:xfrm>
                <a:custGeom>
                  <a:avLst/>
                  <a:gdLst>
                    <a:gd name="T0" fmla="*/ 171 w 372"/>
                    <a:gd name="T1" fmla="*/ 20 h 772"/>
                    <a:gd name="T2" fmla="*/ 0 w 372"/>
                    <a:gd name="T3" fmla="*/ 0 h 772"/>
                    <a:gd name="T4" fmla="*/ 187 w 372"/>
                    <a:gd name="T5" fmla="*/ 354 h 772"/>
                    <a:gd name="T6" fmla="*/ 198 w 372"/>
                    <a:gd name="T7" fmla="*/ 772 h 772"/>
                    <a:gd name="T8" fmla="*/ 171 w 372"/>
                    <a:gd name="T9" fmla="*/ 20 h 772"/>
                  </a:gdLst>
                  <a:ahLst/>
                  <a:cxnLst>
                    <a:cxn ang="0">
                      <a:pos x="T0" y="T1"/>
                    </a:cxn>
                    <a:cxn ang="0">
                      <a:pos x="T2" y="T3"/>
                    </a:cxn>
                    <a:cxn ang="0">
                      <a:pos x="T4" y="T5"/>
                    </a:cxn>
                    <a:cxn ang="0">
                      <a:pos x="T6" y="T7"/>
                    </a:cxn>
                    <a:cxn ang="0">
                      <a:pos x="T8" y="T9"/>
                    </a:cxn>
                  </a:cxnLst>
                  <a:rect l="0" t="0" r="r" b="b"/>
                  <a:pathLst>
                    <a:path w="372" h="772">
                      <a:moveTo>
                        <a:pt x="171" y="20"/>
                      </a:moveTo>
                      <a:lnTo>
                        <a:pt x="0" y="0"/>
                      </a:lnTo>
                      <a:cubicBezTo>
                        <a:pt x="0" y="0"/>
                        <a:pt x="139" y="149"/>
                        <a:pt x="187" y="354"/>
                      </a:cubicBezTo>
                      <a:cubicBezTo>
                        <a:pt x="236" y="560"/>
                        <a:pt x="198" y="772"/>
                        <a:pt x="198" y="772"/>
                      </a:cubicBezTo>
                      <a:cubicBezTo>
                        <a:pt x="198" y="772"/>
                        <a:pt x="372" y="491"/>
                        <a:pt x="171" y="2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7" name="Freeform 111"/>
                <p:cNvSpPr/>
                <p:nvPr/>
              </p:nvSpPr>
              <p:spPr bwMode="auto">
                <a:xfrm>
                  <a:off x="3290169" y="1548384"/>
                  <a:ext cx="148024" cy="276823"/>
                </a:xfrm>
                <a:custGeom>
                  <a:avLst/>
                  <a:gdLst>
                    <a:gd name="T0" fmla="*/ 752 w 1017"/>
                    <a:gd name="T1" fmla="*/ 208 h 1899"/>
                    <a:gd name="T2" fmla="*/ 399 w 1017"/>
                    <a:gd name="T3" fmla="*/ 966 h 1899"/>
                    <a:gd name="T4" fmla="*/ 1017 w 1017"/>
                    <a:gd name="T5" fmla="*/ 1899 h 1899"/>
                    <a:gd name="T6" fmla="*/ 521 w 1017"/>
                    <a:gd name="T7" fmla="*/ 1879 h 1899"/>
                    <a:gd name="T8" fmla="*/ 407 w 1017"/>
                    <a:gd name="T9" fmla="*/ 489 h 1899"/>
                    <a:gd name="T10" fmla="*/ 281 w 1017"/>
                    <a:gd name="T11" fmla="*/ 0 h 1899"/>
                    <a:gd name="T12" fmla="*/ 492 w 1017"/>
                    <a:gd name="T13" fmla="*/ 379 h 1899"/>
                    <a:gd name="T14" fmla="*/ 598 w 1017"/>
                    <a:gd name="T15" fmla="*/ 269 h 1899"/>
                    <a:gd name="T16" fmla="*/ 752 w 1017"/>
                    <a:gd name="T17" fmla="*/ 208 h 1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17" h="1899">
                      <a:moveTo>
                        <a:pt x="752" y="208"/>
                      </a:moveTo>
                      <a:cubicBezTo>
                        <a:pt x="752" y="208"/>
                        <a:pt x="354" y="456"/>
                        <a:pt x="399" y="966"/>
                      </a:cubicBezTo>
                      <a:cubicBezTo>
                        <a:pt x="443" y="1475"/>
                        <a:pt x="1017" y="1899"/>
                        <a:pt x="1017" y="1899"/>
                      </a:cubicBezTo>
                      <a:lnTo>
                        <a:pt x="521" y="1879"/>
                      </a:lnTo>
                      <a:cubicBezTo>
                        <a:pt x="521" y="1879"/>
                        <a:pt x="0" y="1161"/>
                        <a:pt x="407" y="489"/>
                      </a:cubicBezTo>
                      <a:cubicBezTo>
                        <a:pt x="407" y="489"/>
                        <a:pt x="460" y="191"/>
                        <a:pt x="281" y="0"/>
                      </a:cubicBezTo>
                      <a:cubicBezTo>
                        <a:pt x="281" y="0"/>
                        <a:pt x="472" y="142"/>
                        <a:pt x="492" y="379"/>
                      </a:cubicBezTo>
                      <a:cubicBezTo>
                        <a:pt x="492" y="379"/>
                        <a:pt x="543" y="326"/>
                        <a:pt x="598" y="269"/>
                      </a:cubicBezTo>
                      <a:cubicBezTo>
                        <a:pt x="653" y="212"/>
                        <a:pt x="752" y="208"/>
                        <a:pt x="752" y="208"/>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grpSp>
          <p:sp>
            <p:nvSpPr>
              <p:cNvPr id="54" name="椭圆 53"/>
              <p:cNvSpPr/>
              <p:nvPr/>
            </p:nvSpPr>
            <p:spPr>
              <a:xfrm>
                <a:off x="11237431" y="6396038"/>
                <a:ext cx="303212" cy="303212"/>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68" name="组合 67"/>
            <p:cNvGrpSpPr/>
            <p:nvPr/>
          </p:nvGrpSpPr>
          <p:grpSpPr>
            <a:xfrm>
              <a:off x="17789" y="9089"/>
              <a:ext cx="351" cy="351"/>
              <a:chOff x="11616276" y="6396038"/>
              <a:chExt cx="303212" cy="303212"/>
            </a:xfrm>
          </p:grpSpPr>
          <p:grpSp>
            <p:nvGrpSpPr>
              <p:cNvPr id="69" name="组合 68"/>
              <p:cNvGrpSpPr>
                <a:grpSpLocks noChangeAspect="1"/>
              </p:cNvGrpSpPr>
              <p:nvPr/>
            </p:nvGrpSpPr>
            <p:grpSpPr>
              <a:xfrm>
                <a:off x="11641148" y="6471951"/>
                <a:ext cx="253468" cy="151386"/>
                <a:chOff x="2655835" y="2119973"/>
                <a:chExt cx="793944" cy="474188"/>
              </a:xfrm>
              <a:solidFill>
                <a:schemeClr val="tx1">
                  <a:lumMod val="50000"/>
                  <a:lumOff val="50000"/>
                </a:schemeClr>
              </a:solidFill>
            </p:grpSpPr>
            <p:sp>
              <p:nvSpPr>
                <p:cNvPr id="71" name="任意多边形: 形状 70"/>
                <p:cNvSpPr/>
                <p:nvPr/>
              </p:nvSpPr>
              <p:spPr bwMode="auto">
                <a:xfrm>
                  <a:off x="2699409" y="2278890"/>
                  <a:ext cx="705515" cy="314630"/>
                </a:xfrm>
                <a:custGeom>
                  <a:avLst/>
                  <a:gdLst>
                    <a:gd name="connsiteX0" fmla="*/ 1425576 w 1747838"/>
                    <a:gd name="connsiteY0" fmla="*/ 322262 h 779463"/>
                    <a:gd name="connsiteX1" fmla="*/ 1376363 w 1747838"/>
                    <a:gd name="connsiteY1" fmla="*/ 326643 h 779463"/>
                    <a:gd name="connsiteX2" fmla="*/ 1376363 w 1747838"/>
                    <a:gd name="connsiteY2" fmla="*/ 390525 h 779463"/>
                    <a:gd name="connsiteX3" fmla="*/ 1425576 w 1747838"/>
                    <a:gd name="connsiteY3" fmla="*/ 383954 h 779463"/>
                    <a:gd name="connsiteX4" fmla="*/ 327025 w 1747838"/>
                    <a:gd name="connsiteY4" fmla="*/ 322262 h 779463"/>
                    <a:gd name="connsiteX5" fmla="*/ 327025 w 1747838"/>
                    <a:gd name="connsiteY5" fmla="*/ 383954 h 779463"/>
                    <a:gd name="connsiteX6" fmla="*/ 376238 w 1747838"/>
                    <a:gd name="connsiteY6" fmla="*/ 390525 h 779463"/>
                    <a:gd name="connsiteX7" fmla="*/ 376238 w 1747838"/>
                    <a:gd name="connsiteY7" fmla="*/ 326643 h 779463"/>
                    <a:gd name="connsiteX8" fmla="*/ 1524000 w 1747838"/>
                    <a:gd name="connsiteY8" fmla="*/ 312737 h 779463"/>
                    <a:gd name="connsiteX9" fmla="*/ 1476375 w 1747838"/>
                    <a:gd name="connsiteY9" fmla="*/ 315581 h 779463"/>
                    <a:gd name="connsiteX10" fmla="*/ 1476375 w 1747838"/>
                    <a:gd name="connsiteY10" fmla="*/ 381000 h 779463"/>
                    <a:gd name="connsiteX11" fmla="*/ 1524000 w 1747838"/>
                    <a:gd name="connsiteY11" fmla="*/ 372112 h 779463"/>
                    <a:gd name="connsiteX12" fmla="*/ 228600 w 1747838"/>
                    <a:gd name="connsiteY12" fmla="*/ 312737 h 779463"/>
                    <a:gd name="connsiteX13" fmla="*/ 228600 w 1747838"/>
                    <a:gd name="connsiteY13" fmla="*/ 372112 h 779463"/>
                    <a:gd name="connsiteX14" fmla="*/ 276225 w 1747838"/>
                    <a:gd name="connsiteY14" fmla="*/ 381000 h 779463"/>
                    <a:gd name="connsiteX15" fmla="*/ 276225 w 1747838"/>
                    <a:gd name="connsiteY15" fmla="*/ 315581 h 779463"/>
                    <a:gd name="connsiteX16" fmla="*/ 1625600 w 1747838"/>
                    <a:gd name="connsiteY16" fmla="*/ 292100 h 779463"/>
                    <a:gd name="connsiteX17" fmla="*/ 1574800 w 1747838"/>
                    <a:gd name="connsiteY17" fmla="*/ 303285 h 779463"/>
                    <a:gd name="connsiteX18" fmla="*/ 1574800 w 1747838"/>
                    <a:gd name="connsiteY18" fmla="*/ 363538 h 779463"/>
                    <a:gd name="connsiteX19" fmla="*/ 1625600 w 1747838"/>
                    <a:gd name="connsiteY19" fmla="*/ 353075 h 779463"/>
                    <a:gd name="connsiteX20" fmla="*/ 127000 w 1747838"/>
                    <a:gd name="connsiteY20" fmla="*/ 292100 h 779463"/>
                    <a:gd name="connsiteX21" fmla="*/ 127000 w 1747838"/>
                    <a:gd name="connsiteY21" fmla="*/ 353075 h 779463"/>
                    <a:gd name="connsiteX22" fmla="*/ 177800 w 1747838"/>
                    <a:gd name="connsiteY22" fmla="*/ 363538 h 779463"/>
                    <a:gd name="connsiteX23" fmla="*/ 177800 w 1747838"/>
                    <a:gd name="connsiteY23" fmla="*/ 303285 h 779463"/>
                    <a:gd name="connsiteX24" fmla="*/ 425450 w 1747838"/>
                    <a:gd name="connsiteY24" fmla="*/ 290512 h 779463"/>
                    <a:gd name="connsiteX25" fmla="*/ 425450 w 1747838"/>
                    <a:gd name="connsiteY25" fmla="*/ 354012 h 779463"/>
                    <a:gd name="connsiteX26" fmla="*/ 1327150 w 1747838"/>
                    <a:gd name="connsiteY26" fmla="*/ 354012 h 779463"/>
                    <a:gd name="connsiteX27" fmla="*/ 1327150 w 1747838"/>
                    <a:gd name="connsiteY27" fmla="*/ 290512 h 779463"/>
                    <a:gd name="connsiteX28" fmla="*/ 1714501 w 1747838"/>
                    <a:gd name="connsiteY28" fmla="*/ 276225 h 779463"/>
                    <a:gd name="connsiteX29" fmla="*/ 1671638 w 1747838"/>
                    <a:gd name="connsiteY29" fmla="*/ 280963 h 779463"/>
                    <a:gd name="connsiteX30" fmla="*/ 1671638 w 1747838"/>
                    <a:gd name="connsiteY30" fmla="*/ 347663 h 779463"/>
                    <a:gd name="connsiteX31" fmla="*/ 1714501 w 1747838"/>
                    <a:gd name="connsiteY31" fmla="*/ 346205 h 779463"/>
                    <a:gd name="connsiteX32" fmla="*/ 38100 w 1747838"/>
                    <a:gd name="connsiteY32" fmla="*/ 276225 h 779463"/>
                    <a:gd name="connsiteX33" fmla="*/ 38100 w 1747838"/>
                    <a:gd name="connsiteY33" fmla="*/ 346205 h 779463"/>
                    <a:gd name="connsiteX34" fmla="*/ 80963 w 1747838"/>
                    <a:gd name="connsiteY34" fmla="*/ 347663 h 779463"/>
                    <a:gd name="connsiteX35" fmla="*/ 80963 w 1747838"/>
                    <a:gd name="connsiteY35" fmla="*/ 280963 h 779463"/>
                    <a:gd name="connsiteX36" fmla="*/ 876335 w 1747838"/>
                    <a:gd name="connsiteY36" fmla="*/ 96837 h 779463"/>
                    <a:gd name="connsiteX37" fmla="*/ 547688 w 1747838"/>
                    <a:gd name="connsiteY37" fmla="*/ 265112 h 779463"/>
                    <a:gd name="connsiteX38" fmla="*/ 1209676 w 1747838"/>
                    <a:gd name="connsiteY38" fmla="*/ 265112 h 779463"/>
                    <a:gd name="connsiteX39" fmla="*/ 1011507 w 1747838"/>
                    <a:gd name="connsiteY39" fmla="*/ 0 h 779463"/>
                    <a:gd name="connsiteX40" fmla="*/ 1112261 w 1747838"/>
                    <a:gd name="connsiteY40" fmla="*/ 0 h 779463"/>
                    <a:gd name="connsiteX41" fmla="*/ 1112261 w 1747838"/>
                    <a:gd name="connsiteY41" fmla="*/ 158204 h 779463"/>
                    <a:gd name="connsiteX42" fmla="*/ 1163540 w 1747838"/>
                    <a:gd name="connsiteY42" fmla="*/ 177348 h 779463"/>
                    <a:gd name="connsiteX43" fmla="*/ 1163540 w 1747838"/>
                    <a:gd name="connsiteY43" fmla="*/ 5418 h 779463"/>
                    <a:gd name="connsiteX44" fmla="*/ 1226737 w 1747838"/>
                    <a:gd name="connsiteY44" fmla="*/ 5418 h 779463"/>
                    <a:gd name="connsiteX45" fmla="*/ 1226737 w 1747838"/>
                    <a:gd name="connsiteY45" fmla="*/ 209133 h 779463"/>
                    <a:gd name="connsiteX46" fmla="*/ 1332546 w 1747838"/>
                    <a:gd name="connsiteY46" fmla="*/ 268731 h 779463"/>
                    <a:gd name="connsiteX47" fmla="*/ 1747838 w 1747838"/>
                    <a:gd name="connsiteY47" fmla="*/ 184211 h 779463"/>
                    <a:gd name="connsiteX48" fmla="*/ 1747838 w 1747838"/>
                    <a:gd name="connsiteY48" fmla="*/ 224665 h 779463"/>
                    <a:gd name="connsiteX49" fmla="*/ 1342658 w 1747838"/>
                    <a:gd name="connsiteY49" fmla="*/ 285707 h 779463"/>
                    <a:gd name="connsiteX50" fmla="*/ 1348074 w 1747838"/>
                    <a:gd name="connsiteY50" fmla="*/ 305212 h 779463"/>
                    <a:gd name="connsiteX51" fmla="*/ 1746394 w 1747838"/>
                    <a:gd name="connsiteY51" fmla="*/ 251754 h 779463"/>
                    <a:gd name="connsiteX52" fmla="*/ 1746394 w 1747838"/>
                    <a:gd name="connsiteY52" fmla="*/ 775851 h 779463"/>
                    <a:gd name="connsiteX53" fmla="*/ 1696559 w 1747838"/>
                    <a:gd name="connsiteY53" fmla="*/ 775851 h 779463"/>
                    <a:gd name="connsiteX54" fmla="*/ 1696559 w 1747838"/>
                    <a:gd name="connsiteY54" fmla="*/ 463777 h 779463"/>
                    <a:gd name="connsiteX55" fmla="*/ 1610611 w 1747838"/>
                    <a:gd name="connsiteY55" fmla="*/ 394427 h 779463"/>
                    <a:gd name="connsiteX56" fmla="*/ 1262488 w 1747838"/>
                    <a:gd name="connsiteY56" fmla="*/ 438132 h 779463"/>
                    <a:gd name="connsiteX57" fmla="*/ 1262488 w 1747838"/>
                    <a:gd name="connsiteY57" fmla="*/ 777296 h 779463"/>
                    <a:gd name="connsiteX58" fmla="*/ 1203986 w 1747838"/>
                    <a:gd name="connsiteY58" fmla="*/ 777296 h 779463"/>
                    <a:gd name="connsiteX59" fmla="*/ 1203986 w 1747838"/>
                    <a:gd name="connsiteY59" fmla="*/ 385036 h 779463"/>
                    <a:gd name="connsiteX60" fmla="*/ 1115872 w 1747838"/>
                    <a:gd name="connsiteY60" fmla="*/ 385036 h 779463"/>
                    <a:gd name="connsiteX61" fmla="*/ 1115872 w 1747838"/>
                    <a:gd name="connsiteY61" fmla="*/ 774406 h 779463"/>
                    <a:gd name="connsiteX62" fmla="*/ 1046897 w 1747838"/>
                    <a:gd name="connsiteY62" fmla="*/ 774406 h 779463"/>
                    <a:gd name="connsiteX63" fmla="*/ 1046897 w 1747838"/>
                    <a:gd name="connsiteY63" fmla="*/ 386481 h 779463"/>
                    <a:gd name="connsiteX64" fmla="*/ 701663 w 1747838"/>
                    <a:gd name="connsiteY64" fmla="*/ 386481 h 779463"/>
                    <a:gd name="connsiteX65" fmla="*/ 701663 w 1747838"/>
                    <a:gd name="connsiteY65" fmla="*/ 774406 h 779463"/>
                    <a:gd name="connsiteX66" fmla="*/ 633411 w 1747838"/>
                    <a:gd name="connsiteY66" fmla="*/ 774406 h 779463"/>
                    <a:gd name="connsiteX67" fmla="*/ 633411 w 1747838"/>
                    <a:gd name="connsiteY67" fmla="*/ 386481 h 779463"/>
                    <a:gd name="connsiteX68" fmla="*/ 540963 w 1747838"/>
                    <a:gd name="connsiteY68" fmla="*/ 386481 h 779463"/>
                    <a:gd name="connsiteX69" fmla="*/ 540963 w 1747838"/>
                    <a:gd name="connsiteY69" fmla="*/ 775129 h 779463"/>
                    <a:gd name="connsiteX70" fmla="*/ 479572 w 1747838"/>
                    <a:gd name="connsiteY70" fmla="*/ 775129 h 779463"/>
                    <a:gd name="connsiteX71" fmla="*/ 479572 w 1747838"/>
                    <a:gd name="connsiteY71" fmla="*/ 437410 h 779463"/>
                    <a:gd name="connsiteX72" fmla="*/ 135060 w 1747838"/>
                    <a:gd name="connsiteY72" fmla="*/ 395150 h 779463"/>
                    <a:gd name="connsiteX73" fmla="*/ 47669 w 1747838"/>
                    <a:gd name="connsiteY73" fmla="*/ 468111 h 779463"/>
                    <a:gd name="connsiteX74" fmla="*/ 47669 w 1747838"/>
                    <a:gd name="connsiteY74" fmla="*/ 779463 h 779463"/>
                    <a:gd name="connsiteX75" fmla="*/ 2889 w 1747838"/>
                    <a:gd name="connsiteY75" fmla="*/ 779463 h 779463"/>
                    <a:gd name="connsiteX76" fmla="*/ 2889 w 1747838"/>
                    <a:gd name="connsiteY76" fmla="*/ 251032 h 779463"/>
                    <a:gd name="connsiteX77" fmla="*/ 392903 w 1747838"/>
                    <a:gd name="connsiteY77" fmla="*/ 309185 h 779463"/>
                    <a:gd name="connsiteX78" fmla="*/ 395069 w 1747838"/>
                    <a:gd name="connsiteY78" fmla="*/ 282095 h 779463"/>
                    <a:gd name="connsiteX79" fmla="*/ 0 w 1747838"/>
                    <a:gd name="connsiteY79" fmla="*/ 226109 h 779463"/>
                    <a:gd name="connsiteX80" fmla="*/ 2889 w 1747838"/>
                    <a:gd name="connsiteY80" fmla="*/ 187100 h 779463"/>
                    <a:gd name="connsiteX81" fmla="*/ 416376 w 1747838"/>
                    <a:gd name="connsiteY81" fmla="*/ 265119 h 779463"/>
                    <a:gd name="connsiteX82" fmla="*/ 525796 w 1747838"/>
                    <a:gd name="connsiteY82" fmla="*/ 206244 h 779463"/>
                    <a:gd name="connsiteX83" fmla="*/ 525796 w 1747838"/>
                    <a:gd name="connsiteY83" fmla="*/ 5418 h 779463"/>
                    <a:gd name="connsiteX84" fmla="*/ 586465 w 1747838"/>
                    <a:gd name="connsiteY84" fmla="*/ 5418 h 779463"/>
                    <a:gd name="connsiteX85" fmla="*/ 586465 w 1747838"/>
                    <a:gd name="connsiteY85" fmla="*/ 175181 h 779463"/>
                    <a:gd name="connsiteX86" fmla="*/ 634133 w 1747838"/>
                    <a:gd name="connsiteY86" fmla="*/ 155315 h 779463"/>
                    <a:gd name="connsiteX87" fmla="*/ 634133 w 1747838"/>
                    <a:gd name="connsiteY87" fmla="*/ 6140 h 779463"/>
                    <a:gd name="connsiteX88" fmla="*/ 738498 w 1747838"/>
                    <a:gd name="connsiteY88" fmla="*/ 6140 h 779463"/>
                    <a:gd name="connsiteX89" fmla="*/ 738498 w 1747838"/>
                    <a:gd name="connsiteY89" fmla="*/ 103664 h 779463"/>
                    <a:gd name="connsiteX90" fmla="*/ 784722 w 1747838"/>
                    <a:gd name="connsiteY90" fmla="*/ 78019 h 779463"/>
                    <a:gd name="connsiteX91" fmla="*/ 784722 w 1747838"/>
                    <a:gd name="connsiteY91" fmla="*/ 2167 h 779463"/>
                    <a:gd name="connsiteX92" fmla="*/ 959506 w 1747838"/>
                    <a:gd name="connsiteY92" fmla="*/ 2167 h 779463"/>
                    <a:gd name="connsiteX93" fmla="*/ 959506 w 1747838"/>
                    <a:gd name="connsiteY93" fmla="*/ 83075 h 779463"/>
                    <a:gd name="connsiteX94" fmla="*/ 1011507 w 1747838"/>
                    <a:gd name="connsiteY94" fmla="*/ 111971 h 77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747838" h="779463">
                      <a:moveTo>
                        <a:pt x="1425576" y="322262"/>
                      </a:moveTo>
                      <a:lnTo>
                        <a:pt x="1376363" y="326643"/>
                      </a:lnTo>
                      <a:lnTo>
                        <a:pt x="1376363" y="390525"/>
                      </a:lnTo>
                      <a:lnTo>
                        <a:pt x="1425576" y="383954"/>
                      </a:lnTo>
                      <a:close/>
                      <a:moveTo>
                        <a:pt x="327025" y="322262"/>
                      </a:moveTo>
                      <a:lnTo>
                        <a:pt x="327025" y="383954"/>
                      </a:lnTo>
                      <a:lnTo>
                        <a:pt x="376238" y="390525"/>
                      </a:lnTo>
                      <a:lnTo>
                        <a:pt x="376238" y="326643"/>
                      </a:lnTo>
                      <a:close/>
                      <a:moveTo>
                        <a:pt x="1524000" y="312737"/>
                      </a:moveTo>
                      <a:lnTo>
                        <a:pt x="1476375" y="315581"/>
                      </a:lnTo>
                      <a:lnTo>
                        <a:pt x="1476375" y="381000"/>
                      </a:lnTo>
                      <a:lnTo>
                        <a:pt x="1524000" y="372112"/>
                      </a:lnTo>
                      <a:close/>
                      <a:moveTo>
                        <a:pt x="228600" y="312737"/>
                      </a:moveTo>
                      <a:lnTo>
                        <a:pt x="228600" y="372112"/>
                      </a:lnTo>
                      <a:lnTo>
                        <a:pt x="276225" y="381000"/>
                      </a:lnTo>
                      <a:lnTo>
                        <a:pt x="276225" y="315581"/>
                      </a:lnTo>
                      <a:close/>
                      <a:moveTo>
                        <a:pt x="1625600" y="292100"/>
                      </a:moveTo>
                      <a:lnTo>
                        <a:pt x="1574800" y="303285"/>
                      </a:lnTo>
                      <a:lnTo>
                        <a:pt x="1574800" y="363538"/>
                      </a:lnTo>
                      <a:lnTo>
                        <a:pt x="1625600" y="353075"/>
                      </a:lnTo>
                      <a:close/>
                      <a:moveTo>
                        <a:pt x="127000" y="292100"/>
                      </a:moveTo>
                      <a:lnTo>
                        <a:pt x="127000" y="353075"/>
                      </a:lnTo>
                      <a:lnTo>
                        <a:pt x="177800" y="363538"/>
                      </a:lnTo>
                      <a:lnTo>
                        <a:pt x="177800" y="303285"/>
                      </a:lnTo>
                      <a:close/>
                      <a:moveTo>
                        <a:pt x="425450" y="290512"/>
                      </a:moveTo>
                      <a:lnTo>
                        <a:pt x="425450" y="354012"/>
                      </a:lnTo>
                      <a:lnTo>
                        <a:pt x="1327150" y="354012"/>
                      </a:lnTo>
                      <a:lnTo>
                        <a:pt x="1327150" y="290512"/>
                      </a:lnTo>
                      <a:close/>
                      <a:moveTo>
                        <a:pt x="1714501" y="276225"/>
                      </a:moveTo>
                      <a:lnTo>
                        <a:pt x="1671638" y="280963"/>
                      </a:lnTo>
                      <a:lnTo>
                        <a:pt x="1671638" y="347663"/>
                      </a:lnTo>
                      <a:lnTo>
                        <a:pt x="1714501" y="346205"/>
                      </a:lnTo>
                      <a:close/>
                      <a:moveTo>
                        <a:pt x="38100" y="276225"/>
                      </a:moveTo>
                      <a:lnTo>
                        <a:pt x="38100" y="346205"/>
                      </a:lnTo>
                      <a:lnTo>
                        <a:pt x="80963" y="347663"/>
                      </a:lnTo>
                      <a:lnTo>
                        <a:pt x="80963" y="280963"/>
                      </a:lnTo>
                      <a:close/>
                      <a:moveTo>
                        <a:pt x="876335" y="96837"/>
                      </a:moveTo>
                      <a:lnTo>
                        <a:pt x="547688" y="265112"/>
                      </a:lnTo>
                      <a:lnTo>
                        <a:pt x="1209676" y="265112"/>
                      </a:lnTo>
                      <a:close/>
                      <a:moveTo>
                        <a:pt x="1011507" y="0"/>
                      </a:moveTo>
                      <a:lnTo>
                        <a:pt x="1112261" y="0"/>
                      </a:lnTo>
                      <a:lnTo>
                        <a:pt x="1112261" y="158204"/>
                      </a:lnTo>
                      <a:lnTo>
                        <a:pt x="1163540" y="177348"/>
                      </a:lnTo>
                      <a:lnTo>
                        <a:pt x="1163540" y="5418"/>
                      </a:lnTo>
                      <a:lnTo>
                        <a:pt x="1226737" y="5418"/>
                      </a:lnTo>
                      <a:lnTo>
                        <a:pt x="1226737" y="209133"/>
                      </a:lnTo>
                      <a:lnTo>
                        <a:pt x="1332546" y="268731"/>
                      </a:lnTo>
                      <a:lnTo>
                        <a:pt x="1747838" y="184211"/>
                      </a:lnTo>
                      <a:lnTo>
                        <a:pt x="1747838" y="224665"/>
                      </a:lnTo>
                      <a:lnTo>
                        <a:pt x="1342658" y="285707"/>
                      </a:lnTo>
                      <a:lnTo>
                        <a:pt x="1348074" y="305212"/>
                      </a:lnTo>
                      <a:lnTo>
                        <a:pt x="1746394" y="251754"/>
                      </a:lnTo>
                      <a:lnTo>
                        <a:pt x="1746394" y="775851"/>
                      </a:lnTo>
                      <a:lnTo>
                        <a:pt x="1696559" y="775851"/>
                      </a:lnTo>
                      <a:lnTo>
                        <a:pt x="1696559" y="463777"/>
                      </a:lnTo>
                      <a:lnTo>
                        <a:pt x="1610611" y="394427"/>
                      </a:lnTo>
                      <a:lnTo>
                        <a:pt x="1262488" y="438132"/>
                      </a:lnTo>
                      <a:lnTo>
                        <a:pt x="1262488" y="777296"/>
                      </a:lnTo>
                      <a:lnTo>
                        <a:pt x="1203986" y="777296"/>
                      </a:lnTo>
                      <a:lnTo>
                        <a:pt x="1203986" y="385036"/>
                      </a:lnTo>
                      <a:lnTo>
                        <a:pt x="1115872" y="385036"/>
                      </a:lnTo>
                      <a:lnTo>
                        <a:pt x="1115872" y="774406"/>
                      </a:lnTo>
                      <a:lnTo>
                        <a:pt x="1046897" y="774406"/>
                      </a:lnTo>
                      <a:lnTo>
                        <a:pt x="1046897" y="386481"/>
                      </a:lnTo>
                      <a:lnTo>
                        <a:pt x="701663" y="386481"/>
                      </a:lnTo>
                      <a:lnTo>
                        <a:pt x="701663" y="774406"/>
                      </a:lnTo>
                      <a:lnTo>
                        <a:pt x="633411" y="774406"/>
                      </a:lnTo>
                      <a:lnTo>
                        <a:pt x="633411" y="386481"/>
                      </a:lnTo>
                      <a:lnTo>
                        <a:pt x="540963" y="386481"/>
                      </a:lnTo>
                      <a:lnTo>
                        <a:pt x="540963" y="775129"/>
                      </a:lnTo>
                      <a:lnTo>
                        <a:pt x="479572" y="775129"/>
                      </a:lnTo>
                      <a:lnTo>
                        <a:pt x="479572" y="437410"/>
                      </a:lnTo>
                      <a:lnTo>
                        <a:pt x="135060" y="395150"/>
                      </a:lnTo>
                      <a:lnTo>
                        <a:pt x="47669" y="468111"/>
                      </a:lnTo>
                      <a:lnTo>
                        <a:pt x="47669" y="779463"/>
                      </a:lnTo>
                      <a:lnTo>
                        <a:pt x="2889" y="779463"/>
                      </a:lnTo>
                      <a:lnTo>
                        <a:pt x="2889" y="251032"/>
                      </a:lnTo>
                      <a:lnTo>
                        <a:pt x="392903" y="309185"/>
                      </a:lnTo>
                      <a:lnTo>
                        <a:pt x="395069" y="282095"/>
                      </a:lnTo>
                      <a:lnTo>
                        <a:pt x="0" y="226109"/>
                      </a:lnTo>
                      <a:lnTo>
                        <a:pt x="2889" y="187100"/>
                      </a:lnTo>
                      <a:lnTo>
                        <a:pt x="416376" y="265119"/>
                      </a:lnTo>
                      <a:lnTo>
                        <a:pt x="525796" y="206244"/>
                      </a:lnTo>
                      <a:lnTo>
                        <a:pt x="525796" y="5418"/>
                      </a:lnTo>
                      <a:lnTo>
                        <a:pt x="586465" y="5418"/>
                      </a:lnTo>
                      <a:lnTo>
                        <a:pt x="586465" y="175181"/>
                      </a:lnTo>
                      <a:lnTo>
                        <a:pt x="634133" y="155315"/>
                      </a:lnTo>
                      <a:lnTo>
                        <a:pt x="634133" y="6140"/>
                      </a:lnTo>
                      <a:lnTo>
                        <a:pt x="738498" y="6140"/>
                      </a:lnTo>
                      <a:lnTo>
                        <a:pt x="738498" y="103664"/>
                      </a:lnTo>
                      <a:lnTo>
                        <a:pt x="784722" y="78019"/>
                      </a:lnTo>
                      <a:lnTo>
                        <a:pt x="784722" y="2167"/>
                      </a:lnTo>
                      <a:lnTo>
                        <a:pt x="959506" y="2167"/>
                      </a:lnTo>
                      <a:lnTo>
                        <a:pt x="959506" y="83075"/>
                      </a:lnTo>
                      <a:lnTo>
                        <a:pt x="1011507" y="111971"/>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2" name="Freeform 5"/>
                <p:cNvSpPr/>
                <p:nvPr/>
              </p:nvSpPr>
              <p:spPr bwMode="auto">
                <a:xfrm>
                  <a:off x="3416458" y="2353222"/>
                  <a:ext cx="33321" cy="237735"/>
                </a:xfrm>
                <a:custGeom>
                  <a:avLst/>
                  <a:gdLst>
                    <a:gd name="T0" fmla="*/ 4 w 229"/>
                    <a:gd name="T1" fmla="*/ 0 h 1632"/>
                    <a:gd name="T2" fmla="*/ 0 w 229"/>
                    <a:gd name="T3" fmla="*/ 1632 h 1632"/>
                    <a:gd name="T4" fmla="*/ 229 w 229"/>
                    <a:gd name="T5" fmla="*/ 1591 h 1632"/>
                    <a:gd name="T6" fmla="*/ 229 w 229"/>
                    <a:gd name="T7" fmla="*/ 279 h 1632"/>
                    <a:gd name="T8" fmla="*/ 4 w 229"/>
                    <a:gd name="T9" fmla="*/ 0 h 1632"/>
                  </a:gdLst>
                  <a:ahLst/>
                  <a:cxnLst>
                    <a:cxn ang="0">
                      <a:pos x="T0" y="T1"/>
                    </a:cxn>
                    <a:cxn ang="0">
                      <a:pos x="T2" y="T3"/>
                    </a:cxn>
                    <a:cxn ang="0">
                      <a:pos x="T4" y="T5"/>
                    </a:cxn>
                    <a:cxn ang="0">
                      <a:pos x="T6" y="T7"/>
                    </a:cxn>
                    <a:cxn ang="0">
                      <a:pos x="T8" y="T9"/>
                    </a:cxn>
                  </a:cxnLst>
                  <a:rect l="0" t="0" r="r" b="b"/>
                  <a:pathLst>
                    <a:path w="229" h="1632">
                      <a:moveTo>
                        <a:pt x="4" y="0"/>
                      </a:moveTo>
                      <a:lnTo>
                        <a:pt x="0" y="1632"/>
                      </a:lnTo>
                      <a:lnTo>
                        <a:pt x="229" y="1591"/>
                      </a:lnTo>
                      <a:lnTo>
                        <a:pt x="229" y="279"/>
                      </a:lnTo>
                      <a:lnTo>
                        <a:pt x="4"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3" name="Freeform 71"/>
                <p:cNvSpPr/>
                <p:nvPr/>
              </p:nvSpPr>
              <p:spPr bwMode="auto">
                <a:xfrm>
                  <a:off x="3046079" y="2119973"/>
                  <a:ext cx="13457" cy="33321"/>
                </a:xfrm>
                <a:custGeom>
                  <a:avLst/>
                  <a:gdLst>
                    <a:gd name="T0" fmla="*/ 36 w 92"/>
                    <a:gd name="T1" fmla="*/ 0 h 229"/>
                    <a:gd name="T2" fmla="*/ 0 w 92"/>
                    <a:gd name="T3" fmla="*/ 229 h 229"/>
                    <a:gd name="T4" fmla="*/ 92 w 92"/>
                    <a:gd name="T5" fmla="*/ 229 h 229"/>
                    <a:gd name="T6" fmla="*/ 36 w 92"/>
                    <a:gd name="T7" fmla="*/ 0 h 229"/>
                  </a:gdLst>
                  <a:ahLst/>
                  <a:cxnLst>
                    <a:cxn ang="0">
                      <a:pos x="T0" y="T1"/>
                    </a:cxn>
                    <a:cxn ang="0">
                      <a:pos x="T2" y="T3"/>
                    </a:cxn>
                    <a:cxn ang="0">
                      <a:pos x="T4" y="T5"/>
                    </a:cxn>
                    <a:cxn ang="0">
                      <a:pos x="T6" y="T7"/>
                    </a:cxn>
                  </a:cxnLst>
                  <a:rect l="0" t="0" r="r" b="b"/>
                  <a:pathLst>
                    <a:path w="92" h="229">
                      <a:moveTo>
                        <a:pt x="36" y="0"/>
                      </a:moveTo>
                      <a:lnTo>
                        <a:pt x="0" y="229"/>
                      </a:lnTo>
                      <a:lnTo>
                        <a:pt x="92" y="229"/>
                      </a:lnTo>
                      <a:lnTo>
                        <a:pt x="36"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4" name="Freeform 72"/>
                <p:cNvSpPr/>
                <p:nvPr/>
              </p:nvSpPr>
              <p:spPr bwMode="auto">
                <a:xfrm>
                  <a:off x="2932658" y="2160984"/>
                  <a:ext cx="239657" cy="89711"/>
                </a:xfrm>
                <a:custGeom>
                  <a:avLst/>
                  <a:gdLst>
                    <a:gd name="T0" fmla="*/ 0 w 1642"/>
                    <a:gd name="T1" fmla="*/ 616 h 616"/>
                    <a:gd name="T2" fmla="*/ 1642 w 1642"/>
                    <a:gd name="T3" fmla="*/ 616 h 616"/>
                    <a:gd name="T4" fmla="*/ 837 w 1642"/>
                    <a:gd name="T5" fmla="*/ 4 h 616"/>
                    <a:gd name="T6" fmla="*/ 0 w 1642"/>
                    <a:gd name="T7" fmla="*/ 616 h 616"/>
                  </a:gdLst>
                  <a:ahLst/>
                  <a:cxnLst>
                    <a:cxn ang="0">
                      <a:pos x="T0" y="T1"/>
                    </a:cxn>
                    <a:cxn ang="0">
                      <a:pos x="T2" y="T3"/>
                    </a:cxn>
                    <a:cxn ang="0">
                      <a:pos x="T4" y="T5"/>
                    </a:cxn>
                    <a:cxn ang="0">
                      <a:pos x="T6" y="T7"/>
                    </a:cxn>
                  </a:cxnLst>
                  <a:rect l="0" t="0" r="r" b="b"/>
                  <a:pathLst>
                    <a:path w="1642" h="616">
                      <a:moveTo>
                        <a:pt x="0" y="616"/>
                      </a:moveTo>
                      <a:lnTo>
                        <a:pt x="1642" y="616"/>
                      </a:lnTo>
                      <a:cubicBezTo>
                        <a:pt x="1642" y="616"/>
                        <a:pt x="1443" y="0"/>
                        <a:pt x="837" y="4"/>
                      </a:cubicBezTo>
                      <a:cubicBezTo>
                        <a:pt x="232" y="8"/>
                        <a:pt x="49" y="477"/>
                        <a:pt x="0" y="616"/>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5" name="Rectangle 73"/>
                <p:cNvSpPr>
                  <a:spLocks noChangeArrowheads="1"/>
                </p:cNvSpPr>
                <p:nvPr/>
              </p:nvSpPr>
              <p:spPr bwMode="auto">
                <a:xfrm>
                  <a:off x="2907667" y="2260948"/>
                  <a:ext cx="286435" cy="9612"/>
                </a:xfrm>
                <a:prstGeom prst="rect">
                  <a:avLst/>
                </a:pr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6" name="Freeform 74"/>
                <p:cNvSpPr/>
                <p:nvPr/>
              </p:nvSpPr>
              <p:spPr bwMode="auto">
                <a:xfrm>
                  <a:off x="3230628" y="2544179"/>
                  <a:ext cx="99964" cy="49982"/>
                </a:xfrm>
                <a:custGeom>
                  <a:avLst/>
                  <a:gdLst>
                    <a:gd name="T0" fmla="*/ 553 w 689"/>
                    <a:gd name="T1" fmla="*/ 338 h 346"/>
                    <a:gd name="T2" fmla="*/ 553 w 689"/>
                    <a:gd name="T3" fmla="*/ 100 h 346"/>
                    <a:gd name="T4" fmla="*/ 427 w 689"/>
                    <a:gd name="T5" fmla="*/ 100 h 346"/>
                    <a:gd name="T6" fmla="*/ 427 w 689"/>
                    <a:gd name="T7" fmla="*/ 336 h 346"/>
                    <a:gd name="T8" fmla="*/ 282 w 689"/>
                    <a:gd name="T9" fmla="*/ 336 h 346"/>
                    <a:gd name="T10" fmla="*/ 282 w 689"/>
                    <a:gd name="T11" fmla="*/ 98 h 346"/>
                    <a:gd name="T12" fmla="*/ 142 w 689"/>
                    <a:gd name="T13" fmla="*/ 98 h 346"/>
                    <a:gd name="T14" fmla="*/ 142 w 689"/>
                    <a:gd name="T15" fmla="*/ 346 h 346"/>
                    <a:gd name="T16" fmla="*/ 0 w 689"/>
                    <a:gd name="T17" fmla="*/ 346 h 346"/>
                    <a:gd name="T18" fmla="*/ 0 w 689"/>
                    <a:gd name="T19" fmla="*/ 0 h 346"/>
                    <a:gd name="T20" fmla="*/ 689 w 689"/>
                    <a:gd name="T21" fmla="*/ 0 h 346"/>
                    <a:gd name="T22" fmla="*/ 689 w 689"/>
                    <a:gd name="T23" fmla="*/ 340 h 346"/>
                    <a:gd name="T24" fmla="*/ 553 w 689"/>
                    <a:gd name="T25" fmla="*/ 338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9" h="346">
                      <a:moveTo>
                        <a:pt x="553" y="338"/>
                      </a:moveTo>
                      <a:lnTo>
                        <a:pt x="553" y="100"/>
                      </a:lnTo>
                      <a:lnTo>
                        <a:pt x="427" y="100"/>
                      </a:lnTo>
                      <a:lnTo>
                        <a:pt x="427" y="336"/>
                      </a:lnTo>
                      <a:lnTo>
                        <a:pt x="282" y="336"/>
                      </a:lnTo>
                      <a:lnTo>
                        <a:pt x="282" y="98"/>
                      </a:lnTo>
                      <a:lnTo>
                        <a:pt x="142" y="98"/>
                      </a:lnTo>
                      <a:lnTo>
                        <a:pt x="142" y="346"/>
                      </a:lnTo>
                      <a:lnTo>
                        <a:pt x="0" y="346"/>
                      </a:lnTo>
                      <a:lnTo>
                        <a:pt x="0" y="0"/>
                      </a:lnTo>
                      <a:lnTo>
                        <a:pt x="689" y="0"/>
                      </a:lnTo>
                      <a:lnTo>
                        <a:pt x="689" y="340"/>
                      </a:lnTo>
                      <a:lnTo>
                        <a:pt x="553" y="338"/>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7" name="Freeform 75"/>
                <p:cNvSpPr/>
                <p:nvPr/>
              </p:nvSpPr>
              <p:spPr bwMode="auto">
                <a:xfrm>
                  <a:off x="3230628" y="2470488"/>
                  <a:ext cx="20505" cy="58953"/>
                </a:xfrm>
                <a:custGeom>
                  <a:avLst/>
                  <a:gdLst>
                    <a:gd name="T0" fmla="*/ 140 w 140"/>
                    <a:gd name="T1" fmla="*/ 0 h 404"/>
                    <a:gd name="T2" fmla="*/ 140 w 140"/>
                    <a:gd name="T3" fmla="*/ 404 h 404"/>
                    <a:gd name="T4" fmla="*/ 0 w 140"/>
                    <a:gd name="T5" fmla="*/ 404 h 404"/>
                    <a:gd name="T6" fmla="*/ 0 w 140"/>
                    <a:gd name="T7" fmla="*/ 11 h 404"/>
                    <a:gd name="T8" fmla="*/ 140 w 140"/>
                    <a:gd name="T9" fmla="*/ 0 h 404"/>
                  </a:gdLst>
                  <a:ahLst/>
                  <a:cxnLst>
                    <a:cxn ang="0">
                      <a:pos x="T0" y="T1"/>
                    </a:cxn>
                    <a:cxn ang="0">
                      <a:pos x="T2" y="T3"/>
                    </a:cxn>
                    <a:cxn ang="0">
                      <a:pos x="T4" y="T5"/>
                    </a:cxn>
                    <a:cxn ang="0">
                      <a:pos x="T6" y="T7"/>
                    </a:cxn>
                    <a:cxn ang="0">
                      <a:pos x="T8" y="T9"/>
                    </a:cxn>
                  </a:cxnLst>
                  <a:rect l="0" t="0" r="r" b="b"/>
                  <a:pathLst>
                    <a:path w="140" h="404">
                      <a:moveTo>
                        <a:pt x="140" y="0"/>
                      </a:moveTo>
                      <a:lnTo>
                        <a:pt x="140" y="404"/>
                      </a:lnTo>
                      <a:lnTo>
                        <a:pt x="0" y="404"/>
                      </a:lnTo>
                      <a:lnTo>
                        <a:pt x="0" y="11"/>
                      </a:lnTo>
                      <a:lnTo>
                        <a:pt x="140"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8" name="Freeform 76"/>
                <p:cNvSpPr/>
                <p:nvPr/>
              </p:nvSpPr>
              <p:spPr bwMode="auto">
                <a:xfrm>
                  <a:off x="3272920" y="2467284"/>
                  <a:ext cx="19224" cy="62157"/>
                </a:xfrm>
                <a:custGeom>
                  <a:avLst/>
                  <a:gdLst>
                    <a:gd name="T0" fmla="*/ 132 w 132"/>
                    <a:gd name="T1" fmla="*/ 0 h 428"/>
                    <a:gd name="T2" fmla="*/ 132 w 132"/>
                    <a:gd name="T3" fmla="*/ 428 h 428"/>
                    <a:gd name="T4" fmla="*/ 0 w 132"/>
                    <a:gd name="T5" fmla="*/ 428 h 428"/>
                    <a:gd name="T6" fmla="*/ 0 w 132"/>
                    <a:gd name="T7" fmla="*/ 6 h 428"/>
                    <a:gd name="T8" fmla="*/ 132 w 132"/>
                    <a:gd name="T9" fmla="*/ 0 h 428"/>
                  </a:gdLst>
                  <a:ahLst/>
                  <a:cxnLst>
                    <a:cxn ang="0">
                      <a:pos x="T0" y="T1"/>
                    </a:cxn>
                    <a:cxn ang="0">
                      <a:pos x="T2" y="T3"/>
                    </a:cxn>
                    <a:cxn ang="0">
                      <a:pos x="T4" y="T5"/>
                    </a:cxn>
                    <a:cxn ang="0">
                      <a:pos x="T6" y="T7"/>
                    </a:cxn>
                    <a:cxn ang="0">
                      <a:pos x="T8" y="T9"/>
                    </a:cxn>
                  </a:cxnLst>
                  <a:rect l="0" t="0" r="r" b="b"/>
                  <a:pathLst>
                    <a:path w="132" h="428">
                      <a:moveTo>
                        <a:pt x="132" y="0"/>
                      </a:moveTo>
                      <a:lnTo>
                        <a:pt x="132" y="428"/>
                      </a:lnTo>
                      <a:lnTo>
                        <a:pt x="0" y="428"/>
                      </a:lnTo>
                      <a:lnTo>
                        <a:pt x="0" y="6"/>
                      </a:lnTo>
                      <a:lnTo>
                        <a:pt x="132"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9" name="Freeform 77"/>
                <p:cNvSpPr/>
                <p:nvPr/>
              </p:nvSpPr>
              <p:spPr bwMode="auto">
                <a:xfrm>
                  <a:off x="3313290" y="2462157"/>
                  <a:ext cx="16661" cy="66002"/>
                </a:xfrm>
                <a:custGeom>
                  <a:avLst/>
                  <a:gdLst>
                    <a:gd name="T0" fmla="*/ 118 w 118"/>
                    <a:gd name="T1" fmla="*/ 0 h 451"/>
                    <a:gd name="T2" fmla="*/ 118 w 118"/>
                    <a:gd name="T3" fmla="*/ 451 h 451"/>
                    <a:gd name="T4" fmla="*/ 0 w 118"/>
                    <a:gd name="T5" fmla="*/ 451 h 451"/>
                    <a:gd name="T6" fmla="*/ 0 w 118"/>
                    <a:gd name="T7" fmla="*/ 15 h 451"/>
                    <a:gd name="T8" fmla="*/ 118 w 118"/>
                    <a:gd name="T9" fmla="*/ 0 h 451"/>
                  </a:gdLst>
                  <a:ahLst/>
                  <a:cxnLst>
                    <a:cxn ang="0">
                      <a:pos x="T0" y="T1"/>
                    </a:cxn>
                    <a:cxn ang="0">
                      <a:pos x="T2" y="T3"/>
                    </a:cxn>
                    <a:cxn ang="0">
                      <a:pos x="T4" y="T5"/>
                    </a:cxn>
                    <a:cxn ang="0">
                      <a:pos x="T6" y="T7"/>
                    </a:cxn>
                    <a:cxn ang="0">
                      <a:pos x="T8" y="T9"/>
                    </a:cxn>
                  </a:cxnLst>
                  <a:rect l="0" t="0" r="r" b="b"/>
                  <a:pathLst>
                    <a:path w="118" h="451">
                      <a:moveTo>
                        <a:pt x="118" y="0"/>
                      </a:moveTo>
                      <a:lnTo>
                        <a:pt x="118" y="451"/>
                      </a:lnTo>
                      <a:lnTo>
                        <a:pt x="0" y="451"/>
                      </a:lnTo>
                      <a:lnTo>
                        <a:pt x="0" y="15"/>
                      </a:lnTo>
                      <a:lnTo>
                        <a:pt x="118"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0" name="Freeform 78"/>
                <p:cNvSpPr/>
                <p:nvPr/>
              </p:nvSpPr>
              <p:spPr bwMode="auto">
                <a:xfrm>
                  <a:off x="3352379" y="2459594"/>
                  <a:ext cx="13457" cy="133285"/>
                </a:xfrm>
                <a:custGeom>
                  <a:avLst/>
                  <a:gdLst>
                    <a:gd name="T0" fmla="*/ 0 w 94"/>
                    <a:gd name="T1" fmla="*/ 0 h 917"/>
                    <a:gd name="T2" fmla="*/ 0 w 94"/>
                    <a:gd name="T3" fmla="*/ 917 h 917"/>
                    <a:gd name="T4" fmla="*/ 94 w 94"/>
                    <a:gd name="T5" fmla="*/ 917 h 917"/>
                    <a:gd name="T6" fmla="*/ 94 w 94"/>
                    <a:gd name="T7" fmla="*/ 112 h 917"/>
                    <a:gd name="T8" fmla="*/ 0 w 94"/>
                    <a:gd name="T9" fmla="*/ 0 h 917"/>
                  </a:gdLst>
                  <a:ahLst/>
                  <a:cxnLst>
                    <a:cxn ang="0">
                      <a:pos x="T0" y="T1"/>
                    </a:cxn>
                    <a:cxn ang="0">
                      <a:pos x="T2" y="T3"/>
                    </a:cxn>
                    <a:cxn ang="0">
                      <a:pos x="T4" y="T5"/>
                    </a:cxn>
                    <a:cxn ang="0">
                      <a:pos x="T6" y="T7"/>
                    </a:cxn>
                    <a:cxn ang="0">
                      <a:pos x="T8" y="T9"/>
                    </a:cxn>
                  </a:cxnLst>
                  <a:rect l="0" t="0" r="r" b="b"/>
                  <a:pathLst>
                    <a:path w="94" h="917">
                      <a:moveTo>
                        <a:pt x="0" y="0"/>
                      </a:moveTo>
                      <a:lnTo>
                        <a:pt x="0" y="917"/>
                      </a:lnTo>
                      <a:lnTo>
                        <a:pt x="94" y="917"/>
                      </a:lnTo>
                      <a:lnTo>
                        <a:pt x="94" y="112"/>
                      </a:lnTo>
                      <a:lnTo>
                        <a:pt x="0"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1" name="Freeform 83"/>
                <p:cNvSpPr/>
                <p:nvPr/>
              </p:nvSpPr>
              <p:spPr bwMode="auto">
                <a:xfrm>
                  <a:off x="3015321" y="2467924"/>
                  <a:ext cx="73692" cy="125596"/>
                </a:xfrm>
                <a:custGeom>
                  <a:avLst/>
                  <a:gdLst>
                    <a:gd name="T0" fmla="*/ 0 w 508"/>
                    <a:gd name="T1" fmla="*/ 862 h 862"/>
                    <a:gd name="T2" fmla="*/ 508 w 508"/>
                    <a:gd name="T3" fmla="*/ 862 h 862"/>
                    <a:gd name="T4" fmla="*/ 508 w 508"/>
                    <a:gd name="T5" fmla="*/ 254 h 862"/>
                    <a:gd name="T6" fmla="*/ 254 w 508"/>
                    <a:gd name="T7" fmla="*/ 0 h 862"/>
                    <a:gd name="T8" fmla="*/ 254 w 508"/>
                    <a:gd name="T9" fmla="*/ 0 h 862"/>
                    <a:gd name="T10" fmla="*/ 0 w 508"/>
                    <a:gd name="T11" fmla="*/ 254 h 862"/>
                    <a:gd name="T12" fmla="*/ 0 w 508"/>
                    <a:gd name="T13" fmla="*/ 862 h 862"/>
                  </a:gdLst>
                  <a:ahLst/>
                  <a:cxnLst>
                    <a:cxn ang="0">
                      <a:pos x="T0" y="T1"/>
                    </a:cxn>
                    <a:cxn ang="0">
                      <a:pos x="T2" y="T3"/>
                    </a:cxn>
                    <a:cxn ang="0">
                      <a:pos x="T4" y="T5"/>
                    </a:cxn>
                    <a:cxn ang="0">
                      <a:pos x="T6" y="T7"/>
                    </a:cxn>
                    <a:cxn ang="0">
                      <a:pos x="T8" y="T9"/>
                    </a:cxn>
                    <a:cxn ang="0">
                      <a:pos x="T10" y="T11"/>
                    </a:cxn>
                    <a:cxn ang="0">
                      <a:pos x="T12" y="T13"/>
                    </a:cxn>
                  </a:cxnLst>
                  <a:rect l="0" t="0" r="r" b="b"/>
                  <a:pathLst>
                    <a:path w="508" h="862">
                      <a:moveTo>
                        <a:pt x="0" y="862"/>
                      </a:moveTo>
                      <a:lnTo>
                        <a:pt x="508" y="862"/>
                      </a:lnTo>
                      <a:lnTo>
                        <a:pt x="508" y="254"/>
                      </a:lnTo>
                      <a:cubicBezTo>
                        <a:pt x="508" y="114"/>
                        <a:pt x="394" y="0"/>
                        <a:pt x="254" y="0"/>
                      </a:cubicBezTo>
                      <a:lnTo>
                        <a:pt x="254" y="0"/>
                      </a:lnTo>
                      <a:cubicBezTo>
                        <a:pt x="114" y="0"/>
                        <a:pt x="0" y="114"/>
                        <a:pt x="0" y="254"/>
                      </a:cubicBezTo>
                      <a:lnTo>
                        <a:pt x="0" y="862"/>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2" name="Freeform 86"/>
                <p:cNvSpPr/>
                <p:nvPr/>
              </p:nvSpPr>
              <p:spPr bwMode="auto">
                <a:xfrm>
                  <a:off x="2775023" y="2544179"/>
                  <a:ext cx="100605" cy="49982"/>
                </a:xfrm>
                <a:custGeom>
                  <a:avLst/>
                  <a:gdLst>
                    <a:gd name="T0" fmla="*/ 136 w 689"/>
                    <a:gd name="T1" fmla="*/ 338 h 346"/>
                    <a:gd name="T2" fmla="*/ 136 w 689"/>
                    <a:gd name="T3" fmla="*/ 100 h 346"/>
                    <a:gd name="T4" fmla="*/ 262 w 689"/>
                    <a:gd name="T5" fmla="*/ 100 h 346"/>
                    <a:gd name="T6" fmla="*/ 262 w 689"/>
                    <a:gd name="T7" fmla="*/ 336 h 346"/>
                    <a:gd name="T8" fmla="*/ 406 w 689"/>
                    <a:gd name="T9" fmla="*/ 336 h 346"/>
                    <a:gd name="T10" fmla="*/ 406 w 689"/>
                    <a:gd name="T11" fmla="*/ 98 h 346"/>
                    <a:gd name="T12" fmla="*/ 546 w 689"/>
                    <a:gd name="T13" fmla="*/ 98 h 346"/>
                    <a:gd name="T14" fmla="*/ 546 w 689"/>
                    <a:gd name="T15" fmla="*/ 346 h 346"/>
                    <a:gd name="T16" fmla="*/ 689 w 689"/>
                    <a:gd name="T17" fmla="*/ 346 h 346"/>
                    <a:gd name="T18" fmla="*/ 689 w 689"/>
                    <a:gd name="T19" fmla="*/ 0 h 346"/>
                    <a:gd name="T20" fmla="*/ 0 w 689"/>
                    <a:gd name="T21" fmla="*/ 0 h 346"/>
                    <a:gd name="T22" fmla="*/ 0 w 689"/>
                    <a:gd name="T23" fmla="*/ 340 h 346"/>
                    <a:gd name="T24" fmla="*/ 136 w 689"/>
                    <a:gd name="T25" fmla="*/ 338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9" h="346">
                      <a:moveTo>
                        <a:pt x="136" y="338"/>
                      </a:moveTo>
                      <a:lnTo>
                        <a:pt x="136" y="100"/>
                      </a:lnTo>
                      <a:lnTo>
                        <a:pt x="262" y="100"/>
                      </a:lnTo>
                      <a:lnTo>
                        <a:pt x="262" y="336"/>
                      </a:lnTo>
                      <a:lnTo>
                        <a:pt x="406" y="336"/>
                      </a:lnTo>
                      <a:lnTo>
                        <a:pt x="406" y="98"/>
                      </a:lnTo>
                      <a:lnTo>
                        <a:pt x="546" y="98"/>
                      </a:lnTo>
                      <a:lnTo>
                        <a:pt x="546" y="346"/>
                      </a:lnTo>
                      <a:lnTo>
                        <a:pt x="689" y="346"/>
                      </a:lnTo>
                      <a:lnTo>
                        <a:pt x="689" y="0"/>
                      </a:lnTo>
                      <a:lnTo>
                        <a:pt x="0" y="0"/>
                      </a:lnTo>
                      <a:lnTo>
                        <a:pt x="0" y="340"/>
                      </a:lnTo>
                      <a:lnTo>
                        <a:pt x="136" y="338"/>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3" name="Freeform 87"/>
                <p:cNvSpPr/>
                <p:nvPr/>
              </p:nvSpPr>
              <p:spPr bwMode="auto">
                <a:xfrm>
                  <a:off x="2855122" y="2470488"/>
                  <a:ext cx="20505" cy="58953"/>
                </a:xfrm>
                <a:custGeom>
                  <a:avLst/>
                  <a:gdLst>
                    <a:gd name="T0" fmla="*/ 0 w 141"/>
                    <a:gd name="T1" fmla="*/ 0 h 404"/>
                    <a:gd name="T2" fmla="*/ 0 w 141"/>
                    <a:gd name="T3" fmla="*/ 404 h 404"/>
                    <a:gd name="T4" fmla="*/ 141 w 141"/>
                    <a:gd name="T5" fmla="*/ 404 h 404"/>
                    <a:gd name="T6" fmla="*/ 141 w 141"/>
                    <a:gd name="T7" fmla="*/ 11 h 404"/>
                    <a:gd name="T8" fmla="*/ 0 w 141"/>
                    <a:gd name="T9" fmla="*/ 0 h 404"/>
                  </a:gdLst>
                  <a:ahLst/>
                  <a:cxnLst>
                    <a:cxn ang="0">
                      <a:pos x="T0" y="T1"/>
                    </a:cxn>
                    <a:cxn ang="0">
                      <a:pos x="T2" y="T3"/>
                    </a:cxn>
                    <a:cxn ang="0">
                      <a:pos x="T4" y="T5"/>
                    </a:cxn>
                    <a:cxn ang="0">
                      <a:pos x="T6" y="T7"/>
                    </a:cxn>
                    <a:cxn ang="0">
                      <a:pos x="T8" y="T9"/>
                    </a:cxn>
                  </a:cxnLst>
                  <a:rect l="0" t="0" r="r" b="b"/>
                  <a:pathLst>
                    <a:path w="141" h="404">
                      <a:moveTo>
                        <a:pt x="0" y="0"/>
                      </a:moveTo>
                      <a:lnTo>
                        <a:pt x="0" y="404"/>
                      </a:lnTo>
                      <a:lnTo>
                        <a:pt x="141" y="404"/>
                      </a:lnTo>
                      <a:lnTo>
                        <a:pt x="141" y="11"/>
                      </a:lnTo>
                      <a:lnTo>
                        <a:pt x="0"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4" name="Freeform 88"/>
                <p:cNvSpPr/>
                <p:nvPr/>
              </p:nvSpPr>
              <p:spPr bwMode="auto">
                <a:xfrm>
                  <a:off x="2814111" y="2467284"/>
                  <a:ext cx="19224" cy="62157"/>
                </a:xfrm>
                <a:custGeom>
                  <a:avLst/>
                  <a:gdLst>
                    <a:gd name="T0" fmla="*/ 0 w 132"/>
                    <a:gd name="T1" fmla="*/ 0 h 428"/>
                    <a:gd name="T2" fmla="*/ 0 w 132"/>
                    <a:gd name="T3" fmla="*/ 428 h 428"/>
                    <a:gd name="T4" fmla="*/ 132 w 132"/>
                    <a:gd name="T5" fmla="*/ 428 h 428"/>
                    <a:gd name="T6" fmla="*/ 132 w 132"/>
                    <a:gd name="T7" fmla="*/ 6 h 428"/>
                    <a:gd name="T8" fmla="*/ 0 w 132"/>
                    <a:gd name="T9" fmla="*/ 0 h 428"/>
                  </a:gdLst>
                  <a:ahLst/>
                  <a:cxnLst>
                    <a:cxn ang="0">
                      <a:pos x="T0" y="T1"/>
                    </a:cxn>
                    <a:cxn ang="0">
                      <a:pos x="T2" y="T3"/>
                    </a:cxn>
                    <a:cxn ang="0">
                      <a:pos x="T4" y="T5"/>
                    </a:cxn>
                    <a:cxn ang="0">
                      <a:pos x="T6" y="T7"/>
                    </a:cxn>
                    <a:cxn ang="0">
                      <a:pos x="T8" y="T9"/>
                    </a:cxn>
                  </a:cxnLst>
                  <a:rect l="0" t="0" r="r" b="b"/>
                  <a:pathLst>
                    <a:path w="132" h="428">
                      <a:moveTo>
                        <a:pt x="0" y="0"/>
                      </a:moveTo>
                      <a:lnTo>
                        <a:pt x="0" y="428"/>
                      </a:lnTo>
                      <a:lnTo>
                        <a:pt x="132" y="428"/>
                      </a:lnTo>
                      <a:lnTo>
                        <a:pt x="132" y="6"/>
                      </a:lnTo>
                      <a:lnTo>
                        <a:pt x="0"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5" name="Freeform 89"/>
                <p:cNvSpPr/>
                <p:nvPr/>
              </p:nvSpPr>
              <p:spPr bwMode="auto">
                <a:xfrm>
                  <a:off x="2775664" y="2462157"/>
                  <a:ext cx="17302" cy="66002"/>
                </a:xfrm>
                <a:custGeom>
                  <a:avLst/>
                  <a:gdLst>
                    <a:gd name="T0" fmla="*/ 0 w 117"/>
                    <a:gd name="T1" fmla="*/ 0 h 451"/>
                    <a:gd name="T2" fmla="*/ 0 w 117"/>
                    <a:gd name="T3" fmla="*/ 451 h 451"/>
                    <a:gd name="T4" fmla="*/ 117 w 117"/>
                    <a:gd name="T5" fmla="*/ 451 h 451"/>
                    <a:gd name="T6" fmla="*/ 117 w 117"/>
                    <a:gd name="T7" fmla="*/ 15 h 451"/>
                    <a:gd name="T8" fmla="*/ 0 w 117"/>
                    <a:gd name="T9" fmla="*/ 0 h 451"/>
                  </a:gdLst>
                  <a:ahLst/>
                  <a:cxnLst>
                    <a:cxn ang="0">
                      <a:pos x="T0" y="T1"/>
                    </a:cxn>
                    <a:cxn ang="0">
                      <a:pos x="T2" y="T3"/>
                    </a:cxn>
                    <a:cxn ang="0">
                      <a:pos x="T4" y="T5"/>
                    </a:cxn>
                    <a:cxn ang="0">
                      <a:pos x="T6" y="T7"/>
                    </a:cxn>
                    <a:cxn ang="0">
                      <a:pos x="T8" y="T9"/>
                    </a:cxn>
                  </a:cxnLst>
                  <a:rect l="0" t="0" r="r" b="b"/>
                  <a:pathLst>
                    <a:path w="117" h="451">
                      <a:moveTo>
                        <a:pt x="0" y="0"/>
                      </a:moveTo>
                      <a:lnTo>
                        <a:pt x="0" y="451"/>
                      </a:lnTo>
                      <a:lnTo>
                        <a:pt x="117" y="451"/>
                      </a:lnTo>
                      <a:lnTo>
                        <a:pt x="117" y="15"/>
                      </a:lnTo>
                      <a:lnTo>
                        <a:pt x="0"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6" name="Freeform 90"/>
                <p:cNvSpPr/>
                <p:nvPr/>
              </p:nvSpPr>
              <p:spPr bwMode="auto">
                <a:xfrm>
                  <a:off x="2739779" y="2459594"/>
                  <a:ext cx="14097" cy="133285"/>
                </a:xfrm>
                <a:custGeom>
                  <a:avLst/>
                  <a:gdLst>
                    <a:gd name="T0" fmla="*/ 93 w 93"/>
                    <a:gd name="T1" fmla="*/ 0 h 917"/>
                    <a:gd name="T2" fmla="*/ 93 w 93"/>
                    <a:gd name="T3" fmla="*/ 917 h 917"/>
                    <a:gd name="T4" fmla="*/ 0 w 93"/>
                    <a:gd name="T5" fmla="*/ 917 h 917"/>
                    <a:gd name="T6" fmla="*/ 0 w 93"/>
                    <a:gd name="T7" fmla="*/ 112 h 917"/>
                    <a:gd name="T8" fmla="*/ 93 w 93"/>
                    <a:gd name="T9" fmla="*/ 0 h 917"/>
                  </a:gdLst>
                  <a:ahLst/>
                  <a:cxnLst>
                    <a:cxn ang="0">
                      <a:pos x="T0" y="T1"/>
                    </a:cxn>
                    <a:cxn ang="0">
                      <a:pos x="T2" y="T3"/>
                    </a:cxn>
                    <a:cxn ang="0">
                      <a:pos x="T4" y="T5"/>
                    </a:cxn>
                    <a:cxn ang="0">
                      <a:pos x="T6" y="T7"/>
                    </a:cxn>
                    <a:cxn ang="0">
                      <a:pos x="T8" y="T9"/>
                    </a:cxn>
                  </a:cxnLst>
                  <a:rect l="0" t="0" r="r" b="b"/>
                  <a:pathLst>
                    <a:path w="93" h="917">
                      <a:moveTo>
                        <a:pt x="93" y="0"/>
                      </a:moveTo>
                      <a:lnTo>
                        <a:pt x="93" y="917"/>
                      </a:lnTo>
                      <a:lnTo>
                        <a:pt x="0" y="917"/>
                      </a:lnTo>
                      <a:lnTo>
                        <a:pt x="0" y="112"/>
                      </a:lnTo>
                      <a:lnTo>
                        <a:pt x="93"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7" name="Freeform 96"/>
                <p:cNvSpPr/>
                <p:nvPr/>
              </p:nvSpPr>
              <p:spPr bwMode="auto">
                <a:xfrm>
                  <a:off x="2655835" y="2354504"/>
                  <a:ext cx="33321" cy="238376"/>
                </a:xfrm>
                <a:custGeom>
                  <a:avLst/>
                  <a:gdLst>
                    <a:gd name="T0" fmla="*/ 226 w 230"/>
                    <a:gd name="T1" fmla="*/ 0 h 1632"/>
                    <a:gd name="T2" fmla="*/ 230 w 230"/>
                    <a:gd name="T3" fmla="*/ 1632 h 1632"/>
                    <a:gd name="T4" fmla="*/ 0 w 230"/>
                    <a:gd name="T5" fmla="*/ 1591 h 1632"/>
                    <a:gd name="T6" fmla="*/ 0 w 230"/>
                    <a:gd name="T7" fmla="*/ 279 h 1632"/>
                    <a:gd name="T8" fmla="*/ 226 w 230"/>
                    <a:gd name="T9" fmla="*/ 0 h 1632"/>
                  </a:gdLst>
                  <a:ahLst/>
                  <a:cxnLst>
                    <a:cxn ang="0">
                      <a:pos x="T0" y="T1"/>
                    </a:cxn>
                    <a:cxn ang="0">
                      <a:pos x="T2" y="T3"/>
                    </a:cxn>
                    <a:cxn ang="0">
                      <a:pos x="T4" y="T5"/>
                    </a:cxn>
                    <a:cxn ang="0">
                      <a:pos x="T6" y="T7"/>
                    </a:cxn>
                    <a:cxn ang="0">
                      <a:pos x="T8" y="T9"/>
                    </a:cxn>
                  </a:cxnLst>
                  <a:rect l="0" t="0" r="r" b="b"/>
                  <a:pathLst>
                    <a:path w="230" h="1632">
                      <a:moveTo>
                        <a:pt x="226" y="0"/>
                      </a:moveTo>
                      <a:lnTo>
                        <a:pt x="230" y="1632"/>
                      </a:lnTo>
                      <a:lnTo>
                        <a:pt x="0" y="1591"/>
                      </a:lnTo>
                      <a:lnTo>
                        <a:pt x="0" y="279"/>
                      </a:lnTo>
                      <a:lnTo>
                        <a:pt x="226"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grpSp>
          <p:sp>
            <p:nvSpPr>
              <p:cNvPr id="70" name="椭圆 69"/>
              <p:cNvSpPr/>
              <p:nvPr/>
            </p:nvSpPr>
            <p:spPr>
              <a:xfrm>
                <a:off x="11616276" y="6396038"/>
                <a:ext cx="303212" cy="303212"/>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31" name="文本占位符 85"/>
          <p:cNvSpPr txBox="1"/>
          <p:nvPr/>
        </p:nvSpPr>
        <p:spPr>
          <a:xfrm>
            <a:off x="8013065" y="2005965"/>
            <a:ext cx="3512185" cy="1716239"/>
          </a:xfrm>
          <a:prstGeom prst="rect">
            <a:avLst/>
          </a:prstGeom>
          <a:ln>
            <a:noFill/>
          </a:ln>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spcBef>
                <a:spcPts val="0"/>
              </a:spcBef>
              <a:buNone/>
            </a:pPr>
            <a:r>
              <a:rPr lang="en-US" sz="11500" dirty="0">
                <a:ln>
                  <a:gradFill>
                    <a:gsLst>
                      <a:gs pos="0">
                        <a:schemeClr val="bg1">
                          <a:alpha val="17000"/>
                          <a:lumMod val="94000"/>
                        </a:schemeClr>
                      </a:gs>
                      <a:gs pos="100000">
                        <a:srgbClr val="2F6CBA">
                          <a:alpha val="0"/>
                        </a:srgbClr>
                      </a:gs>
                    </a:gsLst>
                    <a:lin ang="5400000" scaled="1"/>
                  </a:gradFill>
                </a:ln>
                <a:noFill/>
                <a:latin typeface="方正小标宋简体" panose="03000509000000000000" pitchFamily="65" charset="-122"/>
                <a:ea typeface="方正小标宋简体" panose="03000509000000000000" pitchFamily="65" charset="-122"/>
                <a:cs typeface="+mj-lt"/>
                <a:sym typeface="+mn-lt"/>
              </a:rPr>
              <a:t>topic</a:t>
            </a:r>
          </a:p>
        </p:txBody>
      </p:sp>
      <p:sp>
        <p:nvSpPr>
          <p:cNvPr id="34" name="椭圆 33"/>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9" name="图片 8">
            <a:extLst>
              <a:ext uri="{FF2B5EF4-FFF2-40B4-BE49-F238E27FC236}">
                <a16:creationId xmlns:a16="http://schemas.microsoft.com/office/drawing/2014/main" id="{298D951E-866E-0230-A289-E96613E7DB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1412" y="74572"/>
            <a:ext cx="3429000" cy="6858000"/>
          </a:xfrm>
          <a:prstGeom prst="rect">
            <a:avLst/>
          </a:prstGeom>
        </p:spPr>
      </p:pic>
      <p:sp>
        <p:nvSpPr>
          <p:cNvPr id="12" name="文本框 11">
            <a:extLst>
              <a:ext uri="{FF2B5EF4-FFF2-40B4-BE49-F238E27FC236}">
                <a16:creationId xmlns:a16="http://schemas.microsoft.com/office/drawing/2014/main" id="{4F00CD09-8C16-1A27-B77C-E3969E5574EF}"/>
              </a:ext>
            </a:extLst>
          </p:cNvPr>
          <p:cNvSpPr txBox="1"/>
          <p:nvPr/>
        </p:nvSpPr>
        <p:spPr>
          <a:xfrm>
            <a:off x="719557" y="2289205"/>
            <a:ext cx="8010524" cy="1569660"/>
          </a:xfrm>
          <a:prstGeom prst="rect">
            <a:avLst/>
          </a:prstGeom>
          <a:noFill/>
        </p:spPr>
        <p:txBody>
          <a:bodyPr wrap="square">
            <a:spAutoFit/>
          </a:bodyPr>
          <a:lstStyle/>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The craze of Xiao Yuan Kousuan</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 simple process of decision</a:t>
            </a:r>
            <a:endPar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endParaRP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Accuracy and reaction time</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Study humans’ decision processes</a:t>
            </a:r>
          </a:p>
        </p:txBody>
      </p:sp>
      <p:sp>
        <p:nvSpPr>
          <p:cNvPr id="13" name="文本框 12">
            <a:extLst>
              <a:ext uri="{FF2B5EF4-FFF2-40B4-BE49-F238E27FC236}">
                <a16:creationId xmlns:a16="http://schemas.microsoft.com/office/drawing/2014/main" id="{D597D732-7CF0-A138-2769-301FCBA7E3E2}"/>
              </a:ext>
            </a:extLst>
          </p:cNvPr>
          <p:cNvSpPr txBox="1"/>
          <p:nvPr/>
        </p:nvSpPr>
        <p:spPr>
          <a:xfrm>
            <a:off x="4724819" y="596091"/>
            <a:ext cx="2063750" cy="646331"/>
          </a:xfrm>
          <a:prstGeom prst="rect">
            <a:avLst/>
          </a:prstGeom>
          <a:noFill/>
        </p:spPr>
        <p:txBody>
          <a:bodyPr wrap="square" rtlCol="0">
            <a:spAutoFit/>
          </a:bodyPr>
          <a:lstStyle/>
          <a:p>
            <a:r>
              <a:rPr lang="zh-CN" altLang="en-US" dirty="0">
                <a:solidFill>
                  <a:srgbClr val="FF0000"/>
                </a:solidFill>
              </a:rPr>
              <a:t>省去了连续的长句子，改为小点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AE23A-4D7E-A422-0EC9-5227D69DBF72}"/>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CD3CD698-2E6C-5E0A-A3AD-A239183DCAC1}"/>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55B7E7FA-63C5-A613-064A-129C0DF3BFD3}"/>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4DDB53E6-0B90-47CD-6E32-6BB8E73C5498}"/>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4C8240FD-F555-105B-6635-9396D201FDEA}"/>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60BD515-68C9-CA34-A09C-3737A81EB2DB}"/>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12" name="矩形 11">
            <a:extLst>
              <a:ext uri="{FF2B5EF4-FFF2-40B4-BE49-F238E27FC236}">
                <a16:creationId xmlns:a16="http://schemas.microsoft.com/office/drawing/2014/main" id="{151B876F-F08D-C7D0-E633-D1A7F8FD0815}"/>
              </a:ext>
            </a:extLst>
          </p:cNvPr>
          <p:cNvSpPr/>
          <p:nvPr/>
        </p:nvSpPr>
        <p:spPr>
          <a:xfrm>
            <a:off x="7622251" y="708044"/>
            <a:ext cx="4060477" cy="259571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9589198F-E895-7849-06D6-B2C624A8E011}"/>
              </a:ext>
            </a:extLst>
          </p:cNvPr>
          <p:cNvSpPr txBox="1"/>
          <p:nvPr/>
        </p:nvSpPr>
        <p:spPr>
          <a:xfrm>
            <a:off x="7583803" y="626105"/>
            <a:ext cx="3874452" cy="2677656"/>
          </a:xfrm>
          <a:prstGeom prst="rect">
            <a:avLst/>
          </a:prstGeom>
          <a:noFill/>
        </p:spPr>
        <p:txBody>
          <a:bodyPr wrap="square" rtlCol="0">
            <a:spAutoFit/>
          </a:bodyPr>
          <a:lstStyle/>
          <a:p>
            <a:pPr algn="l"/>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Parameters:</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drift rate</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boundary size</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noise</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Non-decision times</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starting point</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endPar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矩形 13">
            <a:extLst>
              <a:ext uri="{FF2B5EF4-FFF2-40B4-BE49-F238E27FC236}">
                <a16:creationId xmlns:a16="http://schemas.microsoft.com/office/drawing/2014/main" id="{BE2632C9-2824-AD51-1B9E-0E3B864AC76A}"/>
              </a:ext>
            </a:extLst>
          </p:cNvPr>
          <p:cNvSpPr/>
          <p:nvPr/>
        </p:nvSpPr>
        <p:spPr>
          <a:xfrm>
            <a:off x="7622251" y="3482424"/>
            <a:ext cx="4060476" cy="193899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a:extLst>
              <a:ext uri="{FF2B5EF4-FFF2-40B4-BE49-F238E27FC236}">
                <a16:creationId xmlns:a16="http://schemas.microsoft.com/office/drawing/2014/main" id="{B132A99C-CFD8-901A-8EE7-825458509CEE}"/>
              </a:ext>
            </a:extLst>
          </p:cNvPr>
          <p:cNvSpPr txBox="1"/>
          <p:nvPr/>
        </p:nvSpPr>
        <p:spPr>
          <a:xfrm>
            <a:off x="7622251" y="3475395"/>
            <a:ext cx="4022028" cy="1938992"/>
          </a:xfrm>
          <a:prstGeom prst="rect">
            <a:avLst/>
          </a:prstGeom>
          <a:noFill/>
        </p:spPr>
        <p:txBody>
          <a:bodyPr wrap="square" rtlCol="0">
            <a:spAutoFit/>
          </a:bodyPr>
          <a:lstStyle/>
          <a:p>
            <a:pPr algn="l"/>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Measures:</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accuracy</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response times</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probabilities of making choices</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endPar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6" name="文本框 5">
            <a:extLst>
              <a:ext uri="{FF2B5EF4-FFF2-40B4-BE49-F238E27FC236}">
                <a16:creationId xmlns:a16="http://schemas.microsoft.com/office/drawing/2014/main" id="{B753DB80-3F54-DB9B-6D3F-A87EE9DF8DA9}"/>
              </a:ext>
            </a:extLst>
          </p:cNvPr>
          <p:cNvSpPr txBox="1"/>
          <p:nvPr/>
        </p:nvSpPr>
        <p:spPr>
          <a:xfrm>
            <a:off x="509272" y="468691"/>
            <a:ext cx="5689010"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Drift Diffusion Model </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9" name="图片 18">
            <a:extLst>
              <a:ext uri="{FF2B5EF4-FFF2-40B4-BE49-F238E27FC236}">
                <a16:creationId xmlns:a16="http://schemas.microsoft.com/office/drawing/2014/main" id="{27B62D30-97B1-A3E9-ACEA-A4CF1BC5BC06}"/>
              </a:ext>
            </a:extLst>
          </p:cNvPr>
          <p:cNvPicPr>
            <a:picLocks noChangeAspect="1"/>
          </p:cNvPicPr>
          <p:nvPr/>
        </p:nvPicPr>
        <p:blipFill>
          <a:blip r:embed="rId2"/>
          <a:stretch>
            <a:fillRect/>
          </a:stretch>
        </p:blipFill>
        <p:spPr>
          <a:xfrm>
            <a:off x="547721" y="1134941"/>
            <a:ext cx="6435090" cy="4819491"/>
          </a:xfrm>
          <a:prstGeom prst="rect">
            <a:avLst/>
          </a:prstGeom>
        </p:spPr>
      </p:pic>
      <p:sp>
        <p:nvSpPr>
          <p:cNvPr id="20" name="文本框 19">
            <a:extLst>
              <a:ext uri="{FF2B5EF4-FFF2-40B4-BE49-F238E27FC236}">
                <a16:creationId xmlns:a16="http://schemas.microsoft.com/office/drawing/2014/main" id="{BC58BFBA-9F83-DBCB-5A1D-B171BCA60CE1}"/>
              </a:ext>
            </a:extLst>
          </p:cNvPr>
          <p:cNvSpPr txBox="1"/>
          <p:nvPr/>
        </p:nvSpPr>
        <p:spPr>
          <a:xfrm>
            <a:off x="509272" y="5974352"/>
            <a:ext cx="11263628" cy="646331"/>
          </a:xfrm>
          <a:prstGeom prst="rect">
            <a:avLst/>
          </a:prstGeom>
          <a:noFill/>
        </p:spPr>
        <p:txBody>
          <a:bodyPr wrap="square" rtlCol="0">
            <a:spAutoFit/>
          </a:bodyPr>
          <a:lstStyle/>
          <a:p>
            <a:r>
              <a:rPr lang="en-US" altLang="zh-CN" b="0" i="0" dirty="0">
                <a:solidFill>
                  <a:srgbClr val="333333"/>
                </a:solidFill>
                <a:effectLst/>
                <a:latin typeface="Times New Roman" panose="02020603050405020304" pitchFamily="18" charset="0"/>
                <a:cs typeface="Times New Roman" panose="02020603050405020304" pitchFamily="18" charset="0"/>
              </a:rPr>
              <a:t>[1]Ratcliff, R. (1978). A theory of memory retrieval. </a:t>
            </a:r>
            <a:r>
              <a:rPr lang="en-US" altLang="zh-CN" b="0" i="1" dirty="0">
                <a:solidFill>
                  <a:srgbClr val="333333"/>
                </a:solidFill>
                <a:effectLst/>
                <a:latin typeface="Times New Roman" panose="02020603050405020304" pitchFamily="18" charset="0"/>
                <a:cs typeface="Times New Roman" panose="02020603050405020304" pitchFamily="18" charset="0"/>
              </a:rPr>
              <a:t>Psychological Review, 85</a:t>
            </a:r>
            <a:r>
              <a:rPr lang="en-US" altLang="zh-CN" b="0" i="0" dirty="0">
                <a:solidFill>
                  <a:srgbClr val="333333"/>
                </a:solidFill>
                <a:effectLst/>
                <a:latin typeface="Times New Roman" panose="02020603050405020304" pitchFamily="18" charset="0"/>
                <a:cs typeface="Times New Roman" panose="02020603050405020304" pitchFamily="18" charset="0"/>
              </a:rPr>
              <a:t>(2), 59-108.  </a:t>
            </a:r>
            <a:r>
              <a:rPr lang="en-US" altLang="zh-CN" b="0" i="0" u="none" strike="noStrike" dirty="0">
                <a:solidFill>
                  <a:srgbClr val="2C72B7"/>
                </a:solidFill>
                <a:effectLst/>
                <a:latin typeface="Times New Roman" panose="02020603050405020304" pitchFamily="18" charset="0"/>
                <a:cs typeface="Times New Roman" panose="02020603050405020304" pitchFamily="18" charset="0"/>
                <a:hlinkClick r:id="rId3"/>
              </a:rPr>
              <a:t>https://doi.org/10.1037/0033-295X.85.2.59</a:t>
            </a:r>
            <a:endParaRPr lang="zh-CN" altLang="en-US"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7CCEFFF9-AD97-CF5F-F3FF-3B980650A122}"/>
              </a:ext>
            </a:extLst>
          </p:cNvPr>
          <p:cNvSpPr txBox="1"/>
          <p:nvPr/>
        </p:nvSpPr>
        <p:spPr>
          <a:xfrm>
            <a:off x="5335319" y="237317"/>
            <a:ext cx="2063750" cy="2308324"/>
          </a:xfrm>
          <a:prstGeom prst="rect">
            <a:avLst/>
          </a:prstGeom>
          <a:noFill/>
        </p:spPr>
        <p:txBody>
          <a:bodyPr wrap="square" rtlCol="0">
            <a:spAutoFit/>
          </a:bodyPr>
          <a:lstStyle/>
          <a:p>
            <a:r>
              <a:rPr lang="zh-CN" altLang="en-US" dirty="0">
                <a:solidFill>
                  <a:srgbClr val="FF0000"/>
                </a:solidFill>
              </a:rPr>
              <a:t>换成了更有张力的论文，这篇是最早提出</a:t>
            </a:r>
            <a:r>
              <a:rPr lang="en-US" altLang="zh-CN" dirty="0" err="1">
                <a:solidFill>
                  <a:srgbClr val="FF0000"/>
                </a:solidFill>
              </a:rPr>
              <a:t>ddm</a:t>
            </a:r>
            <a:r>
              <a:rPr lang="zh-CN" altLang="en-US" dirty="0">
                <a:solidFill>
                  <a:srgbClr val="FF0000"/>
                </a:solidFill>
              </a:rPr>
              <a:t>的，但是他当时叫做记忆提取理论</a:t>
            </a:r>
            <a:r>
              <a:rPr lang="en-US" altLang="zh-CN" dirty="0">
                <a:solidFill>
                  <a:srgbClr val="FF0000"/>
                </a:solidFill>
              </a:rPr>
              <a:t>,</a:t>
            </a:r>
            <a:r>
              <a:rPr lang="zh-CN" altLang="en-US" dirty="0">
                <a:solidFill>
                  <a:srgbClr val="FF0000"/>
                </a:solidFill>
              </a:rPr>
              <a:t>注意</a:t>
            </a:r>
            <a:r>
              <a:rPr lang="en-US" altLang="zh-CN" dirty="0">
                <a:solidFill>
                  <a:srgbClr val="FF0000"/>
                </a:solidFill>
              </a:rPr>
              <a:t>1978</a:t>
            </a:r>
            <a:r>
              <a:rPr lang="zh-CN" altLang="en-US" dirty="0">
                <a:solidFill>
                  <a:srgbClr val="FF0000"/>
                </a:solidFill>
              </a:rPr>
              <a:t>就发表，而现在还不断有论文，说明这个模型的广泛</a:t>
            </a:r>
          </a:p>
        </p:txBody>
      </p:sp>
    </p:spTree>
    <p:extLst>
      <p:ext uri="{BB962C8B-B14F-4D97-AF65-F5344CB8AC3E}">
        <p14:creationId xmlns:p14="http://schemas.microsoft.com/office/powerpoint/2010/main" val="1459167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1358-BBC6-D4CD-F82E-35A038EDB9A0}"/>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4D379055-1546-6092-92AA-68DE0B8F6CA5}"/>
              </a:ext>
            </a:extLst>
          </p:cNvPr>
          <p:cNvGrpSpPr/>
          <p:nvPr/>
        </p:nvGrpSpPr>
        <p:grpSpPr>
          <a:xfrm>
            <a:off x="-5080" y="-5080"/>
            <a:ext cx="10185400" cy="6863080"/>
            <a:chOff x="-8" y="-8"/>
            <a:chExt cx="19221" cy="10808"/>
          </a:xfrm>
        </p:grpSpPr>
        <p:pic>
          <p:nvPicPr>
            <p:cNvPr id="109" name="图片 108">
              <a:extLst>
                <a:ext uri="{FF2B5EF4-FFF2-40B4-BE49-F238E27FC236}">
                  <a16:creationId xmlns:a16="http://schemas.microsoft.com/office/drawing/2014/main" id="{9DC5167D-61D6-149A-6842-D93F95EF9B7C}"/>
                </a:ext>
              </a:extLst>
            </p:cNvPr>
            <p:cNvPicPr>
              <a:picLocks noChangeAspect="1"/>
            </p:cNvPicPr>
            <p:nvPr/>
          </p:nvPicPr>
          <p:blipFill>
            <a:blip r:embed="rId9"/>
            <a:srcRect b="17500"/>
            <a:stretch>
              <a:fillRect/>
            </a:stretch>
          </p:blipFill>
          <p:spPr>
            <a:xfrm>
              <a:off x="14" y="-8"/>
              <a:ext cx="19182" cy="10808"/>
            </a:xfrm>
            <a:prstGeom prst="rect">
              <a:avLst/>
            </a:prstGeom>
          </p:spPr>
        </p:pic>
        <p:sp>
          <p:nvSpPr>
            <p:cNvPr id="9" name="矩形 8">
              <a:extLst>
                <a:ext uri="{FF2B5EF4-FFF2-40B4-BE49-F238E27FC236}">
                  <a16:creationId xmlns:a16="http://schemas.microsoft.com/office/drawing/2014/main" id="{47C098E5-E1A4-9E99-6A07-03B79E2977BF}"/>
                </a:ext>
              </a:extLst>
            </p:cNvPr>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1CED9B68-7A13-5FE0-D1D0-3A08F9430683}"/>
              </a:ext>
            </a:extLst>
          </p:cNvPr>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94E06B6A-4E1D-2296-745D-9D6CC3FB2C1E}"/>
              </a:ext>
            </a:extLst>
          </p:cNvPr>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a:extLst>
              <a:ext uri="{FF2B5EF4-FFF2-40B4-BE49-F238E27FC236}">
                <a16:creationId xmlns:a16="http://schemas.microsoft.com/office/drawing/2014/main" id="{BE6EA189-48E1-FE11-8DB2-3D4B88BD8A1B}"/>
              </a:ext>
            </a:extLst>
          </p:cNvPr>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a:extLst>
              <a:ext uri="{FF2B5EF4-FFF2-40B4-BE49-F238E27FC236}">
                <a16:creationId xmlns:a16="http://schemas.microsoft.com/office/drawing/2014/main" id="{6F070228-12E9-0BCA-6779-4E413A44E95D}"/>
              </a:ext>
            </a:extLst>
          </p:cNvPr>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7DB320F0-B3ED-AE4F-4A71-8811C9655BC8}"/>
              </a:ext>
            </a:extLst>
          </p:cNvPr>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426E0DA9-6A7C-ABE8-FC76-7231C1DBACDE}"/>
              </a:ext>
            </a:extLst>
          </p:cNvPr>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690D9534-43BD-76F2-8FEC-BE819C5C6B0C}"/>
              </a:ext>
            </a:extLst>
          </p:cNvPr>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8FD18DB8-0D41-A18F-9D8A-13CAE7448DB8}"/>
              </a:ext>
            </a:extLst>
          </p:cNvPr>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4B9DBE30-28C8-43E6-5906-ADA8FDE72C69}"/>
              </a:ext>
            </a:extLst>
          </p:cNvPr>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0D58943C-0992-0C65-8FB3-42B44F3A9886}"/>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90B7DB81-437E-18B0-C267-7C507BAB2FE8}"/>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93CEDDF3-99B4-DE9F-166F-EA9BEFEC8E39}"/>
              </a:ext>
            </a:extLst>
          </p:cNvPr>
          <p:cNvSpPr txBox="1"/>
          <p:nvPr/>
        </p:nvSpPr>
        <p:spPr>
          <a:xfrm>
            <a:off x="5273038" y="1916167"/>
            <a:ext cx="5432474" cy="523220"/>
          </a:xfrm>
          <a:prstGeom prst="rect">
            <a:avLst/>
          </a:prstGeom>
          <a:noFill/>
        </p:spPr>
        <p:txBody>
          <a:bodyPr wrap="square" rtlCol="0">
            <a:spAutoFit/>
          </a:bodyPr>
          <a:lstStyle/>
          <a:p>
            <a:r>
              <a:rPr lang="en-US" altLang="zh-CN"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211FF8C3-C3C2-4EAA-FC9E-DFB119EDFF0E}"/>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5FCF4275-CBF7-7C45-6C06-748F5C3A6117}"/>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8408257C-8498-67CD-6CAA-9971D0F53584}"/>
              </a:ext>
            </a:extLst>
          </p:cNvPr>
          <p:cNvSpPr txBox="1"/>
          <p:nvPr/>
        </p:nvSpPr>
        <p:spPr>
          <a:xfrm>
            <a:off x="5238445" y="3168106"/>
            <a:ext cx="5803237"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FBBD5B54-5B4E-3EF6-E2DF-1F7C2708BAF5}"/>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1F0B4278-7427-AC50-D814-E65658E6FFBF}"/>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51B56178-4156-5E78-9469-CF3F7410570D}"/>
              </a:ext>
            </a:extLst>
          </p:cNvPr>
          <p:cNvSpPr txBox="1"/>
          <p:nvPr/>
        </p:nvSpPr>
        <p:spPr>
          <a:xfrm>
            <a:off x="5273038" y="4428239"/>
            <a:ext cx="6410178"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8FB54FD7-0D3B-A492-444C-122EF7FEA75B}"/>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826FC643-7F8D-D5B7-99FC-F9C67C55A029}"/>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CB5A188C-A0C0-F3CA-0C91-7AE05686AE1F}"/>
              </a:ext>
            </a:extLst>
          </p:cNvPr>
          <p:cNvSpPr txBox="1"/>
          <p:nvPr/>
        </p:nvSpPr>
        <p:spPr>
          <a:xfrm>
            <a:off x="5273040" y="5680178"/>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D0198488-8D88-00B4-5516-B3C4ABB387B5}"/>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6EF570F2-B972-A2EB-51FD-5E3D2D776683}"/>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Tree>
    <p:extLst>
      <p:ext uri="{BB962C8B-B14F-4D97-AF65-F5344CB8AC3E}">
        <p14:creationId xmlns:p14="http://schemas.microsoft.com/office/powerpoint/2010/main" val="1401713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F87B3-B909-6074-AE60-249534720385}"/>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DD366370-1171-FFA5-0A9F-9919A39B7F03}"/>
              </a:ext>
            </a:extLst>
          </p:cNvPr>
          <p:cNvSpPr/>
          <p:nvPr/>
        </p:nvSpPr>
        <p:spPr>
          <a:xfrm>
            <a:off x="614680" y="2048986"/>
            <a:ext cx="9469120" cy="200070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椭圆 3">
            <a:extLst>
              <a:ext uri="{FF2B5EF4-FFF2-40B4-BE49-F238E27FC236}">
                <a16:creationId xmlns:a16="http://schemas.microsoft.com/office/drawing/2014/main" id="{0C4349DE-1BB4-F103-1293-EFC9130C11E5}"/>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36A64D25-F435-7028-C262-D87CBAED4224}"/>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43F7C741-7D42-10A0-0251-4A83A393E34F}"/>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31205EA0-121F-8F43-2343-419825D2D02D}"/>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7CAFFBD2-1135-0D23-8833-B1EF24AF1571}"/>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ED370B1B-6DD5-8431-CF34-FAFE352CE552}"/>
              </a:ext>
            </a:extLst>
          </p:cNvPr>
          <p:cNvSpPr txBox="1"/>
          <p:nvPr/>
        </p:nvSpPr>
        <p:spPr>
          <a:xfrm>
            <a:off x="509271" y="468691"/>
            <a:ext cx="6507479"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9" name="图片 8">
            <a:extLst>
              <a:ext uri="{FF2B5EF4-FFF2-40B4-BE49-F238E27FC236}">
                <a16:creationId xmlns:a16="http://schemas.microsoft.com/office/drawing/2014/main" id="{F6DDBF1A-4B75-9D6B-18BF-1078F7DA828C}"/>
              </a:ext>
            </a:extLst>
          </p:cNvPr>
          <p:cNvPicPr>
            <a:picLocks noChangeAspect="1"/>
          </p:cNvPicPr>
          <p:nvPr/>
        </p:nvPicPr>
        <p:blipFill>
          <a:blip r:embed="rId2"/>
          <a:stretch>
            <a:fillRect/>
          </a:stretch>
        </p:blipFill>
        <p:spPr>
          <a:xfrm>
            <a:off x="7618425" y="110769"/>
            <a:ext cx="4136695" cy="1659916"/>
          </a:xfrm>
          <a:prstGeom prst="rect">
            <a:avLst/>
          </a:prstGeom>
        </p:spPr>
      </p:pic>
      <p:sp>
        <p:nvSpPr>
          <p:cNvPr id="17" name="文本框 16">
            <a:extLst>
              <a:ext uri="{FF2B5EF4-FFF2-40B4-BE49-F238E27FC236}">
                <a16:creationId xmlns:a16="http://schemas.microsoft.com/office/drawing/2014/main" id="{D6CF3B82-BB7B-2A09-0CB7-8EA2316ED284}"/>
              </a:ext>
            </a:extLst>
          </p:cNvPr>
          <p:cNvSpPr txBox="1"/>
          <p:nvPr/>
        </p:nvSpPr>
        <p:spPr>
          <a:xfrm>
            <a:off x="614680" y="2032802"/>
            <a:ext cx="9469120" cy="1938992"/>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Gaze on the center cross “×”</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Press the corresponding key to indicate the larger circle</a:t>
            </a:r>
          </a:p>
          <a:p>
            <a:pPr marL="342900" indent="-342900">
              <a:buFont typeface="Arial" panose="020B0604020202020204" pitchFamily="34" charset="0"/>
              <a:buChar char="•"/>
            </a:pP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Prioritize</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accuracy, then as quickly as possible</a:t>
            </a:r>
          </a:p>
          <a:p>
            <a:pPr marL="342900" indent="-342900">
              <a:buFont typeface="Arial" panose="020B0604020202020204" pitchFamily="34" charset="0"/>
              <a:buChar char="•"/>
            </a:pP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r = (size_right / size_left) – 1  </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r>
              <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rPr>
              <a:t>“</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coherence</a:t>
            </a:r>
            <a:r>
              <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rPr>
              <a:t>”</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in random dots motion[2])</a:t>
            </a:r>
          </a:p>
          <a:p>
            <a:pPr marL="342900" indent="-342900">
              <a:buFont typeface="Arial" panose="020B0604020202020204" pitchFamily="34" charset="0"/>
              <a:buChar char="•"/>
            </a:pP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r </a:t>
            </a:r>
            <a:r>
              <a:rPr lang="zh-CN" altLang="en-US" sz="2400" dirty="0"/>
              <a:t>∈ </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[-0.32, -0.24, -0.16, -0.08, 0, 0.08, 0.16, 0.24, 0.32]</a:t>
            </a:r>
          </a:p>
        </p:txBody>
      </p:sp>
      <p:sp>
        <p:nvSpPr>
          <p:cNvPr id="18" name="文本框 17">
            <a:extLst>
              <a:ext uri="{FF2B5EF4-FFF2-40B4-BE49-F238E27FC236}">
                <a16:creationId xmlns:a16="http://schemas.microsoft.com/office/drawing/2014/main" id="{4A3D03E5-E032-0B79-65D4-7D34C55654F5}"/>
              </a:ext>
            </a:extLst>
          </p:cNvPr>
          <p:cNvSpPr txBox="1"/>
          <p:nvPr/>
        </p:nvSpPr>
        <p:spPr>
          <a:xfrm>
            <a:off x="7707960" y="1484553"/>
            <a:ext cx="6564874" cy="369332"/>
          </a:xfrm>
          <a:prstGeom prst="rect">
            <a:avLst/>
          </a:prstGeom>
          <a:noFill/>
        </p:spPr>
        <p:txBody>
          <a:bodyPr wrap="square" rtlCol="0">
            <a:spAutoFit/>
          </a:bodyPr>
          <a:lstStyle/>
          <a:p>
            <a:pPr algn="l"/>
            <a:r>
              <a:rPr lang="en-US" altLang="zh-CN" dirty="0">
                <a:latin typeface="Times New Roman" panose="02020603050405020304" pitchFamily="18" charset="0"/>
                <a:ea typeface="方正小标宋简体" panose="03000509000000000000" pitchFamily="65" charset="-122"/>
                <a:cs typeface="Times New Roman" panose="02020603050405020304" pitchFamily="18" charset="0"/>
              </a:rPr>
              <a:t>A simple but robust size-comparison task</a:t>
            </a:r>
            <a:endParaRPr lang="zh-CN" altLang="en-US"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9" name="矩形 18">
            <a:extLst>
              <a:ext uri="{FF2B5EF4-FFF2-40B4-BE49-F238E27FC236}">
                <a16:creationId xmlns:a16="http://schemas.microsoft.com/office/drawing/2014/main" id="{530C63D7-6985-1C9B-CB34-C17B116DBEA6}"/>
              </a:ext>
            </a:extLst>
          </p:cNvPr>
          <p:cNvSpPr/>
          <p:nvPr/>
        </p:nvSpPr>
        <p:spPr>
          <a:xfrm>
            <a:off x="614680" y="4710360"/>
            <a:ext cx="9469120" cy="9485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070C16E9-3177-4EAE-A5D5-13317F57C2D6}"/>
              </a:ext>
            </a:extLst>
          </p:cNvPr>
          <p:cNvSpPr txBox="1"/>
          <p:nvPr/>
        </p:nvSpPr>
        <p:spPr>
          <a:xfrm>
            <a:off x="711835" y="4745984"/>
            <a:ext cx="10049876" cy="1107996"/>
          </a:xfrm>
          <a:prstGeom prst="rect">
            <a:avLst/>
          </a:prstGeom>
          <a:noFill/>
        </p:spPr>
        <p:txBody>
          <a:bodyPr wrap="square" rtlCol="0">
            <a:spAutoFit/>
          </a:bodyPr>
          <a:lstStyle/>
          <a:p>
            <a:pPr marL="342900" indent="-342900">
              <a:buFont typeface="Arial" panose="020B0604020202020204" pitchFamily="34" charset="0"/>
              <a:buChar char="•"/>
            </a:pP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15</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undergraduates from </a:t>
            </a: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Nanjing University </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and </a:t>
            </a: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Tsinghua University</a:t>
            </a:r>
          </a:p>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Each completed </a:t>
            </a: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160</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size-comparison trials, </a:t>
            </a: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2400</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in total</a:t>
            </a:r>
          </a:p>
          <a:p>
            <a:endParaRPr lang="zh-CN" altLang="en-US" dirty="0"/>
          </a:p>
        </p:txBody>
      </p:sp>
      <p:sp>
        <p:nvSpPr>
          <p:cNvPr id="7" name="文本框 6">
            <a:extLst>
              <a:ext uri="{FF2B5EF4-FFF2-40B4-BE49-F238E27FC236}">
                <a16:creationId xmlns:a16="http://schemas.microsoft.com/office/drawing/2014/main" id="{D36F3163-07CC-137A-4AD0-6C5CEA27477B}"/>
              </a:ext>
            </a:extLst>
          </p:cNvPr>
          <p:cNvSpPr txBox="1"/>
          <p:nvPr/>
        </p:nvSpPr>
        <p:spPr>
          <a:xfrm>
            <a:off x="614680" y="1330665"/>
            <a:ext cx="6564874"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Settings</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 name="文本框 7">
            <a:extLst>
              <a:ext uri="{FF2B5EF4-FFF2-40B4-BE49-F238E27FC236}">
                <a16:creationId xmlns:a16="http://schemas.microsoft.com/office/drawing/2014/main" id="{14B6A35D-F68A-608C-EC9F-B53646091766}"/>
              </a:ext>
            </a:extLst>
          </p:cNvPr>
          <p:cNvSpPr txBox="1"/>
          <p:nvPr/>
        </p:nvSpPr>
        <p:spPr>
          <a:xfrm>
            <a:off x="523877" y="6049081"/>
            <a:ext cx="11263628" cy="646331"/>
          </a:xfrm>
          <a:prstGeom prst="rect">
            <a:avLst/>
          </a:prstGeom>
          <a:noFill/>
        </p:spPr>
        <p:txBody>
          <a:bodyPr wrap="square" rtlCol="0">
            <a:spAutoFit/>
          </a:bodyPr>
          <a:lstStyle/>
          <a:p>
            <a:r>
              <a:rPr lang="en-US" altLang="zh-CN" dirty="0"/>
              <a:t>[2]K. Britten, M. </a:t>
            </a:r>
            <a:r>
              <a:rPr lang="en-US" altLang="zh-CN" dirty="0" err="1"/>
              <a:t>Shadlen</a:t>
            </a:r>
            <a:r>
              <a:rPr lang="en-US" altLang="zh-CN" dirty="0"/>
              <a:t>, W. Newsome, and J. </a:t>
            </a:r>
            <a:r>
              <a:rPr lang="en-US" altLang="zh-CN" dirty="0" err="1"/>
              <a:t>Movshon</a:t>
            </a:r>
            <a:r>
              <a:rPr lang="en-US" altLang="zh-CN" dirty="0"/>
              <a:t>, “The analysis of visual motion: a comparison of neuronal and psychophysical performance,” Journal of Neuroscience, vol. 12, no. 12, pp. 4745–4765, 1992.</a:t>
            </a:r>
            <a:endParaRPr lang="zh-CN" altLang="en-US"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D027966A-03F5-3DC3-8ABA-6556D217DC67}"/>
              </a:ext>
            </a:extLst>
          </p:cNvPr>
          <p:cNvSpPr txBox="1"/>
          <p:nvPr/>
        </p:nvSpPr>
        <p:spPr>
          <a:xfrm>
            <a:off x="580024" y="4101624"/>
            <a:ext cx="6564874"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Data sufficiency</a:t>
            </a:r>
          </a:p>
        </p:txBody>
      </p:sp>
      <p:sp>
        <p:nvSpPr>
          <p:cNvPr id="12" name="文本框 11">
            <a:extLst>
              <a:ext uri="{FF2B5EF4-FFF2-40B4-BE49-F238E27FC236}">
                <a16:creationId xmlns:a16="http://schemas.microsoft.com/office/drawing/2014/main" id="{8D80EA2A-F273-3E0A-E115-DABA6C6F00E5}"/>
              </a:ext>
            </a:extLst>
          </p:cNvPr>
          <p:cNvSpPr txBox="1"/>
          <p:nvPr/>
        </p:nvSpPr>
        <p:spPr>
          <a:xfrm>
            <a:off x="10119995" y="3227669"/>
            <a:ext cx="2063750" cy="3416320"/>
          </a:xfrm>
          <a:prstGeom prst="rect">
            <a:avLst/>
          </a:prstGeom>
          <a:noFill/>
        </p:spPr>
        <p:txBody>
          <a:bodyPr wrap="square" rtlCol="0">
            <a:spAutoFit/>
          </a:bodyPr>
          <a:lstStyle/>
          <a:p>
            <a:r>
              <a:rPr lang="zh-CN" altLang="en-US" dirty="0">
                <a:solidFill>
                  <a:srgbClr val="FF0000"/>
                </a:solidFill>
              </a:rPr>
              <a:t>调整了逻辑，补充了一些缺失，这边要注意在</a:t>
            </a:r>
            <a:r>
              <a:rPr lang="en-US" altLang="zh-CN" dirty="0">
                <a:solidFill>
                  <a:srgbClr val="FF0000"/>
                </a:solidFill>
              </a:rPr>
              <a:t>setting</a:t>
            </a:r>
            <a:r>
              <a:rPr lang="zh-CN" altLang="en-US" dirty="0">
                <a:solidFill>
                  <a:srgbClr val="FF0000"/>
                </a:solidFill>
              </a:rPr>
              <a:t>最后讲一下圆生成的逻辑啊，就是根据这个</a:t>
            </a:r>
            <a:r>
              <a:rPr lang="en-US" altLang="zh-CN" dirty="0">
                <a:solidFill>
                  <a:srgbClr val="FF0000"/>
                </a:solidFill>
              </a:rPr>
              <a:t>r(</a:t>
            </a:r>
            <a:r>
              <a:rPr lang="zh-CN" altLang="en-US" dirty="0">
                <a:solidFill>
                  <a:srgbClr val="FF0000"/>
                </a:solidFill>
              </a:rPr>
              <a:t>注意表示的</a:t>
            </a:r>
            <a:r>
              <a:rPr lang="en-US" altLang="zh-CN" dirty="0">
                <a:solidFill>
                  <a:srgbClr val="FF0000"/>
                </a:solidFill>
              </a:rPr>
              <a:t>ratio)</a:t>
            </a:r>
            <a:r>
              <a:rPr lang="zh-CN" altLang="en-US" dirty="0">
                <a:solidFill>
                  <a:srgbClr val="FF0000"/>
                </a:solidFill>
              </a:rPr>
              <a:t>，是左边圆有个随机的基础大小，然后右边圆根据</a:t>
            </a:r>
            <a:r>
              <a:rPr lang="en-US" altLang="zh-CN" dirty="0">
                <a:solidFill>
                  <a:srgbClr val="FF0000"/>
                </a:solidFill>
              </a:rPr>
              <a:t>r</a:t>
            </a:r>
            <a:r>
              <a:rPr lang="zh-CN" altLang="en-US" dirty="0">
                <a:solidFill>
                  <a:srgbClr val="FF0000"/>
                </a:solidFill>
              </a:rPr>
              <a:t>生成。</a:t>
            </a:r>
            <a:r>
              <a:rPr lang="en-US" altLang="zh-CN" dirty="0">
                <a:solidFill>
                  <a:srgbClr val="FF0000"/>
                </a:solidFill>
              </a:rPr>
              <a:t>Data</a:t>
            </a:r>
            <a:r>
              <a:rPr lang="zh-CN" altLang="en-US" dirty="0">
                <a:solidFill>
                  <a:srgbClr val="FF0000"/>
                </a:solidFill>
              </a:rPr>
              <a:t>的时候，</a:t>
            </a:r>
            <a:r>
              <a:rPr lang="en-US" altLang="zh-CN" dirty="0">
                <a:solidFill>
                  <a:srgbClr val="FF0000"/>
                </a:solidFill>
              </a:rPr>
              <a:t>160trial</a:t>
            </a:r>
            <a:r>
              <a:rPr lang="zh-CN" altLang="en-US" dirty="0">
                <a:solidFill>
                  <a:srgbClr val="FF0000"/>
                </a:solidFill>
              </a:rPr>
              <a:t>是分为</a:t>
            </a:r>
            <a:r>
              <a:rPr lang="en-US" altLang="zh-CN" dirty="0">
                <a:solidFill>
                  <a:srgbClr val="FF0000"/>
                </a:solidFill>
              </a:rPr>
              <a:t>5</a:t>
            </a:r>
            <a:r>
              <a:rPr lang="zh-CN" altLang="en-US" dirty="0">
                <a:solidFill>
                  <a:srgbClr val="FF0000"/>
                </a:solidFill>
              </a:rPr>
              <a:t>次的，要提一下</a:t>
            </a:r>
            <a:endParaRPr lang="en-US" altLang="zh-CN" dirty="0">
              <a:solidFill>
                <a:srgbClr val="FF0000"/>
              </a:solidFill>
            </a:endParaRPr>
          </a:p>
        </p:txBody>
      </p:sp>
    </p:spTree>
    <p:extLst>
      <p:ext uri="{BB962C8B-B14F-4D97-AF65-F5344CB8AC3E}">
        <p14:creationId xmlns:p14="http://schemas.microsoft.com/office/powerpoint/2010/main" val="2886870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675F2-9CE2-0CAC-8049-3C2331BD1A23}"/>
            </a:ext>
          </a:extLst>
        </p:cNvPr>
        <p:cNvGrpSpPr/>
        <p:nvPr/>
      </p:nvGrpSpPr>
      <p:grpSpPr>
        <a:xfrm>
          <a:off x="0" y="0"/>
          <a:ext cx="0" cy="0"/>
          <a:chOff x="0" y="0"/>
          <a:chExt cx="0" cy="0"/>
        </a:xfrm>
      </p:grpSpPr>
      <p:sp>
        <p:nvSpPr>
          <p:cNvPr id="13" name="文本框 12">
            <a:extLst>
              <a:ext uri="{FF2B5EF4-FFF2-40B4-BE49-F238E27FC236}">
                <a16:creationId xmlns:a16="http://schemas.microsoft.com/office/drawing/2014/main" id="{C43E3892-52AE-B9F0-97E6-23B041F74451}"/>
              </a:ext>
            </a:extLst>
          </p:cNvPr>
          <p:cNvSpPr txBox="1"/>
          <p:nvPr/>
        </p:nvSpPr>
        <p:spPr>
          <a:xfrm>
            <a:off x="2741294" y="427319"/>
            <a:ext cx="6771006" cy="6463308"/>
          </a:xfrm>
          <a:prstGeom prst="rect">
            <a:avLst/>
          </a:prstGeom>
          <a:noFill/>
        </p:spPr>
        <p:txBody>
          <a:bodyPr wrap="square" rtlCol="0">
            <a:spAutoFit/>
          </a:bodyPr>
          <a:lstStyle/>
          <a:p>
            <a:r>
              <a:rPr lang="zh-CN" altLang="en-US" dirty="0">
                <a:solidFill>
                  <a:srgbClr val="FF0000"/>
                </a:solidFill>
              </a:rPr>
              <a:t>这里缺一张</a:t>
            </a:r>
            <a:r>
              <a:rPr lang="en-US" altLang="zh-CN" dirty="0">
                <a:solidFill>
                  <a:srgbClr val="FF0000"/>
                </a:solidFill>
              </a:rPr>
              <a:t>ppt</a:t>
            </a:r>
            <a:r>
              <a:rPr lang="zh-CN" altLang="en-US" dirty="0">
                <a:solidFill>
                  <a:srgbClr val="FF0000"/>
                </a:solidFill>
              </a:rPr>
              <a:t>，报告里面由于篇幅我省略了，这里要简单讲一讲实验的拟合，基本逻辑如下：</a:t>
            </a:r>
            <a:endParaRPr lang="en-US" altLang="zh-CN" dirty="0">
              <a:solidFill>
                <a:srgbClr val="FF0000"/>
              </a:solidFill>
            </a:endParaRPr>
          </a:p>
          <a:p>
            <a:endParaRPr lang="en-US" altLang="zh-CN" dirty="0">
              <a:solidFill>
                <a:srgbClr val="FF0000"/>
              </a:solidFill>
            </a:endParaRPr>
          </a:p>
          <a:p>
            <a:endParaRPr lang="en-US" altLang="zh-CN" dirty="0">
              <a:solidFill>
                <a:srgbClr val="FF0000"/>
              </a:solidFill>
            </a:endParaRPr>
          </a:p>
          <a:p>
            <a:r>
              <a:rPr lang="en-US" altLang="zh-CN" dirty="0">
                <a:solidFill>
                  <a:srgbClr val="FF0000"/>
                </a:solidFill>
              </a:rPr>
              <a:t>1.</a:t>
            </a:r>
            <a:r>
              <a:rPr lang="zh-CN" altLang="en-US" dirty="0">
                <a:solidFill>
                  <a:srgbClr val="FF0000"/>
                </a:solidFill>
              </a:rPr>
              <a:t>我们做实验出来得到了各个人准确率、选右概率、反应时间随着</a:t>
            </a:r>
            <a:r>
              <a:rPr lang="en-US" altLang="zh-CN" dirty="0">
                <a:solidFill>
                  <a:srgbClr val="FF0000"/>
                </a:solidFill>
              </a:rPr>
              <a:t>ratio</a:t>
            </a:r>
            <a:r>
              <a:rPr lang="zh-CN" altLang="en-US" dirty="0">
                <a:solidFill>
                  <a:srgbClr val="FF0000"/>
                </a:solidFill>
              </a:rPr>
              <a:t>的图，发现</a:t>
            </a:r>
            <a:r>
              <a:rPr lang="en-US" altLang="zh-CN" dirty="0" err="1">
                <a:solidFill>
                  <a:srgbClr val="FF0000"/>
                </a:solidFill>
              </a:rPr>
              <a:t>xxxx</a:t>
            </a:r>
            <a:r>
              <a:rPr lang="zh-CN" altLang="en-US" dirty="0">
                <a:solidFill>
                  <a:srgbClr val="FF0000"/>
                </a:solidFill>
              </a:rPr>
              <a:t>（此处简要介绍基本图的规律和趋势即可），然后这和</a:t>
            </a:r>
            <a:r>
              <a:rPr lang="en-US" altLang="zh-CN" dirty="0">
                <a:solidFill>
                  <a:srgbClr val="FF0000"/>
                </a:solidFill>
              </a:rPr>
              <a:t>DDM</a:t>
            </a:r>
            <a:r>
              <a:rPr lang="zh-CN" altLang="en-US" dirty="0">
                <a:solidFill>
                  <a:srgbClr val="FF0000"/>
                </a:solidFill>
              </a:rPr>
              <a:t>模型的规律比较相似，所以尝试用</a:t>
            </a:r>
            <a:r>
              <a:rPr lang="en-US" altLang="zh-CN" dirty="0">
                <a:solidFill>
                  <a:srgbClr val="FF0000"/>
                </a:solidFill>
              </a:rPr>
              <a:t>DDM</a:t>
            </a:r>
            <a:r>
              <a:rPr lang="zh-CN" altLang="en-US" dirty="0">
                <a:solidFill>
                  <a:srgbClr val="FF0000"/>
                </a:solidFill>
              </a:rPr>
              <a:t>模型来拟合真实数据图</a:t>
            </a:r>
            <a:endParaRPr lang="en-US" altLang="zh-CN" dirty="0">
              <a:solidFill>
                <a:srgbClr val="FF0000"/>
              </a:solidFill>
            </a:endParaRPr>
          </a:p>
          <a:p>
            <a:endParaRPr lang="en-US" altLang="zh-CN" dirty="0">
              <a:solidFill>
                <a:srgbClr val="FF0000"/>
              </a:solidFill>
            </a:endParaRPr>
          </a:p>
          <a:p>
            <a:r>
              <a:rPr lang="en-US" altLang="zh-CN" dirty="0">
                <a:solidFill>
                  <a:srgbClr val="FF0000"/>
                </a:solidFill>
              </a:rPr>
              <a:t>2.</a:t>
            </a:r>
            <a:r>
              <a:rPr lang="zh-CN" altLang="en-US" dirty="0">
                <a:solidFill>
                  <a:srgbClr val="FF0000"/>
                </a:solidFill>
              </a:rPr>
              <a:t>编写完一组代码，选取了一组参数，发现拟合效果很差</a:t>
            </a:r>
            <a:endParaRPr lang="en-US" altLang="zh-CN" dirty="0">
              <a:solidFill>
                <a:srgbClr val="FF0000"/>
              </a:solidFill>
            </a:endParaRPr>
          </a:p>
          <a:p>
            <a:endParaRPr lang="en-US" altLang="zh-CN" dirty="0">
              <a:solidFill>
                <a:srgbClr val="FF0000"/>
              </a:solidFill>
            </a:endParaRPr>
          </a:p>
          <a:p>
            <a:r>
              <a:rPr lang="en-US" altLang="zh-CN" dirty="0">
                <a:solidFill>
                  <a:srgbClr val="FF0000"/>
                </a:solidFill>
              </a:rPr>
              <a:t>3.</a:t>
            </a:r>
            <a:r>
              <a:rPr lang="zh-CN" altLang="en-US" dirty="0">
                <a:solidFill>
                  <a:srgbClr val="FF0000"/>
                </a:solidFill>
              </a:rPr>
              <a:t>分析原因：我们的实验难度比较简单，会导致漂移率比正常实验稍微大一些，</a:t>
            </a:r>
            <a:r>
              <a:rPr lang="en-US" altLang="zh-CN" dirty="0">
                <a:solidFill>
                  <a:srgbClr val="FF0000"/>
                </a:solidFill>
              </a:rPr>
              <a:t>bound</a:t>
            </a:r>
            <a:r>
              <a:rPr lang="zh-CN" altLang="en-US" dirty="0">
                <a:solidFill>
                  <a:srgbClr val="FF0000"/>
                </a:solidFill>
              </a:rPr>
              <a:t>小一些等等</a:t>
            </a:r>
            <a:endParaRPr lang="en-US" altLang="zh-CN" dirty="0">
              <a:solidFill>
                <a:srgbClr val="FF0000"/>
              </a:solidFill>
            </a:endParaRPr>
          </a:p>
          <a:p>
            <a:endParaRPr lang="en-US" altLang="zh-CN" dirty="0">
              <a:solidFill>
                <a:srgbClr val="FF0000"/>
              </a:solidFill>
            </a:endParaRPr>
          </a:p>
          <a:p>
            <a:r>
              <a:rPr lang="en-US" altLang="zh-CN" dirty="0">
                <a:solidFill>
                  <a:srgbClr val="FF0000"/>
                </a:solidFill>
              </a:rPr>
              <a:t>4.</a:t>
            </a:r>
            <a:r>
              <a:rPr lang="zh-CN" altLang="en-US" dirty="0">
                <a:solidFill>
                  <a:srgbClr val="FF0000"/>
                </a:solidFill>
              </a:rPr>
              <a:t>因此需要参数搜索来寻找最适合的参数，从而最好地拟合（简要说一下网格搜索是这么做的，对哪几个参数搜索，拟合目标是</a:t>
            </a:r>
            <a:r>
              <a:rPr lang="en-US" altLang="zh-CN" dirty="0">
                <a:solidFill>
                  <a:srgbClr val="FF0000"/>
                </a:solidFill>
              </a:rPr>
              <a:t>RT-r</a:t>
            </a:r>
            <a:r>
              <a:rPr lang="zh-CN" altLang="en-US" dirty="0">
                <a:solidFill>
                  <a:srgbClr val="FF0000"/>
                </a:solidFill>
              </a:rPr>
              <a:t>图均方误差最小，为什么只看这个？因为这个最小我们发现其它两张图也就很好了），提出一个</a:t>
            </a:r>
            <a:r>
              <a:rPr lang="zh-CN" altLang="en-US" b="1" dirty="0">
                <a:solidFill>
                  <a:srgbClr val="FF0000"/>
                </a:solidFill>
              </a:rPr>
              <a:t>思考</a:t>
            </a:r>
            <a:r>
              <a:rPr lang="zh-CN" altLang="en-US" dirty="0">
                <a:solidFill>
                  <a:srgbClr val="FF0000"/>
                </a:solidFill>
              </a:rPr>
              <a:t>：三个参数看似有线性关系（具体原因不会这部分可以问问李雅婕），我们一开始以为只搜索两个参数就行（解释原因），后来发现效果不是很好，还是三个都搜索了（原因可能跟实验的随机性有关，当然搜索</a:t>
            </a:r>
            <a:r>
              <a:rPr lang="en-US" altLang="zh-CN" dirty="0">
                <a:solidFill>
                  <a:srgbClr val="FF0000"/>
                </a:solidFill>
              </a:rPr>
              <a:t>3</a:t>
            </a:r>
            <a:r>
              <a:rPr lang="zh-CN" altLang="en-US" dirty="0">
                <a:solidFill>
                  <a:srgbClr val="FF0000"/>
                </a:solidFill>
              </a:rPr>
              <a:t>个参数的复杂度在这个实验里面是可接受的（</a:t>
            </a:r>
            <a:r>
              <a:rPr lang="en-US" altLang="zh-CN" dirty="0">
                <a:solidFill>
                  <a:srgbClr val="FF0000"/>
                </a:solidFill>
              </a:rPr>
              <a:t>DDM</a:t>
            </a:r>
            <a:r>
              <a:rPr lang="zh-CN" altLang="en-US" dirty="0">
                <a:solidFill>
                  <a:srgbClr val="FF0000"/>
                </a:solidFill>
              </a:rPr>
              <a:t>的</a:t>
            </a:r>
            <a:r>
              <a:rPr lang="en-US" altLang="zh-CN" dirty="0">
                <a:solidFill>
                  <a:srgbClr val="FF0000"/>
                </a:solidFill>
              </a:rPr>
              <a:t>trails</a:t>
            </a:r>
            <a:r>
              <a:rPr lang="zh-CN" altLang="en-US" dirty="0">
                <a:solidFill>
                  <a:srgbClr val="FF0000"/>
                </a:solidFill>
              </a:rPr>
              <a:t>为</a:t>
            </a:r>
            <a:r>
              <a:rPr lang="en-US" altLang="zh-CN" dirty="0">
                <a:solidFill>
                  <a:srgbClr val="FF0000"/>
                </a:solidFill>
              </a:rPr>
              <a:t>2000</a:t>
            </a:r>
            <a:r>
              <a:rPr lang="zh-CN" altLang="en-US" dirty="0">
                <a:solidFill>
                  <a:srgbClr val="FF0000"/>
                </a:solidFill>
              </a:rPr>
              <a:t>的设定下大概搜索</a:t>
            </a:r>
            <a:r>
              <a:rPr lang="en-US" altLang="zh-CN" dirty="0">
                <a:solidFill>
                  <a:srgbClr val="FF0000"/>
                </a:solidFill>
              </a:rPr>
              <a:t>1</a:t>
            </a:r>
            <a:r>
              <a:rPr lang="zh-CN" altLang="en-US" dirty="0">
                <a:solidFill>
                  <a:srgbClr val="FF0000"/>
                </a:solidFill>
              </a:rPr>
              <a:t>分钟）（主要是因为</a:t>
            </a:r>
            <a:r>
              <a:rPr lang="en-US" altLang="zh-CN" dirty="0">
                <a:solidFill>
                  <a:srgbClr val="FF0000"/>
                </a:solidFill>
              </a:rPr>
              <a:t>bound</a:t>
            </a:r>
            <a:r>
              <a:rPr lang="zh-CN" altLang="en-US" dirty="0">
                <a:solidFill>
                  <a:srgbClr val="FF0000"/>
                </a:solidFill>
              </a:rPr>
              <a:t>小所以搜的快））</a:t>
            </a:r>
            <a:endParaRPr lang="en-US" altLang="zh-CN" dirty="0">
              <a:solidFill>
                <a:srgbClr val="FF0000"/>
              </a:solidFill>
            </a:endParaRPr>
          </a:p>
        </p:txBody>
      </p:sp>
    </p:spTree>
    <p:extLst>
      <p:ext uri="{BB962C8B-B14F-4D97-AF65-F5344CB8AC3E}">
        <p14:creationId xmlns:p14="http://schemas.microsoft.com/office/powerpoint/2010/main" val="1602848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DB3FE-B540-3AB6-6159-E74B0C36BC22}"/>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31619132-2710-6615-AF4C-0B9B4DEDF6D5}"/>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C02027F3-0220-BFEC-BE42-A0B512F575C3}"/>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4BD6ABDF-EF38-F079-CE11-DA5DF52D13EC}"/>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539B1064-3A18-F4A2-2032-955DC363A4D7}"/>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2C20CC2-699A-E563-62F5-01C80368EB1B}"/>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AA8A370C-C552-96EB-0A8A-F0F418A861DD}"/>
              </a:ext>
            </a:extLst>
          </p:cNvPr>
          <p:cNvSpPr txBox="1"/>
          <p:nvPr/>
        </p:nvSpPr>
        <p:spPr>
          <a:xfrm>
            <a:off x="509271" y="468691"/>
            <a:ext cx="6856729"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 Results</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4" name="图片 13">
            <a:extLst>
              <a:ext uri="{FF2B5EF4-FFF2-40B4-BE49-F238E27FC236}">
                <a16:creationId xmlns:a16="http://schemas.microsoft.com/office/drawing/2014/main" id="{AA503F08-7C2E-585C-1035-A3AC746017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9282" y="1115022"/>
            <a:ext cx="5242560" cy="5242560"/>
          </a:xfrm>
          <a:prstGeom prst="rect">
            <a:avLst/>
          </a:prstGeom>
        </p:spPr>
      </p:pic>
      <p:pic>
        <p:nvPicPr>
          <p:cNvPr id="16" name="图片 15">
            <a:extLst>
              <a:ext uri="{FF2B5EF4-FFF2-40B4-BE49-F238E27FC236}">
                <a16:creationId xmlns:a16="http://schemas.microsoft.com/office/drawing/2014/main" id="{2538F0A3-5DC9-A5E6-1812-78F774EA94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680" y="1196340"/>
            <a:ext cx="5242560" cy="5242560"/>
          </a:xfrm>
          <a:prstGeom prst="rect">
            <a:avLst/>
          </a:prstGeom>
        </p:spPr>
      </p:pic>
    </p:spTree>
    <p:extLst>
      <p:ext uri="{BB962C8B-B14F-4D97-AF65-F5344CB8AC3E}">
        <p14:creationId xmlns:p14="http://schemas.microsoft.com/office/powerpoint/2010/main" val="1985613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01D64-E185-B184-D644-2C3A7CC5BA11}"/>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90E324F9-39F3-3C22-126F-0874DD516122}"/>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EEC06602-8FD8-84D1-1DA9-39E054BC07AD}"/>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18BB8179-3ED5-2722-56F0-D6B945D476E6}"/>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2FDDE2ED-8F55-ACCB-BCD1-EC4D13F9E395}"/>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AF3E1582-D00D-2E30-400B-686ED1C68867}"/>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DEE30B25-D3BD-E681-7517-AE93AB04E4FB}"/>
              </a:ext>
            </a:extLst>
          </p:cNvPr>
          <p:cNvSpPr txBox="1"/>
          <p:nvPr/>
        </p:nvSpPr>
        <p:spPr>
          <a:xfrm>
            <a:off x="509271" y="468691"/>
            <a:ext cx="8044179"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 - The Best Fit</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7" name="图片 6">
            <a:extLst>
              <a:ext uri="{FF2B5EF4-FFF2-40B4-BE49-F238E27FC236}">
                <a16:creationId xmlns:a16="http://schemas.microsoft.com/office/drawing/2014/main" id="{34021976-260C-392C-2049-3D546450C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680" y="1178991"/>
            <a:ext cx="5242560" cy="5242560"/>
          </a:xfrm>
          <a:prstGeom prst="rect">
            <a:avLst/>
          </a:prstGeom>
        </p:spPr>
      </p:pic>
      <p:sp>
        <p:nvSpPr>
          <p:cNvPr id="3" name="文本框 2">
            <a:extLst>
              <a:ext uri="{FF2B5EF4-FFF2-40B4-BE49-F238E27FC236}">
                <a16:creationId xmlns:a16="http://schemas.microsoft.com/office/drawing/2014/main" id="{901169F0-DDCE-4E70-825D-5B22FCF6994E}"/>
              </a:ext>
            </a:extLst>
          </p:cNvPr>
          <p:cNvSpPr txBox="1"/>
          <p:nvPr/>
        </p:nvSpPr>
        <p:spPr>
          <a:xfrm>
            <a:off x="6730047" y="883900"/>
            <a:ext cx="4952682" cy="3416320"/>
          </a:xfrm>
          <a:prstGeom prst="rect">
            <a:avLst/>
          </a:prstGeom>
          <a:noFill/>
        </p:spPr>
        <p:txBody>
          <a:bodyPr wrap="square" rtlCol="0">
            <a:spAutoFit/>
          </a:bodyPr>
          <a:lstStyle/>
          <a:p>
            <a:r>
              <a:rPr lang="zh-CN" altLang="en-US" dirty="0">
                <a:solidFill>
                  <a:srgbClr val="FF0000"/>
                </a:solidFill>
              </a:rPr>
              <a:t>先强调效果后，然后：在这一页</a:t>
            </a:r>
            <a:r>
              <a:rPr lang="en-US" altLang="zh-CN" dirty="0">
                <a:solidFill>
                  <a:srgbClr val="FF0000"/>
                </a:solidFill>
              </a:rPr>
              <a:t>recall</a:t>
            </a:r>
            <a:r>
              <a:rPr lang="zh-CN" altLang="en-US" dirty="0">
                <a:solidFill>
                  <a:srgbClr val="FF0000"/>
                </a:solidFill>
              </a:rPr>
              <a:t>一下作业里的</a:t>
            </a:r>
            <a:r>
              <a:rPr lang="en-US" altLang="zh-CN" dirty="0" err="1">
                <a:solidFill>
                  <a:srgbClr val="FF0000"/>
                </a:solidFill>
              </a:rPr>
              <a:t>ddm</a:t>
            </a:r>
            <a:r>
              <a:rPr lang="zh-CN" altLang="en-US" dirty="0">
                <a:solidFill>
                  <a:srgbClr val="FF0000"/>
                </a:solidFill>
              </a:rPr>
              <a:t>的“</a:t>
            </a:r>
            <a:r>
              <a:rPr lang="en-US" altLang="zh-CN" dirty="0">
                <a:solidFill>
                  <a:srgbClr val="FF0000"/>
                </a:solidFill>
              </a:rPr>
              <a:t>dig</a:t>
            </a:r>
            <a:r>
              <a:rPr lang="zh-CN" altLang="en-US" dirty="0">
                <a:solidFill>
                  <a:srgbClr val="FF0000"/>
                </a:solidFill>
              </a:rPr>
              <a:t>”，附一张图（作业里的），分析为什么</a:t>
            </a:r>
            <a:r>
              <a:rPr lang="en-US" altLang="zh-CN" dirty="0" err="1">
                <a:solidFill>
                  <a:srgbClr val="FF0000"/>
                </a:solidFill>
              </a:rPr>
              <a:t>ddm</a:t>
            </a:r>
            <a:r>
              <a:rPr lang="zh-CN" altLang="en-US" dirty="0">
                <a:solidFill>
                  <a:srgbClr val="FF0000"/>
                </a:solidFill>
              </a:rPr>
              <a:t>会有</a:t>
            </a:r>
            <a:r>
              <a:rPr lang="en-US" altLang="zh-CN" dirty="0">
                <a:solidFill>
                  <a:srgbClr val="FF0000"/>
                </a:solidFill>
              </a:rPr>
              <a:t>dig</a:t>
            </a:r>
            <a:r>
              <a:rPr lang="zh-CN" altLang="en-US" dirty="0">
                <a:solidFill>
                  <a:srgbClr val="FF0000"/>
                </a:solidFill>
              </a:rPr>
              <a:t>。 分析为什么我们这里真实数据没有</a:t>
            </a:r>
            <a:r>
              <a:rPr lang="en-US" altLang="zh-CN" dirty="0">
                <a:solidFill>
                  <a:srgbClr val="FF0000"/>
                </a:solidFill>
              </a:rPr>
              <a:t>dig</a:t>
            </a:r>
            <a:r>
              <a:rPr lang="zh-CN" altLang="en-US" dirty="0">
                <a:solidFill>
                  <a:srgbClr val="FF0000"/>
                </a:solidFill>
              </a:rPr>
              <a:t>，分析什么情况下真实数据有</a:t>
            </a:r>
            <a:r>
              <a:rPr lang="en-US" altLang="zh-CN" dirty="0">
                <a:solidFill>
                  <a:srgbClr val="FF0000"/>
                </a:solidFill>
              </a:rPr>
              <a:t>dig</a:t>
            </a:r>
            <a:r>
              <a:rPr lang="zh-CN" altLang="en-US" dirty="0">
                <a:solidFill>
                  <a:srgbClr val="FF0000"/>
                </a:solidFill>
              </a:rPr>
              <a:t>（猜想是</a:t>
            </a:r>
            <a:r>
              <a:rPr lang="en-US" altLang="zh-CN" dirty="0">
                <a:solidFill>
                  <a:srgbClr val="FF0000"/>
                </a:solidFill>
              </a:rPr>
              <a:t>time pressure</a:t>
            </a:r>
            <a:r>
              <a:rPr lang="zh-CN" altLang="en-US" dirty="0">
                <a:solidFill>
                  <a:srgbClr val="FF0000"/>
                </a:solidFill>
              </a:rPr>
              <a:t>），所以来试试</a:t>
            </a:r>
            <a:r>
              <a:rPr lang="en-US" altLang="zh-CN" dirty="0">
                <a:solidFill>
                  <a:srgbClr val="FF0000"/>
                </a:solidFill>
              </a:rPr>
              <a:t>variant I</a:t>
            </a:r>
          </a:p>
          <a:p>
            <a:endParaRPr lang="en-US" altLang="zh-CN" dirty="0">
              <a:solidFill>
                <a:srgbClr val="FF0000"/>
              </a:solidFill>
            </a:endParaRPr>
          </a:p>
          <a:p>
            <a:endParaRPr lang="en-US" altLang="zh-CN" dirty="0">
              <a:solidFill>
                <a:srgbClr val="FF0000"/>
              </a:solidFill>
            </a:endParaRPr>
          </a:p>
          <a:p>
            <a:r>
              <a:rPr lang="zh-CN" altLang="en-US" dirty="0">
                <a:solidFill>
                  <a:srgbClr val="FF0000"/>
                </a:solidFill>
              </a:rPr>
              <a:t>再把</a:t>
            </a:r>
            <a:r>
              <a:rPr lang="en-US" altLang="zh-CN" dirty="0">
                <a:solidFill>
                  <a:srgbClr val="FF0000"/>
                </a:solidFill>
              </a:rPr>
              <a:t>improvement</a:t>
            </a:r>
            <a:r>
              <a:rPr lang="zh-CN" altLang="en-US" dirty="0">
                <a:solidFill>
                  <a:srgbClr val="FF0000"/>
                </a:solidFill>
              </a:rPr>
              <a:t>提到这里来，就是做</a:t>
            </a:r>
            <a:r>
              <a:rPr lang="en-US" altLang="zh-CN" dirty="0">
                <a:solidFill>
                  <a:srgbClr val="FF0000"/>
                </a:solidFill>
              </a:rPr>
              <a:t>variant I</a:t>
            </a:r>
            <a:r>
              <a:rPr lang="zh-CN" altLang="en-US" dirty="0">
                <a:solidFill>
                  <a:srgbClr val="FF0000"/>
                </a:solidFill>
              </a:rPr>
              <a:t>之前，我们想到一些改进，这样逻辑更顺，讲的时候注意这些改进背后的原因</a:t>
            </a:r>
            <a:r>
              <a:rPr lang="en-US" altLang="zh-CN" dirty="0">
                <a:solidFill>
                  <a:srgbClr val="FF0000"/>
                </a:solidFill>
              </a:rPr>
              <a:t>,</a:t>
            </a:r>
            <a:r>
              <a:rPr lang="zh-CN" altLang="en-US" dirty="0">
                <a:solidFill>
                  <a:srgbClr val="FF0000"/>
                </a:solidFill>
              </a:rPr>
              <a:t>加了一点基础圆大小改了一下，太小的不用了</a:t>
            </a:r>
            <a:endParaRPr lang="en-US" altLang="zh-CN" dirty="0">
              <a:solidFill>
                <a:srgbClr val="FF0000"/>
              </a:solidFill>
            </a:endParaRPr>
          </a:p>
        </p:txBody>
      </p:sp>
      <p:sp>
        <p:nvSpPr>
          <p:cNvPr id="9" name="文本框 8">
            <a:extLst>
              <a:ext uri="{FF2B5EF4-FFF2-40B4-BE49-F238E27FC236}">
                <a16:creationId xmlns:a16="http://schemas.microsoft.com/office/drawing/2014/main" id="{BF641647-940F-3B0D-D1AE-2AE33B155761}"/>
              </a:ext>
            </a:extLst>
          </p:cNvPr>
          <p:cNvSpPr txBox="1"/>
          <p:nvPr/>
        </p:nvSpPr>
        <p:spPr>
          <a:xfrm>
            <a:off x="6334762" y="4037985"/>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Improvement of Experiment</a:t>
            </a:r>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t>
            </a:r>
            <a:endPar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0" name="文本框 9">
            <a:extLst>
              <a:ext uri="{FF2B5EF4-FFF2-40B4-BE49-F238E27FC236}">
                <a16:creationId xmlns:a16="http://schemas.microsoft.com/office/drawing/2014/main" id="{9E884849-8545-41DF-D9B9-C71D131D0272}"/>
              </a:ext>
            </a:extLst>
          </p:cNvPr>
          <p:cNvSpPr txBox="1"/>
          <p:nvPr/>
        </p:nvSpPr>
        <p:spPr>
          <a:xfrm>
            <a:off x="6334762" y="4666402"/>
            <a:ext cx="9271584" cy="1569660"/>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Reduce space between circles</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Discard circles that are too small</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Set the keys to F and J</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Add white board</a:t>
            </a:r>
            <a:endPar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908371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60E98-16E7-E4B5-AE24-FB5D0E5A20FE}"/>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32B50890-C6BC-C9A9-93AC-CBE5F2E09D78}"/>
              </a:ext>
            </a:extLst>
          </p:cNvPr>
          <p:cNvGrpSpPr/>
          <p:nvPr/>
        </p:nvGrpSpPr>
        <p:grpSpPr>
          <a:xfrm>
            <a:off x="-5080" y="-5080"/>
            <a:ext cx="10185400" cy="6863080"/>
            <a:chOff x="-8" y="-8"/>
            <a:chExt cx="19221" cy="10808"/>
          </a:xfrm>
        </p:grpSpPr>
        <p:pic>
          <p:nvPicPr>
            <p:cNvPr id="109" name="图片 108">
              <a:extLst>
                <a:ext uri="{FF2B5EF4-FFF2-40B4-BE49-F238E27FC236}">
                  <a16:creationId xmlns:a16="http://schemas.microsoft.com/office/drawing/2014/main" id="{9D8B75BD-087C-591A-2A22-4696022AEA19}"/>
                </a:ext>
              </a:extLst>
            </p:cNvPr>
            <p:cNvPicPr>
              <a:picLocks noChangeAspect="1"/>
            </p:cNvPicPr>
            <p:nvPr/>
          </p:nvPicPr>
          <p:blipFill>
            <a:blip r:embed="rId9"/>
            <a:srcRect b="17500"/>
            <a:stretch>
              <a:fillRect/>
            </a:stretch>
          </p:blipFill>
          <p:spPr>
            <a:xfrm>
              <a:off x="14" y="-8"/>
              <a:ext cx="19182" cy="10808"/>
            </a:xfrm>
            <a:prstGeom prst="rect">
              <a:avLst/>
            </a:prstGeom>
          </p:spPr>
        </p:pic>
        <p:sp>
          <p:nvSpPr>
            <p:cNvPr id="9" name="矩形 8">
              <a:extLst>
                <a:ext uri="{FF2B5EF4-FFF2-40B4-BE49-F238E27FC236}">
                  <a16:creationId xmlns:a16="http://schemas.microsoft.com/office/drawing/2014/main" id="{F4457581-3A2F-B87C-BCE8-F2C2B5C29257}"/>
                </a:ext>
              </a:extLst>
            </p:cNvPr>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2B566610-C896-728A-8B59-72EB124F4CC5}"/>
              </a:ext>
            </a:extLst>
          </p:cNvPr>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0559E6CA-4232-BAD7-B1E6-72AF109E33BA}"/>
              </a:ext>
            </a:extLst>
          </p:cNvPr>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a:extLst>
              <a:ext uri="{FF2B5EF4-FFF2-40B4-BE49-F238E27FC236}">
                <a16:creationId xmlns:a16="http://schemas.microsoft.com/office/drawing/2014/main" id="{CD939D32-B88E-ED88-1B90-166CA85FA174}"/>
              </a:ext>
            </a:extLst>
          </p:cNvPr>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a:extLst>
              <a:ext uri="{FF2B5EF4-FFF2-40B4-BE49-F238E27FC236}">
                <a16:creationId xmlns:a16="http://schemas.microsoft.com/office/drawing/2014/main" id="{4981CEE0-1D94-7A01-A3AF-1C8EBB58177F}"/>
              </a:ext>
            </a:extLst>
          </p:cNvPr>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A043092E-0855-CAB6-6AEC-2E8525D8C564}"/>
              </a:ext>
            </a:extLst>
          </p:cNvPr>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662E10DF-3D02-22D4-8AA6-E06B60DECE15}"/>
              </a:ext>
            </a:extLst>
          </p:cNvPr>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06EF67B6-487C-07D1-4726-CC48CC691A9B}"/>
              </a:ext>
            </a:extLst>
          </p:cNvPr>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04DEADA8-8E4B-071E-19B8-AA22E88D61DF}"/>
              </a:ext>
            </a:extLst>
          </p:cNvPr>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DE778376-A113-C890-CAFD-5E86DF97E705}"/>
              </a:ext>
            </a:extLst>
          </p:cNvPr>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00957FFA-129C-2858-390F-EBACB42089F7}"/>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49723670-2B9F-C268-40E1-852678AD8C93}"/>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19EED1E6-6799-1F19-9462-96DA25D2DF8D}"/>
              </a:ext>
            </a:extLst>
          </p:cNvPr>
          <p:cNvSpPr txBox="1"/>
          <p:nvPr/>
        </p:nvSpPr>
        <p:spPr>
          <a:xfrm>
            <a:off x="5273038" y="1916167"/>
            <a:ext cx="5432474"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FA28E867-49A1-73A2-6538-DA80EDE2C059}"/>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8EC0E9AB-398A-E254-584A-C821AF9DD642}"/>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731FFF47-55B6-9FE8-93D5-0DD968A858DB}"/>
              </a:ext>
            </a:extLst>
          </p:cNvPr>
          <p:cNvSpPr txBox="1"/>
          <p:nvPr/>
        </p:nvSpPr>
        <p:spPr>
          <a:xfrm>
            <a:off x="5238445" y="3168106"/>
            <a:ext cx="5803237" cy="523220"/>
          </a:xfrm>
          <a:prstGeom prst="rect">
            <a:avLst/>
          </a:prstGeom>
          <a:noFill/>
        </p:spPr>
        <p:txBody>
          <a:bodyPr wrap="square" rtlCol="0">
            <a:spAutoFit/>
          </a:bodyPr>
          <a:lstStyle/>
          <a:p>
            <a:r>
              <a:rPr lang="en-US" altLang="zh-CN"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8365F07B-E307-8E3A-CC0D-C7FD9D6C5489}"/>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7DC4C109-E6B1-012D-A8D1-E2EAB1EB973E}"/>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E4CAD323-09E7-B59E-F262-8C1A62997B35}"/>
              </a:ext>
            </a:extLst>
          </p:cNvPr>
          <p:cNvSpPr txBox="1"/>
          <p:nvPr/>
        </p:nvSpPr>
        <p:spPr>
          <a:xfrm>
            <a:off x="5273038" y="4428239"/>
            <a:ext cx="6410178"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6F0CD86D-0340-149C-48D2-AE2083C26123}"/>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91E366C9-7CD1-AB3D-04CB-6F24110E3244}"/>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D39B8A90-0823-94FD-C3DF-F45CEAC7294A}"/>
              </a:ext>
            </a:extLst>
          </p:cNvPr>
          <p:cNvSpPr txBox="1"/>
          <p:nvPr/>
        </p:nvSpPr>
        <p:spPr>
          <a:xfrm>
            <a:off x="5273040" y="5680178"/>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DE82A7AC-3B44-144C-270D-EF2D0D861DEF}"/>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1A2302F2-C8BE-13D1-B200-FC49E1EF604C}"/>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Tree>
    <p:extLst>
      <p:ext uri="{BB962C8B-B14F-4D97-AF65-F5344CB8AC3E}">
        <p14:creationId xmlns:p14="http://schemas.microsoft.com/office/powerpoint/2010/main" val="1914086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A3029-171E-81D0-DC19-C9FD7C68C381}"/>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7F2B4AE9-625A-3A3D-A806-30F232FBFF59}"/>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43CA5A4F-7F88-3937-2ED4-175D88317DAC}"/>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B55D8894-AC20-9608-A903-FB1753A88E28}"/>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DB48E5A8-85CE-D2EA-C5C2-C2DAE474A83F}"/>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C6CFB4DD-B9C9-449E-02FE-49001B7B6EFF}"/>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EA140871-055B-AE48-987B-1AD77EBBBC1F}"/>
              </a:ext>
            </a:extLst>
          </p:cNvPr>
          <p:cNvSpPr txBox="1"/>
          <p:nvPr/>
        </p:nvSpPr>
        <p:spPr>
          <a:xfrm>
            <a:off x="509271" y="468691"/>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 - Time Pressure</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1" name="图片 10">
            <a:extLst>
              <a:ext uri="{FF2B5EF4-FFF2-40B4-BE49-F238E27FC236}">
                <a16:creationId xmlns:a16="http://schemas.microsoft.com/office/drawing/2014/main" id="{D2451F39-F435-6BE9-2114-54ED33C2F820}"/>
              </a:ext>
            </a:extLst>
          </p:cNvPr>
          <p:cNvPicPr>
            <a:picLocks noChangeAspect="1"/>
          </p:cNvPicPr>
          <p:nvPr/>
        </p:nvPicPr>
        <p:blipFill>
          <a:blip r:embed="rId2"/>
          <a:stretch>
            <a:fillRect/>
          </a:stretch>
        </p:blipFill>
        <p:spPr>
          <a:xfrm>
            <a:off x="780413" y="5045592"/>
            <a:ext cx="9376464" cy="829326"/>
          </a:xfrm>
          <a:prstGeom prst="rect">
            <a:avLst/>
          </a:prstGeom>
        </p:spPr>
      </p:pic>
      <p:sp>
        <p:nvSpPr>
          <p:cNvPr id="7" name="文本框 6">
            <a:extLst>
              <a:ext uri="{FF2B5EF4-FFF2-40B4-BE49-F238E27FC236}">
                <a16:creationId xmlns:a16="http://schemas.microsoft.com/office/drawing/2014/main" id="{F546D90C-E2B0-33E3-C711-846C98880F02}"/>
              </a:ext>
            </a:extLst>
          </p:cNvPr>
          <p:cNvSpPr txBox="1"/>
          <p:nvPr/>
        </p:nvSpPr>
        <p:spPr>
          <a:xfrm>
            <a:off x="6738719" y="876030"/>
            <a:ext cx="4237356" cy="2862322"/>
          </a:xfrm>
          <a:prstGeom prst="rect">
            <a:avLst/>
          </a:prstGeom>
          <a:noFill/>
        </p:spPr>
        <p:txBody>
          <a:bodyPr wrap="square" rtlCol="0">
            <a:spAutoFit/>
          </a:bodyPr>
          <a:lstStyle/>
          <a:p>
            <a:r>
              <a:rPr lang="zh-CN" altLang="en-US" dirty="0">
                <a:solidFill>
                  <a:srgbClr val="FF0000"/>
                </a:solidFill>
              </a:rPr>
              <a:t>标题可以更具体一些</a:t>
            </a:r>
            <a:endParaRPr lang="en-US" altLang="zh-CN" dirty="0">
              <a:solidFill>
                <a:srgbClr val="FF0000"/>
              </a:solidFill>
            </a:endParaRPr>
          </a:p>
          <a:p>
            <a:endParaRPr lang="en-US" altLang="zh-CN" dirty="0">
              <a:solidFill>
                <a:srgbClr val="FF0000"/>
              </a:solidFill>
            </a:endParaRPr>
          </a:p>
          <a:p>
            <a:r>
              <a:rPr lang="zh-CN" altLang="en-US" dirty="0">
                <a:solidFill>
                  <a:srgbClr val="FF0000"/>
                </a:solidFill>
              </a:rPr>
              <a:t>这里图放的不对哈，改为上下两半：</a:t>
            </a:r>
            <a:endParaRPr lang="en-US" altLang="zh-CN" dirty="0">
              <a:solidFill>
                <a:srgbClr val="FF0000"/>
              </a:solidFill>
            </a:endParaRPr>
          </a:p>
          <a:p>
            <a:r>
              <a:rPr lang="zh-CN" altLang="en-US" dirty="0">
                <a:solidFill>
                  <a:srgbClr val="FF0000"/>
                </a:solidFill>
              </a:rPr>
              <a:t>上面先放屏幕显示的</a:t>
            </a:r>
            <a:r>
              <a:rPr lang="en-US" altLang="zh-CN" dirty="0">
                <a:solidFill>
                  <a:srgbClr val="FF0000"/>
                </a:solidFill>
              </a:rPr>
              <a:t>Faster</a:t>
            </a:r>
            <a:r>
              <a:rPr lang="zh-CN" altLang="en-US" dirty="0">
                <a:solidFill>
                  <a:srgbClr val="FF0000"/>
                </a:solidFill>
              </a:rPr>
              <a:t>，同时强调我们告诉被试要求改为，保证一定正确率的情况下越快越好（与之前要求对比）</a:t>
            </a:r>
            <a:endParaRPr lang="en-US" altLang="zh-CN" dirty="0">
              <a:solidFill>
                <a:srgbClr val="FF0000"/>
              </a:solidFill>
            </a:endParaRPr>
          </a:p>
          <a:p>
            <a:endParaRPr lang="en-US" altLang="zh-CN" dirty="0">
              <a:solidFill>
                <a:srgbClr val="FF0000"/>
              </a:solidFill>
            </a:endParaRPr>
          </a:p>
          <a:p>
            <a:r>
              <a:rPr lang="zh-CN" altLang="en-US" dirty="0">
                <a:solidFill>
                  <a:srgbClr val="FF0000"/>
                </a:solidFill>
              </a:rPr>
              <a:t>下面放为了拟合做出的代码改进（就是现在这张图）</a:t>
            </a:r>
            <a:endParaRPr lang="en-US" altLang="zh-CN" dirty="0">
              <a:solidFill>
                <a:srgbClr val="FF0000"/>
              </a:solidFill>
            </a:endParaRPr>
          </a:p>
          <a:p>
            <a:endParaRPr lang="en-US" altLang="zh-CN" dirty="0">
              <a:solidFill>
                <a:srgbClr val="FF0000"/>
              </a:solidFill>
            </a:endParaRPr>
          </a:p>
        </p:txBody>
      </p:sp>
    </p:spTree>
    <p:extLst>
      <p:ext uri="{BB962C8B-B14F-4D97-AF65-F5344CB8AC3E}">
        <p14:creationId xmlns:p14="http://schemas.microsoft.com/office/powerpoint/2010/main" val="681921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6CCC2-0BBC-E2DD-7947-D2DB79753554}"/>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9969B0B0-F040-4E3F-CE2C-2D1B1DAB343E}"/>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7B99AD86-C000-8730-1302-6E3D83EDA459}"/>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6428E71B-3544-F472-934B-63F0EC079218}"/>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3C3D475F-AD51-E84F-D582-C01F3B4A852B}"/>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79BE98C0-9AC6-4AA5-B827-5E17D14A15A1}"/>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14" name="图片 13">
            <a:extLst>
              <a:ext uri="{FF2B5EF4-FFF2-40B4-BE49-F238E27FC236}">
                <a16:creationId xmlns:a16="http://schemas.microsoft.com/office/drawing/2014/main" id="{A68A8AFF-14C3-1E5A-174C-37C2CE031A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7797" y="569950"/>
            <a:ext cx="5326335" cy="5326335"/>
          </a:xfrm>
          <a:prstGeom prst="rect">
            <a:avLst/>
          </a:prstGeom>
        </p:spPr>
      </p:pic>
      <p:pic>
        <p:nvPicPr>
          <p:cNvPr id="17" name="图片 16">
            <a:extLst>
              <a:ext uri="{FF2B5EF4-FFF2-40B4-BE49-F238E27FC236}">
                <a16:creationId xmlns:a16="http://schemas.microsoft.com/office/drawing/2014/main" id="{BADB6AC4-3CF9-D87A-5112-AE8032AFD1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866" y="2554926"/>
            <a:ext cx="5568931" cy="3341359"/>
          </a:xfrm>
          <a:prstGeom prst="rect">
            <a:avLst/>
          </a:prstGeom>
        </p:spPr>
      </p:pic>
      <p:sp>
        <p:nvSpPr>
          <p:cNvPr id="18" name="文本框 17">
            <a:extLst>
              <a:ext uri="{FF2B5EF4-FFF2-40B4-BE49-F238E27FC236}">
                <a16:creationId xmlns:a16="http://schemas.microsoft.com/office/drawing/2014/main" id="{66EEB029-167B-3105-A5BC-01958B5E7419}"/>
              </a:ext>
            </a:extLst>
          </p:cNvPr>
          <p:cNvSpPr txBox="1"/>
          <p:nvPr/>
        </p:nvSpPr>
        <p:spPr>
          <a:xfrm>
            <a:off x="1083816" y="1611764"/>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Basic DDM</a:t>
            </a:r>
          </a:p>
        </p:txBody>
      </p:sp>
      <p:sp>
        <p:nvSpPr>
          <p:cNvPr id="3" name="文本框 2">
            <a:extLst>
              <a:ext uri="{FF2B5EF4-FFF2-40B4-BE49-F238E27FC236}">
                <a16:creationId xmlns:a16="http://schemas.microsoft.com/office/drawing/2014/main" id="{ECDC3296-613B-56E1-F982-6270D0D15FB5}"/>
              </a:ext>
            </a:extLst>
          </p:cNvPr>
          <p:cNvSpPr txBox="1"/>
          <p:nvPr/>
        </p:nvSpPr>
        <p:spPr>
          <a:xfrm>
            <a:off x="509271" y="468691"/>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 - Time Pressure</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923903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A915-2D29-BAF2-0EFC-6949D472954A}"/>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E57E9A64-65B8-9BC4-2E25-311939F5BDB0}"/>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1C003BD4-4C24-3DD8-D580-346F254F7C9D}"/>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5CF30142-1927-710A-8E9E-C1E5B1319A4C}"/>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0112A06C-BA43-8D18-BF8D-FDA7F8633AA1}"/>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DD094367-FC2D-D5AA-1BF8-3116069CEF4A}"/>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7" name="图片 6">
            <a:extLst>
              <a:ext uri="{FF2B5EF4-FFF2-40B4-BE49-F238E27FC236}">
                <a16:creationId xmlns:a16="http://schemas.microsoft.com/office/drawing/2014/main" id="{8F7E9612-C8B5-9E37-C455-092CAAE377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69" y="2554926"/>
            <a:ext cx="5568931" cy="3341359"/>
          </a:xfrm>
          <a:prstGeom prst="rect">
            <a:avLst/>
          </a:prstGeom>
        </p:spPr>
      </p:pic>
      <p:pic>
        <p:nvPicPr>
          <p:cNvPr id="10" name="图片 9">
            <a:extLst>
              <a:ext uri="{FF2B5EF4-FFF2-40B4-BE49-F238E27FC236}">
                <a16:creationId xmlns:a16="http://schemas.microsoft.com/office/drawing/2014/main" id="{840E846F-8FE5-DEA2-2BA4-B084BEB883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7797" y="569949"/>
            <a:ext cx="5326336" cy="5326336"/>
          </a:xfrm>
          <a:prstGeom prst="rect">
            <a:avLst/>
          </a:prstGeom>
        </p:spPr>
      </p:pic>
      <p:sp>
        <p:nvSpPr>
          <p:cNvPr id="11" name="文本框 10">
            <a:extLst>
              <a:ext uri="{FF2B5EF4-FFF2-40B4-BE49-F238E27FC236}">
                <a16:creationId xmlns:a16="http://schemas.microsoft.com/office/drawing/2014/main" id="{FEA41FEF-3D72-3E99-0E36-BB930A92FF1D}"/>
              </a:ext>
            </a:extLst>
          </p:cNvPr>
          <p:cNvSpPr txBox="1"/>
          <p:nvPr/>
        </p:nvSpPr>
        <p:spPr>
          <a:xfrm>
            <a:off x="1083816" y="1611764"/>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Collapsing Bound DDM</a:t>
            </a:r>
          </a:p>
        </p:txBody>
      </p:sp>
      <p:sp>
        <p:nvSpPr>
          <p:cNvPr id="3" name="文本框 2">
            <a:extLst>
              <a:ext uri="{FF2B5EF4-FFF2-40B4-BE49-F238E27FC236}">
                <a16:creationId xmlns:a16="http://schemas.microsoft.com/office/drawing/2014/main" id="{DF91AEC1-A1C0-1555-F8E5-68092D5F0549}"/>
              </a:ext>
            </a:extLst>
          </p:cNvPr>
          <p:cNvSpPr txBox="1"/>
          <p:nvPr/>
        </p:nvSpPr>
        <p:spPr>
          <a:xfrm>
            <a:off x="6724712" y="233396"/>
            <a:ext cx="4237356" cy="369332"/>
          </a:xfrm>
          <a:prstGeom prst="rect">
            <a:avLst/>
          </a:prstGeom>
          <a:noFill/>
        </p:spPr>
        <p:txBody>
          <a:bodyPr wrap="square" rtlCol="0">
            <a:spAutoFit/>
          </a:bodyPr>
          <a:lstStyle/>
          <a:p>
            <a:r>
              <a:rPr lang="zh-CN" altLang="en-US" dirty="0">
                <a:solidFill>
                  <a:srgbClr val="FF0000"/>
                </a:solidFill>
              </a:rPr>
              <a:t>记得在这里呼出</a:t>
            </a:r>
            <a:r>
              <a:rPr lang="en-US" altLang="zh-CN" dirty="0">
                <a:solidFill>
                  <a:srgbClr val="FF0000"/>
                </a:solidFill>
              </a:rPr>
              <a:t>dig</a:t>
            </a:r>
            <a:r>
              <a:rPr lang="zh-CN" altLang="en-US" dirty="0">
                <a:solidFill>
                  <a:srgbClr val="FF0000"/>
                </a:solidFill>
              </a:rPr>
              <a:t>，解决这个问题</a:t>
            </a:r>
            <a:endParaRPr lang="en-US" altLang="zh-CN" dirty="0">
              <a:solidFill>
                <a:srgbClr val="FF0000"/>
              </a:solidFill>
            </a:endParaRPr>
          </a:p>
        </p:txBody>
      </p:sp>
      <p:sp>
        <p:nvSpPr>
          <p:cNvPr id="9" name="文本框 8">
            <a:extLst>
              <a:ext uri="{FF2B5EF4-FFF2-40B4-BE49-F238E27FC236}">
                <a16:creationId xmlns:a16="http://schemas.microsoft.com/office/drawing/2014/main" id="{7D92F3D1-60F8-6598-E814-99A06A6CE7E6}"/>
              </a:ext>
            </a:extLst>
          </p:cNvPr>
          <p:cNvSpPr txBox="1"/>
          <p:nvPr/>
        </p:nvSpPr>
        <p:spPr>
          <a:xfrm>
            <a:off x="509271" y="468691"/>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 - Time Pressure</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827878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4E98D-2F96-5E31-125A-DB53AE06D1A6}"/>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CA7F3BDB-3ECA-3410-F32B-F47664B1D679}"/>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DE2CA395-A3F1-362A-B54E-530ABFAE9D2A}"/>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A8417603-AE4D-C5F7-6710-74A005B243E6}"/>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F66A0D55-C4CB-D956-3F56-8483C7E14D29}"/>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3D42CB4-6EF2-4A2B-B98B-2ACBB4930470}"/>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26CB12E5-A5BA-DE9B-48FA-C312078D7698}"/>
              </a:ext>
            </a:extLst>
          </p:cNvPr>
          <p:cNvSpPr txBox="1"/>
          <p:nvPr/>
        </p:nvSpPr>
        <p:spPr>
          <a:xfrm>
            <a:off x="509271" y="468691"/>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 - Asymmetrical Priors</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2" name="图片 11">
            <a:extLst>
              <a:ext uri="{FF2B5EF4-FFF2-40B4-BE49-F238E27FC236}">
                <a16:creationId xmlns:a16="http://schemas.microsoft.com/office/drawing/2014/main" id="{6D7105E5-2EFC-A5A4-9CE5-CC685BFC51C6}"/>
              </a:ext>
            </a:extLst>
          </p:cNvPr>
          <p:cNvPicPr>
            <a:picLocks noChangeAspect="1"/>
          </p:cNvPicPr>
          <p:nvPr/>
        </p:nvPicPr>
        <p:blipFill>
          <a:blip r:embed="rId2">
            <a:extLst>
              <a:ext uri="{28A0092B-C50C-407E-A947-70E740481C1C}">
                <a14:useLocalDpi xmlns:a14="http://schemas.microsoft.com/office/drawing/2010/main" val="0"/>
              </a:ext>
            </a:extLst>
          </a:blip>
          <a:srcRect l="7180" r="6070" b="7861"/>
          <a:stretch/>
        </p:blipFill>
        <p:spPr>
          <a:xfrm>
            <a:off x="7501160" y="749300"/>
            <a:ext cx="4508631" cy="5582859"/>
          </a:xfrm>
          <a:prstGeom prst="rect">
            <a:avLst/>
          </a:prstGeom>
        </p:spPr>
      </p:pic>
      <p:sp>
        <p:nvSpPr>
          <p:cNvPr id="13" name="文本框 12">
            <a:extLst>
              <a:ext uri="{FF2B5EF4-FFF2-40B4-BE49-F238E27FC236}">
                <a16:creationId xmlns:a16="http://schemas.microsoft.com/office/drawing/2014/main" id="{E916588C-5EBC-C8CA-52EE-F6A57CC2301E}"/>
              </a:ext>
            </a:extLst>
          </p:cNvPr>
          <p:cNvSpPr txBox="1"/>
          <p:nvPr/>
        </p:nvSpPr>
        <p:spPr>
          <a:xfrm>
            <a:off x="614680" y="2860661"/>
            <a:ext cx="3109620" cy="1569660"/>
          </a:xfrm>
          <a:prstGeom prst="rect">
            <a:avLst/>
          </a:prstGeom>
          <a:noFill/>
        </p:spPr>
        <p:txBody>
          <a:bodyPr wrap="square" rtlCol="0">
            <a:spAutoFit/>
          </a:bodyPr>
          <a:lstStyle/>
          <a:p>
            <a:pPr algn="l"/>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Symmetrical Results</a:t>
            </a:r>
          </a:p>
          <a:p>
            <a:pPr algn="l"/>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Teacher’s advise</a:t>
            </a:r>
          </a:p>
          <a:p>
            <a:pPr algn="l"/>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Film Language</a:t>
            </a:r>
          </a:p>
          <a:p>
            <a:pPr algn="l"/>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a:t>
            </a:r>
          </a:p>
        </p:txBody>
      </p:sp>
      <p:sp>
        <p:nvSpPr>
          <p:cNvPr id="14" name="文本框 13">
            <a:extLst>
              <a:ext uri="{FF2B5EF4-FFF2-40B4-BE49-F238E27FC236}">
                <a16:creationId xmlns:a16="http://schemas.microsoft.com/office/drawing/2014/main" id="{ACAF3002-E187-7E06-DC0A-9FC0C4A2931F}"/>
              </a:ext>
            </a:extLst>
          </p:cNvPr>
          <p:cNvSpPr txBox="1"/>
          <p:nvPr/>
        </p:nvSpPr>
        <p:spPr>
          <a:xfrm>
            <a:off x="509271" y="4378690"/>
            <a:ext cx="7269724"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Asymmetrical Priors in humans’ decision</a:t>
            </a:r>
          </a:p>
        </p:txBody>
      </p:sp>
      <p:sp>
        <p:nvSpPr>
          <p:cNvPr id="3" name="文本框 2">
            <a:extLst>
              <a:ext uri="{FF2B5EF4-FFF2-40B4-BE49-F238E27FC236}">
                <a16:creationId xmlns:a16="http://schemas.microsoft.com/office/drawing/2014/main" id="{49F54E78-8756-7785-F710-C12CFB27810F}"/>
              </a:ext>
            </a:extLst>
          </p:cNvPr>
          <p:cNvSpPr txBox="1"/>
          <p:nvPr/>
        </p:nvSpPr>
        <p:spPr>
          <a:xfrm>
            <a:off x="723962" y="1709721"/>
            <a:ext cx="4237356" cy="1477328"/>
          </a:xfrm>
          <a:prstGeom prst="rect">
            <a:avLst/>
          </a:prstGeom>
          <a:noFill/>
        </p:spPr>
        <p:txBody>
          <a:bodyPr wrap="square" rtlCol="0">
            <a:spAutoFit/>
          </a:bodyPr>
          <a:lstStyle/>
          <a:p>
            <a:r>
              <a:rPr lang="zh-CN" altLang="en-US" dirty="0">
                <a:solidFill>
                  <a:srgbClr val="FF0000"/>
                </a:solidFill>
              </a:rPr>
              <a:t>加一句话，就是基础实验里的对称性，然后转</a:t>
            </a:r>
            <a:r>
              <a:rPr lang="en-US" altLang="zh-CN" dirty="0">
                <a:solidFill>
                  <a:srgbClr val="FF0000"/>
                </a:solidFill>
              </a:rPr>
              <a:t>——</a:t>
            </a:r>
            <a:r>
              <a:rPr lang="zh-CN" altLang="en-US" dirty="0">
                <a:solidFill>
                  <a:srgbClr val="FF0000"/>
                </a:solidFill>
              </a:rPr>
              <a:t>然而事实是人做决策并非是一直对称的，其实有很多不对称先验</a:t>
            </a:r>
            <a:endParaRPr lang="en-US" altLang="zh-CN" dirty="0">
              <a:solidFill>
                <a:srgbClr val="FF0000"/>
              </a:solidFill>
            </a:endParaRPr>
          </a:p>
          <a:p>
            <a:endParaRPr lang="en-US" altLang="zh-CN" dirty="0">
              <a:solidFill>
                <a:srgbClr val="FF0000"/>
              </a:solidFill>
            </a:endParaRPr>
          </a:p>
          <a:p>
            <a:endParaRPr lang="en-US" altLang="zh-CN" dirty="0">
              <a:solidFill>
                <a:srgbClr val="FF0000"/>
              </a:solidFill>
            </a:endParaRPr>
          </a:p>
        </p:txBody>
      </p:sp>
      <p:sp>
        <p:nvSpPr>
          <p:cNvPr id="7" name="文本框 6">
            <a:extLst>
              <a:ext uri="{FF2B5EF4-FFF2-40B4-BE49-F238E27FC236}">
                <a16:creationId xmlns:a16="http://schemas.microsoft.com/office/drawing/2014/main" id="{F8DC4F44-8EDE-CBCB-6EED-A3A0CCD6E8EB}"/>
              </a:ext>
            </a:extLst>
          </p:cNvPr>
          <p:cNvSpPr txBox="1"/>
          <p:nvPr/>
        </p:nvSpPr>
        <p:spPr>
          <a:xfrm>
            <a:off x="774762" y="5339111"/>
            <a:ext cx="4237356" cy="646331"/>
          </a:xfrm>
          <a:prstGeom prst="rect">
            <a:avLst/>
          </a:prstGeom>
          <a:noFill/>
        </p:spPr>
        <p:txBody>
          <a:bodyPr wrap="square" rtlCol="0">
            <a:spAutoFit/>
          </a:bodyPr>
          <a:lstStyle/>
          <a:p>
            <a:r>
              <a:rPr lang="zh-CN" altLang="en-US" dirty="0">
                <a:solidFill>
                  <a:srgbClr val="FF0000"/>
                </a:solidFill>
              </a:rPr>
              <a:t>这里实验设置漏了，加一句话再后面，就说我们怎么做的</a:t>
            </a:r>
            <a:endParaRPr lang="en-US" altLang="zh-CN" dirty="0">
              <a:solidFill>
                <a:srgbClr val="FF0000"/>
              </a:solidFill>
            </a:endParaRPr>
          </a:p>
        </p:txBody>
      </p:sp>
    </p:spTree>
    <p:extLst>
      <p:ext uri="{BB962C8B-B14F-4D97-AF65-F5344CB8AC3E}">
        <p14:creationId xmlns:p14="http://schemas.microsoft.com/office/powerpoint/2010/main" val="986776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A920B-3A9F-A166-941A-0B327702CA63}"/>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75479A21-5884-1CED-EDC4-260871EC21FE}"/>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46CE2C30-7C21-3609-7AA4-4973CE8D4F91}"/>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1CC8A043-08E0-AA96-7B33-B795E365F08A}"/>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E337AECA-F6BE-5806-BA7A-C18B9E459CE9}"/>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935D59B5-61C5-0786-788B-C55B2E285F98}"/>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10" name="图片 9">
            <a:extLst>
              <a:ext uri="{FF2B5EF4-FFF2-40B4-BE49-F238E27FC236}">
                <a16:creationId xmlns:a16="http://schemas.microsoft.com/office/drawing/2014/main" id="{44397E89-BD71-E87B-98A5-312CC8B1EE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7797" y="569949"/>
            <a:ext cx="5326336" cy="5326336"/>
          </a:xfrm>
          <a:prstGeom prst="rect">
            <a:avLst/>
          </a:prstGeom>
        </p:spPr>
      </p:pic>
      <p:sp>
        <p:nvSpPr>
          <p:cNvPr id="11" name="文本框 10">
            <a:extLst>
              <a:ext uri="{FF2B5EF4-FFF2-40B4-BE49-F238E27FC236}">
                <a16:creationId xmlns:a16="http://schemas.microsoft.com/office/drawing/2014/main" id="{6EB3D299-BF94-3274-B108-133E59F99F17}"/>
              </a:ext>
            </a:extLst>
          </p:cNvPr>
          <p:cNvSpPr txBox="1"/>
          <p:nvPr/>
        </p:nvSpPr>
        <p:spPr>
          <a:xfrm>
            <a:off x="681444" y="1612834"/>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Without Bias</a:t>
            </a:r>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75%left is bigger</a:t>
            </a:r>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t>
            </a:r>
            <a:endPar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3" name="图片 2">
            <a:extLst>
              <a:ext uri="{FF2B5EF4-FFF2-40B4-BE49-F238E27FC236}">
                <a16:creationId xmlns:a16="http://schemas.microsoft.com/office/drawing/2014/main" id="{4895B06B-1054-8294-47C3-CA3B572F0B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069" y="2631726"/>
            <a:ext cx="5440931" cy="3264559"/>
          </a:xfrm>
          <a:prstGeom prst="rect">
            <a:avLst/>
          </a:prstGeom>
        </p:spPr>
      </p:pic>
      <p:pic>
        <p:nvPicPr>
          <p:cNvPr id="6" name="图片 5">
            <a:extLst>
              <a:ext uri="{FF2B5EF4-FFF2-40B4-BE49-F238E27FC236}">
                <a16:creationId xmlns:a16="http://schemas.microsoft.com/office/drawing/2014/main" id="{1DD0F2B0-6344-D8B7-E9B6-D7F6B47D79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592721"/>
            <a:ext cx="5384165" cy="5384165"/>
          </a:xfrm>
          <a:prstGeom prst="rect">
            <a:avLst/>
          </a:prstGeom>
        </p:spPr>
      </p:pic>
      <p:sp>
        <p:nvSpPr>
          <p:cNvPr id="9" name="文本框 8">
            <a:extLst>
              <a:ext uri="{FF2B5EF4-FFF2-40B4-BE49-F238E27FC236}">
                <a16:creationId xmlns:a16="http://schemas.microsoft.com/office/drawing/2014/main" id="{81B85D5E-2656-5BAD-BF35-BA8070425134}"/>
              </a:ext>
            </a:extLst>
          </p:cNvPr>
          <p:cNvSpPr txBox="1"/>
          <p:nvPr/>
        </p:nvSpPr>
        <p:spPr>
          <a:xfrm>
            <a:off x="509271" y="477382"/>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 - Asymmetrical Priors</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5" name="文本框 14">
            <a:extLst>
              <a:ext uri="{FF2B5EF4-FFF2-40B4-BE49-F238E27FC236}">
                <a16:creationId xmlns:a16="http://schemas.microsoft.com/office/drawing/2014/main" id="{631D7575-B20C-8FFD-4987-639D71A9ABC4}"/>
              </a:ext>
            </a:extLst>
          </p:cNvPr>
          <p:cNvSpPr txBox="1"/>
          <p:nvPr/>
        </p:nvSpPr>
        <p:spPr>
          <a:xfrm>
            <a:off x="1460500" y="2377884"/>
            <a:ext cx="6794500" cy="369332"/>
          </a:xfrm>
          <a:prstGeom prst="rect">
            <a:avLst/>
          </a:prstGeom>
          <a:noFill/>
        </p:spPr>
        <p:txBody>
          <a:bodyPr wrap="square">
            <a:spAutoFit/>
          </a:bodyPr>
          <a:lstStyle/>
          <a:p>
            <a:r>
              <a:rPr lang="zh-CN" altLang="en-US" dirty="0">
                <a:solidFill>
                  <a:srgbClr val="FF0000"/>
                </a:solidFill>
              </a:rPr>
              <a:t>补充说明这是左边更大的情况</a:t>
            </a:r>
            <a:endParaRPr lang="en-US" altLang="zh-CN" dirty="0">
              <a:solidFill>
                <a:srgbClr val="FF0000"/>
              </a:solidFill>
            </a:endParaRPr>
          </a:p>
        </p:txBody>
      </p:sp>
    </p:spTree>
    <p:extLst>
      <p:ext uri="{BB962C8B-B14F-4D97-AF65-F5344CB8AC3E}">
        <p14:creationId xmlns:p14="http://schemas.microsoft.com/office/powerpoint/2010/main" val="1446801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675C7-50A3-C0A6-3C14-FC06D4838C92}"/>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616B8964-1F29-7E59-D080-A533F4E4B5B8}"/>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36C50DBA-8BBB-FEEE-4E87-183A7B9E3532}"/>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8902330F-AB05-2388-5498-4CB13DCD431D}"/>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D14836A7-92B2-0701-2351-564412864083}"/>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CEBF56EE-9E75-A87C-6084-19567555A56D}"/>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10" name="图片 9">
            <a:extLst>
              <a:ext uri="{FF2B5EF4-FFF2-40B4-BE49-F238E27FC236}">
                <a16:creationId xmlns:a16="http://schemas.microsoft.com/office/drawing/2014/main" id="{0813D221-8A97-3EA6-BF0B-764CBABB64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6393" y="536836"/>
            <a:ext cx="5326336" cy="5326336"/>
          </a:xfrm>
          <a:prstGeom prst="rect">
            <a:avLst/>
          </a:prstGeom>
        </p:spPr>
      </p:pic>
      <p:sp>
        <p:nvSpPr>
          <p:cNvPr id="11" name="文本框 10">
            <a:extLst>
              <a:ext uri="{FF2B5EF4-FFF2-40B4-BE49-F238E27FC236}">
                <a16:creationId xmlns:a16="http://schemas.microsoft.com/office/drawing/2014/main" id="{AF660CCD-298E-7CEE-4833-ADD0893B7C24}"/>
              </a:ext>
            </a:extLst>
          </p:cNvPr>
          <p:cNvSpPr txBox="1"/>
          <p:nvPr/>
        </p:nvSpPr>
        <p:spPr>
          <a:xfrm>
            <a:off x="655069" y="1396536"/>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With Bias</a:t>
            </a:r>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75%right is bigger</a:t>
            </a:r>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t>
            </a:r>
            <a:endPar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6" name="图片 5">
            <a:extLst>
              <a:ext uri="{FF2B5EF4-FFF2-40B4-BE49-F238E27FC236}">
                <a16:creationId xmlns:a16="http://schemas.microsoft.com/office/drawing/2014/main" id="{E7DF0CCD-6D79-A41F-9608-C6044A2FB1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7478" y="543329"/>
            <a:ext cx="5384165" cy="5384165"/>
          </a:xfrm>
          <a:prstGeom prst="rect">
            <a:avLst/>
          </a:prstGeom>
        </p:spPr>
      </p:pic>
      <p:pic>
        <p:nvPicPr>
          <p:cNvPr id="9" name="图片 8">
            <a:extLst>
              <a:ext uri="{FF2B5EF4-FFF2-40B4-BE49-F238E27FC236}">
                <a16:creationId xmlns:a16="http://schemas.microsoft.com/office/drawing/2014/main" id="{87650F16-47EA-6E1A-2274-D5B0EAD427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4864" y="617968"/>
            <a:ext cx="5384164" cy="5384164"/>
          </a:xfrm>
          <a:prstGeom prst="rect">
            <a:avLst/>
          </a:prstGeom>
        </p:spPr>
      </p:pic>
      <p:pic>
        <p:nvPicPr>
          <p:cNvPr id="13" name="图片 12">
            <a:extLst>
              <a:ext uri="{FF2B5EF4-FFF2-40B4-BE49-F238E27FC236}">
                <a16:creationId xmlns:a16="http://schemas.microsoft.com/office/drawing/2014/main" id="{F71BE49A-42BE-4AE3-7D9E-7622F29E9A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0360" y="2928925"/>
            <a:ext cx="5440931" cy="3264559"/>
          </a:xfrm>
          <a:prstGeom prst="rect">
            <a:avLst/>
          </a:prstGeom>
        </p:spPr>
      </p:pic>
      <p:pic>
        <p:nvPicPr>
          <p:cNvPr id="16" name="图片 15">
            <a:extLst>
              <a:ext uri="{FF2B5EF4-FFF2-40B4-BE49-F238E27FC236}">
                <a16:creationId xmlns:a16="http://schemas.microsoft.com/office/drawing/2014/main" id="{420FB6A3-CD92-5946-8CE9-261763FA669E}"/>
              </a:ext>
            </a:extLst>
          </p:cNvPr>
          <p:cNvPicPr>
            <a:picLocks noChangeAspect="1"/>
          </p:cNvPicPr>
          <p:nvPr/>
        </p:nvPicPr>
        <p:blipFill>
          <a:blip r:embed="rId6"/>
          <a:stretch>
            <a:fillRect/>
          </a:stretch>
        </p:blipFill>
        <p:spPr>
          <a:xfrm>
            <a:off x="1094405" y="2150973"/>
            <a:ext cx="3932840" cy="726923"/>
          </a:xfrm>
          <a:prstGeom prst="rect">
            <a:avLst/>
          </a:prstGeom>
        </p:spPr>
      </p:pic>
      <p:sp>
        <p:nvSpPr>
          <p:cNvPr id="7" name="文本框 6">
            <a:extLst>
              <a:ext uri="{FF2B5EF4-FFF2-40B4-BE49-F238E27FC236}">
                <a16:creationId xmlns:a16="http://schemas.microsoft.com/office/drawing/2014/main" id="{50D9DF2B-70E4-3EA3-3BDE-6A86A42DD9C2}"/>
              </a:ext>
            </a:extLst>
          </p:cNvPr>
          <p:cNvSpPr txBox="1"/>
          <p:nvPr/>
        </p:nvSpPr>
        <p:spPr>
          <a:xfrm>
            <a:off x="1085713" y="6156597"/>
            <a:ext cx="9974729" cy="646331"/>
          </a:xfrm>
          <a:prstGeom prst="rect">
            <a:avLst/>
          </a:prstGeom>
          <a:noFill/>
        </p:spPr>
        <p:txBody>
          <a:bodyPr wrap="square">
            <a:spAutoFit/>
          </a:bodyPr>
          <a:lstStyle/>
          <a:p>
            <a:r>
              <a:rPr lang="en-US" altLang="zh-CN" dirty="0"/>
              <a:t>[3]R. Ratcliff and G. </a:t>
            </a:r>
            <a:r>
              <a:rPr lang="en-US" altLang="zh-CN" dirty="0" err="1"/>
              <a:t>McKoon</a:t>
            </a:r>
            <a:r>
              <a:rPr lang="en-US" altLang="zh-CN" dirty="0"/>
              <a:t>, “The Diffusion Decision Model: Theory and Data for Two-Choice Decision Tasks,” Neural Computation, vol. 20, pp. 873–922, Apr. 2008.</a:t>
            </a:r>
            <a:endParaRPr lang="zh-CN" altLang="en-US" dirty="0"/>
          </a:p>
        </p:txBody>
      </p:sp>
      <p:sp>
        <p:nvSpPr>
          <p:cNvPr id="14" name="文本框 13">
            <a:extLst>
              <a:ext uri="{FF2B5EF4-FFF2-40B4-BE49-F238E27FC236}">
                <a16:creationId xmlns:a16="http://schemas.microsoft.com/office/drawing/2014/main" id="{CD28E7A1-D4F9-618F-39AA-56CAE82A7991}"/>
              </a:ext>
            </a:extLst>
          </p:cNvPr>
          <p:cNvSpPr txBox="1"/>
          <p:nvPr/>
        </p:nvSpPr>
        <p:spPr>
          <a:xfrm>
            <a:off x="4873570" y="209537"/>
            <a:ext cx="6794500" cy="646331"/>
          </a:xfrm>
          <a:prstGeom prst="rect">
            <a:avLst/>
          </a:prstGeom>
          <a:noFill/>
        </p:spPr>
        <p:txBody>
          <a:bodyPr wrap="square">
            <a:spAutoFit/>
          </a:bodyPr>
          <a:lstStyle/>
          <a:p>
            <a:r>
              <a:rPr lang="zh-CN" altLang="en-US" dirty="0">
                <a:solidFill>
                  <a:srgbClr val="FF0000"/>
                </a:solidFill>
              </a:rPr>
              <a:t>引一下论文，我们这里正好就是选</a:t>
            </a:r>
            <a:r>
              <a:rPr lang="en-US" altLang="zh-CN" dirty="0">
                <a:solidFill>
                  <a:srgbClr val="FF0000"/>
                </a:solidFill>
              </a:rPr>
              <a:t>1/3</a:t>
            </a:r>
            <a:r>
              <a:rPr lang="zh-CN" altLang="en-US" dirty="0">
                <a:solidFill>
                  <a:srgbClr val="FF0000"/>
                </a:solidFill>
              </a:rPr>
              <a:t>作为</a:t>
            </a:r>
            <a:r>
              <a:rPr lang="en-US" altLang="zh-CN" dirty="0" err="1">
                <a:solidFill>
                  <a:srgbClr val="FF0000"/>
                </a:solidFill>
              </a:rPr>
              <a:t>start_ratio</a:t>
            </a:r>
            <a:r>
              <a:rPr lang="zh-CN" altLang="en-US" dirty="0">
                <a:solidFill>
                  <a:srgbClr val="FF0000"/>
                </a:solidFill>
              </a:rPr>
              <a:t>最好，跟论文讲的完全一样</a:t>
            </a:r>
            <a:endParaRPr lang="en-US" altLang="zh-CN" dirty="0">
              <a:solidFill>
                <a:srgbClr val="FF0000"/>
              </a:solidFill>
            </a:endParaRPr>
          </a:p>
        </p:txBody>
      </p:sp>
      <p:sp>
        <p:nvSpPr>
          <p:cNvPr id="15" name="文本框 14">
            <a:extLst>
              <a:ext uri="{FF2B5EF4-FFF2-40B4-BE49-F238E27FC236}">
                <a16:creationId xmlns:a16="http://schemas.microsoft.com/office/drawing/2014/main" id="{79DFD009-C930-D6C7-4F55-C2FF7EE9BB86}"/>
              </a:ext>
            </a:extLst>
          </p:cNvPr>
          <p:cNvSpPr txBox="1"/>
          <p:nvPr/>
        </p:nvSpPr>
        <p:spPr>
          <a:xfrm>
            <a:off x="509271" y="477382"/>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 - Asymmetrical Priors</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037257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88912-08A4-976F-D54F-B1531CA5CA9B}"/>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EC0409E9-AE51-3C5D-CBE6-0DD1FF1F9861}"/>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0F1AE2E8-8487-0657-F647-AF57B09FD94F}"/>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405A0342-6126-C806-08FA-72E5F116E8BD}"/>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AC931364-8F92-0F30-64DF-DE28FAD19523}"/>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9AA122D-0E66-1FF8-6805-C24BE407E5B3}"/>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E33B0C7A-1F4C-5B54-8329-8EFD9A8227EF}"/>
              </a:ext>
            </a:extLst>
          </p:cNvPr>
          <p:cNvSpPr txBox="1"/>
          <p:nvPr/>
        </p:nvSpPr>
        <p:spPr>
          <a:xfrm>
            <a:off x="509271" y="468691"/>
            <a:ext cx="7215362"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III – Adding Noise</a:t>
            </a:r>
          </a:p>
        </p:txBody>
      </p:sp>
      <p:sp>
        <p:nvSpPr>
          <p:cNvPr id="13" name="文本框 12">
            <a:extLst>
              <a:ext uri="{FF2B5EF4-FFF2-40B4-BE49-F238E27FC236}">
                <a16:creationId xmlns:a16="http://schemas.microsoft.com/office/drawing/2014/main" id="{098AC025-22B8-B713-E24E-E2D50387070E}"/>
              </a:ext>
            </a:extLst>
          </p:cNvPr>
          <p:cNvSpPr txBox="1"/>
          <p:nvPr/>
        </p:nvSpPr>
        <p:spPr>
          <a:xfrm>
            <a:off x="718576" y="1438562"/>
            <a:ext cx="5688573" cy="461665"/>
          </a:xfrm>
          <a:prstGeom prst="rect">
            <a:avLst/>
          </a:prstGeom>
          <a:noFill/>
        </p:spPr>
        <p:txBody>
          <a:bodyPr wrap="square" rtlCol="0">
            <a:spAutoFit/>
          </a:bodyPr>
          <a:lstStyle/>
          <a:p>
            <a:pPr algn="l"/>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One Totally Wrong Data in Variant II </a:t>
            </a:r>
          </a:p>
        </p:txBody>
      </p:sp>
      <p:sp>
        <p:nvSpPr>
          <p:cNvPr id="3" name="文本框 2">
            <a:extLst>
              <a:ext uri="{FF2B5EF4-FFF2-40B4-BE49-F238E27FC236}">
                <a16:creationId xmlns:a16="http://schemas.microsoft.com/office/drawing/2014/main" id="{EF8B0D8A-6631-C6FB-E610-2569764A5AD6}"/>
              </a:ext>
            </a:extLst>
          </p:cNvPr>
          <p:cNvSpPr txBox="1"/>
          <p:nvPr/>
        </p:nvSpPr>
        <p:spPr>
          <a:xfrm>
            <a:off x="718577" y="2388960"/>
            <a:ext cx="9271584"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Noise</a:t>
            </a:r>
          </a:p>
        </p:txBody>
      </p:sp>
      <p:pic>
        <p:nvPicPr>
          <p:cNvPr id="8" name="图片 7">
            <a:extLst>
              <a:ext uri="{FF2B5EF4-FFF2-40B4-BE49-F238E27FC236}">
                <a16:creationId xmlns:a16="http://schemas.microsoft.com/office/drawing/2014/main" id="{834E1204-398A-C64D-9CC9-92645ECC2D35}"/>
              </a:ext>
            </a:extLst>
          </p:cNvPr>
          <p:cNvPicPr>
            <a:picLocks noChangeAspect="1"/>
          </p:cNvPicPr>
          <p:nvPr/>
        </p:nvPicPr>
        <p:blipFill>
          <a:blip r:embed="rId2"/>
          <a:stretch>
            <a:fillRect/>
          </a:stretch>
        </p:blipFill>
        <p:spPr>
          <a:xfrm>
            <a:off x="803512" y="3088811"/>
            <a:ext cx="5292488" cy="2939269"/>
          </a:xfrm>
          <a:prstGeom prst="rect">
            <a:avLst/>
          </a:prstGeom>
        </p:spPr>
      </p:pic>
      <p:pic>
        <p:nvPicPr>
          <p:cNvPr id="10" name="图片 9">
            <a:extLst>
              <a:ext uri="{FF2B5EF4-FFF2-40B4-BE49-F238E27FC236}">
                <a16:creationId xmlns:a16="http://schemas.microsoft.com/office/drawing/2014/main" id="{6A95C992-8C78-1ADA-F093-04D76D7BCF9C}"/>
              </a:ext>
            </a:extLst>
          </p:cNvPr>
          <p:cNvPicPr>
            <a:picLocks noChangeAspect="1"/>
          </p:cNvPicPr>
          <p:nvPr/>
        </p:nvPicPr>
        <p:blipFill>
          <a:blip r:embed="rId3"/>
          <a:stretch>
            <a:fillRect/>
          </a:stretch>
        </p:blipFill>
        <p:spPr>
          <a:xfrm>
            <a:off x="6599924" y="3906520"/>
            <a:ext cx="4880241" cy="1481652"/>
          </a:xfrm>
          <a:prstGeom prst="rect">
            <a:avLst/>
          </a:prstGeom>
        </p:spPr>
      </p:pic>
      <p:sp>
        <p:nvSpPr>
          <p:cNvPr id="7" name="文本框 6">
            <a:extLst>
              <a:ext uri="{FF2B5EF4-FFF2-40B4-BE49-F238E27FC236}">
                <a16:creationId xmlns:a16="http://schemas.microsoft.com/office/drawing/2014/main" id="{98E125DC-03DD-588E-C695-8BCA2FE11732}"/>
              </a:ext>
            </a:extLst>
          </p:cNvPr>
          <p:cNvSpPr txBox="1"/>
          <p:nvPr/>
        </p:nvSpPr>
        <p:spPr>
          <a:xfrm>
            <a:off x="6096000" y="1697979"/>
            <a:ext cx="5200650" cy="1477328"/>
          </a:xfrm>
          <a:prstGeom prst="rect">
            <a:avLst/>
          </a:prstGeom>
          <a:noFill/>
        </p:spPr>
        <p:txBody>
          <a:bodyPr wrap="square">
            <a:spAutoFit/>
          </a:bodyPr>
          <a:lstStyle/>
          <a:p>
            <a:r>
              <a:rPr lang="zh-CN" altLang="en-US" dirty="0">
                <a:solidFill>
                  <a:srgbClr val="FF0000"/>
                </a:solidFill>
              </a:rPr>
              <a:t>可以用一个图哈，就直接找一张左边更大的图，然后说是右边更大做出来的，就是很滑稽的一个结果，导致我们想看看噪声的影响，这里很好，就先不放出具体原因（是我一直在讲话，讲的时候再说出来）</a:t>
            </a:r>
            <a:endParaRPr lang="en-US" altLang="zh-CN" dirty="0">
              <a:solidFill>
                <a:srgbClr val="FF0000"/>
              </a:solidFill>
            </a:endParaRPr>
          </a:p>
        </p:txBody>
      </p:sp>
    </p:spTree>
    <p:extLst>
      <p:ext uri="{BB962C8B-B14F-4D97-AF65-F5344CB8AC3E}">
        <p14:creationId xmlns:p14="http://schemas.microsoft.com/office/powerpoint/2010/main" val="2906534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4747C-6CCB-BE39-BB20-F395A73ABAC1}"/>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7E0CADD6-0112-BE6A-A8F9-699750FB3C7C}"/>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2D88BAF2-2D02-DFD1-9808-9F3F23836293}"/>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705782B4-2D54-3C4F-C1BC-4AFCFA8CCB4C}"/>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DFE989FD-8F18-3A8B-89B4-9E4D8BC3A9A9}"/>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9821D09B-C68E-5AED-A0DD-43C97B494F6B}"/>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9" name="图片 8">
            <a:extLst>
              <a:ext uri="{FF2B5EF4-FFF2-40B4-BE49-F238E27FC236}">
                <a16:creationId xmlns:a16="http://schemas.microsoft.com/office/drawing/2014/main" id="{22C2D2CA-2D74-AC71-13C6-05F1F4CF2A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7724" y="512645"/>
            <a:ext cx="5374359" cy="5374359"/>
          </a:xfrm>
          <a:prstGeom prst="rect">
            <a:avLst/>
          </a:prstGeom>
        </p:spPr>
      </p:pic>
      <p:pic>
        <p:nvPicPr>
          <p:cNvPr id="14" name="图片 13">
            <a:extLst>
              <a:ext uri="{FF2B5EF4-FFF2-40B4-BE49-F238E27FC236}">
                <a16:creationId xmlns:a16="http://schemas.microsoft.com/office/drawing/2014/main" id="{4BF9D931-45ED-7B72-606F-225F1D7A69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069" y="2622445"/>
            <a:ext cx="5440931" cy="3264559"/>
          </a:xfrm>
          <a:prstGeom prst="rect">
            <a:avLst/>
          </a:prstGeom>
        </p:spPr>
      </p:pic>
      <p:sp>
        <p:nvSpPr>
          <p:cNvPr id="16" name="文本框 15">
            <a:extLst>
              <a:ext uri="{FF2B5EF4-FFF2-40B4-BE49-F238E27FC236}">
                <a16:creationId xmlns:a16="http://schemas.microsoft.com/office/drawing/2014/main" id="{0E059B48-FF94-2733-EC0E-225E7F21016A}"/>
              </a:ext>
            </a:extLst>
          </p:cNvPr>
          <p:cNvSpPr txBox="1"/>
          <p:nvPr/>
        </p:nvSpPr>
        <p:spPr>
          <a:xfrm>
            <a:off x="1083816" y="1611764"/>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Without Noise</a:t>
            </a:r>
          </a:p>
        </p:txBody>
      </p:sp>
      <p:sp>
        <p:nvSpPr>
          <p:cNvPr id="3" name="文本框 2">
            <a:extLst>
              <a:ext uri="{FF2B5EF4-FFF2-40B4-BE49-F238E27FC236}">
                <a16:creationId xmlns:a16="http://schemas.microsoft.com/office/drawing/2014/main" id="{D8B985A2-D168-D374-C6AE-FBB18E988971}"/>
              </a:ext>
            </a:extLst>
          </p:cNvPr>
          <p:cNvSpPr txBox="1"/>
          <p:nvPr/>
        </p:nvSpPr>
        <p:spPr>
          <a:xfrm>
            <a:off x="3183683" y="952500"/>
            <a:ext cx="5200650" cy="1477328"/>
          </a:xfrm>
          <a:prstGeom prst="rect">
            <a:avLst/>
          </a:prstGeom>
          <a:noFill/>
        </p:spPr>
        <p:txBody>
          <a:bodyPr wrap="square">
            <a:spAutoFit/>
          </a:bodyPr>
          <a:lstStyle/>
          <a:p>
            <a:r>
              <a:rPr lang="zh-CN" altLang="en-US" dirty="0">
                <a:solidFill>
                  <a:srgbClr val="FF0000"/>
                </a:solidFill>
              </a:rPr>
              <a:t>这里我感觉可能篇幅有多了，抱歉哈之前没考虑好，这页和下一页何为一页，只放证据积累图，直接列几个点做分析，简要说一下加噪后几张图分别有啥变化，然后直接用数字说拟合搜出来的参数怎么样即可</a:t>
            </a:r>
            <a:endParaRPr lang="en-US" altLang="zh-CN" dirty="0">
              <a:solidFill>
                <a:srgbClr val="FF0000"/>
              </a:solidFill>
            </a:endParaRPr>
          </a:p>
        </p:txBody>
      </p:sp>
      <p:sp>
        <p:nvSpPr>
          <p:cNvPr id="7" name="文本框 6">
            <a:extLst>
              <a:ext uri="{FF2B5EF4-FFF2-40B4-BE49-F238E27FC236}">
                <a16:creationId xmlns:a16="http://schemas.microsoft.com/office/drawing/2014/main" id="{0F0BB5C6-8901-0D67-37DB-4FA6A5D869FF}"/>
              </a:ext>
            </a:extLst>
          </p:cNvPr>
          <p:cNvSpPr txBox="1"/>
          <p:nvPr/>
        </p:nvSpPr>
        <p:spPr>
          <a:xfrm>
            <a:off x="509271" y="468691"/>
            <a:ext cx="7215362"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III – Adding Noise</a:t>
            </a:r>
          </a:p>
        </p:txBody>
      </p:sp>
    </p:spTree>
    <p:extLst>
      <p:ext uri="{BB962C8B-B14F-4D97-AF65-F5344CB8AC3E}">
        <p14:creationId xmlns:p14="http://schemas.microsoft.com/office/powerpoint/2010/main" val="1565534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CF6D0-F87C-CAFC-286C-0411AFD56C8A}"/>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49F80CD0-8D69-41CA-FC17-851F8E623CC4}"/>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1EE37B43-6995-9AE6-BC9C-E242E827946A}"/>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54AEE506-7649-82D7-61CB-8ADAE615EBED}"/>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31582747-EAF9-6757-5D7B-99E03DC574F2}"/>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55E79334-388B-3B3A-6F37-C39514179B7B}"/>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10" name="图片 9">
            <a:extLst>
              <a:ext uri="{FF2B5EF4-FFF2-40B4-BE49-F238E27FC236}">
                <a16:creationId xmlns:a16="http://schemas.microsoft.com/office/drawing/2014/main" id="{1825A4A1-A9EB-1E1B-281F-D80FAA6DB0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7724" y="512644"/>
            <a:ext cx="5374359" cy="5374359"/>
          </a:xfrm>
          <a:prstGeom prst="rect">
            <a:avLst/>
          </a:prstGeom>
        </p:spPr>
      </p:pic>
      <p:sp>
        <p:nvSpPr>
          <p:cNvPr id="6" name="文本框 5">
            <a:extLst>
              <a:ext uri="{FF2B5EF4-FFF2-40B4-BE49-F238E27FC236}">
                <a16:creationId xmlns:a16="http://schemas.microsoft.com/office/drawing/2014/main" id="{45A3934D-C60D-934E-56E6-DFDA7A53DDB2}"/>
              </a:ext>
            </a:extLst>
          </p:cNvPr>
          <p:cNvSpPr txBox="1"/>
          <p:nvPr/>
        </p:nvSpPr>
        <p:spPr>
          <a:xfrm>
            <a:off x="509271" y="468691"/>
            <a:ext cx="7215362"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III</a:t>
            </a:r>
          </a:p>
        </p:txBody>
      </p:sp>
      <p:sp>
        <p:nvSpPr>
          <p:cNvPr id="16" name="文本框 15">
            <a:extLst>
              <a:ext uri="{FF2B5EF4-FFF2-40B4-BE49-F238E27FC236}">
                <a16:creationId xmlns:a16="http://schemas.microsoft.com/office/drawing/2014/main" id="{C3F93CF1-7C62-4589-2770-E69F14C6BAEC}"/>
              </a:ext>
            </a:extLst>
          </p:cNvPr>
          <p:cNvSpPr txBox="1"/>
          <p:nvPr/>
        </p:nvSpPr>
        <p:spPr>
          <a:xfrm>
            <a:off x="1083816" y="1611764"/>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With Noise</a:t>
            </a:r>
          </a:p>
        </p:txBody>
      </p:sp>
      <p:pic>
        <p:nvPicPr>
          <p:cNvPr id="7" name="图片 6">
            <a:extLst>
              <a:ext uri="{FF2B5EF4-FFF2-40B4-BE49-F238E27FC236}">
                <a16:creationId xmlns:a16="http://schemas.microsoft.com/office/drawing/2014/main" id="{28433837-588D-004B-76B8-32D3A4587E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069" y="2622445"/>
            <a:ext cx="5440931" cy="3264559"/>
          </a:xfrm>
          <a:prstGeom prst="rect">
            <a:avLst/>
          </a:prstGeom>
        </p:spPr>
      </p:pic>
    </p:spTree>
    <p:extLst>
      <p:ext uri="{BB962C8B-B14F-4D97-AF65-F5344CB8AC3E}">
        <p14:creationId xmlns:p14="http://schemas.microsoft.com/office/powerpoint/2010/main" val="1684161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FEFE4-ECEB-1EFE-BB4F-5953B97BF15D}"/>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96EBC5B6-1BAE-F3E4-E764-0430FB871413}"/>
              </a:ext>
            </a:extLst>
          </p:cNvPr>
          <p:cNvGrpSpPr/>
          <p:nvPr/>
        </p:nvGrpSpPr>
        <p:grpSpPr>
          <a:xfrm>
            <a:off x="-5080" y="-5080"/>
            <a:ext cx="10185400" cy="6863080"/>
            <a:chOff x="-8" y="-8"/>
            <a:chExt cx="19221" cy="10808"/>
          </a:xfrm>
        </p:grpSpPr>
        <p:pic>
          <p:nvPicPr>
            <p:cNvPr id="109" name="图片 108">
              <a:extLst>
                <a:ext uri="{FF2B5EF4-FFF2-40B4-BE49-F238E27FC236}">
                  <a16:creationId xmlns:a16="http://schemas.microsoft.com/office/drawing/2014/main" id="{D18B3F77-C2EA-3388-9197-A00D40486EDA}"/>
                </a:ext>
              </a:extLst>
            </p:cNvPr>
            <p:cNvPicPr>
              <a:picLocks noChangeAspect="1"/>
            </p:cNvPicPr>
            <p:nvPr/>
          </p:nvPicPr>
          <p:blipFill>
            <a:blip r:embed="rId9"/>
            <a:srcRect b="17500"/>
            <a:stretch>
              <a:fillRect/>
            </a:stretch>
          </p:blipFill>
          <p:spPr>
            <a:xfrm>
              <a:off x="14" y="-8"/>
              <a:ext cx="19182" cy="10808"/>
            </a:xfrm>
            <a:prstGeom prst="rect">
              <a:avLst/>
            </a:prstGeom>
          </p:spPr>
        </p:pic>
        <p:sp>
          <p:nvSpPr>
            <p:cNvPr id="9" name="矩形 8">
              <a:extLst>
                <a:ext uri="{FF2B5EF4-FFF2-40B4-BE49-F238E27FC236}">
                  <a16:creationId xmlns:a16="http://schemas.microsoft.com/office/drawing/2014/main" id="{B90FA1CB-FEFE-E865-DD0B-542DA676DD3F}"/>
                </a:ext>
              </a:extLst>
            </p:cNvPr>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0309461B-B5DA-18D9-9A38-AC5FC9C2959A}"/>
              </a:ext>
            </a:extLst>
          </p:cNvPr>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C308FF1E-4D21-B058-6B36-BEE237B21B1F}"/>
              </a:ext>
            </a:extLst>
          </p:cNvPr>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a:extLst>
              <a:ext uri="{FF2B5EF4-FFF2-40B4-BE49-F238E27FC236}">
                <a16:creationId xmlns:a16="http://schemas.microsoft.com/office/drawing/2014/main" id="{2BEEA702-3551-FE77-ABC1-A3DC46F056AD}"/>
              </a:ext>
            </a:extLst>
          </p:cNvPr>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a:extLst>
              <a:ext uri="{FF2B5EF4-FFF2-40B4-BE49-F238E27FC236}">
                <a16:creationId xmlns:a16="http://schemas.microsoft.com/office/drawing/2014/main" id="{B00CF61F-F4B1-9D5A-05CA-6AB9D5BAB796}"/>
              </a:ext>
            </a:extLst>
          </p:cNvPr>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B4D85004-6E3B-CBF9-A2DA-EB92F0586A51}"/>
              </a:ext>
            </a:extLst>
          </p:cNvPr>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8EF1EDC4-2607-0C11-F706-D006B6A3E87E}"/>
              </a:ext>
            </a:extLst>
          </p:cNvPr>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A825CFFA-064D-5396-FB20-94B0473FC6E1}"/>
              </a:ext>
            </a:extLst>
          </p:cNvPr>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BB706636-358C-EF5A-7E9B-D373E2AF82A7}"/>
              </a:ext>
            </a:extLst>
          </p:cNvPr>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E77F7E50-E0C4-2DD4-8B1A-7B9B1630F3C3}"/>
              </a:ext>
            </a:extLst>
          </p:cNvPr>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D8761793-282B-8B0A-4EEC-3D1ACCE1FF08}"/>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563711E9-165D-7055-B93E-D70FB4142BB6}"/>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41980AF2-3EC6-D978-E61E-1AD2C3AB0EC5}"/>
              </a:ext>
            </a:extLst>
          </p:cNvPr>
          <p:cNvSpPr txBox="1"/>
          <p:nvPr/>
        </p:nvSpPr>
        <p:spPr>
          <a:xfrm>
            <a:off x="5273038" y="1916167"/>
            <a:ext cx="5432474"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EE3A7BDD-E21F-7BC3-7AC5-E0A8DD79BA43}"/>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0B6AAA0F-7945-AA05-5233-C39C2E98E8AE}"/>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A318A155-BCE0-79B5-46AF-58097D53B765}"/>
              </a:ext>
            </a:extLst>
          </p:cNvPr>
          <p:cNvSpPr txBox="1"/>
          <p:nvPr/>
        </p:nvSpPr>
        <p:spPr>
          <a:xfrm>
            <a:off x="5238445" y="3168106"/>
            <a:ext cx="5803237"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2C49C7BF-ED56-91BB-81F5-D7625E15A1C3}"/>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182DEB78-EC4A-DCAB-4CF7-7F93968F810C}"/>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C604EBAC-DBB4-1018-F484-C712BFEE8188}"/>
              </a:ext>
            </a:extLst>
          </p:cNvPr>
          <p:cNvSpPr txBox="1"/>
          <p:nvPr/>
        </p:nvSpPr>
        <p:spPr>
          <a:xfrm>
            <a:off x="5273038" y="4428239"/>
            <a:ext cx="6410178" cy="523220"/>
          </a:xfrm>
          <a:prstGeom prst="rect">
            <a:avLst/>
          </a:prstGeom>
          <a:noFill/>
        </p:spPr>
        <p:txBody>
          <a:bodyPr wrap="square" rtlCol="0">
            <a:spAutoFit/>
          </a:bodyPr>
          <a:lstStyle/>
          <a:p>
            <a:r>
              <a:rPr lang="en-US" altLang="zh-CN"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297018CB-D8EA-9928-FEBE-136C8A08E834}"/>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CD80B9DB-8ADB-E1C5-FB47-429B76220E34}"/>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AA829772-AFC9-34E4-E405-B2DF151F7034}"/>
              </a:ext>
            </a:extLst>
          </p:cNvPr>
          <p:cNvSpPr txBox="1"/>
          <p:nvPr/>
        </p:nvSpPr>
        <p:spPr>
          <a:xfrm>
            <a:off x="5273040" y="5680178"/>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AC98B9C2-65FF-38CD-2106-592678DB0F08}"/>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57A80FBE-1991-12A9-A9E1-D2945B9CB1F2}"/>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Tree>
    <p:extLst>
      <p:ext uri="{BB962C8B-B14F-4D97-AF65-F5344CB8AC3E}">
        <p14:creationId xmlns:p14="http://schemas.microsoft.com/office/powerpoint/2010/main" val="2107664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E5DD7-D901-20DD-6B66-A74D1F2B75D8}"/>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2FDC161A-DECD-15BA-6401-7B4E4188A60B}"/>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BA11C38E-04EA-9C8C-F9A7-E5725F2FCB1C}"/>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997946DE-7478-8E38-D486-F423BC82A127}"/>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0E062A85-FE3C-6505-C6F5-9A3C0415F111}"/>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3BD99D5-EA05-19A3-FFA1-EFCA3403FCD6}"/>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4D188318-F1C8-A562-375D-77CACF022879}"/>
              </a:ext>
            </a:extLst>
          </p:cNvPr>
          <p:cNvSpPr txBox="1"/>
          <p:nvPr/>
        </p:nvSpPr>
        <p:spPr>
          <a:xfrm>
            <a:off x="509271" y="468691"/>
            <a:ext cx="7215362"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Extensions</a:t>
            </a:r>
          </a:p>
        </p:txBody>
      </p:sp>
      <p:sp>
        <p:nvSpPr>
          <p:cNvPr id="13" name="文本框 12">
            <a:extLst>
              <a:ext uri="{FF2B5EF4-FFF2-40B4-BE49-F238E27FC236}">
                <a16:creationId xmlns:a16="http://schemas.microsoft.com/office/drawing/2014/main" id="{46D00741-2C3D-0BDD-6348-8FB164860EC6}"/>
              </a:ext>
            </a:extLst>
          </p:cNvPr>
          <p:cNvSpPr txBox="1"/>
          <p:nvPr/>
        </p:nvSpPr>
        <p:spPr>
          <a:xfrm>
            <a:off x="7059083" y="1999639"/>
            <a:ext cx="2386574" cy="1200329"/>
          </a:xfrm>
          <a:prstGeom prst="rect">
            <a:avLst/>
          </a:prstGeom>
          <a:noFill/>
        </p:spPr>
        <p:txBody>
          <a:bodyPr wrap="square" rtlCol="0">
            <a:spAutoFit/>
          </a:bodyPr>
          <a:lstStyle/>
          <a:p>
            <a:pPr algn="l"/>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Prefer to write quickly in politic exam</a:t>
            </a:r>
          </a:p>
        </p:txBody>
      </p:sp>
      <p:sp>
        <p:nvSpPr>
          <p:cNvPr id="3" name="文本框 2">
            <a:extLst>
              <a:ext uri="{FF2B5EF4-FFF2-40B4-BE49-F238E27FC236}">
                <a16:creationId xmlns:a16="http://schemas.microsoft.com/office/drawing/2014/main" id="{5269A998-74D1-3C1E-FC79-DE25C5A0F65D}"/>
              </a:ext>
            </a:extLst>
          </p:cNvPr>
          <p:cNvSpPr txBox="1"/>
          <p:nvPr/>
        </p:nvSpPr>
        <p:spPr>
          <a:xfrm>
            <a:off x="718577" y="2076584"/>
            <a:ext cx="9271584"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Memory</a:t>
            </a:r>
          </a:p>
        </p:txBody>
      </p:sp>
      <p:sp>
        <p:nvSpPr>
          <p:cNvPr id="7" name="文本框 6">
            <a:extLst>
              <a:ext uri="{FF2B5EF4-FFF2-40B4-BE49-F238E27FC236}">
                <a16:creationId xmlns:a16="http://schemas.microsoft.com/office/drawing/2014/main" id="{2EE181EF-2267-64CB-066E-C2956A0A89D2}"/>
              </a:ext>
            </a:extLst>
          </p:cNvPr>
          <p:cNvSpPr txBox="1"/>
          <p:nvPr/>
        </p:nvSpPr>
        <p:spPr>
          <a:xfrm>
            <a:off x="5222033" y="662675"/>
            <a:ext cx="5200650" cy="1754326"/>
          </a:xfrm>
          <a:prstGeom prst="rect">
            <a:avLst/>
          </a:prstGeom>
          <a:noFill/>
        </p:spPr>
        <p:txBody>
          <a:bodyPr wrap="square">
            <a:spAutoFit/>
          </a:bodyPr>
          <a:lstStyle/>
          <a:p>
            <a:r>
              <a:rPr lang="zh-CN" altLang="en-US" dirty="0">
                <a:solidFill>
                  <a:srgbClr val="FF0000"/>
                </a:solidFill>
              </a:rPr>
              <a:t>为了节省篇幅，可以把两个</a:t>
            </a:r>
            <a:r>
              <a:rPr lang="en-US" altLang="zh-CN" dirty="0">
                <a:solidFill>
                  <a:srgbClr val="FF0000"/>
                </a:solidFill>
              </a:rPr>
              <a:t>extension</a:t>
            </a:r>
            <a:r>
              <a:rPr lang="zh-CN" altLang="en-US" dirty="0">
                <a:solidFill>
                  <a:srgbClr val="FF0000"/>
                </a:solidFill>
              </a:rPr>
              <a:t>并为一页，上面是记忆，下面是序列化影响，记忆图片可以放实验文件运行到最后那个询问第几个数字是几的演示图，讲出两点：一是为什么要不断加记忆而不是一开始给一串数字，二是时间原以为会长，结果是变短，因为</a:t>
            </a:r>
            <a:endParaRPr lang="en-US" altLang="zh-CN" dirty="0">
              <a:solidFill>
                <a:srgbClr val="FF0000"/>
              </a:solidFill>
            </a:endParaRPr>
          </a:p>
        </p:txBody>
      </p:sp>
      <p:sp>
        <p:nvSpPr>
          <p:cNvPr id="8" name="文本框 7">
            <a:extLst>
              <a:ext uri="{FF2B5EF4-FFF2-40B4-BE49-F238E27FC236}">
                <a16:creationId xmlns:a16="http://schemas.microsoft.com/office/drawing/2014/main" id="{0D7A7B98-F591-F07E-F84C-858AD2C436ED}"/>
              </a:ext>
            </a:extLst>
          </p:cNvPr>
          <p:cNvSpPr txBox="1"/>
          <p:nvPr/>
        </p:nvSpPr>
        <p:spPr>
          <a:xfrm>
            <a:off x="5793533" y="3531995"/>
            <a:ext cx="5200650" cy="646331"/>
          </a:xfrm>
          <a:prstGeom prst="rect">
            <a:avLst/>
          </a:prstGeom>
          <a:noFill/>
        </p:spPr>
        <p:txBody>
          <a:bodyPr wrap="square">
            <a:spAutoFit/>
          </a:bodyPr>
          <a:lstStyle/>
          <a:p>
            <a:r>
              <a:rPr lang="zh-CN" altLang="en-US" dirty="0">
                <a:solidFill>
                  <a:srgbClr val="FF0000"/>
                </a:solidFill>
              </a:rPr>
              <a:t>第二个实验就放下一页那张图，然后把设置说清楚，是按照</a:t>
            </a:r>
            <a:r>
              <a:rPr lang="en-US" altLang="zh-CN" dirty="0">
                <a:solidFill>
                  <a:srgbClr val="FF0000"/>
                </a:solidFill>
              </a:rPr>
              <a:t>r</a:t>
            </a:r>
            <a:r>
              <a:rPr lang="zh-CN" altLang="en-US" dirty="0">
                <a:solidFill>
                  <a:srgbClr val="FF0000"/>
                </a:solidFill>
              </a:rPr>
              <a:t>绝对值升序和降序分别做的实验</a:t>
            </a:r>
            <a:endParaRPr lang="en-US" altLang="zh-CN" dirty="0">
              <a:solidFill>
                <a:srgbClr val="FF0000"/>
              </a:solidFill>
            </a:endParaRPr>
          </a:p>
        </p:txBody>
      </p:sp>
      <p:sp>
        <p:nvSpPr>
          <p:cNvPr id="9" name="文本框 8">
            <a:extLst>
              <a:ext uri="{FF2B5EF4-FFF2-40B4-BE49-F238E27FC236}">
                <a16:creationId xmlns:a16="http://schemas.microsoft.com/office/drawing/2014/main" id="{E3B5A258-6E18-781E-ACD2-E792AF1F99D9}"/>
              </a:ext>
            </a:extLst>
          </p:cNvPr>
          <p:cNvSpPr txBox="1"/>
          <p:nvPr/>
        </p:nvSpPr>
        <p:spPr>
          <a:xfrm>
            <a:off x="5901483" y="4837344"/>
            <a:ext cx="5200650" cy="923330"/>
          </a:xfrm>
          <a:prstGeom prst="rect">
            <a:avLst/>
          </a:prstGeom>
          <a:noFill/>
        </p:spPr>
        <p:txBody>
          <a:bodyPr wrap="square">
            <a:spAutoFit/>
          </a:bodyPr>
          <a:lstStyle/>
          <a:p>
            <a:r>
              <a:rPr lang="zh-CN" altLang="en-US" dirty="0">
                <a:solidFill>
                  <a:srgbClr val="FF0000"/>
                </a:solidFill>
              </a:rPr>
              <a:t>再加一个省略号，表示还有其它想法，随便水水。这一部分拟合不为主，主要的是我们对决策过程的兴趣和各种探索</a:t>
            </a:r>
            <a:endParaRPr lang="en-US" altLang="zh-CN" dirty="0">
              <a:solidFill>
                <a:srgbClr val="FF0000"/>
              </a:solidFill>
            </a:endParaRPr>
          </a:p>
        </p:txBody>
      </p:sp>
    </p:spTree>
    <p:extLst>
      <p:ext uri="{BB962C8B-B14F-4D97-AF65-F5344CB8AC3E}">
        <p14:creationId xmlns:p14="http://schemas.microsoft.com/office/powerpoint/2010/main" val="2715219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A1364-C77F-0D52-A2B5-61E94E64A886}"/>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25E28422-0C3E-7EE1-65DD-59F0A19DAC12}"/>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09BD8635-6513-7D87-8688-60B3462184A1}"/>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9B0FD9BD-077B-B4C5-2232-80CAD8135E44}"/>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D7D852EA-DE09-9CD4-5193-D7BB8D33DB07}"/>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3653344-DA0B-3C17-FEEF-B2EBFD957A41}"/>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7F2F85DE-D47B-C380-A84B-F1FC10D66400}"/>
              </a:ext>
            </a:extLst>
          </p:cNvPr>
          <p:cNvSpPr txBox="1"/>
          <p:nvPr/>
        </p:nvSpPr>
        <p:spPr>
          <a:xfrm>
            <a:off x="509271" y="468691"/>
            <a:ext cx="7215362"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Extension II</a:t>
            </a:r>
          </a:p>
        </p:txBody>
      </p:sp>
      <p:sp>
        <p:nvSpPr>
          <p:cNvPr id="3" name="文本框 2">
            <a:extLst>
              <a:ext uri="{FF2B5EF4-FFF2-40B4-BE49-F238E27FC236}">
                <a16:creationId xmlns:a16="http://schemas.microsoft.com/office/drawing/2014/main" id="{20402239-C37B-F35D-AA24-4E3F5E34E7CB}"/>
              </a:ext>
            </a:extLst>
          </p:cNvPr>
          <p:cNvSpPr txBox="1"/>
          <p:nvPr/>
        </p:nvSpPr>
        <p:spPr>
          <a:xfrm>
            <a:off x="718577" y="1742215"/>
            <a:ext cx="9271584"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Linear variation of r</a:t>
            </a:r>
          </a:p>
        </p:txBody>
      </p:sp>
      <p:pic>
        <p:nvPicPr>
          <p:cNvPr id="8" name="图片 7">
            <a:extLst>
              <a:ext uri="{FF2B5EF4-FFF2-40B4-BE49-F238E27FC236}">
                <a16:creationId xmlns:a16="http://schemas.microsoft.com/office/drawing/2014/main" id="{2EFA9685-2790-4F24-4CA2-9CE7088CEFDA}"/>
              </a:ext>
            </a:extLst>
          </p:cNvPr>
          <p:cNvPicPr>
            <a:picLocks noChangeAspect="1"/>
          </p:cNvPicPr>
          <p:nvPr/>
        </p:nvPicPr>
        <p:blipFill>
          <a:blip r:embed="rId2">
            <a:extLst>
              <a:ext uri="{28A0092B-C50C-407E-A947-70E740481C1C}">
                <a14:useLocalDpi xmlns:a14="http://schemas.microsoft.com/office/drawing/2010/main" val="0"/>
              </a:ext>
            </a:extLst>
          </a:blip>
          <a:srcRect l="5095" t="5912" r="8253" b="2358"/>
          <a:stretch/>
        </p:blipFill>
        <p:spPr>
          <a:xfrm>
            <a:off x="4797487" y="1115022"/>
            <a:ext cx="6675936" cy="4240215"/>
          </a:xfrm>
          <a:prstGeom prst="rect">
            <a:avLst/>
          </a:prstGeom>
        </p:spPr>
      </p:pic>
    </p:spTree>
    <p:extLst>
      <p:ext uri="{BB962C8B-B14F-4D97-AF65-F5344CB8AC3E}">
        <p14:creationId xmlns:p14="http://schemas.microsoft.com/office/powerpoint/2010/main" val="8774295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FB13C-A3D2-3863-9C23-ADE0B42DA0AD}"/>
            </a:ext>
          </a:extLst>
        </p:cNvPr>
        <p:cNvGrpSpPr/>
        <p:nvPr/>
      </p:nvGrpSpPr>
      <p:grpSpPr>
        <a:xfrm>
          <a:off x="0" y="0"/>
          <a:ext cx="0" cy="0"/>
          <a:chOff x="0" y="0"/>
          <a:chExt cx="0" cy="0"/>
        </a:xfrm>
      </p:grpSpPr>
      <p:grpSp>
        <p:nvGrpSpPr>
          <p:cNvPr id="8"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id="{112A37A3-2E9A-C36A-B661-3980E1756C69}"/>
              </a:ext>
            </a:extLst>
          </p:cNvPr>
          <p:cNvGrpSpPr>
            <a:grpSpLocks noChangeAspect="1"/>
          </p:cNvGrpSpPr>
          <p:nvPr>
            <p:custDataLst>
              <p:tags r:id="rId1"/>
            </p:custDataLst>
          </p:nvPr>
        </p:nvGrpSpPr>
        <p:grpSpPr>
          <a:xfrm>
            <a:off x="1" y="1576316"/>
            <a:ext cx="6899274" cy="548641"/>
            <a:chOff x="1" y="1895348"/>
            <a:chExt cx="7123176" cy="3143504"/>
          </a:xfrm>
        </p:grpSpPr>
        <p:sp>
          <p:nvSpPr>
            <p:cNvPr id="10" name="í$ḻídè">
              <a:extLst>
                <a:ext uri="{FF2B5EF4-FFF2-40B4-BE49-F238E27FC236}">
                  <a16:creationId xmlns:a16="http://schemas.microsoft.com/office/drawing/2014/main" id="{EB1A815C-4131-CC82-7E27-5254E39EF492}"/>
                </a:ext>
              </a:extLst>
            </p:cNvPr>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6" name="ïşlíďe">
              <a:extLst>
                <a:ext uri="{FF2B5EF4-FFF2-40B4-BE49-F238E27FC236}">
                  <a16:creationId xmlns:a16="http://schemas.microsoft.com/office/drawing/2014/main" id="{3E3526B9-F368-F80E-E5B0-E5524F5E1B26}"/>
                </a:ext>
              </a:extLst>
            </p:cNvPr>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4" name="椭圆 3">
            <a:extLst>
              <a:ext uri="{FF2B5EF4-FFF2-40B4-BE49-F238E27FC236}">
                <a16:creationId xmlns:a16="http://schemas.microsoft.com/office/drawing/2014/main" id="{BC95AA68-DDB7-C5E8-4246-E7C719017EDD}"/>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7FC4C79B-CA5D-0BC8-CC80-6900A268EAB3}"/>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38966657-9E00-B703-0A30-2087E19EEF69}"/>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A40B95C8-FE94-AB90-B9AB-A6208972FDCE}"/>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A8C700C4-6B7F-BDEF-B700-13E6A4FA6725}"/>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11" name="文本框 10">
            <a:extLst>
              <a:ext uri="{FF2B5EF4-FFF2-40B4-BE49-F238E27FC236}">
                <a16:creationId xmlns:a16="http://schemas.microsoft.com/office/drawing/2014/main" id="{A8EF7774-C6BA-4BBA-D9AD-B463D02E6D9D}"/>
              </a:ext>
            </a:extLst>
          </p:cNvPr>
          <p:cNvSpPr txBox="1"/>
          <p:nvPr/>
        </p:nvSpPr>
        <p:spPr>
          <a:xfrm>
            <a:off x="718577" y="1576316"/>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Shortcomings of DDM </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3" name="文本框 2">
            <a:extLst>
              <a:ext uri="{FF2B5EF4-FFF2-40B4-BE49-F238E27FC236}">
                <a16:creationId xmlns:a16="http://schemas.microsoft.com/office/drawing/2014/main" id="{EEE148A2-CD68-2064-6DCC-B64B4DCC5F9E}"/>
              </a:ext>
            </a:extLst>
          </p:cNvPr>
          <p:cNvSpPr txBox="1"/>
          <p:nvPr/>
        </p:nvSpPr>
        <p:spPr>
          <a:xfrm>
            <a:off x="718577" y="2341211"/>
            <a:ext cx="6180697" cy="1569660"/>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Post-hoc use and overfitting</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Simplified assumptions</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Sensitive to assumptions</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endPar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7" name="文本框 16">
            <a:extLst>
              <a:ext uri="{FF2B5EF4-FFF2-40B4-BE49-F238E27FC236}">
                <a16:creationId xmlns:a16="http://schemas.microsoft.com/office/drawing/2014/main" id="{169FECF2-2FB8-1025-8C52-33925D7B1715}"/>
              </a:ext>
            </a:extLst>
          </p:cNvPr>
          <p:cNvSpPr txBox="1"/>
          <p:nvPr/>
        </p:nvSpPr>
        <p:spPr>
          <a:xfrm>
            <a:off x="509272" y="468691"/>
            <a:ext cx="3288028"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Deeper Insight</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6" name="文本框 5">
            <a:extLst>
              <a:ext uri="{FF2B5EF4-FFF2-40B4-BE49-F238E27FC236}">
                <a16:creationId xmlns:a16="http://schemas.microsoft.com/office/drawing/2014/main" id="{317AE8F8-A2D2-CBA3-2248-80D3D8387952}"/>
              </a:ext>
            </a:extLst>
          </p:cNvPr>
          <p:cNvSpPr txBox="1"/>
          <p:nvPr/>
        </p:nvSpPr>
        <p:spPr>
          <a:xfrm>
            <a:off x="6096000" y="2663458"/>
            <a:ext cx="5200650" cy="2308324"/>
          </a:xfrm>
          <a:prstGeom prst="rect">
            <a:avLst/>
          </a:prstGeom>
          <a:noFill/>
        </p:spPr>
        <p:txBody>
          <a:bodyPr wrap="square">
            <a:spAutoFit/>
          </a:bodyPr>
          <a:lstStyle/>
          <a:p>
            <a:r>
              <a:rPr lang="zh-CN" altLang="en-US" dirty="0">
                <a:solidFill>
                  <a:srgbClr val="FF0000"/>
                </a:solidFill>
              </a:rPr>
              <a:t>这里已经提出一个很好地思考了，不错。我们再补充两个： </a:t>
            </a:r>
            <a:endParaRPr lang="en-US" altLang="zh-CN" dirty="0">
              <a:solidFill>
                <a:srgbClr val="FF0000"/>
              </a:solidFill>
            </a:endParaRPr>
          </a:p>
          <a:p>
            <a:r>
              <a:rPr lang="zh-CN" altLang="en-US" dirty="0">
                <a:solidFill>
                  <a:srgbClr val="FF0000"/>
                </a:solidFill>
              </a:rPr>
              <a:t>一是有关</a:t>
            </a:r>
            <a:r>
              <a:rPr lang="en-US" altLang="zh-CN" dirty="0">
                <a:solidFill>
                  <a:srgbClr val="FF0000"/>
                </a:solidFill>
              </a:rPr>
              <a:t>DDM</a:t>
            </a:r>
            <a:r>
              <a:rPr lang="zh-CN" altLang="en-US" dirty="0">
                <a:solidFill>
                  <a:srgbClr val="FF0000"/>
                </a:solidFill>
              </a:rPr>
              <a:t>参数的深入理解，我们前面做了那么多实验，对此应该会有一些更深入的理解</a:t>
            </a:r>
            <a:endParaRPr lang="en-US" altLang="zh-CN" dirty="0">
              <a:solidFill>
                <a:srgbClr val="FF0000"/>
              </a:solidFill>
            </a:endParaRPr>
          </a:p>
          <a:p>
            <a:r>
              <a:rPr lang="zh-CN" altLang="en-US" dirty="0">
                <a:solidFill>
                  <a:srgbClr val="FF0000"/>
                </a:solidFill>
              </a:rPr>
              <a:t>二是往决策这个大方向再延拓：决策有没有别的模型？人决策会不会有别的因素：价值评估？贝叶斯那一套？学习决策对我们的生活有什么启发和意义？</a:t>
            </a:r>
            <a:endParaRPr lang="en-US" altLang="zh-CN" dirty="0">
              <a:solidFill>
                <a:srgbClr val="FF0000"/>
              </a:solidFill>
            </a:endParaRPr>
          </a:p>
        </p:txBody>
      </p:sp>
    </p:spTree>
    <p:extLst>
      <p:ext uri="{BB962C8B-B14F-4D97-AF65-F5344CB8AC3E}">
        <p14:creationId xmlns:p14="http://schemas.microsoft.com/office/powerpoint/2010/main" val="3351326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F1ED6-1612-76D6-1023-A6D02BEB1B99}"/>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46A36915-F5FF-2AEA-4815-C80074C9A5A1}"/>
              </a:ext>
            </a:extLst>
          </p:cNvPr>
          <p:cNvGrpSpPr/>
          <p:nvPr/>
        </p:nvGrpSpPr>
        <p:grpSpPr>
          <a:xfrm>
            <a:off x="-5080" y="-5080"/>
            <a:ext cx="10185400" cy="6863080"/>
            <a:chOff x="-8" y="-8"/>
            <a:chExt cx="19221" cy="10808"/>
          </a:xfrm>
        </p:grpSpPr>
        <p:pic>
          <p:nvPicPr>
            <p:cNvPr id="109" name="图片 108">
              <a:extLst>
                <a:ext uri="{FF2B5EF4-FFF2-40B4-BE49-F238E27FC236}">
                  <a16:creationId xmlns:a16="http://schemas.microsoft.com/office/drawing/2014/main" id="{499FF0F8-BF38-18A2-88AF-289B200758F9}"/>
                </a:ext>
              </a:extLst>
            </p:cNvPr>
            <p:cNvPicPr>
              <a:picLocks noChangeAspect="1"/>
            </p:cNvPicPr>
            <p:nvPr/>
          </p:nvPicPr>
          <p:blipFill>
            <a:blip r:embed="rId9"/>
            <a:srcRect b="17500"/>
            <a:stretch>
              <a:fillRect/>
            </a:stretch>
          </p:blipFill>
          <p:spPr>
            <a:xfrm>
              <a:off x="14" y="-8"/>
              <a:ext cx="19182" cy="10808"/>
            </a:xfrm>
            <a:prstGeom prst="rect">
              <a:avLst/>
            </a:prstGeom>
          </p:spPr>
        </p:pic>
        <p:sp>
          <p:nvSpPr>
            <p:cNvPr id="9" name="矩形 8">
              <a:extLst>
                <a:ext uri="{FF2B5EF4-FFF2-40B4-BE49-F238E27FC236}">
                  <a16:creationId xmlns:a16="http://schemas.microsoft.com/office/drawing/2014/main" id="{81AAC2FA-0F69-3ADB-3E1A-CEB70FA67C3E}"/>
                </a:ext>
              </a:extLst>
            </p:cNvPr>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FBCE1E2B-A457-0321-0EA8-A7EB6F4BC297}"/>
              </a:ext>
            </a:extLst>
          </p:cNvPr>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135AD2E1-6DB4-0443-3D4D-A1CFD0F5A262}"/>
              </a:ext>
            </a:extLst>
          </p:cNvPr>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a:extLst>
              <a:ext uri="{FF2B5EF4-FFF2-40B4-BE49-F238E27FC236}">
                <a16:creationId xmlns:a16="http://schemas.microsoft.com/office/drawing/2014/main" id="{DF26AE38-33E3-B9D1-650D-BAD6179385F3}"/>
              </a:ext>
            </a:extLst>
          </p:cNvPr>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a:extLst>
              <a:ext uri="{FF2B5EF4-FFF2-40B4-BE49-F238E27FC236}">
                <a16:creationId xmlns:a16="http://schemas.microsoft.com/office/drawing/2014/main" id="{1A8E51F5-D59D-29EE-6D41-8F8D4710C301}"/>
              </a:ext>
            </a:extLst>
          </p:cNvPr>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CFD7C06F-9968-B1DA-266A-EB72EFC91708}"/>
              </a:ext>
            </a:extLst>
          </p:cNvPr>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F89B30FB-310C-6727-5446-5765A76D9277}"/>
              </a:ext>
            </a:extLst>
          </p:cNvPr>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3B66A1A2-E90A-2BEA-AE05-B5B58878E0FF}"/>
              </a:ext>
            </a:extLst>
          </p:cNvPr>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42E35DA4-8030-8585-21B8-CFBAEFBFF037}"/>
              </a:ext>
            </a:extLst>
          </p:cNvPr>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A58395E4-E38D-C1FF-696D-8D536198D9EB}"/>
              </a:ext>
            </a:extLst>
          </p:cNvPr>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C3DB646C-8085-2E4E-3323-5144A6B9511E}"/>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BB375FDA-4955-99E4-3B3F-DB8265448BF4}"/>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566FF50C-4420-B2A7-F797-53900EB750C6}"/>
              </a:ext>
            </a:extLst>
          </p:cNvPr>
          <p:cNvSpPr txBox="1"/>
          <p:nvPr/>
        </p:nvSpPr>
        <p:spPr>
          <a:xfrm>
            <a:off x="5273038" y="1916167"/>
            <a:ext cx="5432474"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540E040E-C758-65AF-F6D7-13A19A641D2F}"/>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298BE84D-41F1-02D7-0933-DC865F14C350}"/>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0B7D9785-462A-F924-D3B9-F7405A4501BB}"/>
              </a:ext>
            </a:extLst>
          </p:cNvPr>
          <p:cNvSpPr txBox="1"/>
          <p:nvPr/>
        </p:nvSpPr>
        <p:spPr>
          <a:xfrm>
            <a:off x="5238445" y="3168106"/>
            <a:ext cx="5803237"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55B9017A-67BC-D4BC-2146-AE9BF7924458}"/>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59BFCFAE-E688-472A-CE51-92321A74453D}"/>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54C26EC3-6F51-E09F-2D1F-A1C338C98232}"/>
              </a:ext>
            </a:extLst>
          </p:cNvPr>
          <p:cNvSpPr txBox="1"/>
          <p:nvPr/>
        </p:nvSpPr>
        <p:spPr>
          <a:xfrm>
            <a:off x="5273038" y="4428239"/>
            <a:ext cx="6410178"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0982AB70-667B-BD5B-3348-0F4F2EB80E5D}"/>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3E8163D1-9A85-1177-0B47-53B07AC33A15}"/>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7280C315-A4C1-B2C2-634D-D4434F9C9AF4}"/>
              </a:ext>
            </a:extLst>
          </p:cNvPr>
          <p:cNvSpPr txBox="1"/>
          <p:nvPr/>
        </p:nvSpPr>
        <p:spPr>
          <a:xfrm>
            <a:off x="5273040" y="5680178"/>
            <a:ext cx="2919730" cy="521970"/>
          </a:xfrm>
          <a:prstGeom prst="rect">
            <a:avLst/>
          </a:prstGeom>
          <a:noFill/>
        </p:spPr>
        <p:txBody>
          <a:bodyPr wrap="square" rtlCol="0">
            <a:spAutoFit/>
          </a:bodyPr>
          <a:lstStyle/>
          <a:p>
            <a:r>
              <a:rPr lang="en-US" altLang="zh-CN"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6F9E645C-B078-842A-EFF6-C4AE0CF9E736}"/>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1453807C-AA37-7F32-15DC-B2FFDDAB67CB}"/>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Tree>
    <p:extLst>
      <p:ext uri="{BB962C8B-B14F-4D97-AF65-F5344CB8AC3E}">
        <p14:creationId xmlns:p14="http://schemas.microsoft.com/office/powerpoint/2010/main" val="688227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E5B4-D260-4806-7BDA-FD81429A3A8F}"/>
            </a:ext>
          </a:extLst>
        </p:cNvPr>
        <p:cNvGrpSpPr/>
        <p:nvPr/>
      </p:nvGrpSpPr>
      <p:grpSpPr>
        <a:xfrm>
          <a:off x="0" y="0"/>
          <a:ext cx="0" cy="0"/>
          <a:chOff x="0" y="0"/>
          <a:chExt cx="0" cy="0"/>
        </a:xfrm>
      </p:grpSpPr>
      <p:grpSp>
        <p:nvGrpSpPr>
          <p:cNvPr id="8"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id="{8850FC93-67CA-7BFC-A202-B8F284126170}"/>
              </a:ext>
            </a:extLst>
          </p:cNvPr>
          <p:cNvGrpSpPr>
            <a:grpSpLocks noChangeAspect="1"/>
          </p:cNvGrpSpPr>
          <p:nvPr>
            <p:custDataLst>
              <p:tags r:id="rId1"/>
            </p:custDataLst>
          </p:nvPr>
        </p:nvGrpSpPr>
        <p:grpSpPr>
          <a:xfrm>
            <a:off x="-4546599" y="1495829"/>
            <a:ext cx="16122650" cy="3705367"/>
            <a:chOff x="1" y="1895348"/>
            <a:chExt cx="7123176" cy="3143504"/>
          </a:xfrm>
        </p:grpSpPr>
        <p:sp>
          <p:nvSpPr>
            <p:cNvPr id="10" name="í$ḻídè">
              <a:extLst>
                <a:ext uri="{FF2B5EF4-FFF2-40B4-BE49-F238E27FC236}">
                  <a16:creationId xmlns:a16="http://schemas.microsoft.com/office/drawing/2014/main" id="{DB5B1594-7CF7-162F-1F35-937EAB5E4655}"/>
                </a:ext>
              </a:extLst>
            </p:cNvPr>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6" name="ïşlíďe">
              <a:extLst>
                <a:ext uri="{FF2B5EF4-FFF2-40B4-BE49-F238E27FC236}">
                  <a16:creationId xmlns:a16="http://schemas.microsoft.com/office/drawing/2014/main" id="{608DDEC0-6297-727C-857C-2A17EA12F308}"/>
                </a:ext>
              </a:extLst>
            </p:cNvPr>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4" name="椭圆 3">
            <a:extLst>
              <a:ext uri="{FF2B5EF4-FFF2-40B4-BE49-F238E27FC236}">
                <a16:creationId xmlns:a16="http://schemas.microsoft.com/office/drawing/2014/main" id="{055C2469-5908-323E-62EF-8D97F99B7E37}"/>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C7E37CF4-4C16-AE7F-3031-7CF4EDD30768}"/>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31AD1913-760D-C81C-0121-FBB44C2A6A7F}"/>
              </a:ext>
            </a:extLst>
          </p:cNvPr>
          <p:cNvSpPr txBox="1"/>
          <p:nvPr/>
        </p:nvSpPr>
        <p:spPr>
          <a:xfrm>
            <a:off x="509272" y="468691"/>
            <a:ext cx="2919730"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34" name="椭圆 33">
            <a:extLst>
              <a:ext uri="{FF2B5EF4-FFF2-40B4-BE49-F238E27FC236}">
                <a16:creationId xmlns:a16="http://schemas.microsoft.com/office/drawing/2014/main" id="{CA88ACA1-BFBD-028D-80FD-C84E6CEB9CF2}"/>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053334D-0389-F8EA-5E40-4E2E05A17771}"/>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991130BE-D1FE-061C-C161-8A5BF912375F}"/>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11" name="文本框 10">
            <a:extLst>
              <a:ext uri="{FF2B5EF4-FFF2-40B4-BE49-F238E27FC236}">
                <a16:creationId xmlns:a16="http://schemas.microsoft.com/office/drawing/2014/main" id="{D633F30A-D513-B4E6-B283-CFF05AF0AA8B}"/>
              </a:ext>
            </a:extLst>
          </p:cNvPr>
          <p:cNvSpPr txBox="1"/>
          <p:nvPr/>
        </p:nvSpPr>
        <p:spPr>
          <a:xfrm>
            <a:off x="810468" y="2332990"/>
            <a:ext cx="9166136" cy="1938992"/>
          </a:xfrm>
          <a:prstGeom prst="rect">
            <a:avLst/>
          </a:prstGeom>
          <a:noFill/>
        </p:spPr>
        <p:txBody>
          <a:bodyPr wrap="square" rtlCol="0">
            <a:spAutoFit/>
          </a:bodyPr>
          <a:lstStyle/>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Our project are </a:t>
            </a: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not task-oriented but thinking-oriented</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We studied DDM and many variants of DDM, all inspired by interesting and natural thoughts. In each experiment, we performed qualitative and quantitative analyses, and did our utmost to explain and fit the experimental results well.</a:t>
            </a:r>
            <a:endPar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3" name="文本框 2">
            <a:extLst>
              <a:ext uri="{FF2B5EF4-FFF2-40B4-BE49-F238E27FC236}">
                <a16:creationId xmlns:a16="http://schemas.microsoft.com/office/drawing/2014/main" id="{5EFCE4DF-FB5E-579C-AC0B-702D5B933AD9}"/>
              </a:ext>
            </a:extLst>
          </p:cNvPr>
          <p:cNvSpPr txBox="1"/>
          <p:nvPr/>
        </p:nvSpPr>
        <p:spPr>
          <a:xfrm>
            <a:off x="3060700" y="4283346"/>
            <a:ext cx="5695950" cy="1477328"/>
          </a:xfrm>
          <a:prstGeom prst="rect">
            <a:avLst/>
          </a:prstGeom>
          <a:noFill/>
        </p:spPr>
        <p:txBody>
          <a:bodyPr wrap="square">
            <a:spAutoFit/>
          </a:bodyPr>
          <a:lstStyle/>
          <a:p>
            <a:r>
              <a:rPr lang="zh-CN" altLang="en-US" dirty="0">
                <a:solidFill>
                  <a:srgbClr val="FF0000"/>
                </a:solidFill>
              </a:rPr>
              <a:t>这里</a:t>
            </a:r>
            <a:r>
              <a:rPr lang="en-US" altLang="zh-CN" dirty="0">
                <a:solidFill>
                  <a:srgbClr val="FF0000"/>
                </a:solidFill>
              </a:rPr>
              <a:t>ppt</a:t>
            </a:r>
            <a:r>
              <a:rPr lang="zh-CN" altLang="en-US" dirty="0">
                <a:solidFill>
                  <a:srgbClr val="FF0000"/>
                </a:solidFill>
              </a:rPr>
              <a:t>不要出现大段文字哈，把三个</a:t>
            </a:r>
            <a:r>
              <a:rPr lang="en-US" altLang="zh-CN" dirty="0">
                <a:solidFill>
                  <a:srgbClr val="FF0000"/>
                </a:solidFill>
              </a:rPr>
              <a:t>but</a:t>
            </a:r>
            <a:r>
              <a:rPr lang="zh-CN" altLang="en-US" dirty="0">
                <a:solidFill>
                  <a:srgbClr val="FF0000"/>
                </a:solidFill>
              </a:rPr>
              <a:t>说清楚就行</a:t>
            </a:r>
            <a:r>
              <a:rPr lang="en-US" altLang="zh-CN" dirty="0">
                <a:solidFill>
                  <a:srgbClr val="FF0000"/>
                </a:solidFill>
              </a:rPr>
              <a:t>:</a:t>
            </a:r>
          </a:p>
          <a:p>
            <a:pPr marL="342900" indent="-342900">
              <a:buAutoNum type="arabicPeriod"/>
            </a:pPr>
            <a:r>
              <a:rPr lang="en-US" altLang="zh-CN" dirty="0">
                <a:solidFill>
                  <a:srgbClr val="FF0000"/>
                </a:solidFill>
              </a:rPr>
              <a:t>Not task-oriented but thinking-oriented</a:t>
            </a:r>
          </a:p>
          <a:p>
            <a:pPr marL="342900" indent="-342900">
              <a:buAutoNum type="arabicPeriod"/>
            </a:pPr>
            <a:r>
              <a:rPr lang="en-US" altLang="zh-CN" dirty="0">
                <a:solidFill>
                  <a:srgbClr val="FF0000"/>
                </a:solidFill>
              </a:rPr>
              <a:t>Simple but robust</a:t>
            </a:r>
          </a:p>
          <a:p>
            <a:pPr marL="342900" indent="-342900">
              <a:buAutoNum type="arabicPeriod"/>
            </a:pPr>
            <a:r>
              <a:rPr lang="en-US" altLang="zh-CN" dirty="0">
                <a:solidFill>
                  <a:srgbClr val="FF0000"/>
                </a:solidFill>
              </a:rPr>
              <a:t>Based on mathematical models but can inspire our life</a:t>
            </a:r>
          </a:p>
          <a:p>
            <a:endParaRPr lang="en-US" altLang="zh-CN" dirty="0">
              <a:solidFill>
                <a:srgbClr val="FF0000"/>
              </a:solidFill>
            </a:endParaRPr>
          </a:p>
        </p:txBody>
      </p:sp>
    </p:spTree>
    <p:extLst>
      <p:ext uri="{BB962C8B-B14F-4D97-AF65-F5344CB8AC3E}">
        <p14:creationId xmlns:p14="http://schemas.microsoft.com/office/powerpoint/2010/main" val="2517601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D5A09-C0B4-7BED-FAD4-CB6C100024AC}"/>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9113CDC6-A419-B7AA-B2E3-F49291C62D16}"/>
              </a:ext>
            </a:extLst>
          </p:cNvPr>
          <p:cNvGrpSpPr/>
          <p:nvPr/>
        </p:nvGrpSpPr>
        <p:grpSpPr>
          <a:xfrm>
            <a:off x="-5080" y="-5080"/>
            <a:ext cx="12205335" cy="6863080"/>
            <a:chOff x="-8" y="-8"/>
            <a:chExt cx="19221" cy="10808"/>
          </a:xfrm>
        </p:grpSpPr>
        <p:pic>
          <p:nvPicPr>
            <p:cNvPr id="109" name="图片 108">
              <a:extLst>
                <a:ext uri="{FF2B5EF4-FFF2-40B4-BE49-F238E27FC236}">
                  <a16:creationId xmlns:a16="http://schemas.microsoft.com/office/drawing/2014/main" id="{B4A40B11-B9D4-E87F-E1AF-6E74FE36216B}"/>
                </a:ext>
              </a:extLst>
            </p:cNvPr>
            <p:cNvPicPr>
              <a:picLocks noChangeAspect="1"/>
            </p:cNvPicPr>
            <p:nvPr/>
          </p:nvPicPr>
          <p:blipFill>
            <a:blip r:embed="rId3"/>
            <a:srcRect b="17500"/>
            <a:stretch>
              <a:fillRect/>
            </a:stretch>
          </p:blipFill>
          <p:spPr>
            <a:xfrm>
              <a:off x="14" y="-8"/>
              <a:ext cx="19182" cy="10808"/>
            </a:xfrm>
            <a:prstGeom prst="rect">
              <a:avLst/>
            </a:prstGeom>
          </p:spPr>
        </p:pic>
        <p:sp>
          <p:nvSpPr>
            <p:cNvPr id="5" name="矩形 4">
              <a:extLst>
                <a:ext uri="{FF2B5EF4-FFF2-40B4-BE49-F238E27FC236}">
                  <a16:creationId xmlns:a16="http://schemas.microsoft.com/office/drawing/2014/main" id="{04338581-C67C-D84B-2BB6-5BEA0CA419F6}"/>
                </a:ext>
              </a:extLst>
            </p:cNvPr>
            <p:cNvSpPr/>
            <p:nvPr/>
          </p:nvSpPr>
          <p:spPr>
            <a:xfrm>
              <a:off x="-8" y="0"/>
              <a:ext cx="19221" cy="10800"/>
            </a:xfrm>
            <a:prstGeom prst="rect">
              <a:avLst/>
            </a:prstGeom>
            <a:gradFill>
              <a:gsLst>
                <a:gs pos="28000">
                  <a:srgbClr val="FFFFFF">
                    <a:alpha val="100000"/>
                  </a:srgbClr>
                </a:gs>
                <a:gs pos="79000">
                  <a:schemeClr val="bg1">
                    <a:alpha val="92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18ABFAC9-1291-A317-839D-C72ACAEAED3F}"/>
              </a:ext>
            </a:extLst>
          </p:cNvPr>
          <p:cNvSpPr>
            <a:spLocks noChangeAspect="1"/>
          </p:cNvSpPr>
          <p:nvPr>
            <p:custDataLst>
              <p:tags r:id="rId1"/>
            </p:custDataLst>
          </p:nvPr>
        </p:nvSpPr>
        <p:spPr>
          <a:xfrm>
            <a:off x="-13970" y="0"/>
            <a:ext cx="12610854" cy="6858000"/>
          </a:xfrm>
          <a:prstGeom prst="rect">
            <a:avLst/>
          </a:prstGeom>
          <a:solidFill>
            <a:schemeClr val="accent2">
              <a:alpha val="9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AC69EBE8-3717-ECBE-54CD-4AE7077D7DA2}"/>
              </a:ext>
            </a:extLst>
          </p:cNvPr>
          <p:cNvSpPr txBox="1"/>
          <p:nvPr/>
        </p:nvSpPr>
        <p:spPr>
          <a:xfrm>
            <a:off x="1006475" y="1327280"/>
            <a:ext cx="10599420" cy="2030749"/>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115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Thank You</a:t>
            </a:r>
            <a:endParaRPr lang="zh-CN" altLang="en-US" sz="115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7" name="文本占位符 85">
            <a:extLst>
              <a:ext uri="{FF2B5EF4-FFF2-40B4-BE49-F238E27FC236}">
                <a16:creationId xmlns:a16="http://schemas.microsoft.com/office/drawing/2014/main" id="{E2AE5AD4-06BB-24A3-8CF5-B3EFA81517E7}"/>
              </a:ext>
            </a:extLst>
          </p:cNvPr>
          <p:cNvSpPr txBox="1"/>
          <p:nvPr/>
        </p:nvSpPr>
        <p:spPr>
          <a:xfrm>
            <a:off x="1006475" y="4407514"/>
            <a:ext cx="5520614" cy="369332"/>
          </a:xfrm>
          <a:prstGeom prst="rect">
            <a:avLst/>
          </a:prstGeom>
        </p:spPr>
        <p:txBody>
          <a:bodyPr wrap="non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spcBef>
                <a:spcPts val="0"/>
              </a:spcBef>
              <a:buNone/>
            </a:pPr>
            <a:r>
              <a:rPr lang="en-US" sz="2000" dirty="0">
                <a:solidFill>
                  <a:schemeClr val="bg1"/>
                </a:solidFill>
                <a:latin typeface="Times New Roman" panose="02020603050405020304" pitchFamily="18" charset="0"/>
                <a:cs typeface="Times New Roman" panose="02020603050405020304" pitchFamily="18" charset="0"/>
                <a:sym typeface="+mn-lt"/>
              </a:rPr>
              <a:t>Yong-Ming Tian, Zong-Yi Chen, Shiqi Liu, Yajie Li</a:t>
            </a:r>
            <a:endParaRPr sz="2000" dirty="0">
              <a:solidFill>
                <a:schemeClr val="bg1"/>
              </a:solidFill>
              <a:latin typeface="Times New Roman" panose="02020603050405020304" pitchFamily="18" charset="0"/>
              <a:cs typeface="Times New Roman" panose="02020603050405020304" pitchFamily="18" charset="0"/>
              <a:sym typeface="+mn-lt"/>
            </a:endParaRPr>
          </a:p>
        </p:txBody>
      </p:sp>
      <p:cxnSp>
        <p:nvCxnSpPr>
          <p:cNvPr id="10" name="直接连接符 9">
            <a:extLst>
              <a:ext uri="{FF2B5EF4-FFF2-40B4-BE49-F238E27FC236}">
                <a16:creationId xmlns:a16="http://schemas.microsoft.com/office/drawing/2014/main" id="{88F1F789-FC8C-4BCD-EEAA-EB1C00F56948}"/>
              </a:ext>
            </a:extLst>
          </p:cNvPr>
          <p:cNvCxnSpPr/>
          <p:nvPr/>
        </p:nvCxnSpPr>
        <p:spPr>
          <a:xfrm>
            <a:off x="1006475" y="3775319"/>
            <a:ext cx="42926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D889C432-3B3A-CF44-0F84-4BBFA6D0BBAD}"/>
              </a:ext>
            </a:extLst>
          </p:cNvPr>
          <p:cNvSpPr/>
          <p:nvPr/>
        </p:nvSpPr>
        <p:spPr>
          <a:xfrm>
            <a:off x="349885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D4B8F5D7-EE89-F56E-B21F-79B7C1182F48}"/>
              </a:ext>
            </a:extLst>
          </p:cNvPr>
          <p:cNvSpPr/>
          <p:nvPr/>
        </p:nvSpPr>
        <p:spPr>
          <a:xfrm>
            <a:off x="-1410335" y="16852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71404DEE-AFC9-DC72-F00A-DB3E51DE60EA}"/>
              </a:ext>
            </a:extLst>
          </p:cNvPr>
          <p:cNvSpPr/>
          <p:nvPr/>
        </p:nvSpPr>
        <p:spPr>
          <a:xfrm>
            <a:off x="3265170" y="53854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52629494-D5A8-12FA-BDD0-3EDE520B4A2B}"/>
              </a:ext>
            </a:extLst>
          </p:cNvPr>
          <p:cNvSpPr/>
          <p:nvPr/>
        </p:nvSpPr>
        <p:spPr>
          <a:xfrm>
            <a:off x="9946005" y="4836795"/>
            <a:ext cx="1659890" cy="173228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595014A0-6700-2F78-AEA7-88F2C97E7AE6}"/>
              </a:ext>
            </a:extLst>
          </p:cNvPr>
          <p:cNvSpPr/>
          <p:nvPr/>
        </p:nvSpPr>
        <p:spPr>
          <a:xfrm>
            <a:off x="10287000" y="459105"/>
            <a:ext cx="1905000" cy="190500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C3F150B5-EAC4-A810-7BB6-0B3FEF2B7412}"/>
              </a:ext>
            </a:extLst>
          </p:cNvPr>
          <p:cNvSpPr/>
          <p:nvPr/>
        </p:nvSpPr>
        <p:spPr>
          <a:xfrm>
            <a:off x="5732780" y="107950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9A27FF78-FA8B-3723-4479-A395E16EE1AF}"/>
              </a:ext>
            </a:extLst>
          </p:cNvPr>
          <p:cNvSpPr/>
          <p:nvPr/>
        </p:nvSpPr>
        <p:spPr>
          <a:xfrm>
            <a:off x="9222740" y="2101850"/>
            <a:ext cx="548640" cy="54864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355674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5.2.9"/>
</p:tagLst>
</file>

<file path=ppt/tags/tag2.xml><?xml version="1.0" encoding="utf-8"?>
<p:tagLst xmlns:a="http://schemas.openxmlformats.org/drawingml/2006/main" xmlns:r="http://schemas.openxmlformats.org/officeDocument/2006/relationships" xmlns:p="http://schemas.openxmlformats.org/presentationml/2006/main">
  <p:tag name="PA" val="v5.2.9"/>
</p:tagLst>
</file>

<file path=ppt/tags/tag3.xml><?xml version="1.0" encoding="utf-8"?>
<p:tagLst xmlns:a="http://schemas.openxmlformats.org/drawingml/2006/main" xmlns:r="http://schemas.openxmlformats.org/officeDocument/2006/relationships" xmlns:p="http://schemas.openxmlformats.org/presentationml/2006/main">
  <p:tag name="PA" val="v5.2.9"/>
</p:tagLst>
</file>

<file path=ppt/tags/tag4.xml><?xml version="1.0" encoding="utf-8"?>
<p:tagLst xmlns:a="http://schemas.openxmlformats.org/drawingml/2006/main" xmlns:r="http://schemas.openxmlformats.org/officeDocument/2006/relationships" xmlns:p="http://schemas.openxmlformats.org/presentationml/2006/main">
  <p:tag name="PA" val="v5.2.9"/>
</p:tagLst>
</file>

<file path=ppt/tags/tag5.xml><?xml version="1.0" encoding="utf-8"?>
<p:tagLst xmlns:a="http://schemas.openxmlformats.org/drawingml/2006/main" xmlns:r="http://schemas.openxmlformats.org/officeDocument/2006/relationships" xmlns:p="http://schemas.openxmlformats.org/presentationml/2006/main">
  <p:tag name="PA" val="v5.2.9"/>
</p:tagLst>
</file>

<file path=ppt/tags/tag6.xml><?xml version="1.0" encoding="utf-8"?>
<p:tagLst xmlns:a="http://schemas.openxmlformats.org/drawingml/2006/main" xmlns:r="http://schemas.openxmlformats.org/officeDocument/2006/relationships" xmlns:p="http://schemas.openxmlformats.org/presentationml/2006/main">
  <p:tag name="PA" val="v5.2.9"/>
</p:tagLst>
</file>

<file path=ppt/tags/tag7.xml><?xml version="1.0" encoding="utf-8"?>
<p:tagLst xmlns:a="http://schemas.openxmlformats.org/drawingml/2006/main" xmlns:r="http://schemas.openxmlformats.org/officeDocument/2006/relationships" xmlns:p="http://schemas.openxmlformats.org/presentationml/2006/main">
  <p:tag name="PA" val="v5.2.9"/>
</p:tagLst>
</file>

<file path=ppt/tags/tag8.xml><?xml version="1.0" encoding="utf-8"?>
<p:tagLst xmlns:a="http://schemas.openxmlformats.org/drawingml/2006/main" xmlns:r="http://schemas.openxmlformats.org/officeDocument/2006/relationships" xmlns:p="http://schemas.openxmlformats.org/presentationml/2006/main">
  <p:tag name="PA" val="v5.2.9"/>
</p:tagLst>
</file>

<file path=ppt/tags/tag9.xml><?xml version="1.0" encoding="utf-8"?>
<p:tagLst xmlns:a="http://schemas.openxmlformats.org/drawingml/2006/main" xmlns:r="http://schemas.openxmlformats.org/officeDocument/2006/relationships" xmlns:p="http://schemas.openxmlformats.org/presentationml/2006/main">
  <p:tag name="PA" val="v5.2.9"/>
</p:tagLst>
</file>

<file path=ppt/tags/tag10.xml><?xml version="1.0" encoding="utf-8"?>
<p:tagLst xmlns:a="http://schemas.openxmlformats.org/drawingml/2006/main" xmlns:r="http://schemas.openxmlformats.org/officeDocument/2006/relationships" xmlns:p="http://schemas.openxmlformats.org/presentationml/2006/main">
  <p:tag name="PA" val="v5.2.9"/>
</p:tagLst>
</file>

<file path=ppt/tags/tag11.xml><?xml version="1.0" encoding="utf-8"?>
<p:tagLst xmlns:a="http://schemas.openxmlformats.org/drawingml/2006/main" xmlns:r="http://schemas.openxmlformats.org/officeDocument/2006/relationships" xmlns:p="http://schemas.openxmlformats.org/presentationml/2006/main">
  <p:tag name="PA" val="v5.2.9"/>
</p:tagLst>
</file>

<file path=ppt/tags/tag12.xml><?xml version="1.0" encoding="utf-8"?>
<p:tagLst xmlns:a="http://schemas.openxmlformats.org/drawingml/2006/main" xmlns:r="http://schemas.openxmlformats.org/officeDocument/2006/relationships" xmlns:p="http://schemas.openxmlformats.org/presentationml/2006/main">
  <p:tag name="PA" val="v5.2.9"/>
</p:tagLst>
</file>

<file path=ppt/tags/tag13.xml><?xml version="1.0" encoding="utf-8"?>
<p:tagLst xmlns:a="http://schemas.openxmlformats.org/drawingml/2006/main" xmlns:r="http://schemas.openxmlformats.org/officeDocument/2006/relationships" xmlns:p="http://schemas.openxmlformats.org/presentationml/2006/main">
  <p:tag name="PA" val="v5.2.9"/>
</p:tagLst>
</file>

<file path=ppt/tags/tag14.xml><?xml version="1.0" encoding="utf-8"?>
<p:tagLst xmlns:a="http://schemas.openxmlformats.org/drawingml/2006/main" xmlns:r="http://schemas.openxmlformats.org/officeDocument/2006/relationships" xmlns:p="http://schemas.openxmlformats.org/presentationml/2006/main">
  <p:tag name="ISLIDE.DIAGRAM" val="#294670"/>
</p:tagLst>
</file>

<file path=ppt/tags/tag15.xml><?xml version="1.0" encoding="utf-8"?>
<p:tagLst xmlns:a="http://schemas.openxmlformats.org/drawingml/2006/main" xmlns:r="http://schemas.openxmlformats.org/officeDocument/2006/relationships" xmlns:p="http://schemas.openxmlformats.org/presentationml/2006/main">
  <p:tag name="PA" val="v5.2.9"/>
</p:tagLst>
</file>

<file path=ppt/tags/tag16.xml><?xml version="1.0" encoding="utf-8"?>
<p:tagLst xmlns:a="http://schemas.openxmlformats.org/drawingml/2006/main" xmlns:r="http://schemas.openxmlformats.org/officeDocument/2006/relationships" xmlns:p="http://schemas.openxmlformats.org/presentationml/2006/main">
  <p:tag name="PA" val="v5.2.9"/>
</p:tagLst>
</file>

<file path=ppt/tags/tag17.xml><?xml version="1.0" encoding="utf-8"?>
<p:tagLst xmlns:a="http://schemas.openxmlformats.org/drawingml/2006/main" xmlns:r="http://schemas.openxmlformats.org/officeDocument/2006/relationships" xmlns:p="http://schemas.openxmlformats.org/presentationml/2006/main">
  <p:tag name="PA" val="v5.2.9"/>
</p:tagLst>
</file>

<file path=ppt/tags/tag18.xml><?xml version="1.0" encoding="utf-8"?>
<p:tagLst xmlns:a="http://schemas.openxmlformats.org/drawingml/2006/main" xmlns:r="http://schemas.openxmlformats.org/officeDocument/2006/relationships" xmlns:p="http://schemas.openxmlformats.org/presentationml/2006/main">
  <p:tag name="PA" val="v5.2.9"/>
</p:tagLst>
</file>

<file path=ppt/tags/tag19.xml><?xml version="1.0" encoding="utf-8"?>
<p:tagLst xmlns:a="http://schemas.openxmlformats.org/drawingml/2006/main" xmlns:r="http://schemas.openxmlformats.org/officeDocument/2006/relationships" xmlns:p="http://schemas.openxmlformats.org/presentationml/2006/main">
  <p:tag name="PA" val="v5.2.9"/>
</p:tagLst>
</file>

<file path=ppt/tags/tag20.xml><?xml version="1.0" encoding="utf-8"?>
<p:tagLst xmlns:a="http://schemas.openxmlformats.org/drawingml/2006/main" xmlns:r="http://schemas.openxmlformats.org/officeDocument/2006/relationships" xmlns:p="http://schemas.openxmlformats.org/presentationml/2006/main">
  <p:tag name="PA" val="v5.2.9"/>
</p:tagLst>
</file>

<file path=ppt/tags/tag21.xml><?xml version="1.0" encoding="utf-8"?>
<p:tagLst xmlns:a="http://schemas.openxmlformats.org/drawingml/2006/main" xmlns:r="http://schemas.openxmlformats.org/officeDocument/2006/relationships" xmlns:p="http://schemas.openxmlformats.org/presentationml/2006/main">
  <p:tag name="PA" val="v5.2.9"/>
</p:tagLst>
</file>

<file path=ppt/tags/tag22.xml><?xml version="1.0" encoding="utf-8"?>
<p:tagLst xmlns:a="http://schemas.openxmlformats.org/drawingml/2006/main" xmlns:r="http://schemas.openxmlformats.org/officeDocument/2006/relationships" xmlns:p="http://schemas.openxmlformats.org/presentationml/2006/main">
  <p:tag name="PA" val="v5.2.9"/>
</p:tagLst>
</file>

<file path=ppt/tags/tag23.xml><?xml version="1.0" encoding="utf-8"?>
<p:tagLst xmlns:a="http://schemas.openxmlformats.org/drawingml/2006/main" xmlns:r="http://schemas.openxmlformats.org/officeDocument/2006/relationships" xmlns:p="http://schemas.openxmlformats.org/presentationml/2006/main">
  <p:tag name="PA" val="v5.2.9"/>
</p:tagLst>
</file>

<file path=ppt/tags/tag24.xml><?xml version="1.0" encoding="utf-8"?>
<p:tagLst xmlns:a="http://schemas.openxmlformats.org/drawingml/2006/main" xmlns:r="http://schemas.openxmlformats.org/officeDocument/2006/relationships" xmlns:p="http://schemas.openxmlformats.org/presentationml/2006/main">
  <p:tag name="PA" val="v5.2.9"/>
</p:tagLst>
</file>

<file path=ppt/tags/tag25.xml><?xml version="1.0" encoding="utf-8"?>
<p:tagLst xmlns:a="http://schemas.openxmlformats.org/drawingml/2006/main" xmlns:r="http://schemas.openxmlformats.org/officeDocument/2006/relationships" xmlns:p="http://schemas.openxmlformats.org/presentationml/2006/main">
  <p:tag name="PA" val="v5.2.9"/>
</p:tagLst>
</file>

<file path=ppt/tags/tag26.xml><?xml version="1.0" encoding="utf-8"?>
<p:tagLst xmlns:a="http://schemas.openxmlformats.org/drawingml/2006/main" xmlns:r="http://schemas.openxmlformats.org/officeDocument/2006/relationships" xmlns:p="http://schemas.openxmlformats.org/presentationml/2006/main">
  <p:tag name="PA" val="v5.2.9"/>
</p:tagLst>
</file>

<file path=ppt/tags/tag27.xml><?xml version="1.0" encoding="utf-8"?>
<p:tagLst xmlns:a="http://schemas.openxmlformats.org/drawingml/2006/main" xmlns:r="http://schemas.openxmlformats.org/officeDocument/2006/relationships" xmlns:p="http://schemas.openxmlformats.org/presentationml/2006/main">
  <p:tag name="PA" val="v5.2.9"/>
</p:tagLst>
</file>

<file path=ppt/tags/tag28.xml><?xml version="1.0" encoding="utf-8"?>
<p:tagLst xmlns:a="http://schemas.openxmlformats.org/drawingml/2006/main" xmlns:r="http://schemas.openxmlformats.org/officeDocument/2006/relationships" xmlns:p="http://schemas.openxmlformats.org/presentationml/2006/main">
  <p:tag name="PA" val="v5.2.9"/>
</p:tagLst>
</file>

<file path=ppt/tags/tag29.xml><?xml version="1.0" encoding="utf-8"?>
<p:tagLst xmlns:a="http://schemas.openxmlformats.org/drawingml/2006/main" xmlns:r="http://schemas.openxmlformats.org/officeDocument/2006/relationships" xmlns:p="http://schemas.openxmlformats.org/presentationml/2006/main">
  <p:tag name="PA" val="v5.2.9"/>
</p:tagLst>
</file>

<file path=ppt/tags/tag30.xml><?xml version="1.0" encoding="utf-8"?>
<p:tagLst xmlns:a="http://schemas.openxmlformats.org/drawingml/2006/main" xmlns:r="http://schemas.openxmlformats.org/officeDocument/2006/relationships" xmlns:p="http://schemas.openxmlformats.org/presentationml/2006/main">
  <p:tag name="PA" val="v5.2.9"/>
</p:tagLst>
</file>

<file path=ppt/tags/tag31.xml><?xml version="1.0" encoding="utf-8"?>
<p:tagLst xmlns:a="http://schemas.openxmlformats.org/drawingml/2006/main" xmlns:r="http://schemas.openxmlformats.org/officeDocument/2006/relationships" xmlns:p="http://schemas.openxmlformats.org/presentationml/2006/main">
  <p:tag name="PA" val="v5.2.9"/>
</p:tagLst>
</file>

<file path=ppt/tags/tag32.xml><?xml version="1.0" encoding="utf-8"?>
<p:tagLst xmlns:a="http://schemas.openxmlformats.org/drawingml/2006/main" xmlns:r="http://schemas.openxmlformats.org/officeDocument/2006/relationships" xmlns:p="http://schemas.openxmlformats.org/presentationml/2006/main">
  <p:tag name="PA" val="v5.2.9"/>
</p:tagLst>
</file>

<file path=ppt/tags/tag33.xml><?xml version="1.0" encoding="utf-8"?>
<p:tagLst xmlns:a="http://schemas.openxmlformats.org/drawingml/2006/main" xmlns:r="http://schemas.openxmlformats.org/officeDocument/2006/relationships" xmlns:p="http://schemas.openxmlformats.org/presentationml/2006/main">
  <p:tag name="ISLIDE.DIAGRAM" val="#294670"/>
</p:tagLst>
</file>

<file path=ppt/tags/tag34.xml><?xml version="1.0" encoding="utf-8"?>
<p:tagLst xmlns:a="http://schemas.openxmlformats.org/drawingml/2006/main" xmlns:r="http://schemas.openxmlformats.org/officeDocument/2006/relationships" xmlns:p="http://schemas.openxmlformats.org/presentationml/2006/main">
  <p:tag name="PA" val="v5.2.9"/>
</p:tagLst>
</file>

<file path=ppt/tags/tag35.xml><?xml version="1.0" encoding="utf-8"?>
<p:tagLst xmlns:a="http://schemas.openxmlformats.org/drawingml/2006/main" xmlns:r="http://schemas.openxmlformats.org/officeDocument/2006/relationships" xmlns:p="http://schemas.openxmlformats.org/presentationml/2006/main">
  <p:tag name="PA" val="v5.2.9"/>
</p:tagLst>
</file>

<file path=ppt/tags/tag36.xml><?xml version="1.0" encoding="utf-8"?>
<p:tagLst xmlns:a="http://schemas.openxmlformats.org/drawingml/2006/main" xmlns:r="http://schemas.openxmlformats.org/officeDocument/2006/relationships" xmlns:p="http://schemas.openxmlformats.org/presentationml/2006/main">
  <p:tag name="PA" val="v5.2.9"/>
</p:tagLst>
</file>

<file path=ppt/tags/tag37.xml><?xml version="1.0" encoding="utf-8"?>
<p:tagLst xmlns:a="http://schemas.openxmlformats.org/drawingml/2006/main" xmlns:r="http://schemas.openxmlformats.org/officeDocument/2006/relationships" xmlns:p="http://schemas.openxmlformats.org/presentationml/2006/main">
  <p:tag name="PA" val="v5.2.9"/>
</p:tagLst>
</file>

<file path=ppt/tags/tag38.xml><?xml version="1.0" encoding="utf-8"?>
<p:tagLst xmlns:a="http://schemas.openxmlformats.org/drawingml/2006/main" xmlns:r="http://schemas.openxmlformats.org/officeDocument/2006/relationships" xmlns:p="http://schemas.openxmlformats.org/presentationml/2006/main">
  <p:tag name="PA" val="v5.2.9"/>
</p:tagLst>
</file>

<file path=ppt/tags/tag39.xml><?xml version="1.0" encoding="utf-8"?>
<p:tagLst xmlns:a="http://schemas.openxmlformats.org/drawingml/2006/main" xmlns:r="http://schemas.openxmlformats.org/officeDocument/2006/relationships" xmlns:p="http://schemas.openxmlformats.org/presentationml/2006/main">
  <p:tag name="PA" val="v5.2.9"/>
</p:tagLst>
</file>

<file path=ppt/tags/tag40.xml><?xml version="1.0" encoding="utf-8"?>
<p:tagLst xmlns:a="http://schemas.openxmlformats.org/drawingml/2006/main" xmlns:r="http://schemas.openxmlformats.org/officeDocument/2006/relationships" xmlns:p="http://schemas.openxmlformats.org/presentationml/2006/main">
  <p:tag name="ISLIDE.DIAGRAM" val="#294670"/>
</p:tagLst>
</file>

<file path=ppt/tags/tag41.xml><?xml version="1.0" encoding="utf-8"?>
<p:tagLst xmlns:a="http://schemas.openxmlformats.org/drawingml/2006/main" xmlns:r="http://schemas.openxmlformats.org/officeDocument/2006/relationships" xmlns:p="http://schemas.openxmlformats.org/presentationml/2006/main">
  <p:tag name="PA" val="v5.2.9"/>
</p:tagLst>
</file>

<file path=ppt/theme/theme1.xml><?xml version="1.0" encoding="utf-8"?>
<a:theme xmlns:a="http://schemas.openxmlformats.org/drawingml/2006/main" name="www.2ppt.com">
  <a:themeElements>
    <a:clrScheme name="Dragon">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TotalTime>
  <Words>1888</Words>
  <Application>Microsoft Office PowerPoint</Application>
  <PresentationFormat>宽屏</PresentationFormat>
  <Paragraphs>211</Paragraphs>
  <Slides>27</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27</vt:i4>
      </vt:variant>
    </vt:vector>
  </HeadingPairs>
  <TitlesOfParts>
    <vt:vector size="32" baseType="lpstr">
      <vt:lpstr>方正小标宋简体</vt:lpstr>
      <vt:lpstr>Arial</vt:lpstr>
      <vt:lpstr>Calibri</vt:lpstr>
      <vt:lpstr>Times New Roman</vt:lpstr>
      <vt:lpstr>www.2ppt.com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subject>https://www.ypppt.com/</dc:subject>
  <dc:creator>优品PPT</dc:creator>
  <dc:description/>
  <cp:lastModifiedBy>永铭 田</cp:lastModifiedBy>
  <cp:revision>167</cp:revision>
  <dcterms:created xsi:type="dcterms:W3CDTF">2021-05-18T01:26:58Z</dcterms:created>
  <dcterms:modified xsi:type="dcterms:W3CDTF">2024-11-24T03:20:39Z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2052-11.1.0.10495</vt:lpwstr>
  </property>
  <property fmtid="{D5CDD505-2E9C-101B-9397-08002B2CF9AE}" pid="3" name="ICV">
    <vt:lpwstr>3B0E0EFBCFB64DCAB42B445F83569D6D</vt:lpwstr>
  </property>
</Properties>
</file>