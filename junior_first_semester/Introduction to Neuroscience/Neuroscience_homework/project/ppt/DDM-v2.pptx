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9" r:id="rId2"/>
    <p:sldId id="309" r:id="rId3"/>
    <p:sldId id="257" r:id="rId4"/>
    <p:sldId id="289" r:id="rId5"/>
    <p:sldId id="310" r:id="rId6"/>
    <p:sldId id="290" r:id="rId7"/>
    <p:sldId id="318" r:id="rId8"/>
    <p:sldId id="315" r:id="rId9"/>
    <p:sldId id="291" r:id="rId10"/>
    <p:sldId id="292" r:id="rId11"/>
    <p:sldId id="312" r:id="rId12"/>
    <p:sldId id="295" r:id="rId13"/>
    <p:sldId id="294" r:id="rId14"/>
    <p:sldId id="296" r:id="rId15"/>
    <p:sldId id="297" r:id="rId16"/>
    <p:sldId id="299" r:id="rId17"/>
    <p:sldId id="300" r:id="rId18"/>
    <p:sldId id="301" r:id="rId19"/>
    <p:sldId id="302" r:id="rId20"/>
    <p:sldId id="313" r:id="rId21"/>
    <p:sldId id="304" r:id="rId22"/>
    <p:sldId id="316" r:id="rId23"/>
    <p:sldId id="307" r:id="rId24"/>
    <p:sldId id="314" r:id="rId25"/>
    <p:sldId id="308" r:id="rId26"/>
    <p:sldId id="317" r:id="rId27"/>
    <p:sldId id="306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6" autoAdjust="0"/>
    <p:restoredTop sz="96314" autoAdjust="0"/>
  </p:normalViewPr>
  <p:slideViewPr>
    <p:cSldViewPr snapToGrid="0">
      <p:cViewPr varScale="1">
        <p:scale>
          <a:sx n="104" d="100"/>
          <a:sy n="104" d="100"/>
        </p:scale>
        <p:origin x="4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89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C52E-0173-A9C5-9C53-78603A58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6D5E44-D1CF-B4F0-DB35-AF9DAEEFE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9947A4-FE93-22A7-C3F6-854E7087C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26E8A3-3867-B245-56F0-9406E0F72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81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7FD8-3485-AD49-33A0-7C78D907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38AC4A-A020-DB40-3A96-6A2D59EE2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0E9EF2-8B4C-3880-559B-0F750ED8F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1FCF3F-FBE2-9E8D-191F-2226799A0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387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5A46-D9CE-B3B1-77CF-23DAE538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CD9605-066D-4049-1CD9-173F23739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AA2F9C-106E-4192-6254-03BD7705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9AB952-5D32-7D53-1A8F-795947F43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2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591D-C7E8-E559-8524-9E39F371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0F1412-DA49-25BF-C952-BFEFEA1E7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C5608-0F6C-6CA2-AD0F-81F198243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27D30C-9C11-F603-89E3-23131632F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766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EE2A-F7E4-B74C-55BA-491F20D7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27DCD3-51D0-70AC-96C8-ACA42A259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4E53ED-48E2-D119-3065-C26822699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AFFE33-86A7-1D27-751F-3B7AE4F17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B9ED47-EE91-4403-9E82-880EC51C5D5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90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sycnet.apa.org/doi/10.1037/0033-295X.85.2.5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2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3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sycnet.apa.org/doi/10.1037/0033-295X.85.2.59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5080" y="-5080"/>
            <a:ext cx="12205335" cy="6863080"/>
            <a:chOff x="-8" y="-8"/>
            <a:chExt cx="19221" cy="10808"/>
          </a:xfrm>
        </p:grpSpPr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3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28000">
                  <a:srgbClr val="FFFFFF">
                    <a:alpha val="100000"/>
                  </a:srgbClr>
                </a:gs>
                <a:gs pos="79000">
                  <a:schemeClr val="bg1">
                    <a:alpha val="92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-13970" y="0"/>
            <a:ext cx="12610854" cy="6858000"/>
          </a:xfrm>
          <a:prstGeom prst="rect">
            <a:avLst/>
          </a:prstGeom>
          <a:solidFill>
            <a:schemeClr val="accent2">
              <a:alpha val="9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/>
          <p:cNvSpPr txBox="1"/>
          <p:nvPr/>
        </p:nvSpPr>
        <p:spPr>
          <a:xfrm>
            <a:off x="1006475" y="1327280"/>
            <a:ext cx="10599420" cy="17877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Deep Insights into the Drift Diffusion Model: From Basics to Variants</a:t>
            </a:r>
            <a:endParaRPr lang="zh-CN" altLang="en-US" sz="4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7" name="文本占位符 85"/>
          <p:cNvSpPr txBox="1"/>
          <p:nvPr/>
        </p:nvSpPr>
        <p:spPr>
          <a:xfrm>
            <a:off x="1006475" y="4407514"/>
            <a:ext cx="5520614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Yong-Ming Tian, Zong-Yi Chen, Shiqi Liu, Yajie Li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006475" y="3775319"/>
            <a:ext cx="4292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349885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-1410335" y="16852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3265170" y="53854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946005" y="4836795"/>
            <a:ext cx="1659890" cy="173228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10287000" y="459105"/>
            <a:ext cx="1905000" cy="190500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5732780" y="107950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9222740" y="2101850"/>
            <a:ext cx="548640" cy="54864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C424B-55F7-3181-D224-59601F7A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C4A87C9-54D7-8AE5-7372-C1F0F654FD14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0ABE1AB5-69DB-4EDA-0D0E-844F21E7B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8C657A5-C818-627B-6BBD-FD78F5943727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1B9342E2-B7B3-FD29-3645-C98FBB24BA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3783B010-77C5-8B2C-2B02-941888C19343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26997F5-E628-5F25-3B78-489AE82ADB77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A0A0080E-311C-1901-2892-7653FCB05C48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48DC5273-6920-97D6-6923-6265F2BEA1F7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CC925BA6-19D4-0F8B-588E-900277322FF8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546BDC7-84F2-8E73-6748-4B45B82C272F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A902111-0CC9-3F24-3AFE-AFC689513984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B6E408D7-4E27-1A6F-D186-17FC208AA9A7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62734617-BCC9-433D-4187-A91E0FBC8E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61E038-E604-11FF-3091-99F57CD0EC6B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C55D42-30C8-919B-6F54-F329E7B37DF1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662138DF-D83D-3254-D16C-E4744F90BD0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EC4AD9-BE13-1E6E-C438-245093BB4DEC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D35F38-B78D-A9F3-0DB3-CC13A476D431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FD2A7500-53C9-58E4-18DC-E9CD3E2043D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46141D-B0AE-466B-C4EC-056D2E6F984F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EC383D-931D-9C74-8371-35061580F039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858FDB8C-D6BA-4370-74D2-1D9EEA18C7E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877ED2-CA80-EAF3-CE26-4DAD304134BC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B90F83C-151B-BE7C-250B-3CED53E0EE36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901E483B-F531-C7F9-45E3-8466039A22F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4CF970-73AE-1276-F142-28835F8C6D61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2963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3387577" y="1923819"/>
            <a:ext cx="11850077" cy="2450858"/>
            <a:chOff x="1" y="1895348"/>
            <a:chExt cx="7123176" cy="3143504"/>
          </a:xfrm>
        </p:grpSpPr>
        <p:sp>
          <p:nvSpPr>
            <p:cNvPr id="10" name="í$ḻídè"/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/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/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09272" y="468691"/>
            <a:ext cx="568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638155" y="640715"/>
            <a:ext cx="956310" cy="222250"/>
            <a:chOff x="16633" y="9089"/>
            <a:chExt cx="1506" cy="350"/>
          </a:xfrm>
        </p:grpSpPr>
        <p:grpSp>
          <p:nvGrpSpPr>
            <p:cNvPr id="49" name="组合 48"/>
            <p:cNvGrpSpPr/>
            <p:nvPr/>
          </p:nvGrpSpPr>
          <p:grpSpPr>
            <a:xfrm>
              <a:off x="16633" y="9089"/>
              <a:ext cx="351" cy="351"/>
              <a:chOff x="10882313" y="6396038"/>
              <a:chExt cx="303212" cy="303212"/>
            </a:xfrm>
          </p:grpSpPr>
          <p:sp>
            <p:nvSpPr>
              <p:cNvPr id="50" name="任意多边形: 形状 49"/>
              <p:cNvSpPr>
                <a:spLocks noChangeAspect="1"/>
              </p:cNvSpPr>
              <p:nvPr/>
            </p:nvSpPr>
            <p:spPr bwMode="auto">
              <a:xfrm>
                <a:off x="10982939" y="6442640"/>
                <a:ext cx="101961" cy="210009"/>
              </a:xfrm>
              <a:custGeom>
                <a:avLst/>
                <a:gdLst>
                  <a:gd name="connsiteX0" fmla="*/ 153435 w 326134"/>
                  <a:gd name="connsiteY0" fmla="*/ 529358 h 671736"/>
                  <a:gd name="connsiteX1" fmla="*/ 119645 w 326134"/>
                  <a:gd name="connsiteY1" fmla="*/ 546898 h 671736"/>
                  <a:gd name="connsiteX2" fmla="*/ 159446 w 326134"/>
                  <a:gd name="connsiteY2" fmla="*/ 561302 h 671736"/>
                  <a:gd name="connsiteX3" fmla="*/ 159446 w 326134"/>
                  <a:gd name="connsiteY3" fmla="*/ 529682 h 671736"/>
                  <a:gd name="connsiteX4" fmla="*/ 153435 w 326134"/>
                  <a:gd name="connsiteY4" fmla="*/ 529358 h 671736"/>
                  <a:gd name="connsiteX5" fmla="*/ 226631 w 326134"/>
                  <a:gd name="connsiteY5" fmla="*/ 422217 h 671736"/>
                  <a:gd name="connsiteX6" fmla="*/ 202308 w 326134"/>
                  <a:gd name="connsiteY6" fmla="*/ 424428 h 671736"/>
                  <a:gd name="connsiteX7" fmla="*/ 202308 w 326134"/>
                  <a:gd name="connsiteY7" fmla="*/ 474666 h 671736"/>
                  <a:gd name="connsiteX8" fmla="*/ 252558 w 326134"/>
                  <a:gd name="connsiteY8" fmla="*/ 441764 h 671736"/>
                  <a:gd name="connsiteX9" fmla="*/ 226631 w 326134"/>
                  <a:gd name="connsiteY9" fmla="*/ 422217 h 671736"/>
                  <a:gd name="connsiteX10" fmla="*/ 149921 w 326134"/>
                  <a:gd name="connsiteY10" fmla="*/ 298453 h 671736"/>
                  <a:gd name="connsiteX11" fmla="*/ 88390 w 326134"/>
                  <a:gd name="connsiteY11" fmla="*/ 343711 h 671736"/>
                  <a:gd name="connsiteX12" fmla="*/ 149921 w 326134"/>
                  <a:gd name="connsiteY12" fmla="*/ 379555 h 671736"/>
                  <a:gd name="connsiteX13" fmla="*/ 217727 w 326134"/>
                  <a:gd name="connsiteY13" fmla="*/ 142410 h 671736"/>
                  <a:gd name="connsiteX14" fmla="*/ 208658 w 326134"/>
                  <a:gd name="connsiteY14" fmla="*/ 143472 h 671736"/>
                  <a:gd name="connsiteX15" fmla="*/ 208658 w 326134"/>
                  <a:gd name="connsiteY15" fmla="*/ 222253 h 671736"/>
                  <a:gd name="connsiteX16" fmla="*/ 270961 w 326134"/>
                  <a:gd name="connsiteY16" fmla="*/ 166600 h 671736"/>
                  <a:gd name="connsiteX17" fmla="*/ 217727 w 326134"/>
                  <a:gd name="connsiteY17" fmla="*/ 142410 h 671736"/>
                  <a:gd name="connsiteX18" fmla="*/ 176946 w 326134"/>
                  <a:gd name="connsiteY18" fmla="*/ 57 h 671736"/>
                  <a:gd name="connsiteX19" fmla="*/ 222429 w 326134"/>
                  <a:gd name="connsiteY19" fmla="*/ 17460 h 671736"/>
                  <a:gd name="connsiteX20" fmla="*/ 209421 w 326134"/>
                  <a:gd name="connsiteY20" fmla="*/ 68451 h 671736"/>
                  <a:gd name="connsiteX21" fmla="*/ 209421 w 326134"/>
                  <a:gd name="connsiteY21" fmla="*/ 91957 h 671736"/>
                  <a:gd name="connsiteX22" fmla="*/ 325412 w 326134"/>
                  <a:gd name="connsiteY22" fmla="*/ 151627 h 671736"/>
                  <a:gd name="connsiteX23" fmla="*/ 205085 w 326134"/>
                  <a:gd name="connsiteY23" fmla="*/ 278199 h 671736"/>
                  <a:gd name="connsiteX24" fmla="*/ 205085 w 326134"/>
                  <a:gd name="connsiteY24" fmla="*/ 376202 h 671736"/>
                  <a:gd name="connsiteX25" fmla="*/ 304092 w 326134"/>
                  <a:gd name="connsiteY25" fmla="*/ 432979 h 671736"/>
                  <a:gd name="connsiteX26" fmla="*/ 193883 w 326134"/>
                  <a:gd name="connsiteY26" fmla="*/ 519409 h 671736"/>
                  <a:gd name="connsiteX27" fmla="*/ 193883 w 326134"/>
                  <a:gd name="connsiteY27" fmla="*/ 575101 h 671736"/>
                  <a:gd name="connsiteX28" fmla="*/ 326134 w 326134"/>
                  <a:gd name="connsiteY28" fmla="*/ 618859 h 671736"/>
                  <a:gd name="connsiteX29" fmla="*/ 194606 w 326134"/>
                  <a:gd name="connsiteY29" fmla="*/ 599692 h 671736"/>
                  <a:gd name="connsiteX30" fmla="*/ 170396 w 326134"/>
                  <a:gd name="connsiteY30" fmla="*/ 671658 h 671736"/>
                  <a:gd name="connsiteX31" fmla="*/ 159556 w 326134"/>
                  <a:gd name="connsiteY31" fmla="*/ 598246 h 671736"/>
                  <a:gd name="connsiteX32" fmla="*/ 63078 w 326134"/>
                  <a:gd name="connsiteY32" fmla="*/ 542192 h 671736"/>
                  <a:gd name="connsiteX33" fmla="*/ 153413 w 326134"/>
                  <a:gd name="connsiteY33" fmla="*/ 479630 h 671736"/>
                  <a:gd name="connsiteX34" fmla="*/ 153413 w 326134"/>
                  <a:gd name="connsiteY34" fmla="*/ 410919 h 671736"/>
                  <a:gd name="connsiteX35" fmla="*/ 38868 w 326134"/>
                  <a:gd name="connsiteY35" fmla="*/ 356312 h 671736"/>
                  <a:gd name="connsiteX36" fmla="*/ 149800 w 326134"/>
                  <a:gd name="connsiteY36" fmla="*/ 239142 h 671736"/>
                  <a:gd name="connsiteX37" fmla="*/ 149800 w 326134"/>
                  <a:gd name="connsiteY37" fmla="*/ 167177 h 671736"/>
                  <a:gd name="connsiteX38" fmla="*/ 11768 w 326134"/>
                  <a:gd name="connsiteY38" fmla="*/ 206234 h 671736"/>
                  <a:gd name="connsiteX39" fmla="*/ 27305 w 326134"/>
                  <a:gd name="connsiteY39" fmla="*/ 144756 h 671736"/>
                  <a:gd name="connsiteX40" fmla="*/ 148355 w 326134"/>
                  <a:gd name="connsiteY40" fmla="*/ 97743 h 671736"/>
                  <a:gd name="connsiteX41" fmla="*/ 148355 w 326134"/>
                  <a:gd name="connsiteY41" fmla="*/ 63750 h 671736"/>
                  <a:gd name="connsiteX42" fmla="*/ 134985 w 326134"/>
                  <a:gd name="connsiteY42" fmla="*/ 30117 h 671736"/>
                  <a:gd name="connsiteX43" fmla="*/ 176946 w 326134"/>
                  <a:gd name="connsiteY43" fmla="*/ 57 h 671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26134" h="671736">
                    <a:moveTo>
                      <a:pt x="153435" y="529358"/>
                    </a:moveTo>
                    <a:cubicBezTo>
                      <a:pt x="142586" y="529177"/>
                      <a:pt x="120751" y="530824"/>
                      <a:pt x="119645" y="546898"/>
                    </a:cubicBezTo>
                    <a:cubicBezTo>
                      <a:pt x="118171" y="568329"/>
                      <a:pt x="159446" y="561302"/>
                      <a:pt x="159446" y="561302"/>
                    </a:cubicBezTo>
                    <a:lnTo>
                      <a:pt x="159446" y="529682"/>
                    </a:lnTo>
                    <a:cubicBezTo>
                      <a:pt x="159446" y="529682"/>
                      <a:pt x="157051" y="529419"/>
                      <a:pt x="153435" y="529358"/>
                    </a:cubicBezTo>
                    <a:close/>
                    <a:moveTo>
                      <a:pt x="226631" y="422217"/>
                    </a:moveTo>
                    <a:cubicBezTo>
                      <a:pt x="214336" y="421509"/>
                      <a:pt x="202308" y="424428"/>
                      <a:pt x="202308" y="424428"/>
                    </a:cubicBezTo>
                    <a:lnTo>
                      <a:pt x="202308" y="474666"/>
                    </a:lnTo>
                    <a:cubicBezTo>
                      <a:pt x="202308" y="474666"/>
                      <a:pt x="254696" y="470421"/>
                      <a:pt x="252558" y="441764"/>
                    </a:cubicBezTo>
                    <a:cubicBezTo>
                      <a:pt x="251489" y="427259"/>
                      <a:pt x="238926" y="422925"/>
                      <a:pt x="226631" y="422217"/>
                    </a:cubicBezTo>
                    <a:close/>
                    <a:moveTo>
                      <a:pt x="149921" y="298453"/>
                    </a:moveTo>
                    <a:cubicBezTo>
                      <a:pt x="149921" y="298453"/>
                      <a:pt x="92302" y="306056"/>
                      <a:pt x="88390" y="343711"/>
                    </a:cubicBezTo>
                    <a:cubicBezTo>
                      <a:pt x="84833" y="381003"/>
                      <a:pt x="149921" y="379555"/>
                      <a:pt x="149921" y="379555"/>
                    </a:cubicBezTo>
                    <a:close/>
                    <a:moveTo>
                      <a:pt x="217727" y="142410"/>
                    </a:moveTo>
                    <a:cubicBezTo>
                      <a:pt x="212256" y="142839"/>
                      <a:pt x="208658" y="143472"/>
                      <a:pt x="208658" y="143472"/>
                    </a:cubicBezTo>
                    <a:lnTo>
                      <a:pt x="208658" y="222253"/>
                    </a:lnTo>
                    <a:cubicBezTo>
                      <a:pt x="208658" y="222253"/>
                      <a:pt x="275333" y="199486"/>
                      <a:pt x="270961" y="166600"/>
                    </a:cubicBezTo>
                    <a:cubicBezTo>
                      <a:pt x="267409" y="141665"/>
                      <a:pt x="234140" y="141123"/>
                      <a:pt x="217727" y="142410"/>
                    </a:cubicBezTo>
                    <a:close/>
                    <a:moveTo>
                      <a:pt x="176946" y="57"/>
                    </a:moveTo>
                    <a:cubicBezTo>
                      <a:pt x="197226" y="-712"/>
                      <a:pt x="218093" y="6431"/>
                      <a:pt x="222429" y="17460"/>
                    </a:cubicBezTo>
                    <a:cubicBezTo>
                      <a:pt x="231463" y="39520"/>
                      <a:pt x="209421" y="68451"/>
                      <a:pt x="209421" y="68451"/>
                    </a:cubicBezTo>
                    <a:lnTo>
                      <a:pt x="209421" y="91957"/>
                    </a:lnTo>
                    <a:cubicBezTo>
                      <a:pt x="324689" y="73514"/>
                      <a:pt x="325412" y="151627"/>
                      <a:pt x="325412" y="151627"/>
                    </a:cubicBezTo>
                    <a:cubicBezTo>
                      <a:pt x="323966" y="248907"/>
                      <a:pt x="205085" y="278199"/>
                      <a:pt x="205085" y="278199"/>
                    </a:cubicBezTo>
                    <a:lnTo>
                      <a:pt x="205085" y="376202"/>
                    </a:lnTo>
                    <a:cubicBezTo>
                      <a:pt x="205085" y="376202"/>
                      <a:pt x="301924" y="369693"/>
                      <a:pt x="304092" y="432979"/>
                    </a:cubicBezTo>
                    <a:cubicBezTo>
                      <a:pt x="306260" y="496265"/>
                      <a:pt x="193883" y="519409"/>
                      <a:pt x="193883" y="519409"/>
                    </a:cubicBezTo>
                    <a:lnTo>
                      <a:pt x="193883" y="575101"/>
                    </a:lnTo>
                    <a:cubicBezTo>
                      <a:pt x="220261" y="589205"/>
                      <a:pt x="326134" y="618859"/>
                      <a:pt x="326134" y="618859"/>
                    </a:cubicBezTo>
                    <a:cubicBezTo>
                      <a:pt x="293252" y="618859"/>
                      <a:pt x="194606" y="599692"/>
                      <a:pt x="194606" y="599692"/>
                    </a:cubicBezTo>
                    <a:cubicBezTo>
                      <a:pt x="195329" y="654661"/>
                      <a:pt x="180875" y="673104"/>
                      <a:pt x="170396" y="671658"/>
                    </a:cubicBezTo>
                    <a:cubicBezTo>
                      <a:pt x="160279" y="670211"/>
                      <a:pt x="159556" y="598246"/>
                      <a:pt x="159556" y="598246"/>
                    </a:cubicBezTo>
                    <a:cubicBezTo>
                      <a:pt x="159556" y="598246"/>
                      <a:pt x="66691" y="584865"/>
                      <a:pt x="63078" y="542192"/>
                    </a:cubicBezTo>
                    <a:cubicBezTo>
                      <a:pt x="59465" y="499519"/>
                      <a:pt x="153413" y="479630"/>
                      <a:pt x="153413" y="479630"/>
                    </a:cubicBezTo>
                    <a:lnTo>
                      <a:pt x="153413" y="410919"/>
                    </a:lnTo>
                    <a:cubicBezTo>
                      <a:pt x="153413" y="410919"/>
                      <a:pt x="47902" y="418152"/>
                      <a:pt x="38868" y="356312"/>
                    </a:cubicBezTo>
                    <a:cubicBezTo>
                      <a:pt x="30196" y="294473"/>
                      <a:pt x="149800" y="239142"/>
                      <a:pt x="149800" y="239142"/>
                    </a:cubicBezTo>
                    <a:lnTo>
                      <a:pt x="149800" y="167177"/>
                    </a:lnTo>
                    <a:cubicBezTo>
                      <a:pt x="90179" y="167177"/>
                      <a:pt x="32364" y="214190"/>
                      <a:pt x="11768" y="206234"/>
                    </a:cubicBezTo>
                    <a:cubicBezTo>
                      <a:pt x="-8829" y="197916"/>
                      <a:pt x="-1602" y="163922"/>
                      <a:pt x="27305" y="144756"/>
                    </a:cubicBezTo>
                    <a:cubicBezTo>
                      <a:pt x="55851" y="125951"/>
                      <a:pt x="148355" y="97743"/>
                      <a:pt x="148355" y="97743"/>
                    </a:cubicBezTo>
                    <a:lnTo>
                      <a:pt x="148355" y="63750"/>
                    </a:lnTo>
                    <a:cubicBezTo>
                      <a:pt x="127758" y="55794"/>
                      <a:pt x="134985" y="30117"/>
                      <a:pt x="134985" y="30117"/>
                    </a:cubicBezTo>
                    <a:cubicBezTo>
                      <a:pt x="136972" y="9504"/>
                      <a:pt x="156665" y="825"/>
                      <a:pt x="176946" y="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0882313" y="6396038"/>
                <a:ext cx="303212" cy="303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7211" y="9089"/>
              <a:ext cx="351" cy="351"/>
              <a:chOff x="11237431" y="6396038"/>
              <a:chExt cx="303212" cy="303212"/>
            </a:xfrm>
          </p:grpSpPr>
          <p:grpSp>
            <p:nvGrpSpPr>
              <p:cNvPr id="53" name="组合 52"/>
              <p:cNvGrpSpPr>
                <a:grpSpLocks noChangeAspect="1"/>
              </p:cNvGrpSpPr>
              <p:nvPr/>
            </p:nvGrpSpPr>
            <p:grpSpPr>
              <a:xfrm>
                <a:off x="11294041" y="6451104"/>
                <a:ext cx="213972" cy="210009"/>
                <a:chOff x="3263255" y="1417662"/>
                <a:chExt cx="415236" cy="407545"/>
              </a:xfrm>
              <a:solidFill>
                <a:schemeClr val="accent4"/>
              </a:solidFill>
            </p:grpSpPr>
            <p:sp>
              <p:nvSpPr>
                <p:cNvPr id="55" name="Freeform 99"/>
                <p:cNvSpPr/>
                <p:nvPr/>
              </p:nvSpPr>
              <p:spPr bwMode="auto">
                <a:xfrm>
                  <a:off x="3263255" y="1452265"/>
                  <a:ext cx="63439" cy="74973"/>
                </a:xfrm>
                <a:custGeom>
                  <a:avLst/>
                  <a:gdLst>
                    <a:gd name="T0" fmla="*/ 380 w 437"/>
                    <a:gd name="T1" fmla="*/ 0 h 517"/>
                    <a:gd name="T2" fmla="*/ 356 w 437"/>
                    <a:gd name="T3" fmla="*/ 326 h 517"/>
                    <a:gd name="T4" fmla="*/ 110 w 437"/>
                    <a:gd name="T5" fmla="*/ 517 h 517"/>
                    <a:gd name="T6" fmla="*/ 380 w 437"/>
                    <a:gd name="T7" fmla="*/ 0 h 5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37" h="517">
                      <a:moveTo>
                        <a:pt x="380" y="0"/>
                      </a:moveTo>
                      <a:cubicBezTo>
                        <a:pt x="380" y="0"/>
                        <a:pt x="437" y="159"/>
                        <a:pt x="356" y="326"/>
                      </a:cubicBezTo>
                      <a:cubicBezTo>
                        <a:pt x="275" y="493"/>
                        <a:pt x="110" y="517"/>
                        <a:pt x="110" y="517"/>
                      </a:cubicBezTo>
                      <a:cubicBezTo>
                        <a:pt x="110" y="517"/>
                        <a:pt x="0" y="98"/>
                        <a:pt x="380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Freeform 100"/>
                <p:cNvSpPr/>
                <p:nvPr/>
              </p:nvSpPr>
              <p:spPr bwMode="auto">
                <a:xfrm>
                  <a:off x="3318364" y="1466363"/>
                  <a:ext cx="80100" cy="84585"/>
                </a:xfrm>
                <a:custGeom>
                  <a:avLst/>
                  <a:gdLst>
                    <a:gd name="T0" fmla="*/ 368 w 547"/>
                    <a:gd name="T1" fmla="*/ 0 h 581"/>
                    <a:gd name="T2" fmla="*/ 525 w 547"/>
                    <a:gd name="T3" fmla="*/ 257 h 581"/>
                    <a:gd name="T4" fmla="*/ 370 w 547"/>
                    <a:gd name="T5" fmla="*/ 581 h 581"/>
                    <a:gd name="T6" fmla="*/ 368 w 547"/>
                    <a:gd name="T7" fmla="*/ 0 h 5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47" h="581">
                      <a:moveTo>
                        <a:pt x="368" y="0"/>
                      </a:moveTo>
                      <a:cubicBezTo>
                        <a:pt x="368" y="0"/>
                        <a:pt x="502" y="78"/>
                        <a:pt x="525" y="257"/>
                      </a:cubicBezTo>
                      <a:cubicBezTo>
                        <a:pt x="547" y="436"/>
                        <a:pt x="370" y="581"/>
                        <a:pt x="370" y="581"/>
                      </a:cubicBezTo>
                      <a:cubicBezTo>
                        <a:pt x="370" y="581"/>
                        <a:pt x="0" y="276"/>
                        <a:pt x="36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Freeform 101"/>
                <p:cNvSpPr/>
                <p:nvPr/>
              </p:nvSpPr>
              <p:spPr bwMode="auto">
                <a:xfrm>
                  <a:off x="3392696" y="1417662"/>
                  <a:ext cx="73051" cy="99964"/>
                </a:xfrm>
                <a:custGeom>
                  <a:avLst/>
                  <a:gdLst>
                    <a:gd name="T0" fmla="*/ 298 w 500"/>
                    <a:gd name="T1" fmla="*/ 0 h 683"/>
                    <a:gd name="T2" fmla="*/ 491 w 500"/>
                    <a:gd name="T3" fmla="*/ 324 h 683"/>
                    <a:gd name="T4" fmla="*/ 355 w 500"/>
                    <a:gd name="T5" fmla="*/ 683 h 683"/>
                    <a:gd name="T6" fmla="*/ 298 w 500"/>
                    <a:gd name="T7" fmla="*/ 0 h 6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00" h="683">
                      <a:moveTo>
                        <a:pt x="298" y="0"/>
                      </a:moveTo>
                      <a:cubicBezTo>
                        <a:pt x="298" y="0"/>
                        <a:pt x="483" y="145"/>
                        <a:pt x="491" y="324"/>
                      </a:cubicBezTo>
                      <a:cubicBezTo>
                        <a:pt x="500" y="504"/>
                        <a:pt x="355" y="683"/>
                        <a:pt x="355" y="683"/>
                      </a:cubicBezTo>
                      <a:cubicBezTo>
                        <a:pt x="355" y="683"/>
                        <a:pt x="0" y="316"/>
                        <a:pt x="29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Freeform 102"/>
                <p:cNvSpPr/>
                <p:nvPr/>
              </p:nvSpPr>
              <p:spPr bwMode="auto">
                <a:xfrm>
                  <a:off x="3489456" y="1438808"/>
                  <a:ext cx="71128" cy="71128"/>
                </a:xfrm>
                <a:custGeom>
                  <a:avLst/>
                  <a:gdLst>
                    <a:gd name="T0" fmla="*/ 449 w 486"/>
                    <a:gd name="T1" fmla="*/ 0 h 487"/>
                    <a:gd name="T2" fmla="*/ 344 w 486"/>
                    <a:gd name="T3" fmla="*/ 363 h 487"/>
                    <a:gd name="T4" fmla="*/ 39 w 486"/>
                    <a:gd name="T5" fmla="*/ 469 h 487"/>
                    <a:gd name="T6" fmla="*/ 449 w 486"/>
                    <a:gd name="T7" fmla="*/ 0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86" h="487">
                      <a:moveTo>
                        <a:pt x="449" y="0"/>
                      </a:moveTo>
                      <a:cubicBezTo>
                        <a:pt x="449" y="0"/>
                        <a:pt x="486" y="238"/>
                        <a:pt x="344" y="363"/>
                      </a:cubicBezTo>
                      <a:cubicBezTo>
                        <a:pt x="201" y="487"/>
                        <a:pt x="39" y="469"/>
                        <a:pt x="39" y="469"/>
                      </a:cubicBezTo>
                      <a:cubicBezTo>
                        <a:pt x="39" y="469"/>
                        <a:pt x="0" y="100"/>
                        <a:pt x="449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Freeform 103"/>
                <p:cNvSpPr/>
                <p:nvPr/>
              </p:nvSpPr>
              <p:spPr bwMode="auto">
                <a:xfrm>
                  <a:off x="3579808" y="1471489"/>
                  <a:ext cx="97401" cy="74973"/>
                </a:xfrm>
                <a:custGeom>
                  <a:avLst/>
                  <a:gdLst>
                    <a:gd name="T0" fmla="*/ 669 w 669"/>
                    <a:gd name="T1" fmla="*/ 179 h 512"/>
                    <a:gd name="T2" fmla="*/ 358 w 669"/>
                    <a:gd name="T3" fmla="*/ 0 h 512"/>
                    <a:gd name="T4" fmla="*/ 0 w 669"/>
                    <a:gd name="T5" fmla="*/ 141 h 512"/>
                    <a:gd name="T6" fmla="*/ 669 w 669"/>
                    <a:gd name="T7" fmla="*/ 179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9" h="512">
                      <a:moveTo>
                        <a:pt x="669" y="179"/>
                      </a:moveTo>
                      <a:cubicBezTo>
                        <a:pt x="669" y="179"/>
                        <a:pt x="557" y="0"/>
                        <a:pt x="358" y="0"/>
                      </a:cubicBezTo>
                      <a:cubicBezTo>
                        <a:pt x="159" y="0"/>
                        <a:pt x="0" y="141"/>
                        <a:pt x="0" y="141"/>
                      </a:cubicBezTo>
                      <a:cubicBezTo>
                        <a:pt x="0" y="141"/>
                        <a:pt x="267" y="512"/>
                        <a:pt x="669" y="179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Freeform 104"/>
                <p:cNvSpPr/>
                <p:nvPr/>
              </p:nvSpPr>
              <p:spPr bwMode="auto">
                <a:xfrm>
                  <a:off x="3506117" y="1518267"/>
                  <a:ext cx="109576" cy="71769"/>
                </a:xfrm>
                <a:custGeom>
                  <a:avLst/>
                  <a:gdLst>
                    <a:gd name="T0" fmla="*/ 752 w 752"/>
                    <a:gd name="T1" fmla="*/ 171 h 489"/>
                    <a:gd name="T2" fmla="*/ 380 w 752"/>
                    <a:gd name="T3" fmla="*/ 10 h 489"/>
                    <a:gd name="T4" fmla="*/ 0 w 752"/>
                    <a:gd name="T5" fmla="*/ 153 h 489"/>
                    <a:gd name="T6" fmla="*/ 752 w 752"/>
                    <a:gd name="T7" fmla="*/ 171 h 4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2" h="489">
                      <a:moveTo>
                        <a:pt x="752" y="171"/>
                      </a:moveTo>
                      <a:cubicBezTo>
                        <a:pt x="752" y="171"/>
                        <a:pt x="577" y="0"/>
                        <a:pt x="380" y="10"/>
                      </a:cubicBezTo>
                      <a:cubicBezTo>
                        <a:pt x="183" y="20"/>
                        <a:pt x="0" y="153"/>
                        <a:pt x="0" y="153"/>
                      </a:cubicBezTo>
                      <a:cubicBezTo>
                        <a:pt x="0" y="153"/>
                        <a:pt x="324" y="489"/>
                        <a:pt x="752" y="17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105"/>
                <p:cNvSpPr/>
                <p:nvPr/>
              </p:nvSpPr>
              <p:spPr bwMode="auto">
                <a:xfrm>
                  <a:off x="3602236" y="1568249"/>
                  <a:ext cx="76255" cy="69847"/>
                </a:xfrm>
                <a:custGeom>
                  <a:avLst/>
                  <a:gdLst>
                    <a:gd name="T0" fmla="*/ 526 w 526"/>
                    <a:gd name="T1" fmla="*/ 361 h 477"/>
                    <a:gd name="T2" fmla="*/ 339 w 526"/>
                    <a:gd name="T3" fmla="*/ 76 h 477"/>
                    <a:gd name="T4" fmla="*/ 0 w 526"/>
                    <a:gd name="T5" fmla="*/ 66 h 477"/>
                    <a:gd name="T6" fmla="*/ 526 w 526"/>
                    <a:gd name="T7" fmla="*/ 361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26" h="477">
                      <a:moveTo>
                        <a:pt x="526" y="361"/>
                      </a:moveTo>
                      <a:cubicBezTo>
                        <a:pt x="526" y="361"/>
                        <a:pt x="485" y="151"/>
                        <a:pt x="339" y="76"/>
                      </a:cubicBezTo>
                      <a:cubicBezTo>
                        <a:pt x="193" y="0"/>
                        <a:pt x="0" y="66"/>
                        <a:pt x="0" y="66"/>
                      </a:cubicBezTo>
                      <a:cubicBezTo>
                        <a:pt x="0" y="66"/>
                        <a:pt x="97" y="477"/>
                        <a:pt x="526" y="361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106"/>
                <p:cNvSpPr/>
                <p:nvPr/>
              </p:nvSpPr>
              <p:spPr bwMode="auto">
                <a:xfrm>
                  <a:off x="3525981" y="1586191"/>
                  <a:ext cx="77536" cy="65361"/>
                </a:xfrm>
                <a:custGeom>
                  <a:avLst/>
                  <a:gdLst>
                    <a:gd name="T0" fmla="*/ 531 w 531"/>
                    <a:gd name="T1" fmla="*/ 326 h 446"/>
                    <a:gd name="T2" fmla="*/ 305 w 531"/>
                    <a:gd name="T3" fmla="*/ 44 h 446"/>
                    <a:gd name="T4" fmla="*/ 0 w 531"/>
                    <a:gd name="T5" fmla="*/ 38 h 446"/>
                    <a:gd name="T6" fmla="*/ 531 w 531"/>
                    <a:gd name="T7" fmla="*/ 326 h 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31" h="446">
                      <a:moveTo>
                        <a:pt x="531" y="326"/>
                      </a:moveTo>
                      <a:cubicBezTo>
                        <a:pt x="531" y="326"/>
                        <a:pt x="435" y="89"/>
                        <a:pt x="305" y="44"/>
                      </a:cubicBezTo>
                      <a:cubicBezTo>
                        <a:pt x="175" y="0"/>
                        <a:pt x="0" y="38"/>
                        <a:pt x="0" y="38"/>
                      </a:cubicBezTo>
                      <a:cubicBezTo>
                        <a:pt x="0" y="38"/>
                        <a:pt x="96" y="446"/>
                        <a:pt x="531" y="326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107"/>
                <p:cNvSpPr/>
                <p:nvPr/>
              </p:nvSpPr>
              <p:spPr bwMode="auto">
                <a:xfrm>
                  <a:off x="3406153" y="1539413"/>
                  <a:ext cx="101246" cy="87789"/>
                </a:xfrm>
                <a:custGeom>
                  <a:avLst/>
                  <a:gdLst>
                    <a:gd name="T0" fmla="*/ 697 w 697"/>
                    <a:gd name="T1" fmla="*/ 232 h 599"/>
                    <a:gd name="T2" fmla="*/ 433 w 697"/>
                    <a:gd name="T3" fmla="*/ 24 h 599"/>
                    <a:gd name="T4" fmla="*/ 0 w 697"/>
                    <a:gd name="T5" fmla="*/ 140 h 599"/>
                    <a:gd name="T6" fmla="*/ 697 w 697"/>
                    <a:gd name="T7" fmla="*/ 232 h 5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97" h="599">
                      <a:moveTo>
                        <a:pt x="697" y="232"/>
                      </a:moveTo>
                      <a:cubicBezTo>
                        <a:pt x="697" y="232"/>
                        <a:pt x="616" y="49"/>
                        <a:pt x="433" y="24"/>
                      </a:cubicBezTo>
                      <a:cubicBezTo>
                        <a:pt x="250" y="0"/>
                        <a:pt x="0" y="140"/>
                        <a:pt x="0" y="140"/>
                      </a:cubicBezTo>
                      <a:cubicBezTo>
                        <a:pt x="0" y="140"/>
                        <a:pt x="356" y="599"/>
                        <a:pt x="697" y="2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108"/>
                <p:cNvSpPr/>
                <p:nvPr/>
              </p:nvSpPr>
              <p:spPr bwMode="auto">
                <a:xfrm>
                  <a:off x="3408716" y="1601570"/>
                  <a:ext cx="89071" cy="70487"/>
                </a:xfrm>
                <a:custGeom>
                  <a:avLst/>
                  <a:gdLst>
                    <a:gd name="T0" fmla="*/ 614 w 614"/>
                    <a:gd name="T1" fmla="*/ 324 h 483"/>
                    <a:gd name="T2" fmla="*/ 356 w 614"/>
                    <a:gd name="T3" fmla="*/ 49 h 483"/>
                    <a:gd name="T4" fmla="*/ 0 w 614"/>
                    <a:gd name="T5" fmla="*/ 67 h 483"/>
                    <a:gd name="T6" fmla="*/ 614 w 614"/>
                    <a:gd name="T7" fmla="*/ 324 h 4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14" h="483">
                      <a:moveTo>
                        <a:pt x="614" y="324"/>
                      </a:moveTo>
                      <a:cubicBezTo>
                        <a:pt x="614" y="324"/>
                        <a:pt x="466" y="97"/>
                        <a:pt x="356" y="49"/>
                      </a:cubicBezTo>
                      <a:cubicBezTo>
                        <a:pt x="246" y="0"/>
                        <a:pt x="0" y="67"/>
                        <a:pt x="0" y="67"/>
                      </a:cubicBezTo>
                      <a:cubicBezTo>
                        <a:pt x="0" y="67"/>
                        <a:pt x="132" y="483"/>
                        <a:pt x="614" y="324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" name="Freeform 109"/>
                <p:cNvSpPr/>
                <p:nvPr/>
              </p:nvSpPr>
              <p:spPr bwMode="auto">
                <a:xfrm>
                  <a:off x="3503554" y="1609901"/>
                  <a:ext cx="74332" cy="171092"/>
                </a:xfrm>
                <a:custGeom>
                  <a:avLst/>
                  <a:gdLst>
                    <a:gd name="T0" fmla="*/ 0 w 508"/>
                    <a:gd name="T1" fmla="*/ 0 h 1171"/>
                    <a:gd name="T2" fmla="*/ 51 w 508"/>
                    <a:gd name="T3" fmla="*/ 187 h 1171"/>
                    <a:gd name="T4" fmla="*/ 282 w 508"/>
                    <a:gd name="T5" fmla="*/ 587 h 1171"/>
                    <a:gd name="T6" fmla="*/ 323 w 508"/>
                    <a:gd name="T7" fmla="*/ 1171 h 1171"/>
                    <a:gd name="T8" fmla="*/ 0 w 508"/>
                    <a:gd name="T9" fmla="*/ 0 h 11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8" h="1171">
                      <a:moveTo>
                        <a:pt x="0" y="0"/>
                      </a:moveTo>
                      <a:lnTo>
                        <a:pt x="51" y="187"/>
                      </a:lnTo>
                      <a:cubicBezTo>
                        <a:pt x="51" y="187"/>
                        <a:pt x="227" y="313"/>
                        <a:pt x="282" y="587"/>
                      </a:cubicBezTo>
                      <a:cubicBezTo>
                        <a:pt x="337" y="860"/>
                        <a:pt x="323" y="1171"/>
                        <a:pt x="323" y="1171"/>
                      </a:cubicBezTo>
                      <a:cubicBezTo>
                        <a:pt x="323" y="1171"/>
                        <a:pt x="508" y="3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110"/>
                <p:cNvSpPr/>
                <p:nvPr/>
              </p:nvSpPr>
              <p:spPr bwMode="auto">
                <a:xfrm>
                  <a:off x="3436911" y="1665650"/>
                  <a:ext cx="54468" cy="112780"/>
                </a:xfrm>
                <a:custGeom>
                  <a:avLst/>
                  <a:gdLst>
                    <a:gd name="T0" fmla="*/ 171 w 372"/>
                    <a:gd name="T1" fmla="*/ 20 h 772"/>
                    <a:gd name="T2" fmla="*/ 0 w 372"/>
                    <a:gd name="T3" fmla="*/ 0 h 772"/>
                    <a:gd name="T4" fmla="*/ 187 w 372"/>
                    <a:gd name="T5" fmla="*/ 354 h 772"/>
                    <a:gd name="T6" fmla="*/ 198 w 372"/>
                    <a:gd name="T7" fmla="*/ 772 h 772"/>
                    <a:gd name="T8" fmla="*/ 171 w 372"/>
                    <a:gd name="T9" fmla="*/ 20 h 7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2" h="772">
                      <a:moveTo>
                        <a:pt x="171" y="20"/>
                      </a:moveTo>
                      <a:lnTo>
                        <a:pt x="0" y="0"/>
                      </a:lnTo>
                      <a:cubicBezTo>
                        <a:pt x="0" y="0"/>
                        <a:pt x="139" y="149"/>
                        <a:pt x="187" y="354"/>
                      </a:cubicBezTo>
                      <a:cubicBezTo>
                        <a:pt x="236" y="560"/>
                        <a:pt x="198" y="772"/>
                        <a:pt x="198" y="772"/>
                      </a:cubicBezTo>
                      <a:cubicBezTo>
                        <a:pt x="198" y="772"/>
                        <a:pt x="372" y="491"/>
                        <a:pt x="171" y="2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111"/>
                <p:cNvSpPr/>
                <p:nvPr/>
              </p:nvSpPr>
              <p:spPr bwMode="auto">
                <a:xfrm>
                  <a:off x="3290169" y="1548384"/>
                  <a:ext cx="148024" cy="276823"/>
                </a:xfrm>
                <a:custGeom>
                  <a:avLst/>
                  <a:gdLst>
                    <a:gd name="T0" fmla="*/ 752 w 1017"/>
                    <a:gd name="T1" fmla="*/ 208 h 1899"/>
                    <a:gd name="T2" fmla="*/ 399 w 1017"/>
                    <a:gd name="T3" fmla="*/ 966 h 1899"/>
                    <a:gd name="T4" fmla="*/ 1017 w 1017"/>
                    <a:gd name="T5" fmla="*/ 1899 h 1899"/>
                    <a:gd name="T6" fmla="*/ 521 w 1017"/>
                    <a:gd name="T7" fmla="*/ 1879 h 1899"/>
                    <a:gd name="T8" fmla="*/ 407 w 1017"/>
                    <a:gd name="T9" fmla="*/ 489 h 1899"/>
                    <a:gd name="T10" fmla="*/ 281 w 1017"/>
                    <a:gd name="T11" fmla="*/ 0 h 1899"/>
                    <a:gd name="T12" fmla="*/ 492 w 1017"/>
                    <a:gd name="T13" fmla="*/ 379 h 1899"/>
                    <a:gd name="T14" fmla="*/ 598 w 1017"/>
                    <a:gd name="T15" fmla="*/ 269 h 1899"/>
                    <a:gd name="T16" fmla="*/ 752 w 1017"/>
                    <a:gd name="T17" fmla="*/ 208 h 18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17" h="1899">
                      <a:moveTo>
                        <a:pt x="752" y="208"/>
                      </a:moveTo>
                      <a:cubicBezTo>
                        <a:pt x="752" y="208"/>
                        <a:pt x="354" y="456"/>
                        <a:pt x="399" y="966"/>
                      </a:cubicBezTo>
                      <a:cubicBezTo>
                        <a:pt x="443" y="1475"/>
                        <a:pt x="1017" y="1899"/>
                        <a:pt x="1017" y="1899"/>
                      </a:cubicBezTo>
                      <a:lnTo>
                        <a:pt x="521" y="1879"/>
                      </a:lnTo>
                      <a:cubicBezTo>
                        <a:pt x="521" y="1879"/>
                        <a:pt x="0" y="1161"/>
                        <a:pt x="407" y="489"/>
                      </a:cubicBezTo>
                      <a:cubicBezTo>
                        <a:pt x="407" y="489"/>
                        <a:pt x="460" y="191"/>
                        <a:pt x="281" y="0"/>
                      </a:cubicBezTo>
                      <a:cubicBezTo>
                        <a:pt x="281" y="0"/>
                        <a:pt x="472" y="142"/>
                        <a:pt x="492" y="379"/>
                      </a:cubicBezTo>
                      <a:cubicBezTo>
                        <a:pt x="492" y="379"/>
                        <a:pt x="543" y="326"/>
                        <a:pt x="598" y="269"/>
                      </a:cubicBezTo>
                      <a:cubicBezTo>
                        <a:pt x="653" y="212"/>
                        <a:pt x="752" y="208"/>
                        <a:pt x="752" y="208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1237431" y="6396038"/>
                <a:ext cx="303212" cy="303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17789" y="9089"/>
              <a:ext cx="351" cy="351"/>
              <a:chOff x="11616276" y="6396038"/>
              <a:chExt cx="303212" cy="303212"/>
            </a:xfrm>
          </p:grpSpPr>
          <p:grpSp>
            <p:nvGrpSpPr>
              <p:cNvPr id="69" name="组合 68"/>
              <p:cNvGrpSpPr>
                <a:grpSpLocks noChangeAspect="1"/>
              </p:cNvGrpSpPr>
              <p:nvPr/>
            </p:nvGrpSpPr>
            <p:grpSpPr>
              <a:xfrm>
                <a:off x="11641148" y="6471951"/>
                <a:ext cx="253468" cy="151386"/>
                <a:chOff x="2655835" y="2119973"/>
                <a:chExt cx="793944" cy="474188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71" name="任意多边形: 形状 70"/>
                <p:cNvSpPr/>
                <p:nvPr/>
              </p:nvSpPr>
              <p:spPr bwMode="auto">
                <a:xfrm>
                  <a:off x="2699409" y="2278890"/>
                  <a:ext cx="705515" cy="314630"/>
                </a:xfrm>
                <a:custGeom>
                  <a:avLst/>
                  <a:gdLst>
                    <a:gd name="connsiteX0" fmla="*/ 1425576 w 1747838"/>
                    <a:gd name="connsiteY0" fmla="*/ 322262 h 779463"/>
                    <a:gd name="connsiteX1" fmla="*/ 1376363 w 1747838"/>
                    <a:gd name="connsiteY1" fmla="*/ 326643 h 779463"/>
                    <a:gd name="connsiteX2" fmla="*/ 1376363 w 1747838"/>
                    <a:gd name="connsiteY2" fmla="*/ 390525 h 779463"/>
                    <a:gd name="connsiteX3" fmla="*/ 1425576 w 1747838"/>
                    <a:gd name="connsiteY3" fmla="*/ 383954 h 779463"/>
                    <a:gd name="connsiteX4" fmla="*/ 327025 w 1747838"/>
                    <a:gd name="connsiteY4" fmla="*/ 322262 h 779463"/>
                    <a:gd name="connsiteX5" fmla="*/ 327025 w 1747838"/>
                    <a:gd name="connsiteY5" fmla="*/ 383954 h 779463"/>
                    <a:gd name="connsiteX6" fmla="*/ 376238 w 1747838"/>
                    <a:gd name="connsiteY6" fmla="*/ 390525 h 779463"/>
                    <a:gd name="connsiteX7" fmla="*/ 376238 w 1747838"/>
                    <a:gd name="connsiteY7" fmla="*/ 326643 h 779463"/>
                    <a:gd name="connsiteX8" fmla="*/ 1524000 w 1747838"/>
                    <a:gd name="connsiteY8" fmla="*/ 312737 h 779463"/>
                    <a:gd name="connsiteX9" fmla="*/ 1476375 w 1747838"/>
                    <a:gd name="connsiteY9" fmla="*/ 315581 h 779463"/>
                    <a:gd name="connsiteX10" fmla="*/ 1476375 w 1747838"/>
                    <a:gd name="connsiteY10" fmla="*/ 381000 h 779463"/>
                    <a:gd name="connsiteX11" fmla="*/ 1524000 w 1747838"/>
                    <a:gd name="connsiteY11" fmla="*/ 372112 h 779463"/>
                    <a:gd name="connsiteX12" fmla="*/ 228600 w 1747838"/>
                    <a:gd name="connsiteY12" fmla="*/ 312737 h 779463"/>
                    <a:gd name="connsiteX13" fmla="*/ 228600 w 1747838"/>
                    <a:gd name="connsiteY13" fmla="*/ 372112 h 779463"/>
                    <a:gd name="connsiteX14" fmla="*/ 276225 w 1747838"/>
                    <a:gd name="connsiteY14" fmla="*/ 381000 h 779463"/>
                    <a:gd name="connsiteX15" fmla="*/ 276225 w 1747838"/>
                    <a:gd name="connsiteY15" fmla="*/ 315581 h 779463"/>
                    <a:gd name="connsiteX16" fmla="*/ 1625600 w 1747838"/>
                    <a:gd name="connsiteY16" fmla="*/ 292100 h 779463"/>
                    <a:gd name="connsiteX17" fmla="*/ 1574800 w 1747838"/>
                    <a:gd name="connsiteY17" fmla="*/ 303285 h 779463"/>
                    <a:gd name="connsiteX18" fmla="*/ 1574800 w 1747838"/>
                    <a:gd name="connsiteY18" fmla="*/ 363538 h 779463"/>
                    <a:gd name="connsiteX19" fmla="*/ 1625600 w 1747838"/>
                    <a:gd name="connsiteY19" fmla="*/ 353075 h 779463"/>
                    <a:gd name="connsiteX20" fmla="*/ 127000 w 1747838"/>
                    <a:gd name="connsiteY20" fmla="*/ 292100 h 779463"/>
                    <a:gd name="connsiteX21" fmla="*/ 127000 w 1747838"/>
                    <a:gd name="connsiteY21" fmla="*/ 353075 h 779463"/>
                    <a:gd name="connsiteX22" fmla="*/ 177800 w 1747838"/>
                    <a:gd name="connsiteY22" fmla="*/ 363538 h 779463"/>
                    <a:gd name="connsiteX23" fmla="*/ 177800 w 1747838"/>
                    <a:gd name="connsiteY23" fmla="*/ 303285 h 779463"/>
                    <a:gd name="connsiteX24" fmla="*/ 425450 w 1747838"/>
                    <a:gd name="connsiteY24" fmla="*/ 290512 h 779463"/>
                    <a:gd name="connsiteX25" fmla="*/ 425450 w 1747838"/>
                    <a:gd name="connsiteY25" fmla="*/ 354012 h 779463"/>
                    <a:gd name="connsiteX26" fmla="*/ 1327150 w 1747838"/>
                    <a:gd name="connsiteY26" fmla="*/ 354012 h 779463"/>
                    <a:gd name="connsiteX27" fmla="*/ 1327150 w 1747838"/>
                    <a:gd name="connsiteY27" fmla="*/ 290512 h 779463"/>
                    <a:gd name="connsiteX28" fmla="*/ 1714501 w 1747838"/>
                    <a:gd name="connsiteY28" fmla="*/ 276225 h 779463"/>
                    <a:gd name="connsiteX29" fmla="*/ 1671638 w 1747838"/>
                    <a:gd name="connsiteY29" fmla="*/ 280963 h 779463"/>
                    <a:gd name="connsiteX30" fmla="*/ 1671638 w 1747838"/>
                    <a:gd name="connsiteY30" fmla="*/ 347663 h 779463"/>
                    <a:gd name="connsiteX31" fmla="*/ 1714501 w 1747838"/>
                    <a:gd name="connsiteY31" fmla="*/ 346205 h 779463"/>
                    <a:gd name="connsiteX32" fmla="*/ 38100 w 1747838"/>
                    <a:gd name="connsiteY32" fmla="*/ 276225 h 779463"/>
                    <a:gd name="connsiteX33" fmla="*/ 38100 w 1747838"/>
                    <a:gd name="connsiteY33" fmla="*/ 346205 h 779463"/>
                    <a:gd name="connsiteX34" fmla="*/ 80963 w 1747838"/>
                    <a:gd name="connsiteY34" fmla="*/ 347663 h 779463"/>
                    <a:gd name="connsiteX35" fmla="*/ 80963 w 1747838"/>
                    <a:gd name="connsiteY35" fmla="*/ 280963 h 779463"/>
                    <a:gd name="connsiteX36" fmla="*/ 876335 w 1747838"/>
                    <a:gd name="connsiteY36" fmla="*/ 96837 h 779463"/>
                    <a:gd name="connsiteX37" fmla="*/ 547688 w 1747838"/>
                    <a:gd name="connsiteY37" fmla="*/ 265112 h 779463"/>
                    <a:gd name="connsiteX38" fmla="*/ 1209676 w 1747838"/>
                    <a:gd name="connsiteY38" fmla="*/ 265112 h 779463"/>
                    <a:gd name="connsiteX39" fmla="*/ 1011507 w 1747838"/>
                    <a:gd name="connsiteY39" fmla="*/ 0 h 779463"/>
                    <a:gd name="connsiteX40" fmla="*/ 1112261 w 1747838"/>
                    <a:gd name="connsiteY40" fmla="*/ 0 h 779463"/>
                    <a:gd name="connsiteX41" fmla="*/ 1112261 w 1747838"/>
                    <a:gd name="connsiteY41" fmla="*/ 158204 h 779463"/>
                    <a:gd name="connsiteX42" fmla="*/ 1163540 w 1747838"/>
                    <a:gd name="connsiteY42" fmla="*/ 177348 h 779463"/>
                    <a:gd name="connsiteX43" fmla="*/ 1163540 w 1747838"/>
                    <a:gd name="connsiteY43" fmla="*/ 5418 h 779463"/>
                    <a:gd name="connsiteX44" fmla="*/ 1226737 w 1747838"/>
                    <a:gd name="connsiteY44" fmla="*/ 5418 h 779463"/>
                    <a:gd name="connsiteX45" fmla="*/ 1226737 w 1747838"/>
                    <a:gd name="connsiteY45" fmla="*/ 209133 h 779463"/>
                    <a:gd name="connsiteX46" fmla="*/ 1332546 w 1747838"/>
                    <a:gd name="connsiteY46" fmla="*/ 268731 h 779463"/>
                    <a:gd name="connsiteX47" fmla="*/ 1747838 w 1747838"/>
                    <a:gd name="connsiteY47" fmla="*/ 184211 h 779463"/>
                    <a:gd name="connsiteX48" fmla="*/ 1747838 w 1747838"/>
                    <a:gd name="connsiteY48" fmla="*/ 224665 h 779463"/>
                    <a:gd name="connsiteX49" fmla="*/ 1342658 w 1747838"/>
                    <a:gd name="connsiteY49" fmla="*/ 285707 h 779463"/>
                    <a:gd name="connsiteX50" fmla="*/ 1348074 w 1747838"/>
                    <a:gd name="connsiteY50" fmla="*/ 305212 h 779463"/>
                    <a:gd name="connsiteX51" fmla="*/ 1746394 w 1747838"/>
                    <a:gd name="connsiteY51" fmla="*/ 251754 h 779463"/>
                    <a:gd name="connsiteX52" fmla="*/ 1746394 w 1747838"/>
                    <a:gd name="connsiteY52" fmla="*/ 775851 h 779463"/>
                    <a:gd name="connsiteX53" fmla="*/ 1696559 w 1747838"/>
                    <a:gd name="connsiteY53" fmla="*/ 775851 h 779463"/>
                    <a:gd name="connsiteX54" fmla="*/ 1696559 w 1747838"/>
                    <a:gd name="connsiteY54" fmla="*/ 463777 h 779463"/>
                    <a:gd name="connsiteX55" fmla="*/ 1610611 w 1747838"/>
                    <a:gd name="connsiteY55" fmla="*/ 394427 h 779463"/>
                    <a:gd name="connsiteX56" fmla="*/ 1262488 w 1747838"/>
                    <a:gd name="connsiteY56" fmla="*/ 438132 h 779463"/>
                    <a:gd name="connsiteX57" fmla="*/ 1262488 w 1747838"/>
                    <a:gd name="connsiteY57" fmla="*/ 777296 h 779463"/>
                    <a:gd name="connsiteX58" fmla="*/ 1203986 w 1747838"/>
                    <a:gd name="connsiteY58" fmla="*/ 777296 h 779463"/>
                    <a:gd name="connsiteX59" fmla="*/ 1203986 w 1747838"/>
                    <a:gd name="connsiteY59" fmla="*/ 385036 h 779463"/>
                    <a:gd name="connsiteX60" fmla="*/ 1115872 w 1747838"/>
                    <a:gd name="connsiteY60" fmla="*/ 385036 h 779463"/>
                    <a:gd name="connsiteX61" fmla="*/ 1115872 w 1747838"/>
                    <a:gd name="connsiteY61" fmla="*/ 774406 h 779463"/>
                    <a:gd name="connsiteX62" fmla="*/ 1046897 w 1747838"/>
                    <a:gd name="connsiteY62" fmla="*/ 774406 h 779463"/>
                    <a:gd name="connsiteX63" fmla="*/ 1046897 w 1747838"/>
                    <a:gd name="connsiteY63" fmla="*/ 386481 h 779463"/>
                    <a:gd name="connsiteX64" fmla="*/ 701663 w 1747838"/>
                    <a:gd name="connsiteY64" fmla="*/ 386481 h 779463"/>
                    <a:gd name="connsiteX65" fmla="*/ 701663 w 1747838"/>
                    <a:gd name="connsiteY65" fmla="*/ 774406 h 779463"/>
                    <a:gd name="connsiteX66" fmla="*/ 633411 w 1747838"/>
                    <a:gd name="connsiteY66" fmla="*/ 774406 h 779463"/>
                    <a:gd name="connsiteX67" fmla="*/ 633411 w 1747838"/>
                    <a:gd name="connsiteY67" fmla="*/ 386481 h 779463"/>
                    <a:gd name="connsiteX68" fmla="*/ 540963 w 1747838"/>
                    <a:gd name="connsiteY68" fmla="*/ 386481 h 779463"/>
                    <a:gd name="connsiteX69" fmla="*/ 540963 w 1747838"/>
                    <a:gd name="connsiteY69" fmla="*/ 775129 h 779463"/>
                    <a:gd name="connsiteX70" fmla="*/ 479572 w 1747838"/>
                    <a:gd name="connsiteY70" fmla="*/ 775129 h 779463"/>
                    <a:gd name="connsiteX71" fmla="*/ 479572 w 1747838"/>
                    <a:gd name="connsiteY71" fmla="*/ 437410 h 779463"/>
                    <a:gd name="connsiteX72" fmla="*/ 135060 w 1747838"/>
                    <a:gd name="connsiteY72" fmla="*/ 395150 h 779463"/>
                    <a:gd name="connsiteX73" fmla="*/ 47669 w 1747838"/>
                    <a:gd name="connsiteY73" fmla="*/ 468111 h 779463"/>
                    <a:gd name="connsiteX74" fmla="*/ 47669 w 1747838"/>
                    <a:gd name="connsiteY74" fmla="*/ 779463 h 779463"/>
                    <a:gd name="connsiteX75" fmla="*/ 2889 w 1747838"/>
                    <a:gd name="connsiteY75" fmla="*/ 779463 h 779463"/>
                    <a:gd name="connsiteX76" fmla="*/ 2889 w 1747838"/>
                    <a:gd name="connsiteY76" fmla="*/ 251032 h 779463"/>
                    <a:gd name="connsiteX77" fmla="*/ 392903 w 1747838"/>
                    <a:gd name="connsiteY77" fmla="*/ 309185 h 779463"/>
                    <a:gd name="connsiteX78" fmla="*/ 395069 w 1747838"/>
                    <a:gd name="connsiteY78" fmla="*/ 282095 h 779463"/>
                    <a:gd name="connsiteX79" fmla="*/ 0 w 1747838"/>
                    <a:gd name="connsiteY79" fmla="*/ 226109 h 779463"/>
                    <a:gd name="connsiteX80" fmla="*/ 2889 w 1747838"/>
                    <a:gd name="connsiteY80" fmla="*/ 187100 h 779463"/>
                    <a:gd name="connsiteX81" fmla="*/ 416376 w 1747838"/>
                    <a:gd name="connsiteY81" fmla="*/ 265119 h 779463"/>
                    <a:gd name="connsiteX82" fmla="*/ 525796 w 1747838"/>
                    <a:gd name="connsiteY82" fmla="*/ 206244 h 779463"/>
                    <a:gd name="connsiteX83" fmla="*/ 525796 w 1747838"/>
                    <a:gd name="connsiteY83" fmla="*/ 5418 h 779463"/>
                    <a:gd name="connsiteX84" fmla="*/ 586465 w 1747838"/>
                    <a:gd name="connsiteY84" fmla="*/ 5418 h 779463"/>
                    <a:gd name="connsiteX85" fmla="*/ 586465 w 1747838"/>
                    <a:gd name="connsiteY85" fmla="*/ 175181 h 779463"/>
                    <a:gd name="connsiteX86" fmla="*/ 634133 w 1747838"/>
                    <a:gd name="connsiteY86" fmla="*/ 155315 h 779463"/>
                    <a:gd name="connsiteX87" fmla="*/ 634133 w 1747838"/>
                    <a:gd name="connsiteY87" fmla="*/ 6140 h 779463"/>
                    <a:gd name="connsiteX88" fmla="*/ 738498 w 1747838"/>
                    <a:gd name="connsiteY88" fmla="*/ 6140 h 779463"/>
                    <a:gd name="connsiteX89" fmla="*/ 738498 w 1747838"/>
                    <a:gd name="connsiteY89" fmla="*/ 103664 h 779463"/>
                    <a:gd name="connsiteX90" fmla="*/ 784722 w 1747838"/>
                    <a:gd name="connsiteY90" fmla="*/ 78019 h 779463"/>
                    <a:gd name="connsiteX91" fmla="*/ 784722 w 1747838"/>
                    <a:gd name="connsiteY91" fmla="*/ 2167 h 779463"/>
                    <a:gd name="connsiteX92" fmla="*/ 959506 w 1747838"/>
                    <a:gd name="connsiteY92" fmla="*/ 2167 h 779463"/>
                    <a:gd name="connsiteX93" fmla="*/ 959506 w 1747838"/>
                    <a:gd name="connsiteY93" fmla="*/ 83075 h 779463"/>
                    <a:gd name="connsiteX94" fmla="*/ 1011507 w 1747838"/>
                    <a:gd name="connsiteY94" fmla="*/ 111971 h 779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</a:cxnLst>
                  <a:rect l="l" t="t" r="r" b="b"/>
                  <a:pathLst>
                    <a:path w="1747838" h="779463">
                      <a:moveTo>
                        <a:pt x="1425576" y="322262"/>
                      </a:moveTo>
                      <a:lnTo>
                        <a:pt x="1376363" y="326643"/>
                      </a:lnTo>
                      <a:lnTo>
                        <a:pt x="1376363" y="390525"/>
                      </a:lnTo>
                      <a:lnTo>
                        <a:pt x="1425576" y="383954"/>
                      </a:lnTo>
                      <a:close/>
                      <a:moveTo>
                        <a:pt x="327025" y="322262"/>
                      </a:moveTo>
                      <a:lnTo>
                        <a:pt x="327025" y="383954"/>
                      </a:lnTo>
                      <a:lnTo>
                        <a:pt x="376238" y="390525"/>
                      </a:lnTo>
                      <a:lnTo>
                        <a:pt x="376238" y="326643"/>
                      </a:lnTo>
                      <a:close/>
                      <a:moveTo>
                        <a:pt x="1524000" y="312737"/>
                      </a:moveTo>
                      <a:lnTo>
                        <a:pt x="1476375" y="315581"/>
                      </a:lnTo>
                      <a:lnTo>
                        <a:pt x="1476375" y="381000"/>
                      </a:lnTo>
                      <a:lnTo>
                        <a:pt x="1524000" y="372112"/>
                      </a:lnTo>
                      <a:close/>
                      <a:moveTo>
                        <a:pt x="228600" y="312737"/>
                      </a:moveTo>
                      <a:lnTo>
                        <a:pt x="228600" y="372112"/>
                      </a:lnTo>
                      <a:lnTo>
                        <a:pt x="276225" y="381000"/>
                      </a:lnTo>
                      <a:lnTo>
                        <a:pt x="276225" y="315581"/>
                      </a:lnTo>
                      <a:close/>
                      <a:moveTo>
                        <a:pt x="1625600" y="292100"/>
                      </a:moveTo>
                      <a:lnTo>
                        <a:pt x="1574800" y="303285"/>
                      </a:lnTo>
                      <a:lnTo>
                        <a:pt x="1574800" y="363538"/>
                      </a:lnTo>
                      <a:lnTo>
                        <a:pt x="1625600" y="353075"/>
                      </a:lnTo>
                      <a:close/>
                      <a:moveTo>
                        <a:pt x="127000" y="292100"/>
                      </a:moveTo>
                      <a:lnTo>
                        <a:pt x="127000" y="353075"/>
                      </a:lnTo>
                      <a:lnTo>
                        <a:pt x="177800" y="363538"/>
                      </a:lnTo>
                      <a:lnTo>
                        <a:pt x="177800" y="303285"/>
                      </a:lnTo>
                      <a:close/>
                      <a:moveTo>
                        <a:pt x="425450" y="290512"/>
                      </a:moveTo>
                      <a:lnTo>
                        <a:pt x="425450" y="354012"/>
                      </a:lnTo>
                      <a:lnTo>
                        <a:pt x="1327150" y="354012"/>
                      </a:lnTo>
                      <a:lnTo>
                        <a:pt x="1327150" y="290512"/>
                      </a:lnTo>
                      <a:close/>
                      <a:moveTo>
                        <a:pt x="1714501" y="276225"/>
                      </a:moveTo>
                      <a:lnTo>
                        <a:pt x="1671638" y="280963"/>
                      </a:lnTo>
                      <a:lnTo>
                        <a:pt x="1671638" y="347663"/>
                      </a:lnTo>
                      <a:lnTo>
                        <a:pt x="1714501" y="346205"/>
                      </a:lnTo>
                      <a:close/>
                      <a:moveTo>
                        <a:pt x="38100" y="276225"/>
                      </a:moveTo>
                      <a:lnTo>
                        <a:pt x="38100" y="346205"/>
                      </a:lnTo>
                      <a:lnTo>
                        <a:pt x="80963" y="347663"/>
                      </a:lnTo>
                      <a:lnTo>
                        <a:pt x="80963" y="280963"/>
                      </a:lnTo>
                      <a:close/>
                      <a:moveTo>
                        <a:pt x="876335" y="96837"/>
                      </a:moveTo>
                      <a:lnTo>
                        <a:pt x="547688" y="265112"/>
                      </a:lnTo>
                      <a:lnTo>
                        <a:pt x="1209676" y="265112"/>
                      </a:lnTo>
                      <a:close/>
                      <a:moveTo>
                        <a:pt x="1011507" y="0"/>
                      </a:moveTo>
                      <a:lnTo>
                        <a:pt x="1112261" y="0"/>
                      </a:lnTo>
                      <a:lnTo>
                        <a:pt x="1112261" y="158204"/>
                      </a:lnTo>
                      <a:lnTo>
                        <a:pt x="1163540" y="177348"/>
                      </a:lnTo>
                      <a:lnTo>
                        <a:pt x="1163540" y="5418"/>
                      </a:lnTo>
                      <a:lnTo>
                        <a:pt x="1226737" y="5418"/>
                      </a:lnTo>
                      <a:lnTo>
                        <a:pt x="1226737" y="209133"/>
                      </a:lnTo>
                      <a:lnTo>
                        <a:pt x="1332546" y="268731"/>
                      </a:lnTo>
                      <a:lnTo>
                        <a:pt x="1747838" y="184211"/>
                      </a:lnTo>
                      <a:lnTo>
                        <a:pt x="1747838" y="224665"/>
                      </a:lnTo>
                      <a:lnTo>
                        <a:pt x="1342658" y="285707"/>
                      </a:lnTo>
                      <a:lnTo>
                        <a:pt x="1348074" y="305212"/>
                      </a:lnTo>
                      <a:lnTo>
                        <a:pt x="1746394" y="251754"/>
                      </a:lnTo>
                      <a:lnTo>
                        <a:pt x="1746394" y="775851"/>
                      </a:lnTo>
                      <a:lnTo>
                        <a:pt x="1696559" y="775851"/>
                      </a:lnTo>
                      <a:lnTo>
                        <a:pt x="1696559" y="463777"/>
                      </a:lnTo>
                      <a:lnTo>
                        <a:pt x="1610611" y="394427"/>
                      </a:lnTo>
                      <a:lnTo>
                        <a:pt x="1262488" y="438132"/>
                      </a:lnTo>
                      <a:lnTo>
                        <a:pt x="1262488" y="777296"/>
                      </a:lnTo>
                      <a:lnTo>
                        <a:pt x="1203986" y="777296"/>
                      </a:lnTo>
                      <a:lnTo>
                        <a:pt x="1203986" y="385036"/>
                      </a:lnTo>
                      <a:lnTo>
                        <a:pt x="1115872" y="385036"/>
                      </a:lnTo>
                      <a:lnTo>
                        <a:pt x="1115872" y="774406"/>
                      </a:lnTo>
                      <a:lnTo>
                        <a:pt x="1046897" y="774406"/>
                      </a:lnTo>
                      <a:lnTo>
                        <a:pt x="1046897" y="386481"/>
                      </a:lnTo>
                      <a:lnTo>
                        <a:pt x="701663" y="386481"/>
                      </a:lnTo>
                      <a:lnTo>
                        <a:pt x="701663" y="774406"/>
                      </a:lnTo>
                      <a:lnTo>
                        <a:pt x="633411" y="774406"/>
                      </a:lnTo>
                      <a:lnTo>
                        <a:pt x="633411" y="386481"/>
                      </a:lnTo>
                      <a:lnTo>
                        <a:pt x="540963" y="386481"/>
                      </a:lnTo>
                      <a:lnTo>
                        <a:pt x="540963" y="775129"/>
                      </a:lnTo>
                      <a:lnTo>
                        <a:pt x="479572" y="775129"/>
                      </a:lnTo>
                      <a:lnTo>
                        <a:pt x="479572" y="437410"/>
                      </a:lnTo>
                      <a:lnTo>
                        <a:pt x="135060" y="395150"/>
                      </a:lnTo>
                      <a:lnTo>
                        <a:pt x="47669" y="468111"/>
                      </a:lnTo>
                      <a:lnTo>
                        <a:pt x="47669" y="779463"/>
                      </a:lnTo>
                      <a:lnTo>
                        <a:pt x="2889" y="779463"/>
                      </a:lnTo>
                      <a:lnTo>
                        <a:pt x="2889" y="251032"/>
                      </a:lnTo>
                      <a:lnTo>
                        <a:pt x="392903" y="309185"/>
                      </a:lnTo>
                      <a:lnTo>
                        <a:pt x="395069" y="282095"/>
                      </a:lnTo>
                      <a:lnTo>
                        <a:pt x="0" y="226109"/>
                      </a:lnTo>
                      <a:lnTo>
                        <a:pt x="2889" y="187100"/>
                      </a:lnTo>
                      <a:lnTo>
                        <a:pt x="416376" y="265119"/>
                      </a:lnTo>
                      <a:lnTo>
                        <a:pt x="525796" y="206244"/>
                      </a:lnTo>
                      <a:lnTo>
                        <a:pt x="525796" y="5418"/>
                      </a:lnTo>
                      <a:lnTo>
                        <a:pt x="586465" y="5418"/>
                      </a:lnTo>
                      <a:lnTo>
                        <a:pt x="586465" y="175181"/>
                      </a:lnTo>
                      <a:lnTo>
                        <a:pt x="634133" y="155315"/>
                      </a:lnTo>
                      <a:lnTo>
                        <a:pt x="634133" y="6140"/>
                      </a:lnTo>
                      <a:lnTo>
                        <a:pt x="738498" y="6140"/>
                      </a:lnTo>
                      <a:lnTo>
                        <a:pt x="738498" y="103664"/>
                      </a:lnTo>
                      <a:lnTo>
                        <a:pt x="784722" y="78019"/>
                      </a:lnTo>
                      <a:lnTo>
                        <a:pt x="784722" y="2167"/>
                      </a:lnTo>
                      <a:lnTo>
                        <a:pt x="959506" y="2167"/>
                      </a:lnTo>
                      <a:lnTo>
                        <a:pt x="959506" y="83075"/>
                      </a:lnTo>
                      <a:lnTo>
                        <a:pt x="1011507" y="111971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Freeform 5"/>
                <p:cNvSpPr/>
                <p:nvPr/>
              </p:nvSpPr>
              <p:spPr bwMode="auto">
                <a:xfrm>
                  <a:off x="3416458" y="2353222"/>
                  <a:ext cx="33321" cy="237735"/>
                </a:xfrm>
                <a:custGeom>
                  <a:avLst/>
                  <a:gdLst>
                    <a:gd name="T0" fmla="*/ 4 w 229"/>
                    <a:gd name="T1" fmla="*/ 0 h 1632"/>
                    <a:gd name="T2" fmla="*/ 0 w 229"/>
                    <a:gd name="T3" fmla="*/ 1632 h 1632"/>
                    <a:gd name="T4" fmla="*/ 229 w 229"/>
                    <a:gd name="T5" fmla="*/ 1591 h 1632"/>
                    <a:gd name="T6" fmla="*/ 229 w 229"/>
                    <a:gd name="T7" fmla="*/ 279 h 1632"/>
                    <a:gd name="T8" fmla="*/ 4 w 229"/>
                    <a:gd name="T9" fmla="*/ 0 h 16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9" h="1632">
                      <a:moveTo>
                        <a:pt x="4" y="0"/>
                      </a:moveTo>
                      <a:lnTo>
                        <a:pt x="0" y="1632"/>
                      </a:lnTo>
                      <a:lnTo>
                        <a:pt x="229" y="1591"/>
                      </a:lnTo>
                      <a:lnTo>
                        <a:pt x="229" y="279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Freeform 71"/>
                <p:cNvSpPr/>
                <p:nvPr/>
              </p:nvSpPr>
              <p:spPr bwMode="auto">
                <a:xfrm>
                  <a:off x="3046079" y="2119973"/>
                  <a:ext cx="13457" cy="33321"/>
                </a:xfrm>
                <a:custGeom>
                  <a:avLst/>
                  <a:gdLst>
                    <a:gd name="T0" fmla="*/ 36 w 92"/>
                    <a:gd name="T1" fmla="*/ 0 h 229"/>
                    <a:gd name="T2" fmla="*/ 0 w 92"/>
                    <a:gd name="T3" fmla="*/ 229 h 229"/>
                    <a:gd name="T4" fmla="*/ 92 w 92"/>
                    <a:gd name="T5" fmla="*/ 229 h 229"/>
                    <a:gd name="T6" fmla="*/ 36 w 92"/>
                    <a:gd name="T7" fmla="*/ 0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2" h="229">
                      <a:moveTo>
                        <a:pt x="36" y="0"/>
                      </a:moveTo>
                      <a:lnTo>
                        <a:pt x="0" y="229"/>
                      </a:lnTo>
                      <a:lnTo>
                        <a:pt x="92" y="229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72"/>
                <p:cNvSpPr/>
                <p:nvPr/>
              </p:nvSpPr>
              <p:spPr bwMode="auto">
                <a:xfrm>
                  <a:off x="2932658" y="2160984"/>
                  <a:ext cx="239657" cy="89711"/>
                </a:xfrm>
                <a:custGeom>
                  <a:avLst/>
                  <a:gdLst>
                    <a:gd name="T0" fmla="*/ 0 w 1642"/>
                    <a:gd name="T1" fmla="*/ 616 h 616"/>
                    <a:gd name="T2" fmla="*/ 1642 w 1642"/>
                    <a:gd name="T3" fmla="*/ 616 h 616"/>
                    <a:gd name="T4" fmla="*/ 837 w 1642"/>
                    <a:gd name="T5" fmla="*/ 4 h 616"/>
                    <a:gd name="T6" fmla="*/ 0 w 1642"/>
                    <a:gd name="T7" fmla="*/ 616 h 6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2" h="616">
                      <a:moveTo>
                        <a:pt x="0" y="616"/>
                      </a:moveTo>
                      <a:lnTo>
                        <a:pt x="1642" y="616"/>
                      </a:lnTo>
                      <a:cubicBezTo>
                        <a:pt x="1642" y="616"/>
                        <a:pt x="1443" y="0"/>
                        <a:pt x="837" y="4"/>
                      </a:cubicBezTo>
                      <a:cubicBezTo>
                        <a:pt x="232" y="8"/>
                        <a:pt x="49" y="477"/>
                        <a:pt x="0" y="616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Rectangle 73"/>
                <p:cNvSpPr>
                  <a:spLocks noChangeArrowheads="1"/>
                </p:cNvSpPr>
                <p:nvPr/>
              </p:nvSpPr>
              <p:spPr bwMode="auto">
                <a:xfrm>
                  <a:off x="2907667" y="2260948"/>
                  <a:ext cx="286435" cy="9612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Freeform 74"/>
                <p:cNvSpPr/>
                <p:nvPr/>
              </p:nvSpPr>
              <p:spPr bwMode="auto">
                <a:xfrm>
                  <a:off x="3230628" y="2544179"/>
                  <a:ext cx="99964" cy="49982"/>
                </a:xfrm>
                <a:custGeom>
                  <a:avLst/>
                  <a:gdLst>
                    <a:gd name="T0" fmla="*/ 553 w 689"/>
                    <a:gd name="T1" fmla="*/ 338 h 346"/>
                    <a:gd name="T2" fmla="*/ 553 w 689"/>
                    <a:gd name="T3" fmla="*/ 100 h 346"/>
                    <a:gd name="T4" fmla="*/ 427 w 689"/>
                    <a:gd name="T5" fmla="*/ 100 h 346"/>
                    <a:gd name="T6" fmla="*/ 427 w 689"/>
                    <a:gd name="T7" fmla="*/ 336 h 346"/>
                    <a:gd name="T8" fmla="*/ 282 w 689"/>
                    <a:gd name="T9" fmla="*/ 336 h 346"/>
                    <a:gd name="T10" fmla="*/ 282 w 689"/>
                    <a:gd name="T11" fmla="*/ 98 h 346"/>
                    <a:gd name="T12" fmla="*/ 142 w 689"/>
                    <a:gd name="T13" fmla="*/ 98 h 346"/>
                    <a:gd name="T14" fmla="*/ 142 w 689"/>
                    <a:gd name="T15" fmla="*/ 346 h 346"/>
                    <a:gd name="T16" fmla="*/ 0 w 689"/>
                    <a:gd name="T17" fmla="*/ 346 h 346"/>
                    <a:gd name="T18" fmla="*/ 0 w 689"/>
                    <a:gd name="T19" fmla="*/ 0 h 346"/>
                    <a:gd name="T20" fmla="*/ 689 w 689"/>
                    <a:gd name="T21" fmla="*/ 0 h 346"/>
                    <a:gd name="T22" fmla="*/ 689 w 689"/>
                    <a:gd name="T23" fmla="*/ 340 h 346"/>
                    <a:gd name="T24" fmla="*/ 553 w 689"/>
                    <a:gd name="T25" fmla="*/ 338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9" h="346">
                      <a:moveTo>
                        <a:pt x="553" y="338"/>
                      </a:moveTo>
                      <a:lnTo>
                        <a:pt x="553" y="100"/>
                      </a:lnTo>
                      <a:lnTo>
                        <a:pt x="427" y="100"/>
                      </a:lnTo>
                      <a:lnTo>
                        <a:pt x="427" y="336"/>
                      </a:lnTo>
                      <a:lnTo>
                        <a:pt x="282" y="336"/>
                      </a:lnTo>
                      <a:lnTo>
                        <a:pt x="282" y="98"/>
                      </a:lnTo>
                      <a:lnTo>
                        <a:pt x="142" y="98"/>
                      </a:lnTo>
                      <a:lnTo>
                        <a:pt x="142" y="346"/>
                      </a:lnTo>
                      <a:lnTo>
                        <a:pt x="0" y="346"/>
                      </a:lnTo>
                      <a:lnTo>
                        <a:pt x="0" y="0"/>
                      </a:lnTo>
                      <a:lnTo>
                        <a:pt x="689" y="0"/>
                      </a:lnTo>
                      <a:lnTo>
                        <a:pt x="689" y="340"/>
                      </a:lnTo>
                      <a:lnTo>
                        <a:pt x="553" y="338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Freeform 75"/>
                <p:cNvSpPr/>
                <p:nvPr/>
              </p:nvSpPr>
              <p:spPr bwMode="auto">
                <a:xfrm>
                  <a:off x="3230628" y="2470488"/>
                  <a:ext cx="20505" cy="58953"/>
                </a:xfrm>
                <a:custGeom>
                  <a:avLst/>
                  <a:gdLst>
                    <a:gd name="T0" fmla="*/ 140 w 140"/>
                    <a:gd name="T1" fmla="*/ 0 h 404"/>
                    <a:gd name="T2" fmla="*/ 140 w 140"/>
                    <a:gd name="T3" fmla="*/ 404 h 404"/>
                    <a:gd name="T4" fmla="*/ 0 w 140"/>
                    <a:gd name="T5" fmla="*/ 404 h 404"/>
                    <a:gd name="T6" fmla="*/ 0 w 140"/>
                    <a:gd name="T7" fmla="*/ 11 h 404"/>
                    <a:gd name="T8" fmla="*/ 140 w 140"/>
                    <a:gd name="T9" fmla="*/ 0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0" h="404">
                      <a:moveTo>
                        <a:pt x="140" y="0"/>
                      </a:moveTo>
                      <a:lnTo>
                        <a:pt x="140" y="404"/>
                      </a:lnTo>
                      <a:lnTo>
                        <a:pt x="0" y="404"/>
                      </a:lnTo>
                      <a:lnTo>
                        <a:pt x="0" y="11"/>
                      </a:lnTo>
                      <a:lnTo>
                        <a:pt x="14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Freeform 76"/>
                <p:cNvSpPr/>
                <p:nvPr/>
              </p:nvSpPr>
              <p:spPr bwMode="auto">
                <a:xfrm>
                  <a:off x="3272920" y="2467284"/>
                  <a:ext cx="19224" cy="62157"/>
                </a:xfrm>
                <a:custGeom>
                  <a:avLst/>
                  <a:gdLst>
                    <a:gd name="T0" fmla="*/ 132 w 132"/>
                    <a:gd name="T1" fmla="*/ 0 h 428"/>
                    <a:gd name="T2" fmla="*/ 132 w 132"/>
                    <a:gd name="T3" fmla="*/ 428 h 428"/>
                    <a:gd name="T4" fmla="*/ 0 w 132"/>
                    <a:gd name="T5" fmla="*/ 428 h 428"/>
                    <a:gd name="T6" fmla="*/ 0 w 132"/>
                    <a:gd name="T7" fmla="*/ 6 h 428"/>
                    <a:gd name="T8" fmla="*/ 132 w 132"/>
                    <a:gd name="T9" fmla="*/ 0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" h="428">
                      <a:moveTo>
                        <a:pt x="132" y="0"/>
                      </a:moveTo>
                      <a:lnTo>
                        <a:pt x="132" y="428"/>
                      </a:lnTo>
                      <a:lnTo>
                        <a:pt x="0" y="428"/>
                      </a:lnTo>
                      <a:lnTo>
                        <a:pt x="0" y="6"/>
                      </a:lnTo>
                      <a:lnTo>
                        <a:pt x="132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Freeform 77"/>
                <p:cNvSpPr/>
                <p:nvPr/>
              </p:nvSpPr>
              <p:spPr bwMode="auto">
                <a:xfrm>
                  <a:off x="3313290" y="2462157"/>
                  <a:ext cx="16661" cy="66002"/>
                </a:xfrm>
                <a:custGeom>
                  <a:avLst/>
                  <a:gdLst>
                    <a:gd name="T0" fmla="*/ 118 w 118"/>
                    <a:gd name="T1" fmla="*/ 0 h 451"/>
                    <a:gd name="T2" fmla="*/ 118 w 118"/>
                    <a:gd name="T3" fmla="*/ 451 h 451"/>
                    <a:gd name="T4" fmla="*/ 0 w 118"/>
                    <a:gd name="T5" fmla="*/ 451 h 451"/>
                    <a:gd name="T6" fmla="*/ 0 w 118"/>
                    <a:gd name="T7" fmla="*/ 15 h 451"/>
                    <a:gd name="T8" fmla="*/ 118 w 118"/>
                    <a:gd name="T9" fmla="*/ 0 h 4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8" h="451">
                      <a:moveTo>
                        <a:pt x="118" y="0"/>
                      </a:moveTo>
                      <a:lnTo>
                        <a:pt x="118" y="451"/>
                      </a:lnTo>
                      <a:lnTo>
                        <a:pt x="0" y="451"/>
                      </a:lnTo>
                      <a:lnTo>
                        <a:pt x="0" y="15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Freeform 78"/>
                <p:cNvSpPr/>
                <p:nvPr/>
              </p:nvSpPr>
              <p:spPr bwMode="auto">
                <a:xfrm>
                  <a:off x="3352379" y="2459594"/>
                  <a:ext cx="13457" cy="133285"/>
                </a:xfrm>
                <a:custGeom>
                  <a:avLst/>
                  <a:gdLst>
                    <a:gd name="T0" fmla="*/ 0 w 94"/>
                    <a:gd name="T1" fmla="*/ 0 h 917"/>
                    <a:gd name="T2" fmla="*/ 0 w 94"/>
                    <a:gd name="T3" fmla="*/ 917 h 917"/>
                    <a:gd name="T4" fmla="*/ 94 w 94"/>
                    <a:gd name="T5" fmla="*/ 917 h 917"/>
                    <a:gd name="T6" fmla="*/ 94 w 94"/>
                    <a:gd name="T7" fmla="*/ 112 h 917"/>
                    <a:gd name="T8" fmla="*/ 0 w 94"/>
                    <a:gd name="T9" fmla="*/ 0 h 9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4" h="917">
                      <a:moveTo>
                        <a:pt x="0" y="0"/>
                      </a:moveTo>
                      <a:lnTo>
                        <a:pt x="0" y="917"/>
                      </a:lnTo>
                      <a:lnTo>
                        <a:pt x="94" y="917"/>
                      </a:lnTo>
                      <a:lnTo>
                        <a:pt x="94" y="1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Freeform 83"/>
                <p:cNvSpPr/>
                <p:nvPr/>
              </p:nvSpPr>
              <p:spPr bwMode="auto">
                <a:xfrm>
                  <a:off x="3015321" y="2467924"/>
                  <a:ext cx="73692" cy="125596"/>
                </a:xfrm>
                <a:custGeom>
                  <a:avLst/>
                  <a:gdLst>
                    <a:gd name="T0" fmla="*/ 0 w 508"/>
                    <a:gd name="T1" fmla="*/ 862 h 862"/>
                    <a:gd name="T2" fmla="*/ 508 w 508"/>
                    <a:gd name="T3" fmla="*/ 862 h 862"/>
                    <a:gd name="T4" fmla="*/ 508 w 508"/>
                    <a:gd name="T5" fmla="*/ 254 h 862"/>
                    <a:gd name="T6" fmla="*/ 254 w 508"/>
                    <a:gd name="T7" fmla="*/ 0 h 862"/>
                    <a:gd name="T8" fmla="*/ 254 w 508"/>
                    <a:gd name="T9" fmla="*/ 0 h 862"/>
                    <a:gd name="T10" fmla="*/ 0 w 508"/>
                    <a:gd name="T11" fmla="*/ 254 h 862"/>
                    <a:gd name="T12" fmla="*/ 0 w 508"/>
                    <a:gd name="T13" fmla="*/ 862 h 8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08" h="862">
                      <a:moveTo>
                        <a:pt x="0" y="862"/>
                      </a:moveTo>
                      <a:lnTo>
                        <a:pt x="508" y="862"/>
                      </a:lnTo>
                      <a:lnTo>
                        <a:pt x="508" y="254"/>
                      </a:lnTo>
                      <a:cubicBezTo>
                        <a:pt x="508" y="114"/>
                        <a:pt x="394" y="0"/>
                        <a:pt x="254" y="0"/>
                      </a:cubicBezTo>
                      <a:lnTo>
                        <a:pt x="254" y="0"/>
                      </a:lnTo>
                      <a:cubicBezTo>
                        <a:pt x="114" y="0"/>
                        <a:pt x="0" y="114"/>
                        <a:pt x="0" y="254"/>
                      </a:cubicBezTo>
                      <a:lnTo>
                        <a:pt x="0" y="862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Freeform 86"/>
                <p:cNvSpPr/>
                <p:nvPr/>
              </p:nvSpPr>
              <p:spPr bwMode="auto">
                <a:xfrm>
                  <a:off x="2775023" y="2544179"/>
                  <a:ext cx="100605" cy="49982"/>
                </a:xfrm>
                <a:custGeom>
                  <a:avLst/>
                  <a:gdLst>
                    <a:gd name="T0" fmla="*/ 136 w 689"/>
                    <a:gd name="T1" fmla="*/ 338 h 346"/>
                    <a:gd name="T2" fmla="*/ 136 w 689"/>
                    <a:gd name="T3" fmla="*/ 100 h 346"/>
                    <a:gd name="T4" fmla="*/ 262 w 689"/>
                    <a:gd name="T5" fmla="*/ 100 h 346"/>
                    <a:gd name="T6" fmla="*/ 262 w 689"/>
                    <a:gd name="T7" fmla="*/ 336 h 346"/>
                    <a:gd name="T8" fmla="*/ 406 w 689"/>
                    <a:gd name="T9" fmla="*/ 336 h 346"/>
                    <a:gd name="T10" fmla="*/ 406 w 689"/>
                    <a:gd name="T11" fmla="*/ 98 h 346"/>
                    <a:gd name="T12" fmla="*/ 546 w 689"/>
                    <a:gd name="T13" fmla="*/ 98 h 346"/>
                    <a:gd name="T14" fmla="*/ 546 w 689"/>
                    <a:gd name="T15" fmla="*/ 346 h 346"/>
                    <a:gd name="T16" fmla="*/ 689 w 689"/>
                    <a:gd name="T17" fmla="*/ 346 h 346"/>
                    <a:gd name="T18" fmla="*/ 689 w 689"/>
                    <a:gd name="T19" fmla="*/ 0 h 346"/>
                    <a:gd name="T20" fmla="*/ 0 w 689"/>
                    <a:gd name="T21" fmla="*/ 0 h 346"/>
                    <a:gd name="T22" fmla="*/ 0 w 689"/>
                    <a:gd name="T23" fmla="*/ 340 h 346"/>
                    <a:gd name="T24" fmla="*/ 136 w 689"/>
                    <a:gd name="T25" fmla="*/ 338 h 3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9" h="346">
                      <a:moveTo>
                        <a:pt x="136" y="338"/>
                      </a:moveTo>
                      <a:lnTo>
                        <a:pt x="136" y="100"/>
                      </a:lnTo>
                      <a:lnTo>
                        <a:pt x="262" y="100"/>
                      </a:lnTo>
                      <a:lnTo>
                        <a:pt x="262" y="336"/>
                      </a:lnTo>
                      <a:lnTo>
                        <a:pt x="406" y="336"/>
                      </a:lnTo>
                      <a:lnTo>
                        <a:pt x="406" y="98"/>
                      </a:lnTo>
                      <a:lnTo>
                        <a:pt x="546" y="98"/>
                      </a:lnTo>
                      <a:lnTo>
                        <a:pt x="546" y="346"/>
                      </a:lnTo>
                      <a:lnTo>
                        <a:pt x="689" y="346"/>
                      </a:lnTo>
                      <a:lnTo>
                        <a:pt x="689" y="0"/>
                      </a:lnTo>
                      <a:lnTo>
                        <a:pt x="0" y="0"/>
                      </a:lnTo>
                      <a:lnTo>
                        <a:pt x="0" y="340"/>
                      </a:lnTo>
                      <a:lnTo>
                        <a:pt x="136" y="338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87"/>
                <p:cNvSpPr/>
                <p:nvPr/>
              </p:nvSpPr>
              <p:spPr bwMode="auto">
                <a:xfrm>
                  <a:off x="2855122" y="2470488"/>
                  <a:ext cx="20505" cy="58953"/>
                </a:xfrm>
                <a:custGeom>
                  <a:avLst/>
                  <a:gdLst>
                    <a:gd name="T0" fmla="*/ 0 w 141"/>
                    <a:gd name="T1" fmla="*/ 0 h 404"/>
                    <a:gd name="T2" fmla="*/ 0 w 141"/>
                    <a:gd name="T3" fmla="*/ 404 h 404"/>
                    <a:gd name="T4" fmla="*/ 141 w 141"/>
                    <a:gd name="T5" fmla="*/ 404 h 404"/>
                    <a:gd name="T6" fmla="*/ 141 w 141"/>
                    <a:gd name="T7" fmla="*/ 11 h 404"/>
                    <a:gd name="T8" fmla="*/ 0 w 141"/>
                    <a:gd name="T9" fmla="*/ 0 h 4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1" h="404">
                      <a:moveTo>
                        <a:pt x="0" y="0"/>
                      </a:moveTo>
                      <a:lnTo>
                        <a:pt x="0" y="404"/>
                      </a:lnTo>
                      <a:lnTo>
                        <a:pt x="141" y="404"/>
                      </a:lnTo>
                      <a:lnTo>
                        <a:pt x="141" y="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Freeform 88"/>
                <p:cNvSpPr/>
                <p:nvPr/>
              </p:nvSpPr>
              <p:spPr bwMode="auto">
                <a:xfrm>
                  <a:off x="2814111" y="2467284"/>
                  <a:ext cx="19224" cy="62157"/>
                </a:xfrm>
                <a:custGeom>
                  <a:avLst/>
                  <a:gdLst>
                    <a:gd name="T0" fmla="*/ 0 w 132"/>
                    <a:gd name="T1" fmla="*/ 0 h 428"/>
                    <a:gd name="T2" fmla="*/ 0 w 132"/>
                    <a:gd name="T3" fmla="*/ 428 h 428"/>
                    <a:gd name="T4" fmla="*/ 132 w 132"/>
                    <a:gd name="T5" fmla="*/ 428 h 428"/>
                    <a:gd name="T6" fmla="*/ 132 w 132"/>
                    <a:gd name="T7" fmla="*/ 6 h 428"/>
                    <a:gd name="T8" fmla="*/ 0 w 132"/>
                    <a:gd name="T9" fmla="*/ 0 h 4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2" h="428">
                      <a:moveTo>
                        <a:pt x="0" y="0"/>
                      </a:moveTo>
                      <a:lnTo>
                        <a:pt x="0" y="428"/>
                      </a:lnTo>
                      <a:lnTo>
                        <a:pt x="132" y="428"/>
                      </a:lnTo>
                      <a:lnTo>
                        <a:pt x="132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Freeform 89"/>
                <p:cNvSpPr/>
                <p:nvPr/>
              </p:nvSpPr>
              <p:spPr bwMode="auto">
                <a:xfrm>
                  <a:off x="2775664" y="2462157"/>
                  <a:ext cx="17302" cy="66002"/>
                </a:xfrm>
                <a:custGeom>
                  <a:avLst/>
                  <a:gdLst>
                    <a:gd name="T0" fmla="*/ 0 w 117"/>
                    <a:gd name="T1" fmla="*/ 0 h 451"/>
                    <a:gd name="T2" fmla="*/ 0 w 117"/>
                    <a:gd name="T3" fmla="*/ 451 h 451"/>
                    <a:gd name="T4" fmla="*/ 117 w 117"/>
                    <a:gd name="T5" fmla="*/ 451 h 451"/>
                    <a:gd name="T6" fmla="*/ 117 w 117"/>
                    <a:gd name="T7" fmla="*/ 15 h 451"/>
                    <a:gd name="T8" fmla="*/ 0 w 117"/>
                    <a:gd name="T9" fmla="*/ 0 h 4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7" h="451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17" y="451"/>
                      </a:lnTo>
                      <a:lnTo>
                        <a:pt x="117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Freeform 90"/>
                <p:cNvSpPr/>
                <p:nvPr/>
              </p:nvSpPr>
              <p:spPr bwMode="auto">
                <a:xfrm>
                  <a:off x="2739779" y="2459594"/>
                  <a:ext cx="14097" cy="133285"/>
                </a:xfrm>
                <a:custGeom>
                  <a:avLst/>
                  <a:gdLst>
                    <a:gd name="T0" fmla="*/ 93 w 93"/>
                    <a:gd name="T1" fmla="*/ 0 h 917"/>
                    <a:gd name="T2" fmla="*/ 93 w 93"/>
                    <a:gd name="T3" fmla="*/ 917 h 917"/>
                    <a:gd name="T4" fmla="*/ 0 w 93"/>
                    <a:gd name="T5" fmla="*/ 917 h 917"/>
                    <a:gd name="T6" fmla="*/ 0 w 93"/>
                    <a:gd name="T7" fmla="*/ 112 h 917"/>
                    <a:gd name="T8" fmla="*/ 93 w 93"/>
                    <a:gd name="T9" fmla="*/ 0 h 9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3" h="917">
                      <a:moveTo>
                        <a:pt x="93" y="0"/>
                      </a:moveTo>
                      <a:lnTo>
                        <a:pt x="93" y="917"/>
                      </a:lnTo>
                      <a:lnTo>
                        <a:pt x="0" y="917"/>
                      </a:lnTo>
                      <a:lnTo>
                        <a:pt x="0" y="11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Freeform 96"/>
                <p:cNvSpPr/>
                <p:nvPr/>
              </p:nvSpPr>
              <p:spPr bwMode="auto">
                <a:xfrm>
                  <a:off x="2655835" y="2354504"/>
                  <a:ext cx="33321" cy="238376"/>
                </a:xfrm>
                <a:custGeom>
                  <a:avLst/>
                  <a:gdLst>
                    <a:gd name="T0" fmla="*/ 226 w 230"/>
                    <a:gd name="T1" fmla="*/ 0 h 1632"/>
                    <a:gd name="T2" fmla="*/ 230 w 230"/>
                    <a:gd name="T3" fmla="*/ 1632 h 1632"/>
                    <a:gd name="T4" fmla="*/ 0 w 230"/>
                    <a:gd name="T5" fmla="*/ 1591 h 1632"/>
                    <a:gd name="T6" fmla="*/ 0 w 230"/>
                    <a:gd name="T7" fmla="*/ 279 h 1632"/>
                    <a:gd name="T8" fmla="*/ 226 w 230"/>
                    <a:gd name="T9" fmla="*/ 0 h 16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0" h="1632">
                      <a:moveTo>
                        <a:pt x="226" y="0"/>
                      </a:moveTo>
                      <a:lnTo>
                        <a:pt x="230" y="1632"/>
                      </a:lnTo>
                      <a:lnTo>
                        <a:pt x="0" y="1591"/>
                      </a:lnTo>
                      <a:lnTo>
                        <a:pt x="0" y="279"/>
                      </a:lnTo>
                      <a:lnTo>
                        <a:pt x="226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1616276" y="6396038"/>
                <a:ext cx="303212" cy="303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31" name="文本占位符 85"/>
          <p:cNvSpPr txBox="1"/>
          <p:nvPr/>
        </p:nvSpPr>
        <p:spPr>
          <a:xfrm>
            <a:off x="8013065" y="2005965"/>
            <a:ext cx="3512185" cy="17162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en-US" sz="11500" dirty="0">
                <a:ln>
                  <a:gradFill>
                    <a:gsLst>
                      <a:gs pos="0">
                        <a:schemeClr val="bg1">
                          <a:alpha val="17000"/>
                          <a:lumMod val="94000"/>
                        </a:schemeClr>
                      </a:gs>
                      <a:gs pos="100000">
                        <a:srgbClr val="2F6CBA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方正小标宋简体" panose="03000509000000000000" pitchFamily="65" charset="-122"/>
                <a:ea typeface="方正小标宋简体" panose="03000509000000000000" pitchFamily="65" charset="-122"/>
                <a:cs typeface="+mj-lt"/>
                <a:sym typeface="+mn-lt"/>
              </a:rPr>
              <a:t>topic</a:t>
            </a:r>
          </a:p>
        </p:txBody>
      </p:sp>
      <p:sp>
        <p:nvSpPr>
          <p:cNvPr id="34" name="椭圆 33"/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8D951E-866E-0230-A289-E96613E7D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412" y="74572"/>
            <a:ext cx="3429000" cy="6858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F00CD09-8C16-1A27-B77C-E3969E5574EF}"/>
              </a:ext>
            </a:extLst>
          </p:cNvPr>
          <p:cNvSpPr txBox="1"/>
          <p:nvPr/>
        </p:nvSpPr>
        <p:spPr>
          <a:xfrm>
            <a:off x="719557" y="2289205"/>
            <a:ext cx="80105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The craze of Xiao Yuan Kousuan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simple process of decision</a:t>
            </a:r>
            <a:endParaRPr lang="en-US" altLang="zh-CN" sz="2400" b="1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Accuracy and reaction time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Study humans’ decision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E23A-4D7E-A422-0EC9-5227D69D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D3CD698-2E6C-5E0A-A3AD-A239183DCAC1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5B7E7FA-63C5-A613-064A-129C0DF3BFD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DDB53E6-0B90-47CD-6E32-6BB8E73C5498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C8240FD-F555-105B-6635-9396D201FDEA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60BD515-68C9-CA34-A09C-3737A81EB2DB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1B876F-F08D-C7D0-E633-D1A7F8FD0815}"/>
              </a:ext>
            </a:extLst>
          </p:cNvPr>
          <p:cNvSpPr/>
          <p:nvPr/>
        </p:nvSpPr>
        <p:spPr>
          <a:xfrm>
            <a:off x="8423178" y="1024451"/>
            <a:ext cx="3396564" cy="22793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89198F-E895-7849-06D6-B2C624A8E011}"/>
              </a:ext>
            </a:extLst>
          </p:cNvPr>
          <p:cNvSpPr txBox="1"/>
          <p:nvPr/>
        </p:nvSpPr>
        <p:spPr>
          <a:xfrm>
            <a:off x="8481627" y="1024451"/>
            <a:ext cx="3533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Parameters: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drift rate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boundary size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noise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non-decision times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starting point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2632C9-2824-AD51-1B9E-0E3B864AC76A}"/>
              </a:ext>
            </a:extLst>
          </p:cNvPr>
          <p:cNvSpPr/>
          <p:nvPr/>
        </p:nvSpPr>
        <p:spPr>
          <a:xfrm>
            <a:off x="8423178" y="3718779"/>
            <a:ext cx="3414096" cy="17026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32A99C-CFD8-901A-8EE7-825458509CEE}"/>
              </a:ext>
            </a:extLst>
          </p:cNvPr>
          <p:cNvSpPr txBox="1"/>
          <p:nvPr/>
        </p:nvSpPr>
        <p:spPr>
          <a:xfrm>
            <a:off x="8440709" y="3714644"/>
            <a:ext cx="33965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Measures: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accuracy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response times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probabilities of making choices</a:t>
            </a:r>
          </a:p>
          <a:p>
            <a:pPr algn="l"/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53DB80-3F54-DB9B-6D3F-A87EE9DF8DA9}"/>
              </a:ext>
            </a:extLst>
          </p:cNvPr>
          <p:cNvSpPr txBox="1"/>
          <p:nvPr/>
        </p:nvSpPr>
        <p:spPr>
          <a:xfrm>
            <a:off x="509272" y="468691"/>
            <a:ext cx="5689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Drift Diffusion Model 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7B62D30-97B1-A3E9-ACEA-A4CF1BC5B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20" y="1317384"/>
            <a:ext cx="7777413" cy="444197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C58BFBA-9F83-DBCB-5A1D-B171BCA60CE1}"/>
              </a:ext>
            </a:extLst>
          </p:cNvPr>
          <p:cNvSpPr txBox="1"/>
          <p:nvPr/>
        </p:nvSpPr>
        <p:spPr>
          <a:xfrm>
            <a:off x="509272" y="5974352"/>
            <a:ext cx="1126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[1]Ratcliff, R. (1978). A theory of memory retrieval.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Review, 85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59-108.  </a:t>
            </a:r>
            <a:r>
              <a:rPr lang="en-US" altLang="zh-CN" b="0" i="0" u="none" strike="noStrike" dirty="0">
                <a:solidFill>
                  <a:srgbClr val="2C72B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https://doi.org/10.1037/0033-295X.85.2.59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16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1358-BBC6-D4CD-F82E-35A038ED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D379055-1546-6092-92AA-68DE0B8F6CA5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9DC5167D-61D6-149A-6842-D93F95EF9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7C098E5-E1A4-9E99-6A07-03B79E2977BF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1CED9B68-7A13-5FE0-D1D0-3A08F943068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94E06B6A-4E1D-2296-745D-9D6CC3FB2C1E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E6EA189-48E1-FE11-8DB2-3D4B88BD8A1B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F070228-12E9-0BCA-6779-4E413A44E95D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7DB320F0-B3ED-AE4F-4A71-8811C9655BC8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426E0DA9-6A7C-ABE8-FC76-7231C1DBACDE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690D9534-43BD-76F2-8FEC-BE819C5C6B0C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8FD18DB8-0D41-A18F-9D8A-13CAE7448DB8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4B9DBE30-28C8-43E6-5906-ADA8FDE72C69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0D58943C-0992-0C65-8FB3-42B44F3A988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B7DB81-437E-18B0-C267-7C507BAB2FE8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CEDDF3-99B4-DE9F-166F-EA9BEFEC8E39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211FF8C3-C3C2-4EAA-FC9E-DFB119EDFF0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CF4275-CBF7-7C45-6C06-748F5C3A6117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08257C-8498-67CD-6CAA-9971D0F53584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FBBD5B54-5B4E-3EF6-E2DF-1F7C2708BAF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0B4278-7427-AC50-D814-E65658E6FFBF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B56178-4156-5E78-9469-CF3F7410570D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8FB54FD7-0D3B-A492-444C-122EF7FEA75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6FC643-7F8D-D5B7-99FC-F9C67C55A029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5A188C-A0C0-F3CA-0C91-7AE05686AE1F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D0198488-8D88-00B4-5516-B3C4ABB387B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F570F2-B972-A2EB-51FD-5E3D2D776683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1713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87B3-B909-6074-AE60-24953472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D366370-1171-FFA5-0A9F-9919A39B7F03}"/>
              </a:ext>
            </a:extLst>
          </p:cNvPr>
          <p:cNvSpPr/>
          <p:nvPr/>
        </p:nvSpPr>
        <p:spPr>
          <a:xfrm>
            <a:off x="580023" y="2221485"/>
            <a:ext cx="9588863" cy="2000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C4349DE-1BB4-F103-1293-EFC9130C11E5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A64D25-F435-7028-C262-D87CBAED4224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3F7C741-7D42-10A0-0251-4A83A393E34F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1205EA0-121F-8F43-2343-419825D2D02D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AFFBD2-1135-0D23-8833-B1EF24AF1571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370B1B-6DD5-8431-CF34-FAFE352CE552}"/>
              </a:ext>
            </a:extLst>
          </p:cNvPr>
          <p:cNvSpPr txBox="1"/>
          <p:nvPr/>
        </p:nvSpPr>
        <p:spPr>
          <a:xfrm>
            <a:off x="509271" y="468691"/>
            <a:ext cx="6507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CF3B82-BB7B-2A09-0CB7-8EA2316ED284}"/>
              </a:ext>
            </a:extLst>
          </p:cNvPr>
          <p:cNvSpPr txBox="1"/>
          <p:nvPr/>
        </p:nvSpPr>
        <p:spPr>
          <a:xfrm>
            <a:off x="614679" y="2221485"/>
            <a:ext cx="95888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Gaze on the center cross “×”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Press the corresponding key to indicate the larger circle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Prioritize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accuracy, then as quickly as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 = (size_right / size_left) – 1  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coherence</a:t>
            </a:r>
            <a:r>
              <a:rPr lang="zh-CN" altLang="en-US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 random dots motion[2])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 </a:t>
            </a:r>
            <a:r>
              <a:rPr lang="zh-CN" altLang="en-US" sz="2400" dirty="0"/>
              <a:t>∈ 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[-0.32, -0.24, -0.16, -0.08, 0, 0.08, 0.16, 0.24, 0.32]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3D03E5-E032-0B79-65D4-7D34C55654F5}"/>
              </a:ext>
            </a:extLst>
          </p:cNvPr>
          <p:cNvSpPr txBox="1"/>
          <p:nvPr/>
        </p:nvSpPr>
        <p:spPr>
          <a:xfrm>
            <a:off x="7707960" y="1811121"/>
            <a:ext cx="405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simple but robust size-comparison task</a:t>
            </a:r>
            <a:endParaRPr lang="zh-CN" altLang="en-US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0C63D7-6985-1C9B-CB34-C17B116DBEA6}"/>
              </a:ext>
            </a:extLst>
          </p:cNvPr>
          <p:cNvSpPr/>
          <p:nvPr/>
        </p:nvSpPr>
        <p:spPr>
          <a:xfrm>
            <a:off x="614680" y="4899043"/>
            <a:ext cx="9554206" cy="9485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0C16E9-3177-4EAE-A5D5-13317F57C2D6}"/>
              </a:ext>
            </a:extLst>
          </p:cNvPr>
          <p:cNvSpPr txBox="1"/>
          <p:nvPr/>
        </p:nvSpPr>
        <p:spPr>
          <a:xfrm>
            <a:off x="711835" y="4934667"/>
            <a:ext cx="100498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15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undergraduates from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Nanjing University 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and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Tsinghua University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Each completed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160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size-comparison trials, </a:t>
            </a:r>
            <a:r>
              <a:rPr lang="en-US" altLang="zh-CN" sz="2400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2400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in total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6F3163-07CC-137A-4AD0-6C5CEA27477B}"/>
              </a:ext>
            </a:extLst>
          </p:cNvPr>
          <p:cNvSpPr txBox="1"/>
          <p:nvPr/>
        </p:nvSpPr>
        <p:spPr>
          <a:xfrm>
            <a:off x="614680" y="1613689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Settings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B6A35D-F68A-608C-EC9F-B53646091766}"/>
              </a:ext>
            </a:extLst>
          </p:cNvPr>
          <p:cNvSpPr txBox="1"/>
          <p:nvPr/>
        </p:nvSpPr>
        <p:spPr>
          <a:xfrm>
            <a:off x="523877" y="6049081"/>
            <a:ext cx="11263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[2]K. Britten, M. </a:t>
            </a:r>
            <a:r>
              <a:rPr lang="en-US" altLang="zh-CN" dirty="0" err="1"/>
              <a:t>Shadlen</a:t>
            </a:r>
            <a:r>
              <a:rPr lang="en-US" altLang="zh-CN" dirty="0"/>
              <a:t>, W. Newsome, and J. </a:t>
            </a:r>
            <a:r>
              <a:rPr lang="en-US" altLang="zh-CN" dirty="0" err="1"/>
              <a:t>Movshon</a:t>
            </a:r>
            <a:r>
              <a:rPr lang="en-US" altLang="zh-CN" dirty="0"/>
              <a:t>, “The analysis of visual motion: a comparison of neuronal and psychophysical performance,” Journal of Neuroscience, vol. 12, no. 12, pp. 4745–4765, 1992.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27966A-03F5-3DC3-8ABA-6556D217DC67}"/>
              </a:ext>
            </a:extLst>
          </p:cNvPr>
          <p:cNvSpPr txBox="1"/>
          <p:nvPr/>
        </p:nvSpPr>
        <p:spPr>
          <a:xfrm>
            <a:off x="580024" y="4290307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Data sufficiency</a:t>
            </a:r>
          </a:p>
        </p:txBody>
      </p:sp>
      <p:pic>
        <p:nvPicPr>
          <p:cNvPr id="14" name="39ffb38d9e4e87d0fafd2a0cc87a376f">
            <a:hlinkClick r:id="" action="ppaction://media"/>
            <a:extLst>
              <a:ext uri="{FF2B5EF4-FFF2-40B4-BE49-F238E27FC236}">
                <a16:creationId xmlns:a16="http://schemas.microsoft.com/office/drawing/2014/main" id="{B7FA9896-E096-67AF-0B2A-6626119B1B4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22980" y="74825"/>
            <a:ext cx="4328660" cy="180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E9706-BDCF-D13B-67B0-478AFD64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26394EC-489F-5FCD-835A-FC68F0E286B1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53BF36E-1AB6-7936-7CE3-7D05F7D97891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CC1D1BF-906A-F459-9DDA-12E4376580DB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589CBCF-A2BC-E1F6-98DF-3CCC7269E38A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3064AD-FC00-DA4B-1952-1C3EFFD4A81E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1CDACA-8C70-67CC-BE6D-40AFA3F38CF9}"/>
              </a:ext>
            </a:extLst>
          </p:cNvPr>
          <p:cNvSpPr txBox="1"/>
          <p:nvPr/>
        </p:nvSpPr>
        <p:spPr>
          <a:xfrm>
            <a:off x="509271" y="468691"/>
            <a:ext cx="6837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Experimental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0BF25C-F6AE-CB93-B051-897A7BE4D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566" y="1008022"/>
            <a:ext cx="6188310" cy="57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87B3-B909-6074-AE60-24953472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C4349DE-1BB4-F103-1293-EFC9130C11E5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A64D25-F435-7028-C262-D87CBAED4224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3F7C741-7D42-10A0-0251-4A83A393E34F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1205EA0-121F-8F43-2343-419825D2D02D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AFFBD2-1135-0D23-8833-B1EF24AF1571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370B1B-6DD5-8431-CF34-FAFE352CE552}"/>
              </a:ext>
            </a:extLst>
          </p:cNvPr>
          <p:cNvSpPr txBox="1"/>
          <p:nvPr/>
        </p:nvSpPr>
        <p:spPr>
          <a:xfrm>
            <a:off x="509271" y="468691"/>
            <a:ext cx="6837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Use DDM to Fit the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8C6F7A-DD05-DBC7-BFEF-0EA2476B4B3B}"/>
              </a:ext>
            </a:extLst>
          </p:cNvPr>
          <p:cNvSpPr txBox="1"/>
          <p:nvPr/>
        </p:nvSpPr>
        <p:spPr>
          <a:xfrm>
            <a:off x="614680" y="1620982"/>
            <a:ext cx="5908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The effect is poor at first 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Reasons: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Relatively easy experiment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slightly higher drift rate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Smaller bounds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DC52BE-0560-5F44-D837-3674973075EF}"/>
              </a:ext>
            </a:extLst>
          </p:cNvPr>
          <p:cNvSpPr txBox="1"/>
          <p:nvPr/>
        </p:nvSpPr>
        <p:spPr>
          <a:xfrm>
            <a:off x="509271" y="4003375"/>
            <a:ext cx="7269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Parameter Search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FB3CE3-1C70-BD53-FAEB-2BBDA01EC38C}"/>
              </a:ext>
            </a:extLst>
          </p:cNvPr>
          <p:cNvSpPr/>
          <p:nvPr/>
        </p:nvSpPr>
        <p:spPr>
          <a:xfrm>
            <a:off x="580023" y="4659874"/>
            <a:ext cx="6072389" cy="12764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24D7D2-A22F-E13F-7D62-E3A56BD8E971}"/>
              </a:ext>
            </a:extLst>
          </p:cNvPr>
          <p:cNvSpPr txBox="1"/>
          <p:nvPr/>
        </p:nvSpPr>
        <p:spPr>
          <a:xfrm>
            <a:off x="614681" y="4659873"/>
            <a:ext cx="5848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Goal: minimize the MSE of the RT-r plot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Three parameters have a linear relationship?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Use grid search for three parameters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98A54F-A597-6817-7F6C-FA9F0CE4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755" y="1115022"/>
            <a:ext cx="4548700" cy="30246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1C5F93-11F1-E56B-B89F-DBE4BD5E4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756" y="4659874"/>
            <a:ext cx="4548699" cy="12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B3FE-B540-3AB6-6159-E74B0C36B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1619132-2710-6615-AF4C-0B9B4DEDF6D5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02027F3-0220-BFEC-BE42-A0B512F575C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BD6ABDF-EF38-F079-CE11-DA5DF52D13EC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39B1064-3A18-F4A2-2032-955DC363A4D7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C20CC2-699A-E563-62F5-01C80368EB1B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8A370C-C552-96EB-0A8A-F0F418A861DD}"/>
              </a:ext>
            </a:extLst>
          </p:cNvPr>
          <p:cNvSpPr txBox="1"/>
          <p:nvPr/>
        </p:nvSpPr>
        <p:spPr>
          <a:xfrm>
            <a:off x="509271" y="468691"/>
            <a:ext cx="6856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503F08-7C2E-585C-1035-A3AC74601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282" y="1115022"/>
            <a:ext cx="5242560" cy="52425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538F0A3-5DC9-A5E6-1812-78F774EA9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" y="1196340"/>
            <a:ext cx="5242560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1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01D64-E185-B184-D644-2C3A7CC5B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0E324F9-39F3-3C22-126F-0874DD516122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EC06602-8FD8-84D1-1DA9-39E054BC07AD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BB8179-3ED5-2722-56F0-D6B945D476E6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FDDE2ED-8F55-ACCB-BCD1-EC4D13F9E395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3E1582-D00D-2E30-400B-686ED1C68867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E30B25-D3BD-E681-7517-AE93AB04E4FB}"/>
              </a:ext>
            </a:extLst>
          </p:cNvPr>
          <p:cNvSpPr txBox="1"/>
          <p:nvPr/>
        </p:nvSpPr>
        <p:spPr>
          <a:xfrm>
            <a:off x="509271" y="468691"/>
            <a:ext cx="8044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 - The Best Fit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021976-260C-392C-2049-3D546450C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0" y="1178991"/>
            <a:ext cx="5242560" cy="52425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641647-940F-3B0D-D1AE-2AE33B155761}"/>
              </a:ext>
            </a:extLst>
          </p:cNvPr>
          <p:cNvSpPr txBox="1"/>
          <p:nvPr/>
        </p:nvSpPr>
        <p:spPr>
          <a:xfrm>
            <a:off x="6334762" y="4143182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Improvement of Experiment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884849-8545-41DF-D9B9-C71D131D0272}"/>
              </a:ext>
            </a:extLst>
          </p:cNvPr>
          <p:cNvSpPr txBox="1"/>
          <p:nvPr/>
        </p:nvSpPr>
        <p:spPr>
          <a:xfrm>
            <a:off x="6334762" y="4666402"/>
            <a:ext cx="92715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Reduce space between circles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Discard circles that are too small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 the keys to F and J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Add white board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0556FF-7DF9-70C8-520D-BF843F134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171" y="1220219"/>
            <a:ext cx="4429383" cy="230907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BBC38C3-868F-C8F8-A851-696D0E89E879}"/>
              </a:ext>
            </a:extLst>
          </p:cNvPr>
          <p:cNvSpPr txBox="1"/>
          <p:nvPr/>
        </p:nvSpPr>
        <p:spPr>
          <a:xfrm>
            <a:off x="7678266" y="3517590"/>
            <a:ext cx="958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dent</a:t>
            </a:r>
            <a:r>
              <a:rPr lang="en-US" altLang="zh-CN" sz="200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 the middle</a:t>
            </a:r>
          </a:p>
        </p:txBody>
      </p:sp>
    </p:spTree>
    <p:extLst>
      <p:ext uri="{BB962C8B-B14F-4D97-AF65-F5344CB8AC3E}">
        <p14:creationId xmlns:p14="http://schemas.microsoft.com/office/powerpoint/2010/main" val="190837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0E98-16E7-E4B5-AE24-FB5D0E5A2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2B50890-C6BC-C9A9-93AC-CBE5F2E09D78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9D8B75BD-087C-591A-2A22-4696022AE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4457581-3A2F-B87C-BCE8-F2C2B5C29257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2B566610-C896-728A-8B59-72EB124F4CC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0559E6CA-4232-BAD7-B1E6-72AF109E33BA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939D32-B88E-ED88-1B90-166CA85FA174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4981CEE0-1D94-7A01-A3AF-1C8EBB58177F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A043092E-0855-CAB6-6AEC-2E8525D8C564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2E10DF-3D02-22D4-8AA6-E06B60DECE15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6EF67B6-487C-07D1-4726-CC48CC691A9B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4DEADA8-8E4B-071E-19B8-AA22E88D61DF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DE778376-A113-C890-CAFD-5E86DF97E705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00957FFA-129C-2858-390F-EBACB42089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723670-2B9F-C268-40E1-852678AD8C93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EED1E6-6799-1F19-9462-96DA25D2DF8D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FA28E867-49A1-73A2-6538-DA80EDE2C05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EC0E9AB-398A-E254-584A-C821AF9DD642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1FFF47-55B6-9FE8-93D5-0DD968A858DB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8365F07B-E307-8E3A-CC0D-C7FD9D6C548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C4C109-E6B1-012D-A8D1-E2EAB1EB973E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CAD323-09E7-B59E-F262-8C1A62997B35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6F0CD86D-0340-149C-48D2-AE2083C2612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E366C9-7CD1-AB3D-04CB-6F24110E3244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39B8A90-0823-94FD-C3DF-F45CEAC7294A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DE82A7AC-3B44-144C-270D-EF2D0D861DE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2302F2-C8BE-13D1-B200-FC49E1EF604C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4086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3029-171E-81D0-DC19-C9FD7C6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F2B4AE9-625A-3A3D-A806-30F232FBFF59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3CA5A4F-7F88-3937-2ED4-175D88317DAC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B55D8894-AC20-9608-A903-FB1753A88E28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B48E5A8-85CE-D2EA-C5C2-C2DAE474A83F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CFB4DD-B9C9-449E-02FE-49001B7B6EFF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140871-055B-AE48-987B-1AD77EBBBC1F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 - Time Pressure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451F39-F435-6BE9-2114-54ED33C2F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9" y="4410606"/>
            <a:ext cx="9376464" cy="8293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110535-B7F5-8771-2408-7856C9449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772" y="468691"/>
            <a:ext cx="4180548" cy="138397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8B6DBD9-23FD-83EE-3FCE-687C09BE3A86}"/>
              </a:ext>
            </a:extLst>
          </p:cNvPr>
          <p:cNvSpPr/>
          <p:nvPr/>
        </p:nvSpPr>
        <p:spPr>
          <a:xfrm>
            <a:off x="580023" y="2357965"/>
            <a:ext cx="9588863" cy="524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2CD054-D853-BD56-3230-FE928AE3DBB2}"/>
              </a:ext>
            </a:extLst>
          </p:cNvPr>
          <p:cNvSpPr txBox="1"/>
          <p:nvPr/>
        </p:nvSpPr>
        <p:spPr>
          <a:xfrm>
            <a:off x="614679" y="2357965"/>
            <a:ext cx="9588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As fast as possible while ensuring a certain level of accuracy.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19CF76-7499-09CE-9E66-36466649E5CF}"/>
              </a:ext>
            </a:extLst>
          </p:cNvPr>
          <p:cNvSpPr txBox="1"/>
          <p:nvPr/>
        </p:nvSpPr>
        <p:spPr>
          <a:xfrm>
            <a:off x="614680" y="1613689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Settings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6A9092-4D27-7F49-DF36-AFA5CB287CDC}"/>
              </a:ext>
            </a:extLst>
          </p:cNvPr>
          <p:cNvSpPr txBox="1"/>
          <p:nvPr/>
        </p:nvSpPr>
        <p:spPr>
          <a:xfrm>
            <a:off x="580023" y="3664767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Collapsing Bound Fitting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921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6CCC2-0BBC-E2DD-7947-D2DB7975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969B0B0-F040-4E3F-CE2C-2D1B1DAB343E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99AD86-C000-8730-1302-6E3D83EDA459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428E71B-3544-F472-934B-63F0EC079218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C3D475F-AD51-E84F-D582-C01F3B4A852B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BE98C0-9AC6-4AA5-B827-5E17D14A15A1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68A8AFF-14C3-1E5A-174C-37C2CE031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97" y="569950"/>
            <a:ext cx="5326335" cy="532633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ADB6AC4-3CF9-D87A-5112-AE8032AFD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66" y="2554926"/>
            <a:ext cx="5568931" cy="334135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6EEB029-167B-3105-A5BC-01958B5E7419}"/>
              </a:ext>
            </a:extLst>
          </p:cNvPr>
          <p:cNvSpPr txBox="1"/>
          <p:nvPr/>
        </p:nvSpPr>
        <p:spPr>
          <a:xfrm>
            <a:off x="1083816" y="1611764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DC3296-613B-56E1-F982-6270D0D15FB5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 - Time Pressure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03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A915-2D29-BAF2-0EFC-6949D472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57E9A64-65B8-9BC4-2E25-311939F5BDB0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C003BD4-4C24-3DD8-D580-346F254F7C9D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CF30142-1927-710A-8E9E-C1E5B1319A4C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112A06C-BA43-8D18-BF8D-FDA7F8633AA1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094367-FC2D-D5AA-1BF8-3116069CEF4A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7E9612-C8B5-9E37-C455-092CAAE37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69" y="2554926"/>
            <a:ext cx="5568931" cy="33413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0E846F-8FE5-DEA2-2BA4-B084BEB88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97" y="569949"/>
            <a:ext cx="5326336" cy="53263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EA41FEF-3D72-3E99-0E36-BB930A92FF1D}"/>
              </a:ext>
            </a:extLst>
          </p:cNvPr>
          <p:cNvSpPr txBox="1"/>
          <p:nvPr/>
        </p:nvSpPr>
        <p:spPr>
          <a:xfrm>
            <a:off x="1083816" y="1611764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Collapsing Bound DDM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92F3D1-60F8-6598-E814-99A06A6CE7E6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 - Time Pressure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878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E98D-2F96-5E31-125A-DB53AE06D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A7F3BDB-3ECA-3410-F32B-F47664B1D679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2CA395-A3F1-362A-B54E-530ABFAE9D2A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8417603-AE4D-C5F7-6710-74A005B243E6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66A0D55-C4CB-D956-3F56-8483C7E14D29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D42CB4-6EF2-4A2B-B98B-2ACBB4930470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CB12E5-A5BA-DE9B-48FA-C312078D7698}"/>
              </a:ext>
            </a:extLst>
          </p:cNvPr>
          <p:cNvSpPr txBox="1"/>
          <p:nvPr/>
        </p:nvSpPr>
        <p:spPr>
          <a:xfrm>
            <a:off x="509271" y="468691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 - Asymmetrical Priors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D7105E5-2EFC-A5A4-9CE5-CC685BFC51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0" r="6070" b="7861"/>
          <a:stretch/>
        </p:blipFill>
        <p:spPr>
          <a:xfrm>
            <a:off x="7641940" y="889867"/>
            <a:ext cx="4208878" cy="521168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916588C-5EBC-C8CA-52EE-F6A57CC2301E}"/>
              </a:ext>
            </a:extLst>
          </p:cNvPr>
          <p:cNvSpPr txBox="1"/>
          <p:nvPr/>
        </p:nvSpPr>
        <p:spPr>
          <a:xfrm>
            <a:off x="648812" y="1494612"/>
            <a:ext cx="67619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 basic experiment: always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symmetrical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results </a:t>
            </a:r>
          </a:p>
          <a:p>
            <a:pPr algn="l"/>
            <a:endParaRPr lang="en-US" altLang="zh-CN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Human decision-making is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asymmetrical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in reality </a:t>
            </a:r>
          </a:p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• Teacher’s advise</a:t>
            </a:r>
          </a:p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• Asymmetric priors</a:t>
            </a:r>
          </a:p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• Film language</a:t>
            </a:r>
          </a:p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AF3002-E187-7E06-DC0A-9FC0C4A2931F}"/>
              </a:ext>
            </a:extLst>
          </p:cNvPr>
          <p:cNvSpPr txBox="1"/>
          <p:nvPr/>
        </p:nvSpPr>
        <p:spPr>
          <a:xfrm>
            <a:off x="509271" y="4235386"/>
            <a:ext cx="7269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Asymmetrical Priors in humans’ decision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850608-2C17-BD1E-7CD7-4B4402D5D07F}"/>
              </a:ext>
            </a:extLst>
          </p:cNvPr>
          <p:cNvSpPr/>
          <p:nvPr/>
        </p:nvSpPr>
        <p:spPr>
          <a:xfrm>
            <a:off x="580023" y="5804035"/>
            <a:ext cx="5711595" cy="5247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32C039-0FEA-E204-D8A9-091E3AF5F5D0}"/>
              </a:ext>
            </a:extLst>
          </p:cNvPr>
          <p:cNvSpPr txBox="1"/>
          <p:nvPr/>
        </p:nvSpPr>
        <p:spPr>
          <a:xfrm>
            <a:off x="614679" y="5804035"/>
            <a:ext cx="5758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75% left is bigger / right is bigger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38DBE2-CD30-9168-863A-30F7A297BECB}"/>
              </a:ext>
            </a:extLst>
          </p:cNvPr>
          <p:cNvSpPr txBox="1"/>
          <p:nvPr/>
        </p:nvSpPr>
        <p:spPr>
          <a:xfrm>
            <a:off x="614680" y="5059759"/>
            <a:ext cx="656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Settings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776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920B-3A9F-A166-941A-0B327702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5479A21-5884-1CED-EDC4-260871EC21FE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6CE2C30-7C21-3609-7AA4-4973CE8D4F91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CC8A043-08E0-AA96-7B33-B795E365F08A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337AECA-F6BE-5806-BA7A-C18B9E459CE9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5D59B5-61C5-0786-788B-C55B2E285F98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B3D299-BF94-3274-B108-133E59F99F17}"/>
              </a:ext>
            </a:extLst>
          </p:cNvPr>
          <p:cNvSpPr txBox="1"/>
          <p:nvPr/>
        </p:nvSpPr>
        <p:spPr>
          <a:xfrm>
            <a:off x="681444" y="1612834"/>
            <a:ext cx="5414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Without Bias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75% left is bigger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95B06B-1054-8294-47C3-CA3B572F0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69" y="2631726"/>
            <a:ext cx="5440931" cy="32645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D0F2B0-6344-D8B7-E9B6-D7F6B47D7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531" y="620017"/>
            <a:ext cx="5384165" cy="538416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1B85D5E-2656-5BAD-BF35-BA8070425134}"/>
              </a:ext>
            </a:extLst>
          </p:cNvPr>
          <p:cNvSpPr txBox="1"/>
          <p:nvPr/>
        </p:nvSpPr>
        <p:spPr>
          <a:xfrm>
            <a:off x="509271" y="477382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 - Asymmetrical Priors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80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75C7-50A3-C0A6-3C14-FC06D483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16B8964-1F29-7E59-D080-A533F4E4B5B8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6C50DBA-8BBB-FEEE-4E87-183A7B9E3532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902330F-AB05-2388-5498-4CB13DCD431D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14836A7-92B2-0701-2351-564412864083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BF56EE-9E75-A87C-6084-19567555A56D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813D221-8A97-3EA6-BF0B-764CBABB6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393" y="536836"/>
            <a:ext cx="5326336" cy="53263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F660CCD-298E-7CEE-4833-ADD0893B7C24}"/>
              </a:ext>
            </a:extLst>
          </p:cNvPr>
          <p:cNvSpPr txBox="1"/>
          <p:nvPr/>
        </p:nvSpPr>
        <p:spPr>
          <a:xfrm>
            <a:off x="655068" y="1396536"/>
            <a:ext cx="52817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With Bias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（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75% right is bigger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DF0CCD-6D79-A41F-9608-C6044A2FB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478" y="543329"/>
            <a:ext cx="5384165" cy="53841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650F16-47EA-6E1A-2274-D5B0EAD42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64" y="617968"/>
            <a:ext cx="5384164" cy="53841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1BE49A-42BE-4AE3-7D9E-7622F29E9A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" y="2928925"/>
            <a:ext cx="5440931" cy="32645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20FB6A3-CD92-5946-8CE9-261763FA6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05" y="2150973"/>
            <a:ext cx="3932840" cy="7269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0D9DF2B-70E4-3EA3-3BDE-6A86A42DD9C2}"/>
              </a:ext>
            </a:extLst>
          </p:cNvPr>
          <p:cNvSpPr txBox="1"/>
          <p:nvPr/>
        </p:nvSpPr>
        <p:spPr>
          <a:xfrm>
            <a:off x="1085713" y="6156597"/>
            <a:ext cx="9974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[3]R. Ratcliff and G. </a:t>
            </a:r>
            <a:r>
              <a:rPr lang="en-US" altLang="zh-CN" dirty="0" err="1"/>
              <a:t>McKoon</a:t>
            </a:r>
            <a:r>
              <a:rPr lang="en-US" altLang="zh-CN" dirty="0"/>
              <a:t>, “The Diffusion Decision Model: Theory and Data for Two-Choice Decision Tasks,” Neural Computation, vol. 20, pp. 873–922, Apr. 2008.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DFD009-C930-D6C7-4F55-C2FF7EE9BB86}"/>
              </a:ext>
            </a:extLst>
          </p:cNvPr>
          <p:cNvSpPr txBox="1"/>
          <p:nvPr/>
        </p:nvSpPr>
        <p:spPr>
          <a:xfrm>
            <a:off x="509271" y="477382"/>
            <a:ext cx="7215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 - Asymmetrical Priors</a:t>
            </a:r>
          </a:p>
          <a:p>
            <a:pPr algn="l"/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257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8912-08A4-976F-D54F-B1531CA5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C0409E9-AE51-3C5D-CBE6-0DD1FF1F9861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F1AE2E8-8487-0657-F647-AF57B09FD94F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5A0342-6126-C806-08FA-72E5F116E8BD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C931364-8F92-0F30-64DF-DE28FAD19523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AA122D-0E66-1FF8-6805-C24BE407E5B3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3B0C7A-1F4C-5B54-8329-8EFD9A8227EF}"/>
              </a:ext>
            </a:extLst>
          </p:cNvPr>
          <p:cNvSpPr txBox="1"/>
          <p:nvPr/>
        </p:nvSpPr>
        <p:spPr>
          <a:xfrm>
            <a:off x="509271" y="468691"/>
            <a:ext cx="721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III – Adding Noise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98AC025-22B8-B713-E24E-E2D50387070E}"/>
              </a:ext>
            </a:extLst>
          </p:cNvPr>
          <p:cNvSpPr txBox="1"/>
          <p:nvPr/>
        </p:nvSpPr>
        <p:spPr>
          <a:xfrm>
            <a:off x="741158" y="1329838"/>
            <a:ext cx="6203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We once got a totally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weird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data in Variant II.</a:t>
            </a:r>
          </a:p>
          <a:p>
            <a:pPr algn="l"/>
            <a:endParaRPr lang="en-US" altLang="zh-CN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Why?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8B0D8A-6631-C6FB-E610-2569764A5AD6}"/>
              </a:ext>
            </a:extLst>
          </p:cNvPr>
          <p:cNvSpPr txBox="1"/>
          <p:nvPr/>
        </p:nvSpPr>
        <p:spPr>
          <a:xfrm>
            <a:off x="741158" y="2785962"/>
            <a:ext cx="9271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Noise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4E1204-398A-C64D-9CC9-92645ECC2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12" y="3429000"/>
            <a:ext cx="5292488" cy="28246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A95C992-8C78-1ADA-F093-04D76D7BC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924" y="4082220"/>
            <a:ext cx="4880241" cy="14816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53A82A-DB77-E4CF-B4B1-5200BC0FA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368" y="678537"/>
            <a:ext cx="4855474" cy="232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534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4747C-6CCB-BE39-BB20-F395A73A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E0CADD6-0112-BE6A-A8F9-699750FB3C7C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D88BAF2-2D02-DFD1-9808-9F3F2383629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705782B4-2D54-3C4F-C1BC-4AFCFA8CCB4C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FE989FD-8F18-3A8B-89B4-9E4D8BC3A9A9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21D09B-C68E-5AED-A0DD-43C97B494F6B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BF9D931-45ED-7B72-606F-225F1D7A6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514" y="732512"/>
            <a:ext cx="4234490" cy="25406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0BB5C6-8901-0D67-37DB-4FA6A5D869FF}"/>
              </a:ext>
            </a:extLst>
          </p:cNvPr>
          <p:cNvSpPr txBox="1"/>
          <p:nvPr/>
        </p:nvSpPr>
        <p:spPr>
          <a:xfrm>
            <a:off x="509271" y="468691"/>
            <a:ext cx="721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 III – Adding Noise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DD3855-DD09-8042-40D9-FC72C97C1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004" y="3603089"/>
            <a:ext cx="4234490" cy="254069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6158DA4-0E54-91B6-304A-06E1B21B4263}"/>
              </a:ext>
            </a:extLst>
          </p:cNvPr>
          <p:cNvSpPr txBox="1"/>
          <p:nvPr/>
        </p:nvSpPr>
        <p:spPr>
          <a:xfrm>
            <a:off x="8376884" y="3183070"/>
            <a:ext cx="405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Without noise</a:t>
            </a:r>
            <a:endParaRPr lang="zh-CN" altLang="en-US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E4BA0A-B1E7-12AB-E521-9124406755CA}"/>
              </a:ext>
            </a:extLst>
          </p:cNvPr>
          <p:cNvSpPr txBox="1"/>
          <p:nvPr/>
        </p:nvSpPr>
        <p:spPr>
          <a:xfrm>
            <a:off x="8500186" y="6143783"/>
            <a:ext cx="4054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With noise</a:t>
            </a:r>
            <a:endParaRPr lang="zh-CN" altLang="en-US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1BB530-179D-8D90-3639-204221EA65CE}"/>
              </a:ext>
            </a:extLst>
          </p:cNvPr>
          <p:cNvSpPr/>
          <p:nvPr/>
        </p:nvSpPr>
        <p:spPr>
          <a:xfrm>
            <a:off x="617773" y="1923820"/>
            <a:ext cx="6402855" cy="26373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BE8BC77-473B-AF51-04DC-F11B1AF30CE8}"/>
                  </a:ext>
                </a:extLst>
              </p:cNvPr>
              <p:cNvSpPr txBox="1"/>
              <p:nvPr/>
            </p:nvSpPr>
            <p:spPr>
              <a:xfrm>
                <a:off x="617772" y="2119044"/>
                <a:ext cx="620033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Lower accuracy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Longer reaction times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The best DDM parameters changes with noise: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Drift rate:   2.25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方正小标宋简体" panose="03000509000000000000" pitchFamily="65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 1.3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Noise:        0.22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方正小标宋简体" panose="03000509000000000000" pitchFamily="65" charset="-122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0.28 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Bound:       0.08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方正小标宋简体" panose="03000509000000000000" pitchFamily="65" charset="-122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ea typeface="方正小标宋简体" panose="03000509000000000000" pitchFamily="65" charset="-122"/>
                    <a:cs typeface="Times New Roman" panose="02020603050405020304" pitchFamily="18" charset="0"/>
                  </a:rPr>
                  <a:t> 0.12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BE8BC77-473B-AF51-04DC-F11B1AF30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72" y="2119044"/>
                <a:ext cx="6200337" cy="2308324"/>
              </a:xfrm>
              <a:prstGeom prst="rect">
                <a:avLst/>
              </a:prstGeom>
              <a:blipFill>
                <a:blip r:embed="rId4"/>
                <a:stretch>
                  <a:fillRect l="-1278" t="-2116" r="-2262" b="-5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534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EFE4-ECEB-1EFE-BB4F-5953B97B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6EBC5B6-1BAE-F3E4-E764-0430FB871413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D18B3F77-C2EA-3388-9197-A00D40486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90FA1CB-FEFE-E865-DD0B-542DA676DD3F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0309461B-B5DA-18D9-9A38-AC5FC9C2959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C308FF1E-4D21-B058-6B36-BEE237B21B1F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EEA702-3551-FE77-ABC1-A3DC46F056AD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00CF61F-F4B1-9D5A-05CA-6AB9D5BAB796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B4D85004-6E3B-CBF9-A2DA-EB92F0586A51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EF1EDC4-2607-0C11-F706-D006B6A3E87E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825CFFA-064D-5396-FB20-94B0473FC6E1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BB706636-358C-EF5A-7E9B-D373E2AF82A7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77F7E50-E0C4-2DD4-8B1A-7B9B1630F3C3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D8761793-282B-8B0A-4EEC-3D1ACCE1FF0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3711E9-165D-7055-B93E-D70FB4142BB6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980AF2-3EC6-D978-E61E-1AD2C3AB0EC5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EE3A7BDD-E21F-7BC3-7AC5-E0A8DD79BA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6AAA0F-7945-AA05-5233-C39C2E98E8AE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18A155-BCE0-79B5-46AF-58097D53B765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2C49C7BF-ED56-91BB-81F5-D7625E15A1C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2DEB78-EC4A-DCAB-4CF7-7F93968F810C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04EBAC-DBB4-1018-F484-C712BFEE8188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297018CB-D8EA-9928-FEBE-136C8A08E83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80B9DB-8ADB-E1C5-FB47-429B76220E34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829772-AFC9-34E4-E405-B2DF151F7034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AC98B9C2-65FF-38CD-2106-592678DB0F0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A80FBE-1991-12A9-A9E1-D2945B9CB1F2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766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5DD7-D901-20DD-6B66-A74D1F2B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FDC161A-DECD-15BA-6401-7B4E4188A60B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A11C38E-04EA-9C8C-F9A7-E5725F2FCB1C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97946DE-7478-8E38-D486-F423BC82A127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E062A85-FE3C-6505-C6F5-9A3C0415F111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BD99D5-EA05-19A3-FFA1-EFCA3403FCD6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188318-F1C8-A562-375D-77CACF022879}"/>
              </a:ext>
            </a:extLst>
          </p:cNvPr>
          <p:cNvSpPr txBox="1"/>
          <p:nvPr/>
        </p:nvSpPr>
        <p:spPr>
          <a:xfrm>
            <a:off x="509271" y="468691"/>
            <a:ext cx="721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More Extensions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D00741-2C3D-0BDD-6348-8FB164860EC6}"/>
              </a:ext>
            </a:extLst>
          </p:cNvPr>
          <p:cNvSpPr txBox="1"/>
          <p:nvPr/>
        </p:nvSpPr>
        <p:spPr>
          <a:xfrm>
            <a:off x="690590" y="3003603"/>
            <a:ext cx="5758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Imagine a politic exam……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69A998-74D1-3C1E-FC79-DE25C5A0F65D}"/>
              </a:ext>
            </a:extLst>
          </p:cNvPr>
          <p:cNvSpPr txBox="1"/>
          <p:nvPr/>
        </p:nvSpPr>
        <p:spPr>
          <a:xfrm>
            <a:off x="718577" y="1257720"/>
            <a:ext cx="4841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 I - Memory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5F0F1A-E9AC-D792-E881-D7A7C630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2" t="4065" b="1"/>
          <a:stretch/>
        </p:blipFill>
        <p:spPr>
          <a:xfrm>
            <a:off x="7431943" y="1381988"/>
            <a:ext cx="3471114" cy="15560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7BBB542-AA17-0403-BB5A-9ECCD3B0406A}"/>
              </a:ext>
            </a:extLst>
          </p:cNvPr>
          <p:cNvSpPr/>
          <p:nvPr/>
        </p:nvSpPr>
        <p:spPr>
          <a:xfrm>
            <a:off x="722902" y="1914412"/>
            <a:ext cx="6075779" cy="870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1A38B4-E5B6-D05C-0366-747444948F01}"/>
              </a:ext>
            </a:extLst>
          </p:cNvPr>
          <p:cNvSpPr txBox="1"/>
          <p:nvPr/>
        </p:nvSpPr>
        <p:spPr>
          <a:xfrm>
            <a:off x="757558" y="1914412"/>
            <a:ext cx="5758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Continuously add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Time turned out to be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shorter</a:t>
            </a: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, not longer!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3076B6-F9B5-8981-3924-F792CCF5459E}"/>
              </a:ext>
            </a:extLst>
          </p:cNvPr>
          <p:cNvSpPr txBox="1"/>
          <p:nvPr/>
        </p:nvSpPr>
        <p:spPr>
          <a:xfrm>
            <a:off x="718577" y="3854034"/>
            <a:ext cx="4774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 II - Sequential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4B00D89-7985-EDB4-70A7-4B62E70D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5" t="5912" r="8253" b="2358"/>
          <a:stretch/>
        </p:blipFill>
        <p:spPr>
          <a:xfrm>
            <a:off x="7119028" y="3681448"/>
            <a:ext cx="4354395" cy="261356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E7F8C88-A6BF-8CCB-6336-1ED98A1BA805}"/>
              </a:ext>
            </a:extLst>
          </p:cNvPr>
          <p:cNvSpPr txBox="1"/>
          <p:nvPr/>
        </p:nvSpPr>
        <p:spPr>
          <a:xfrm>
            <a:off x="690590" y="5807929"/>
            <a:ext cx="4155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➡ 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8BA1F-B6EF-516E-9EFD-3D3D93D8B6D6}"/>
              </a:ext>
            </a:extLst>
          </p:cNvPr>
          <p:cNvSpPr/>
          <p:nvPr/>
        </p:nvSpPr>
        <p:spPr>
          <a:xfrm>
            <a:off x="741057" y="4572731"/>
            <a:ext cx="6075779" cy="8706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6F6BE9-4B9E-56A0-C112-656458EC63B9}"/>
              </a:ext>
            </a:extLst>
          </p:cNvPr>
          <p:cNvSpPr txBox="1"/>
          <p:nvPr/>
        </p:nvSpPr>
        <p:spPr>
          <a:xfrm>
            <a:off x="779863" y="4572731"/>
            <a:ext cx="6036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| r | appear in ascending or descending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Interesting differences</a:t>
            </a:r>
          </a:p>
        </p:txBody>
      </p:sp>
    </p:spTree>
    <p:extLst>
      <p:ext uri="{BB962C8B-B14F-4D97-AF65-F5344CB8AC3E}">
        <p14:creationId xmlns:p14="http://schemas.microsoft.com/office/powerpoint/2010/main" val="2715219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3FA7-D52B-4667-279F-6BA34F11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FEB430F0-B859-9BBA-3B6E-1D4E9DF47E8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343667" y="1422407"/>
            <a:ext cx="6899274" cy="548641"/>
            <a:chOff x="1" y="1895348"/>
            <a:chExt cx="7123176" cy="3143504"/>
          </a:xfrm>
        </p:grpSpPr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4A947B81-E872-F261-BA38-575D75C5ABD6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>
              <a:extLst>
                <a:ext uri="{FF2B5EF4-FFF2-40B4-BE49-F238E27FC236}">
                  <a16:creationId xmlns:a16="http://schemas.microsoft.com/office/drawing/2014/main" id="{FF60BB67-CD77-95AC-F890-C4B857C51C6B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3B5BAC51-6D9B-471B-0201-CFB017323162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E6B62FB-0F3C-D237-374C-AC0AD0EDFBB9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7F9D983-CFB5-C448-2084-F79253778562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5C33451-8C8C-77FB-8DD9-4542D16FB920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2E9BE0-A2AE-CA7C-69B3-DA7D2BBBBB70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28DBF7-9391-69AD-091D-442C500AF331}"/>
              </a:ext>
            </a:extLst>
          </p:cNvPr>
          <p:cNvSpPr txBox="1"/>
          <p:nvPr/>
        </p:nvSpPr>
        <p:spPr>
          <a:xfrm>
            <a:off x="711835" y="1399355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Understand the parameters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C7E35D-9316-F989-696B-C0F17BDA254B}"/>
              </a:ext>
            </a:extLst>
          </p:cNvPr>
          <p:cNvSpPr txBox="1"/>
          <p:nvPr/>
        </p:nvSpPr>
        <p:spPr>
          <a:xfrm>
            <a:off x="711835" y="1990080"/>
            <a:ext cx="6180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Accuracy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Response times (RTs)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The probabilities of making the two choices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70C850-D8FC-F0DE-7CBD-8083A2711D38}"/>
              </a:ext>
            </a:extLst>
          </p:cNvPr>
          <p:cNvSpPr txBox="1"/>
          <p:nvPr/>
        </p:nvSpPr>
        <p:spPr>
          <a:xfrm>
            <a:off x="509272" y="468691"/>
            <a:ext cx="328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Deeper Insight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112A37A3-2E9A-C36A-B661-3980E1756C6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-343666" y="3697301"/>
            <a:ext cx="6899274" cy="548641"/>
            <a:chOff x="1" y="1895348"/>
            <a:chExt cx="7123176" cy="3143504"/>
          </a:xfrm>
        </p:grpSpPr>
        <p:sp>
          <p:nvSpPr>
            <p:cNvPr id="19" name="í$ḻídè">
              <a:extLst>
                <a:ext uri="{FF2B5EF4-FFF2-40B4-BE49-F238E27FC236}">
                  <a16:creationId xmlns:a16="http://schemas.microsoft.com/office/drawing/2014/main" id="{EB1A815C-4131-CC82-7E27-5254E39EF492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ïşlíďe">
              <a:extLst>
                <a:ext uri="{FF2B5EF4-FFF2-40B4-BE49-F238E27FC236}">
                  <a16:creationId xmlns:a16="http://schemas.microsoft.com/office/drawing/2014/main" id="{3E3526B9-F368-F80E-E5B0-E5524F5E1B26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A8EF7774-C6BA-4BBA-D9AD-B463D02E6D9D}"/>
              </a:ext>
            </a:extLst>
          </p:cNvPr>
          <p:cNvSpPr txBox="1"/>
          <p:nvPr/>
        </p:nvSpPr>
        <p:spPr>
          <a:xfrm>
            <a:off x="711835" y="3655217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Shortcomings of DDM 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E148A2-CD68-2064-6DCC-B64B4DCC5F9E}"/>
              </a:ext>
            </a:extLst>
          </p:cNvPr>
          <p:cNvSpPr txBox="1"/>
          <p:nvPr/>
        </p:nvSpPr>
        <p:spPr>
          <a:xfrm>
            <a:off x="711835" y="4245942"/>
            <a:ext cx="6180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Post-hoc use and overfitting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Simplified assumptions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Sensitive to assumptions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36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B13C-A3D2-3863-9C23-ADE0B42D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C95AA68-DDB7-C5E8-4246-E7C719017EDD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FC4C79B-CA5D-0BC8-CC80-6900A268EAB3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38966657-9E00-B703-0A30-2087E19EEF69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40B95C8-FE94-AB90-B9AB-A6208972FDCE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8C700C4-6B7F-BDEF-B700-13E6A4FA6725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9FECF2-2FB8-1025-8C52-33925D7B1715}"/>
              </a:ext>
            </a:extLst>
          </p:cNvPr>
          <p:cNvSpPr txBox="1"/>
          <p:nvPr/>
        </p:nvSpPr>
        <p:spPr>
          <a:xfrm>
            <a:off x="509272" y="468691"/>
            <a:ext cx="3288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Deeper Insight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F01934AD-6813-5D2B-0A62-7A147E983FE3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359868" y="1467602"/>
            <a:ext cx="8429907" cy="548641"/>
            <a:chOff x="1" y="1895348"/>
            <a:chExt cx="7123176" cy="3143504"/>
          </a:xfrm>
        </p:grpSpPr>
        <p:sp>
          <p:nvSpPr>
            <p:cNvPr id="9" name="í$ḻídè">
              <a:extLst>
                <a:ext uri="{FF2B5EF4-FFF2-40B4-BE49-F238E27FC236}">
                  <a16:creationId xmlns:a16="http://schemas.microsoft.com/office/drawing/2014/main" id="{46F42678-893B-3291-FF69-F73350949CD2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şlíďe">
              <a:extLst>
                <a:ext uri="{FF2B5EF4-FFF2-40B4-BE49-F238E27FC236}">
                  <a16:creationId xmlns:a16="http://schemas.microsoft.com/office/drawing/2014/main" id="{7811313C-1EBB-A6B7-EA5D-66CE251155BE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0F34F8D-4143-E42C-08F8-9E26D23735AD}"/>
              </a:ext>
            </a:extLst>
          </p:cNvPr>
          <p:cNvSpPr txBox="1"/>
          <p:nvPr/>
        </p:nvSpPr>
        <p:spPr>
          <a:xfrm>
            <a:off x="614680" y="1465571"/>
            <a:ext cx="516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Other Models about decision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140ED5-B918-7853-609E-F6CAAFF3E665}"/>
              </a:ext>
            </a:extLst>
          </p:cNvPr>
          <p:cNvSpPr txBox="1"/>
          <p:nvPr/>
        </p:nvSpPr>
        <p:spPr>
          <a:xfrm>
            <a:off x="614680" y="2181846"/>
            <a:ext cx="6180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Multi-Attribute Decision Making (MADM)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Decision Tree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Bayesian method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3DCEAA97-9EF2-8DE7-C0FE-EA648163A649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-359868" y="3918231"/>
            <a:ext cx="8429908" cy="548641"/>
            <a:chOff x="1" y="1895348"/>
            <a:chExt cx="7123176" cy="3143504"/>
          </a:xfrm>
        </p:grpSpPr>
        <p:sp>
          <p:nvSpPr>
            <p:cNvPr id="15" name="í$ḻídè">
              <a:extLst>
                <a:ext uri="{FF2B5EF4-FFF2-40B4-BE49-F238E27FC236}">
                  <a16:creationId xmlns:a16="http://schemas.microsoft.com/office/drawing/2014/main" id="{A5240275-C6E5-8EDD-2FA0-A697DBB75613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ïşlíďe">
              <a:extLst>
                <a:ext uri="{FF2B5EF4-FFF2-40B4-BE49-F238E27FC236}">
                  <a16:creationId xmlns:a16="http://schemas.microsoft.com/office/drawing/2014/main" id="{670B2A6B-8894-7533-A1B2-65B49FAF0B57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8E6688C-4598-E6E7-A66B-D3B8236A7234}"/>
              </a:ext>
            </a:extLst>
          </p:cNvPr>
          <p:cNvSpPr txBox="1"/>
          <p:nvPr/>
        </p:nvSpPr>
        <p:spPr>
          <a:xfrm>
            <a:off x="614679" y="3917670"/>
            <a:ext cx="5350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Inspirations for Our Life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4C2CB6-A9F2-4530-2211-78DBADCBCF39}"/>
              </a:ext>
            </a:extLst>
          </p:cNvPr>
          <p:cNvSpPr txBox="1"/>
          <p:nvPr/>
        </p:nvSpPr>
        <p:spPr>
          <a:xfrm>
            <a:off x="614680" y="4492854"/>
            <a:ext cx="7455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Understand merits and demerits of human decision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Models are rigid, while humans are adaptable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How to make good decisions and view others’ decisions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……</a:t>
            </a:r>
            <a:endParaRPr lang="zh-CN" altLang="en-US" sz="24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26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1ED6-1612-76D6-1023-A6D02BEB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6A36915-F5FF-2AEA-4815-C80074C9A5A1}"/>
              </a:ext>
            </a:extLst>
          </p:cNvPr>
          <p:cNvGrpSpPr/>
          <p:nvPr/>
        </p:nvGrpSpPr>
        <p:grpSpPr>
          <a:xfrm>
            <a:off x="-5080" y="-5080"/>
            <a:ext cx="10185400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499FF0F8-BF38-18A2-88AF-289B20075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1AAC2FA-0F69-3ADB-3E1A-CEB70FA67C3E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0">
                  <a:srgbClr val="FFFFFF">
                    <a:alpha val="82000"/>
                  </a:srgbClr>
                </a:gs>
                <a:gs pos="79000">
                  <a:schemeClr val="bg1">
                    <a:alpha val="89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FBCE1E2B-A457-0321-0EA8-A7EB6F4BC2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3846195" y="0"/>
            <a:ext cx="8343265" cy="685609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135AD2E1-6DB4-0443-3D4D-A1CFD0F5A262}"/>
              </a:ext>
            </a:extLst>
          </p:cNvPr>
          <p:cNvSpPr txBox="1"/>
          <p:nvPr/>
        </p:nvSpPr>
        <p:spPr>
          <a:xfrm>
            <a:off x="453731" y="3028890"/>
            <a:ext cx="2945311" cy="7665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CONTENT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26AE38-33E3-B9D1-650D-BAD6179385F3}"/>
              </a:ext>
            </a:extLst>
          </p:cNvPr>
          <p:cNvSpPr txBox="1"/>
          <p:nvPr/>
        </p:nvSpPr>
        <p:spPr>
          <a:xfrm>
            <a:off x="5273040" y="655852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Introduction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1A8E51F5-D59D-29EE-6D41-8F8D4710C301}"/>
              </a:ext>
            </a:extLst>
          </p:cNvPr>
          <p:cNvSpPr/>
          <p:nvPr/>
        </p:nvSpPr>
        <p:spPr>
          <a:xfrm>
            <a:off x="-1062355" y="-62166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CFD7C06F-9968-B1DA-266A-EB72EFC91708}"/>
              </a:ext>
            </a:extLst>
          </p:cNvPr>
          <p:cNvSpPr/>
          <p:nvPr/>
        </p:nvSpPr>
        <p:spPr>
          <a:xfrm>
            <a:off x="262255" y="1323975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F89B30FB-310C-6727-5446-5765A76D9277}"/>
              </a:ext>
            </a:extLst>
          </p:cNvPr>
          <p:cNvSpPr/>
          <p:nvPr/>
        </p:nvSpPr>
        <p:spPr>
          <a:xfrm>
            <a:off x="3019425" y="5487035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3B66A1A2-E90A-2BEA-AE05-B5B58878E0FF}"/>
              </a:ext>
            </a:extLst>
          </p:cNvPr>
          <p:cNvSpPr/>
          <p:nvPr/>
        </p:nvSpPr>
        <p:spPr>
          <a:xfrm>
            <a:off x="10798175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42E35DA4-8030-8585-21B8-CFBAEFBFF037}"/>
              </a:ext>
            </a:extLst>
          </p:cNvPr>
          <p:cNvSpPr/>
          <p:nvPr/>
        </p:nvSpPr>
        <p:spPr>
          <a:xfrm>
            <a:off x="11300460" y="572643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A58395E4-E38D-C1FF-696D-8D536198D9EB}"/>
              </a:ext>
            </a:extLst>
          </p:cNvPr>
          <p:cNvSpPr/>
          <p:nvPr/>
        </p:nvSpPr>
        <p:spPr>
          <a:xfrm>
            <a:off x="10407650" y="819785"/>
            <a:ext cx="448310" cy="44831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-圆角矩形 5">
            <a:extLst>
              <a:ext uri="{FF2B5EF4-FFF2-40B4-BE49-F238E27FC236}">
                <a16:creationId xmlns:a16="http://schemas.microsoft.com/office/drawing/2014/main" id="{C3DB646C-8085-2E4E-3323-5144A6B9511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15460" y="558380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375FDA-4955-99E4-3B3F-DB8265448BF4}"/>
              </a:ext>
            </a:extLst>
          </p:cNvPr>
          <p:cNvSpPr txBox="1"/>
          <p:nvPr/>
        </p:nvSpPr>
        <p:spPr>
          <a:xfrm>
            <a:off x="4341115" y="642543"/>
            <a:ext cx="82105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6FF50C-4420-B2A7-F797-53900EB750C6}"/>
              </a:ext>
            </a:extLst>
          </p:cNvPr>
          <p:cNvSpPr txBox="1"/>
          <p:nvPr/>
        </p:nvSpPr>
        <p:spPr>
          <a:xfrm>
            <a:off x="5273038" y="1916167"/>
            <a:ext cx="543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Basic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PA-圆角矩形 5">
            <a:extLst>
              <a:ext uri="{FF2B5EF4-FFF2-40B4-BE49-F238E27FC236}">
                <a16:creationId xmlns:a16="http://schemas.microsoft.com/office/drawing/2014/main" id="{540E040E-C758-65AF-F6D7-13A19A641D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15459" y="1814462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8BE84D-41F1-02D7-0933-DC865F14C350}"/>
              </a:ext>
            </a:extLst>
          </p:cNvPr>
          <p:cNvSpPr txBox="1"/>
          <p:nvPr/>
        </p:nvSpPr>
        <p:spPr>
          <a:xfrm>
            <a:off x="4341115" y="1884364"/>
            <a:ext cx="7869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7D9785-462A-F924-D3B9-F7405A4501BB}"/>
              </a:ext>
            </a:extLst>
          </p:cNvPr>
          <p:cNvSpPr txBox="1"/>
          <p:nvPr/>
        </p:nvSpPr>
        <p:spPr>
          <a:xfrm>
            <a:off x="5238445" y="3168106"/>
            <a:ext cx="5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Variants of DDM Experiment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1" name="PA-圆角矩形 5">
            <a:extLst>
              <a:ext uri="{FF2B5EF4-FFF2-40B4-BE49-F238E27FC236}">
                <a16:creationId xmlns:a16="http://schemas.microsoft.com/office/drawing/2014/main" id="{55B9017A-67BC-D4BC-2146-AE9BF792445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5459" y="3070544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BFCFAE-E688-472A-CE51-92321A74453D}"/>
              </a:ext>
            </a:extLst>
          </p:cNvPr>
          <p:cNvSpPr txBox="1"/>
          <p:nvPr/>
        </p:nvSpPr>
        <p:spPr>
          <a:xfrm>
            <a:off x="4341115" y="3130277"/>
            <a:ext cx="8210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C26EC3-6F51-E09F-2D1F-A1C338C98232}"/>
              </a:ext>
            </a:extLst>
          </p:cNvPr>
          <p:cNvSpPr txBox="1"/>
          <p:nvPr/>
        </p:nvSpPr>
        <p:spPr>
          <a:xfrm>
            <a:off x="5273038" y="4428239"/>
            <a:ext cx="6410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Extensions of DDM and Deeper Insight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4" name="PA-圆角矩形 5">
            <a:extLst>
              <a:ext uri="{FF2B5EF4-FFF2-40B4-BE49-F238E27FC236}">
                <a16:creationId xmlns:a16="http://schemas.microsoft.com/office/drawing/2014/main" id="{0982AB70-667B-BD5B-3348-0F4F2EB80E5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315458" y="432662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8163D1-9A85-1177-0B47-53B07AC33A15}"/>
              </a:ext>
            </a:extLst>
          </p:cNvPr>
          <p:cNvSpPr txBox="1"/>
          <p:nvPr/>
        </p:nvSpPr>
        <p:spPr>
          <a:xfrm>
            <a:off x="4328739" y="4400241"/>
            <a:ext cx="82105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04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80C315-A4C1-B2C2-634D-D4434F9C9AF4}"/>
              </a:ext>
            </a:extLst>
          </p:cNvPr>
          <p:cNvSpPr txBox="1"/>
          <p:nvPr/>
        </p:nvSpPr>
        <p:spPr>
          <a:xfrm>
            <a:off x="5273040" y="5680178"/>
            <a:ext cx="2919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2800" b="1" dirty="0">
              <a:solidFill>
                <a:schemeClr val="tx2">
                  <a:lumMod val="25000"/>
                  <a:lumOff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20" name="PA-圆角矩形 5">
            <a:extLst>
              <a:ext uri="{FF2B5EF4-FFF2-40B4-BE49-F238E27FC236}">
                <a16:creationId xmlns:a16="http://schemas.microsoft.com/office/drawing/2014/main" id="{6F9E645C-B078-842A-EFF6-C4AE0CF9E73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315460" y="5582706"/>
            <a:ext cx="821055" cy="716915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53807C-AA37-7F32-15DC-B2FFDDAB67CB}"/>
              </a:ext>
            </a:extLst>
          </p:cNvPr>
          <p:cNvSpPr txBox="1"/>
          <p:nvPr/>
        </p:nvSpPr>
        <p:spPr>
          <a:xfrm>
            <a:off x="4361180" y="5649381"/>
            <a:ext cx="6997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8227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E5B4-D260-4806-7BDA-FD81429A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8850FC93-67CA-7BFC-A202-B8F28412617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4546599" y="1495829"/>
            <a:ext cx="16122650" cy="3705367"/>
            <a:chOff x="1" y="1895348"/>
            <a:chExt cx="7123176" cy="3143504"/>
          </a:xfrm>
        </p:grpSpPr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DB5B1594-7CF7-162F-1F35-937EAB5E4655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>
              <a:extLst>
                <a:ext uri="{FF2B5EF4-FFF2-40B4-BE49-F238E27FC236}">
                  <a16:creationId xmlns:a16="http://schemas.microsoft.com/office/drawing/2014/main" id="{608DDEC0-6297-727C-857C-2A17EA12F308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055C2469-5908-323E-62EF-8D97F99B7E37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7E37CF4-4C16-AE7F-3031-7CF4EDD30768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AD1913-760D-C81C-0121-FBB44C2A6A7F}"/>
              </a:ext>
            </a:extLst>
          </p:cNvPr>
          <p:cNvSpPr txBox="1"/>
          <p:nvPr/>
        </p:nvSpPr>
        <p:spPr>
          <a:xfrm>
            <a:off x="509272" y="468691"/>
            <a:ext cx="29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Conclusion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A88ACA1-BFBD-028D-80FD-C84E6CEB9CF2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053334D-0389-F8EA-5E40-4E2E05A17771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1130BE-D1FE-061C-C161-8A5BF912375F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33F30A-D513-B4E6-B283-CFF05AF0AA8B}"/>
              </a:ext>
            </a:extLst>
          </p:cNvPr>
          <p:cNvSpPr txBox="1"/>
          <p:nvPr/>
        </p:nvSpPr>
        <p:spPr>
          <a:xfrm>
            <a:off x="810468" y="2332990"/>
            <a:ext cx="91661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Not task-oriented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thinking-oriented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Simple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robust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Based on mathematical models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but</a:t>
            </a:r>
            <a:r>
              <a:rPr lang="en-US" altLang="zh-CN" sz="280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 can inspire our life</a:t>
            </a:r>
            <a:endParaRPr lang="zh-CN" altLang="en-US" sz="2800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601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EB02-A1D8-E4B5-326A-EE65D7B7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#29467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<a:extLst>
              <a:ext uri="{FF2B5EF4-FFF2-40B4-BE49-F238E27FC236}">
                <a16:creationId xmlns:a16="http://schemas.microsoft.com/office/drawing/2014/main" id="{3EE74AE9-6F90-E02D-97D2-E9809A61BAB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4546599" y="1495829"/>
            <a:ext cx="16122650" cy="3705367"/>
            <a:chOff x="1" y="1895348"/>
            <a:chExt cx="7123176" cy="3143504"/>
          </a:xfrm>
        </p:grpSpPr>
        <p:sp>
          <p:nvSpPr>
            <p:cNvPr id="10" name="í$ḻídè">
              <a:extLst>
                <a:ext uri="{FF2B5EF4-FFF2-40B4-BE49-F238E27FC236}">
                  <a16:creationId xmlns:a16="http://schemas.microsoft.com/office/drawing/2014/main" id="{81EEC113-F7D4-FA12-C7FF-5767492AC37E}"/>
                </a:ext>
              </a:extLst>
            </p:cNvPr>
            <p:cNvSpPr/>
            <p:nvPr/>
          </p:nvSpPr>
          <p:spPr>
            <a:xfrm>
              <a:off x="1" y="1895348"/>
              <a:ext cx="7123176" cy="31435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lumMod val="95000"/>
                    <a:alpha val="80000"/>
                  </a:schemeClr>
                </a:gs>
              </a:gsLst>
              <a:lin ang="0" scaled="1"/>
              <a:tileRect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ïşlíďe">
              <a:extLst>
                <a:ext uri="{FF2B5EF4-FFF2-40B4-BE49-F238E27FC236}">
                  <a16:creationId xmlns:a16="http://schemas.microsoft.com/office/drawing/2014/main" id="{1A6F7F76-ACBD-4463-6769-3F0DFBD8CE75}"/>
                </a:ext>
              </a:extLst>
            </p:cNvPr>
            <p:cNvSpPr/>
            <p:nvPr/>
          </p:nvSpPr>
          <p:spPr>
            <a:xfrm>
              <a:off x="6967728" y="1895348"/>
              <a:ext cx="155448" cy="3143504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CCDFC90A-AAB4-3BF3-2941-4FFCD0873EC3}"/>
              </a:ext>
            </a:extLst>
          </p:cNvPr>
          <p:cNvSpPr/>
          <p:nvPr/>
        </p:nvSpPr>
        <p:spPr>
          <a:xfrm>
            <a:off x="-95250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7814EC-4959-AD60-F513-2D1506F04EE9}"/>
              </a:ext>
            </a:extLst>
          </p:cNvPr>
          <p:cNvSpPr/>
          <p:nvPr/>
        </p:nvSpPr>
        <p:spPr>
          <a:xfrm>
            <a:off x="340360" y="42799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93E222-57EA-E026-8B3A-019121EB5371}"/>
              </a:ext>
            </a:extLst>
          </p:cNvPr>
          <p:cNvSpPr txBox="1"/>
          <p:nvPr/>
        </p:nvSpPr>
        <p:spPr>
          <a:xfrm>
            <a:off x="509272" y="468691"/>
            <a:ext cx="29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References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94C8461-C01B-DD51-069B-C225E8CD994B}"/>
              </a:ext>
            </a:extLst>
          </p:cNvPr>
          <p:cNvSpPr/>
          <p:nvPr/>
        </p:nvSpPr>
        <p:spPr>
          <a:xfrm>
            <a:off x="9575165" y="55079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D2C890F5-7A8A-D0BB-19EE-95D45958D955}"/>
              </a:ext>
            </a:extLst>
          </p:cNvPr>
          <p:cNvSpPr/>
          <p:nvPr/>
        </p:nvSpPr>
        <p:spPr>
          <a:xfrm>
            <a:off x="11151870" y="30740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DD7E59-7E45-3FD8-7FCD-E64E694B5FE6}"/>
              </a:ext>
            </a:extLst>
          </p:cNvPr>
          <p:cNvSpPr txBox="1"/>
          <p:nvPr/>
        </p:nvSpPr>
        <p:spPr>
          <a:xfrm>
            <a:off x="4474346" y="266330"/>
            <a:ext cx="1988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</a:rPr>
              <a:t>https://www.ypppt.com/</a:t>
            </a:r>
            <a:endParaRPr lang="zh-CN" altLang="en-US" sz="1200" dirty="0">
              <a:solidFill>
                <a:srgbClr val="FFFF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1E4F00-1946-DC9E-9A43-169983C4A98C}"/>
              </a:ext>
            </a:extLst>
          </p:cNvPr>
          <p:cNvSpPr txBox="1"/>
          <p:nvPr/>
        </p:nvSpPr>
        <p:spPr>
          <a:xfrm>
            <a:off x="815925" y="2067522"/>
            <a:ext cx="96574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[1]Ratcliff, R. (1978). A theory of memory retrieval. </a:t>
            </a:r>
            <a:r>
              <a:rPr lang="en-US" altLang="zh-CN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Review, 85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59-108.  </a:t>
            </a:r>
            <a:r>
              <a:rPr lang="en-US" altLang="zh-CN" b="0" i="0" u="none" strike="noStrike" dirty="0">
                <a:solidFill>
                  <a:srgbClr val="2C72B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https://doi.org/10.1037/0033-295X.85.2.59</a:t>
            </a:r>
            <a:endParaRPr lang="en-US" altLang="zh-CN" b="0" i="0" u="none" strike="noStrike" dirty="0">
              <a:solidFill>
                <a:srgbClr val="2C72B7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[2]K. Britten, M.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Newsome, and J.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Movshon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analysis of visual motion: a comparison of neuronal and psychophysical performance,” Journal of Neuroscience, vol. 12, no. 12, pp. 4745–4765, 1992.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[3]R. Ratcliff and G.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McKoon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“The Diffusion Decision Model: Theory and Data for Two-Choice Decision Tasks,” Neural Computation, vol. 20, pp. 873–922, Apr. 2008.</a:t>
            </a:r>
          </a:p>
        </p:txBody>
      </p:sp>
    </p:spTree>
    <p:extLst>
      <p:ext uri="{BB962C8B-B14F-4D97-AF65-F5344CB8AC3E}">
        <p14:creationId xmlns:p14="http://schemas.microsoft.com/office/powerpoint/2010/main" val="498869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5A09-C0B4-7BED-FAD4-CB6C1000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113CDC6-A419-B7AA-B2E3-F49291C62D16}"/>
              </a:ext>
            </a:extLst>
          </p:cNvPr>
          <p:cNvGrpSpPr/>
          <p:nvPr/>
        </p:nvGrpSpPr>
        <p:grpSpPr>
          <a:xfrm>
            <a:off x="-5080" y="-5080"/>
            <a:ext cx="12205335" cy="6863080"/>
            <a:chOff x="-8" y="-8"/>
            <a:chExt cx="19221" cy="10808"/>
          </a:xfrm>
        </p:grpSpPr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B4A40B11-B9D4-E87F-E1AF-6E74FE362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7500"/>
            <a:stretch>
              <a:fillRect/>
            </a:stretch>
          </p:blipFill>
          <p:spPr>
            <a:xfrm>
              <a:off x="14" y="-8"/>
              <a:ext cx="19182" cy="10808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4338581-C67C-D84B-2BB6-5BEA0CA419F6}"/>
                </a:ext>
              </a:extLst>
            </p:cNvPr>
            <p:cNvSpPr/>
            <p:nvPr/>
          </p:nvSpPr>
          <p:spPr>
            <a:xfrm>
              <a:off x="-8" y="0"/>
              <a:ext cx="19221" cy="10800"/>
            </a:xfrm>
            <a:prstGeom prst="rect">
              <a:avLst/>
            </a:prstGeom>
            <a:gradFill>
              <a:gsLst>
                <a:gs pos="28000">
                  <a:srgbClr val="FFFFFF">
                    <a:alpha val="100000"/>
                  </a:srgbClr>
                </a:gs>
                <a:gs pos="79000">
                  <a:schemeClr val="bg1">
                    <a:alpha val="92000"/>
                  </a:schemeClr>
                </a:gs>
                <a:gs pos="55000">
                  <a:schemeClr val="bg1">
                    <a:alpha val="92000"/>
                  </a:schemeClr>
                </a:gs>
              </a:gsLst>
              <a:lin ang="426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PA-矩形 1">
            <a:extLst>
              <a:ext uri="{FF2B5EF4-FFF2-40B4-BE49-F238E27FC236}">
                <a16:creationId xmlns:a16="http://schemas.microsoft.com/office/drawing/2014/main" id="{18ABFAC9-1291-A317-839D-C72ACAEAED3F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-13970" y="0"/>
            <a:ext cx="12610854" cy="6858000"/>
          </a:xfrm>
          <a:prstGeom prst="rect">
            <a:avLst/>
          </a:prstGeom>
          <a:solidFill>
            <a:schemeClr val="accent2">
              <a:alpha val="9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AC69EBE8-3717-ECBE-54CD-4AE7077D7DA2}"/>
              </a:ext>
            </a:extLst>
          </p:cNvPr>
          <p:cNvSpPr txBox="1"/>
          <p:nvPr/>
        </p:nvSpPr>
        <p:spPr>
          <a:xfrm>
            <a:off x="1006475" y="1327280"/>
            <a:ext cx="10599420" cy="20307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spcBef>
                <a:spcPct val="0"/>
              </a:spcBef>
              <a:buNone/>
              <a:defRPr sz="44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5000">
                      <a:schemeClr val="accent1"/>
                    </a:gs>
                  </a:gsLst>
                  <a:lin ang="5400000" scaled="1"/>
                </a:gradFill>
                <a:effectLst>
                  <a:outerShdw blurRad="127000" sx="102000" sy="102000" algn="ctr" rotWithShape="0">
                    <a:schemeClr val="accent1">
                      <a:alpha val="30000"/>
                    </a:schemeClr>
                  </a:outerShdw>
                </a:effectLst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15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  <a:sym typeface="+mn-lt"/>
              </a:rPr>
              <a:t>Thank You</a:t>
            </a:r>
            <a:endParaRPr lang="zh-CN" altLang="en-US" sz="115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7" name="文本占位符 85">
            <a:extLst>
              <a:ext uri="{FF2B5EF4-FFF2-40B4-BE49-F238E27FC236}">
                <a16:creationId xmlns:a16="http://schemas.microsoft.com/office/drawing/2014/main" id="{E2AE5AD4-06BB-24A3-8CF5-B3EFA81517E7}"/>
              </a:ext>
            </a:extLst>
          </p:cNvPr>
          <p:cNvSpPr txBox="1"/>
          <p:nvPr/>
        </p:nvSpPr>
        <p:spPr>
          <a:xfrm>
            <a:off x="1006475" y="4407514"/>
            <a:ext cx="5520614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Yong-Ming Tian, Zong-Yi Chen, Shiqi Liu, Yajie Li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8F1F789-FC8C-4BCD-EEAA-EB1C00F56948}"/>
              </a:ext>
            </a:extLst>
          </p:cNvPr>
          <p:cNvCxnSpPr/>
          <p:nvPr/>
        </p:nvCxnSpPr>
        <p:spPr>
          <a:xfrm>
            <a:off x="1006475" y="3775319"/>
            <a:ext cx="42926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D889C432-3B3A-CF44-0F84-4BBFA6D0BBAD}"/>
              </a:ext>
            </a:extLst>
          </p:cNvPr>
          <p:cNvSpPr/>
          <p:nvPr/>
        </p:nvSpPr>
        <p:spPr>
          <a:xfrm>
            <a:off x="3498850" y="-95250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4B8F5D7-EE89-F56E-B21F-79B7C1182F48}"/>
              </a:ext>
            </a:extLst>
          </p:cNvPr>
          <p:cNvSpPr/>
          <p:nvPr/>
        </p:nvSpPr>
        <p:spPr>
          <a:xfrm>
            <a:off x="-1410335" y="1685290"/>
            <a:ext cx="1905000" cy="190500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1404DEE-AFC9-DC72-F00A-DB3E51DE60EA}"/>
              </a:ext>
            </a:extLst>
          </p:cNvPr>
          <p:cNvSpPr/>
          <p:nvPr/>
        </p:nvSpPr>
        <p:spPr>
          <a:xfrm>
            <a:off x="3265170" y="5385435"/>
            <a:ext cx="1487170" cy="148717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2629494-D5A8-12FA-BDD0-3EDE520B4A2B}"/>
              </a:ext>
            </a:extLst>
          </p:cNvPr>
          <p:cNvSpPr/>
          <p:nvPr/>
        </p:nvSpPr>
        <p:spPr>
          <a:xfrm>
            <a:off x="9946005" y="4836795"/>
            <a:ext cx="1659890" cy="173228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95014A0-6700-2F78-AEA7-88F2C97E7AE6}"/>
              </a:ext>
            </a:extLst>
          </p:cNvPr>
          <p:cNvSpPr/>
          <p:nvPr/>
        </p:nvSpPr>
        <p:spPr>
          <a:xfrm>
            <a:off x="10287000" y="459105"/>
            <a:ext cx="1905000" cy="190500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3F150B5-EAC4-A810-7BB6-0B3FEF2B7412}"/>
              </a:ext>
            </a:extLst>
          </p:cNvPr>
          <p:cNvSpPr/>
          <p:nvPr/>
        </p:nvSpPr>
        <p:spPr>
          <a:xfrm>
            <a:off x="5732780" y="1079500"/>
            <a:ext cx="548640" cy="548640"/>
          </a:xfrm>
          <a:prstGeom prst="ellipse">
            <a:avLst/>
          </a:prstGeom>
          <a:gradFill>
            <a:gsLst>
              <a:gs pos="28000">
                <a:schemeClr val="accent2">
                  <a:lumMod val="75000"/>
                  <a:alpha val="14000"/>
                </a:schemeClr>
              </a:gs>
              <a:gs pos="100000">
                <a:schemeClr val="bg1">
                  <a:alpha val="11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A27FF78-FA8B-3723-4479-A395E16EE1AF}"/>
              </a:ext>
            </a:extLst>
          </p:cNvPr>
          <p:cNvSpPr/>
          <p:nvPr/>
        </p:nvSpPr>
        <p:spPr>
          <a:xfrm>
            <a:off x="9222740" y="2101850"/>
            <a:ext cx="548640" cy="548640"/>
          </a:xfrm>
          <a:prstGeom prst="ellipse">
            <a:avLst/>
          </a:prstGeom>
          <a:gradFill>
            <a:gsLst>
              <a:gs pos="14000">
                <a:srgbClr val="FFFFFF">
                  <a:alpha val="0"/>
                </a:srgbClr>
              </a:gs>
              <a:gs pos="100000">
                <a:schemeClr val="bg1">
                  <a:alpha val="92000"/>
                </a:schemeClr>
              </a:gs>
            </a:gsLst>
            <a:lin ang="5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567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9467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www.2ppt.com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1105</Words>
  <Application>Microsoft Office PowerPoint</Application>
  <PresentationFormat>宽屏</PresentationFormat>
  <Paragraphs>212</Paragraphs>
  <Slides>27</Slides>
  <Notes>5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方正小标宋简体</vt:lpstr>
      <vt:lpstr>Arial</vt:lpstr>
      <vt:lpstr>Calibri</vt:lpstr>
      <vt:lpstr>Cambria Math</vt:lpstr>
      <vt:lpstr>Times New Roman</vt:lpstr>
      <vt:lpstr>www.2ppt.com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dc:description/>
  <cp:lastModifiedBy>永铭 田</cp:lastModifiedBy>
  <cp:revision>268</cp:revision>
  <dcterms:created xsi:type="dcterms:W3CDTF">2021-05-18T01:26:58Z</dcterms:created>
  <dcterms:modified xsi:type="dcterms:W3CDTF">2024-11-25T12:02:37Z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3B0E0EFBCFB64DCAB42B445F83569D6D</vt:lpwstr>
  </property>
</Properties>
</file>