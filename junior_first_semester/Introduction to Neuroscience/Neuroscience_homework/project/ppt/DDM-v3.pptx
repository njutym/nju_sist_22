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notesSlides/notesSlide22.xml" ContentType="application/vnd.openxmlformats-officedocument.presentationml.notesSlide+xml"/>
  <Override PartName="/ppt/tags/tag29.xml" ContentType="application/vnd.openxmlformats-officedocument.presentationml.tags+xml"/>
  <Override PartName="/ppt/tags/tag30.xml" ContentType="application/vnd.openxmlformats-officedocument.presentationml.tags+xml"/>
  <Override PartName="/ppt/notesSlides/notesSlide23.xml" ContentType="application/vnd.openxmlformats-officedocument.presentationml.notesSlide+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4.xml" ContentType="application/vnd.openxmlformats-officedocument.presentationml.notesSlide+xml"/>
  <Override PartName="/ppt/tags/tag37.xml" ContentType="application/vnd.openxmlformats-officedocument.presentationml.tags+xml"/>
  <Override PartName="/ppt/notesSlides/notesSlide25.xml" ContentType="application/vnd.openxmlformats-officedocument.presentationml.notesSlide+xml"/>
  <Override PartName="/ppt/tags/tag38.xml" ContentType="application/vnd.openxmlformats-officedocument.presentationml.tags+xml"/>
  <Override PartName="/ppt/notesSlides/notesSlide26.xml" ContentType="application/vnd.openxmlformats-officedocument.presentationml.notesSlide+xml"/>
  <Override PartName="/ppt/tags/tag39.xml" ContentType="application/vnd.openxmlformats-officedocument.presentationml.tags+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9" r:id="rId2"/>
    <p:sldId id="309" r:id="rId3"/>
    <p:sldId id="257" r:id="rId4"/>
    <p:sldId id="289" r:id="rId5"/>
    <p:sldId id="310" r:id="rId6"/>
    <p:sldId id="290" r:id="rId7"/>
    <p:sldId id="318" r:id="rId8"/>
    <p:sldId id="315" r:id="rId9"/>
    <p:sldId id="291" r:id="rId10"/>
    <p:sldId id="292" r:id="rId11"/>
    <p:sldId id="312" r:id="rId12"/>
    <p:sldId id="295" r:id="rId13"/>
    <p:sldId id="294" r:id="rId14"/>
    <p:sldId id="296" r:id="rId15"/>
    <p:sldId id="297" r:id="rId16"/>
    <p:sldId id="299" r:id="rId17"/>
    <p:sldId id="300" r:id="rId18"/>
    <p:sldId id="301" r:id="rId19"/>
    <p:sldId id="302" r:id="rId20"/>
    <p:sldId id="313" r:id="rId21"/>
    <p:sldId id="304" r:id="rId22"/>
    <p:sldId id="316" r:id="rId23"/>
    <p:sldId id="307" r:id="rId24"/>
    <p:sldId id="314" r:id="rId25"/>
    <p:sldId id="308" r:id="rId26"/>
    <p:sldId id="317" r:id="rId27"/>
    <p:sldId id="306" r:id="rId2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046" autoAdjust="0"/>
    <p:restoredTop sz="81491" autoAdjust="0"/>
  </p:normalViewPr>
  <p:slideViewPr>
    <p:cSldViewPr snapToGrid="0">
      <p:cViewPr varScale="1">
        <p:scale>
          <a:sx n="90" d="100"/>
          <a:sy n="90" d="100"/>
        </p:scale>
        <p:origin x="70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2024/12/14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extLst>
      <p:ext uri="{BB962C8B-B14F-4D97-AF65-F5344CB8AC3E}">
        <p14:creationId xmlns:p14="http://schemas.microsoft.com/office/powerpoint/2010/main" val="402689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大家好，我们小组的项目是：</a:t>
            </a:r>
            <a:r>
              <a:rPr lang="en-US" altLang="zh-CN"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Deep Insights into the Drift Diffusion Model: From Basics to Variants</a:t>
            </a:r>
            <a:r>
              <a:rPr lang="zh-CN" altLang="en-US"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。我们主要以</a:t>
            </a:r>
            <a:r>
              <a:rPr lang="en-US" altLang="zh-CN"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DDM</a:t>
            </a:r>
            <a:r>
              <a:rPr lang="zh-CN" altLang="en-US" sz="12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模型以及它的各种变种为工具，探索了人们在不同环境下的决策过程，产生了一些深入的见解。</a:t>
            </a:r>
          </a:p>
          <a:p>
            <a:endParaRPr lang="en-US" altLang="zh-CN"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a:t>
            </a:fld>
            <a:endParaRPr lang="zh-CN" altLang="en-US"/>
          </a:p>
        </p:txBody>
      </p:sp>
    </p:spTree>
    <p:extLst>
      <p:ext uri="{BB962C8B-B14F-4D97-AF65-F5344CB8AC3E}">
        <p14:creationId xmlns:p14="http://schemas.microsoft.com/office/powerpoint/2010/main" val="39557561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9C52E-0173-A9C5-9C53-78603A58E8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6D5E44-D1CF-B4F0-DB35-AF9DAEEFE15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9947A4-FE93-22A7-C3F6-854E7087C416}"/>
              </a:ext>
            </a:extLst>
          </p:cNvPr>
          <p:cNvSpPr>
            <a:spLocks noGrp="1"/>
          </p:cNvSpPr>
          <p:nvPr>
            <p:ph type="body" idx="1"/>
          </p:nvPr>
        </p:nvSpPr>
        <p:spPr/>
        <p:txBody>
          <a:bodyPr/>
          <a:lstStyle/>
          <a:p>
            <a:r>
              <a:rPr lang="zh-CN" altLang="en-US" dirty="0"/>
              <a:t>首先是项目介绍。</a:t>
            </a:r>
          </a:p>
        </p:txBody>
      </p:sp>
      <p:sp>
        <p:nvSpPr>
          <p:cNvPr id="4" name="灯片编号占位符 3">
            <a:extLst>
              <a:ext uri="{FF2B5EF4-FFF2-40B4-BE49-F238E27FC236}">
                <a16:creationId xmlns:a16="http://schemas.microsoft.com/office/drawing/2014/main" id="{C726E8A3-3867-B245-56F0-9406E0F722A7}"/>
              </a:ext>
            </a:extLst>
          </p:cNvPr>
          <p:cNvSpPr>
            <a:spLocks noGrp="1"/>
          </p:cNvSpPr>
          <p:nvPr>
            <p:ph type="sldNum" sz="quarter" idx="5"/>
          </p:nvPr>
        </p:nvSpPr>
        <p:spPr/>
        <p:txBody>
          <a:bodyPr/>
          <a:lstStyle/>
          <a:p>
            <a:fld id="{F4B9ED47-EE91-4403-9E82-880EC51C5D5D}" type="slidenum">
              <a:rPr lang="zh-CN" altLang="en-US" smtClean="0"/>
              <a:t>2</a:t>
            </a:fld>
            <a:endParaRPr lang="zh-CN" altLang="en-US"/>
          </a:p>
        </p:txBody>
      </p:sp>
    </p:spTree>
    <p:extLst>
      <p:ext uri="{BB962C8B-B14F-4D97-AF65-F5344CB8AC3E}">
        <p14:creationId xmlns:p14="http://schemas.microsoft.com/office/powerpoint/2010/main" val="29514811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项目的灵感来源于小猿口算，其中测试者比较屏幕上两个数字的大小并写下大于或小于符号。我们想要通过这种简单的决策模型来探究准确率和反应时间与决策之间的关系，并进一步探讨现实生活中的人类决策过程。</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不知道大家是否还记得前一段时间火爆的“小猿口算”，其中最火的便是这个“</a:t>
            </a:r>
            <a:r>
              <a:rPr lang="en-US" altLang="zh-CN" b="1" dirty="0"/>
              <a:t>20</a:t>
            </a:r>
            <a:r>
              <a:rPr lang="zh-CN" altLang="en-US" b="1" dirty="0"/>
              <a:t>以内的数比大小”，实际上这就是一个简单的二元决策过程。我们正是从这个小游戏中获得灵感，希望设计类似的决策任务，利用</a:t>
            </a:r>
            <a:r>
              <a:rPr lang="en-US" altLang="zh-CN" b="1" dirty="0"/>
              <a:t>DDM</a:t>
            </a:r>
            <a:r>
              <a:rPr lang="zh-CN" altLang="en-US" b="1" dirty="0"/>
              <a:t>来建模，从而探究人们做决策的各种规律。</a:t>
            </a: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3</a:t>
            </a:fld>
            <a:endParaRPr lang="zh-CN" altLang="en-US"/>
          </a:p>
        </p:txBody>
      </p:sp>
    </p:spTree>
    <p:extLst>
      <p:ext uri="{BB962C8B-B14F-4D97-AF65-F5344CB8AC3E}">
        <p14:creationId xmlns:p14="http://schemas.microsoft.com/office/powerpoint/2010/main" val="35323607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我们使用的模型是漂移扩散模型，即</a:t>
            </a:r>
            <a:r>
              <a:rPr lang="en-US" altLang="zh-CN" dirty="0"/>
              <a:t>DDM</a:t>
            </a:r>
            <a:r>
              <a:rPr lang="zh-CN" altLang="en-US" dirty="0"/>
              <a:t>。</a:t>
            </a:r>
            <a:endParaRPr lang="en-US" altLang="zh-CN" dirty="0"/>
          </a:p>
          <a:p>
            <a:r>
              <a:rPr lang="zh-CN" altLang="en-US" dirty="0"/>
              <a:t>其中的参数有：漂移率、边界大小等</a:t>
            </a:r>
            <a:endParaRPr lang="en-US" altLang="zh-CN" dirty="0"/>
          </a:p>
          <a:p>
            <a:r>
              <a:rPr lang="zh-CN" altLang="en-US" dirty="0"/>
              <a:t>评价指标有：准确率、反应时间等</a:t>
            </a:r>
            <a:endParaRPr lang="en-US" altLang="zh-CN" dirty="0"/>
          </a:p>
          <a:p>
            <a:endParaRPr lang="en-US" altLang="zh-CN" dirty="0"/>
          </a:p>
          <a:p>
            <a:r>
              <a:rPr lang="zh-CN" altLang="en-US" b="1" dirty="0"/>
              <a:t>首先简要介绍一下</a:t>
            </a:r>
            <a:r>
              <a:rPr lang="en-US" altLang="zh-CN" b="1" dirty="0"/>
              <a:t>DDM</a:t>
            </a:r>
            <a:r>
              <a:rPr lang="zh-CN" altLang="en-US" b="1" dirty="0"/>
              <a:t>。</a:t>
            </a:r>
            <a:r>
              <a:rPr lang="en-US" altLang="zh-CN" b="1" dirty="0"/>
              <a:t>DDM</a:t>
            </a:r>
            <a:r>
              <a:rPr lang="zh-CN" altLang="en-US" b="1" dirty="0"/>
              <a:t>最初由</a:t>
            </a:r>
            <a:r>
              <a:rPr lang="en-US" altLang="zh-CN" b="1" i="0" dirty="0">
                <a:solidFill>
                  <a:srgbClr val="333333"/>
                </a:solidFill>
                <a:effectLst/>
                <a:latin typeface="Times New Roman" panose="02020603050405020304" pitchFamily="18" charset="0"/>
                <a:cs typeface="Times New Roman" panose="02020603050405020304" pitchFamily="18" charset="0"/>
              </a:rPr>
              <a:t>Ratcliff</a:t>
            </a:r>
            <a:r>
              <a:rPr lang="zh-CN" altLang="en-US" b="1" i="0" dirty="0">
                <a:solidFill>
                  <a:srgbClr val="333333"/>
                </a:solidFill>
                <a:effectLst/>
                <a:latin typeface="Times New Roman" panose="02020603050405020304" pitchFamily="18" charset="0"/>
                <a:cs typeface="Times New Roman" panose="02020603050405020304" pitchFamily="18" charset="0"/>
              </a:rPr>
              <a:t>等人在</a:t>
            </a:r>
            <a:r>
              <a:rPr lang="en-US" altLang="zh-CN" b="1" i="0" dirty="0">
                <a:solidFill>
                  <a:srgbClr val="333333"/>
                </a:solidFill>
                <a:effectLst/>
                <a:latin typeface="Times New Roman" panose="02020603050405020304" pitchFamily="18" charset="0"/>
                <a:cs typeface="Times New Roman" panose="02020603050405020304" pitchFamily="18" charset="0"/>
              </a:rPr>
              <a:t>1978</a:t>
            </a:r>
            <a:r>
              <a:rPr lang="zh-CN" altLang="en-US" b="1" i="0" dirty="0">
                <a:solidFill>
                  <a:srgbClr val="333333"/>
                </a:solidFill>
                <a:effectLst/>
                <a:latin typeface="Times New Roman" panose="02020603050405020304" pitchFamily="18" charset="0"/>
                <a:cs typeface="Times New Roman" panose="02020603050405020304" pitchFamily="18" charset="0"/>
              </a:rPr>
              <a:t>年提出，拥有悠久的历史，而直至当代仍在不断被人使用，影响力极大。这篇论文的</a:t>
            </a:r>
            <a:r>
              <a:rPr lang="en-US" altLang="zh-CN" b="1" i="0" dirty="0">
                <a:solidFill>
                  <a:srgbClr val="333333"/>
                </a:solidFill>
                <a:effectLst/>
                <a:latin typeface="Times New Roman" panose="02020603050405020304" pitchFamily="18" charset="0"/>
                <a:cs typeface="Times New Roman" panose="02020603050405020304" pitchFamily="18" charset="0"/>
              </a:rPr>
              <a:t>Abstract</a:t>
            </a:r>
            <a:r>
              <a:rPr lang="zh-CN" altLang="en-US" b="1" i="0" dirty="0">
                <a:solidFill>
                  <a:srgbClr val="333333"/>
                </a:solidFill>
                <a:effectLst/>
                <a:latin typeface="Times New Roman" panose="02020603050405020304" pitchFamily="18" charset="0"/>
                <a:cs typeface="Times New Roman" panose="02020603050405020304" pitchFamily="18" charset="0"/>
              </a:rPr>
              <a:t>提炼出了</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的几个要素：比如</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的广泛性；</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建模的方式是用的随机游走过程，也就是带有噪声的证据积累过程；以及</a:t>
            </a:r>
            <a:r>
              <a:rPr lang="en-US" altLang="zh-CN" b="1" i="0" dirty="0">
                <a:solidFill>
                  <a:srgbClr val="333333"/>
                </a:solidFill>
                <a:effectLst/>
                <a:latin typeface="Times New Roman" panose="02020603050405020304" pitchFamily="18" charset="0"/>
                <a:cs typeface="Times New Roman" panose="02020603050405020304" pitchFamily="18" charset="0"/>
              </a:rPr>
              <a:t>DDM</a:t>
            </a:r>
            <a:r>
              <a:rPr lang="zh-CN" altLang="en-US" b="1" i="0" dirty="0">
                <a:solidFill>
                  <a:srgbClr val="333333"/>
                </a:solidFill>
                <a:effectLst/>
                <a:latin typeface="Times New Roman" panose="02020603050405020304" pitchFamily="18" charset="0"/>
                <a:cs typeface="Times New Roman" panose="02020603050405020304" pitchFamily="18" charset="0"/>
              </a:rPr>
              <a:t>的各种模型参数和评价指标等等。这部分内容由于课上以及讲得非常清楚，这里不再赘述。</a:t>
            </a:r>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4</a:t>
            </a:fld>
            <a:endParaRPr lang="zh-CN" altLang="en-US"/>
          </a:p>
        </p:txBody>
      </p:sp>
    </p:spTree>
    <p:extLst>
      <p:ext uri="{BB962C8B-B14F-4D97-AF65-F5344CB8AC3E}">
        <p14:creationId xmlns:p14="http://schemas.microsoft.com/office/powerpoint/2010/main" val="4063770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E7FD8-3485-AD49-33A0-7C78D9073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938AC4A-A020-DB40-3A96-6A2D59EE2A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90E9EF2-8B4C-3880-559B-0F750ED8F065}"/>
              </a:ext>
            </a:extLst>
          </p:cNvPr>
          <p:cNvSpPr>
            <a:spLocks noGrp="1"/>
          </p:cNvSpPr>
          <p:nvPr>
            <p:ph type="body" idx="1"/>
          </p:nvPr>
        </p:nvSpPr>
        <p:spPr/>
        <p:txBody>
          <a:bodyPr/>
          <a:lstStyle/>
          <a:p>
            <a:r>
              <a:rPr lang="zh-CN" altLang="en-US" dirty="0"/>
              <a:t>第二部分是我们的基础</a:t>
            </a:r>
            <a:r>
              <a:rPr lang="en-US" altLang="zh-CN" dirty="0"/>
              <a:t>DDM</a:t>
            </a:r>
            <a:r>
              <a:rPr lang="zh-CN" altLang="en-US" dirty="0"/>
              <a:t>模型。</a:t>
            </a:r>
            <a:endParaRPr lang="en-US" altLang="zh-CN" dirty="0"/>
          </a:p>
          <a:p>
            <a:endParaRPr lang="en-US" altLang="zh-CN" dirty="0"/>
          </a:p>
          <a:p>
            <a:r>
              <a:rPr lang="zh-CN" altLang="en-US" b="1" dirty="0"/>
              <a:t>接下来讲介绍我们设计的</a:t>
            </a:r>
            <a:r>
              <a:rPr lang="en-US" altLang="zh-CN" b="1" dirty="0"/>
              <a:t>DDM</a:t>
            </a:r>
            <a:r>
              <a:rPr lang="zh-CN" altLang="en-US" b="1" dirty="0"/>
              <a:t>基础实验。</a:t>
            </a:r>
          </a:p>
        </p:txBody>
      </p:sp>
      <p:sp>
        <p:nvSpPr>
          <p:cNvPr id="4" name="灯片编号占位符 3">
            <a:extLst>
              <a:ext uri="{FF2B5EF4-FFF2-40B4-BE49-F238E27FC236}">
                <a16:creationId xmlns:a16="http://schemas.microsoft.com/office/drawing/2014/main" id="{2B1FCF3F-FBE2-9E8D-191F-2226799A0F67}"/>
              </a:ext>
            </a:extLst>
          </p:cNvPr>
          <p:cNvSpPr>
            <a:spLocks noGrp="1"/>
          </p:cNvSpPr>
          <p:nvPr>
            <p:ph type="sldNum" sz="quarter" idx="5"/>
          </p:nvPr>
        </p:nvSpPr>
        <p:spPr/>
        <p:txBody>
          <a:bodyPr/>
          <a:lstStyle/>
          <a:p>
            <a:fld id="{F4B9ED47-EE91-4403-9E82-880EC51C5D5D}" type="slidenum">
              <a:rPr lang="zh-CN" altLang="en-US" smtClean="0"/>
              <a:t>5</a:t>
            </a:fld>
            <a:endParaRPr lang="zh-CN" altLang="en-US"/>
          </a:p>
        </p:txBody>
      </p:sp>
    </p:spTree>
    <p:extLst>
      <p:ext uri="{BB962C8B-B14F-4D97-AF65-F5344CB8AC3E}">
        <p14:creationId xmlns:p14="http://schemas.microsoft.com/office/powerpoint/2010/main" val="3429387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实验的核心设置是让被试者盯着屏幕中间的叉号，用余光比较屏幕两侧椭圆的大小，并按下左键或右键代表不同的决策。这里叉号的设置是为了防止被试者眼神左右瞟。椭圆的相对大小由参数</a:t>
            </a:r>
            <a:r>
              <a:rPr lang="en-US" altLang="zh-CN" dirty="0"/>
              <a:t>r</a:t>
            </a:r>
            <a:r>
              <a:rPr lang="zh-CN" altLang="en-US" dirty="0"/>
              <a:t>控制，这里我们给出了</a:t>
            </a:r>
            <a:r>
              <a:rPr lang="en-US" altLang="zh-CN" dirty="0"/>
              <a:t>r</a:t>
            </a:r>
            <a:r>
              <a:rPr lang="zh-CN" altLang="en-US" dirty="0"/>
              <a:t>的公式以及取值范围。右上角是实验的展示视频。我们要求被试者优先保证准确率，在此基础上越快越好。</a:t>
            </a:r>
            <a:endParaRPr lang="en-US" altLang="zh-CN" dirty="0"/>
          </a:p>
          <a:p>
            <a:r>
              <a:rPr lang="zh-CN" altLang="en-US" dirty="0"/>
              <a:t>我们一共邀请到了来自南京大学和清华大学的</a:t>
            </a:r>
            <a:r>
              <a:rPr lang="en-US" altLang="zh-CN" dirty="0"/>
              <a:t>15</a:t>
            </a:r>
            <a:r>
              <a:rPr lang="zh-CN" altLang="en-US" dirty="0"/>
              <a:t>位本科生参与这个实验，最终收集到了</a:t>
            </a:r>
            <a:r>
              <a:rPr lang="en-US" altLang="zh-CN" dirty="0"/>
              <a:t>160</a:t>
            </a:r>
            <a:r>
              <a:rPr lang="zh-CN" altLang="en-US" dirty="0"/>
              <a:t>分实验样本，共计</a:t>
            </a:r>
            <a:r>
              <a:rPr lang="en-US" altLang="zh-CN" dirty="0"/>
              <a:t>2400</a:t>
            </a:r>
            <a:r>
              <a:rPr lang="zh-CN" altLang="en-US" dirty="0"/>
              <a:t>次决策过程。</a:t>
            </a:r>
            <a:endParaRPr lang="en-US" altLang="zh-CN" dirty="0"/>
          </a:p>
          <a:p>
            <a:endParaRPr lang="en-US" altLang="zh-CN" dirty="0"/>
          </a:p>
          <a:p>
            <a:r>
              <a:rPr lang="zh-CN" altLang="en-US" b="1" dirty="0"/>
              <a:t>我们的基础实验是一个比较大小的实验，在每一组实验中，被试会在电脑屏幕上看到随机生成的左右两个的实心的圆形，他们需要判断哪一个圆更大并且通过按下相应的键来反馈。</a:t>
            </a:r>
            <a:endParaRPr lang="en-US" altLang="zh-CN" b="1" dirty="0"/>
          </a:p>
          <a:p>
            <a:r>
              <a:rPr lang="zh-CN" altLang="en-US" b="1" dirty="0"/>
              <a:t>这里有几个设置过程中的注意点： 一是我们根据杨老师的提示，会要求被试的视线盯着屏幕中心的叉不动，仅利用余光判断大小，这是为了为了防止被试眼神左右跳动从而扰动实验结果。第二，在任务要求上，我们要求被试优先保证准确率，在此基础上越快越好，这是为了保证实验的有效性。第三，我们实验的一个自变量是比率</a:t>
            </a:r>
            <a:r>
              <a:rPr lang="en-US" altLang="zh-CN" b="1" dirty="0"/>
              <a:t>ratio</a:t>
            </a:r>
            <a:r>
              <a:rPr lang="zh-CN" altLang="en-US" b="1" dirty="0"/>
              <a:t>，记作</a:t>
            </a:r>
            <a:r>
              <a:rPr lang="en-US" altLang="zh-CN" b="1" dirty="0"/>
              <a:t>r</a:t>
            </a:r>
            <a:r>
              <a:rPr lang="zh-CN" altLang="en-US" b="1" dirty="0"/>
              <a:t>，它被定义为右边圆大小和左边圆大小的比值再减去</a:t>
            </a:r>
            <a:r>
              <a:rPr lang="en-US" altLang="zh-CN" b="1" dirty="0"/>
              <a:t>1</a:t>
            </a:r>
            <a:r>
              <a:rPr lang="zh-CN" altLang="en-US" b="1" dirty="0"/>
              <a:t>，这样</a:t>
            </a:r>
            <a:r>
              <a:rPr lang="en-US" altLang="zh-CN" b="1" dirty="0"/>
              <a:t>ratio</a:t>
            </a:r>
            <a:r>
              <a:rPr lang="zh-CN" altLang="en-US" b="1" dirty="0"/>
              <a:t>就反映了圆大小的差异程度，也反映了比较大小的难度。比如</a:t>
            </a:r>
            <a:r>
              <a:rPr lang="en-US" altLang="zh-CN" b="1" dirty="0"/>
              <a:t>ratio</a:t>
            </a:r>
            <a:r>
              <a:rPr lang="zh-CN" altLang="en-US" b="1" dirty="0"/>
              <a:t>是</a:t>
            </a:r>
            <a:r>
              <a:rPr lang="en-US" altLang="zh-CN" b="1" dirty="0"/>
              <a:t>0</a:t>
            </a:r>
            <a:r>
              <a:rPr lang="zh-CN" altLang="en-US" b="1" dirty="0"/>
              <a:t>就代表左右一样大，</a:t>
            </a:r>
            <a:r>
              <a:rPr lang="en-US" altLang="zh-CN" b="1" dirty="0"/>
              <a:t>ratio</a:t>
            </a:r>
            <a:r>
              <a:rPr lang="zh-CN" altLang="en-US" b="1" dirty="0"/>
              <a:t>大于</a:t>
            </a:r>
            <a:r>
              <a:rPr lang="en-US" altLang="zh-CN" b="1" dirty="0"/>
              <a:t>0</a:t>
            </a:r>
            <a:r>
              <a:rPr lang="zh-CN" altLang="en-US" b="1" dirty="0"/>
              <a:t>代表右边圆形更大，并且</a:t>
            </a:r>
            <a:r>
              <a:rPr lang="en-US" altLang="zh-CN" b="1" dirty="0"/>
              <a:t>r</a:t>
            </a:r>
            <a:r>
              <a:rPr lang="zh-CN" altLang="en-US" b="1" dirty="0"/>
              <a:t>的数值越大，右边圆大的程度就越大。如此设计，</a:t>
            </a:r>
            <a:r>
              <a:rPr lang="en-US" altLang="zh-CN" b="1" dirty="0"/>
              <a:t>ratio</a:t>
            </a:r>
            <a:r>
              <a:rPr lang="zh-CN" altLang="en-US" b="1" dirty="0"/>
              <a:t>其实就可以理解为</a:t>
            </a:r>
            <a:r>
              <a:rPr lang="en-US" altLang="zh-CN" b="1" dirty="0"/>
              <a:t>random dots motion</a:t>
            </a:r>
            <a:r>
              <a:rPr lang="zh-CN" altLang="en-US" b="1" dirty="0"/>
              <a:t>实验里面的“</a:t>
            </a:r>
            <a:r>
              <a:rPr lang="en-US" altLang="zh-CN" b="1" dirty="0"/>
              <a:t>coherence</a:t>
            </a:r>
            <a:r>
              <a:rPr lang="zh-CN" altLang="en-US" b="1" dirty="0"/>
              <a:t>”。至于</a:t>
            </a:r>
            <a:r>
              <a:rPr lang="en-US" altLang="zh-CN" b="1" dirty="0"/>
              <a:t>r</a:t>
            </a:r>
            <a:r>
              <a:rPr lang="zh-CN" altLang="en-US" b="1" dirty="0"/>
              <a:t>的数值，我们经过测试，发现采取</a:t>
            </a:r>
            <a:r>
              <a:rPr lang="en-US" altLang="zh-CN" b="1" dirty="0"/>
              <a:t>PPT</a:t>
            </a:r>
            <a:r>
              <a:rPr lang="zh-CN" altLang="en-US" b="1" dirty="0"/>
              <a:t>中展示的这一些值具有最良好的效果。注意这些实验的</a:t>
            </a:r>
            <a:r>
              <a:rPr lang="en-US" altLang="zh-CN" b="1" dirty="0"/>
              <a:t>ratio</a:t>
            </a:r>
            <a:r>
              <a:rPr lang="zh-CN" altLang="en-US" b="1" dirty="0"/>
              <a:t>是均匀分布在以上数值里面的，并且出现的顺序已经随机打乱。</a:t>
            </a:r>
            <a:endParaRPr lang="en-US" altLang="zh-CN" b="1" dirty="0"/>
          </a:p>
          <a:p>
            <a:endParaRPr lang="en-US" altLang="zh-CN" b="1" dirty="0"/>
          </a:p>
          <a:p>
            <a:r>
              <a:rPr lang="zh-CN" altLang="en-US" b="1" dirty="0"/>
              <a:t>此外，我们能够保证我们基础实验以及后续实验的数据充分性。具体来讲，对于基础实验，我们邀请了南京大学和清华大学一共</a:t>
            </a:r>
            <a:r>
              <a:rPr lang="en-US" altLang="zh-CN" b="1" dirty="0"/>
              <a:t>15</a:t>
            </a:r>
            <a:r>
              <a:rPr lang="zh-CN" altLang="en-US" b="1" dirty="0"/>
              <a:t>位同学进行实验，一共收集了</a:t>
            </a:r>
            <a:r>
              <a:rPr lang="en-US" altLang="zh-CN" b="1" dirty="0"/>
              <a:t>2400</a:t>
            </a:r>
            <a:r>
              <a:rPr lang="zh-CN" altLang="en-US" b="1" dirty="0"/>
              <a:t>次的大小比较结果，我们可以认为这样的数据量是足够的。</a:t>
            </a:r>
            <a:endParaRPr lang="en-US" altLang="zh-CN"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a:t>
            </a:fld>
            <a:endParaRPr lang="zh-CN" altLang="en-US"/>
          </a:p>
        </p:txBody>
      </p:sp>
    </p:spTree>
    <p:extLst>
      <p:ext uri="{BB962C8B-B14F-4D97-AF65-F5344CB8AC3E}">
        <p14:creationId xmlns:p14="http://schemas.microsoft.com/office/powerpoint/2010/main" val="2282084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这里是我们的实验结果曲线。</a:t>
            </a:r>
            <a:endParaRPr lang="en-US" altLang="zh-CN" dirty="0"/>
          </a:p>
          <a:p>
            <a:endParaRPr lang="en-US" altLang="zh-CN" dirty="0"/>
          </a:p>
          <a:p>
            <a:r>
              <a:rPr lang="zh-CN" altLang="en-US" b="1" dirty="0"/>
              <a:t>实验过程中，我们记录了被试每次比较的按键以及消耗的时间，利用所有被试的平均数据，生成了左图这个结果表格，表格记录了每种</a:t>
            </a:r>
            <a:r>
              <a:rPr lang="en-US" altLang="zh-CN" b="1" dirty="0"/>
              <a:t>r</a:t>
            </a:r>
            <a:r>
              <a:rPr lang="zh-CN" altLang="en-US" b="1" dirty="0"/>
              <a:t>情况下被试的平均准确率、选右的概率以及反应时间。总体上完成这个任务被试达到了</a:t>
            </a:r>
            <a:r>
              <a:rPr lang="en-US" altLang="zh-CN" b="1" dirty="0"/>
              <a:t>92%</a:t>
            </a:r>
            <a:r>
              <a:rPr lang="zh-CN" altLang="en-US" b="1" dirty="0"/>
              <a:t>的准确率，平均耗时</a:t>
            </a:r>
            <a:r>
              <a:rPr lang="en-US" altLang="zh-CN" b="1" dirty="0"/>
              <a:t>0.62</a:t>
            </a:r>
            <a:r>
              <a:rPr lang="zh-CN" altLang="en-US" b="1" dirty="0"/>
              <a:t>秒，可以看出这是一个难度比较低的决策实验。</a:t>
            </a:r>
            <a:endParaRPr lang="en-US" altLang="zh-CN" b="1" dirty="0"/>
          </a:p>
          <a:p>
            <a:endParaRPr lang="en-US" altLang="zh-CN" b="1" dirty="0"/>
          </a:p>
          <a:p>
            <a:r>
              <a:rPr lang="zh-CN" altLang="en-US" b="1" dirty="0"/>
              <a:t>然后我们绘制出了三张图。分别是准确率图、选右的概率的图和反应时间图，这些图的横轴都是我们设计的</a:t>
            </a:r>
            <a:r>
              <a:rPr lang="en-US" altLang="zh-CN" b="1" dirty="0"/>
              <a:t>ratio</a:t>
            </a:r>
            <a:r>
              <a:rPr lang="zh-CN" altLang="en-US" b="1" dirty="0"/>
              <a:t>，也就是</a:t>
            </a:r>
            <a:r>
              <a:rPr lang="en-US" altLang="zh-CN" b="1" dirty="0"/>
              <a:t>coherence</a:t>
            </a:r>
            <a:r>
              <a:rPr lang="zh-CN" altLang="en-US" b="1" dirty="0"/>
              <a:t>，这些图都具有良好的对称性。</a:t>
            </a:r>
            <a:endParaRPr lang="en-US" altLang="zh-CN" b="1" dirty="0"/>
          </a:p>
          <a:p>
            <a:endParaRPr lang="en-US" altLang="zh-CN" b="1" dirty="0"/>
          </a:p>
          <a:p>
            <a:r>
              <a:rPr lang="zh-CN" altLang="en-US" b="1" dirty="0"/>
              <a:t>对于第一张准确率图，我们可以观察到随着</a:t>
            </a:r>
            <a:r>
              <a:rPr lang="en-US" altLang="zh-CN" b="1" dirty="0"/>
              <a:t>r</a:t>
            </a:r>
            <a:r>
              <a:rPr lang="zh-CN" altLang="en-US" b="1" dirty="0"/>
              <a:t>绝对值的减小，准确率不断降低，也就是随着左右圆形的大小更加接近，比较难度越大。这里注意我们是设计了左右圆大小相等，即</a:t>
            </a:r>
            <a:r>
              <a:rPr lang="en-US" altLang="zh-CN" b="1" dirty="0"/>
              <a:t>r=0</a:t>
            </a:r>
            <a:r>
              <a:rPr lang="zh-CN" altLang="en-US" b="1" dirty="0"/>
              <a:t>时的情况的，但是我们没有告诉被试，在统计准确率的时候我们默认都算正确，而在绘图的时候我们默认都算错误，这是为了使得结果图更加平滑。</a:t>
            </a:r>
            <a:endParaRPr lang="en-US" altLang="zh-CN" b="1" dirty="0"/>
          </a:p>
          <a:p>
            <a:endParaRPr lang="en-US" altLang="zh-CN" b="1" dirty="0"/>
          </a:p>
          <a:p>
            <a:r>
              <a:rPr lang="zh-CN" altLang="en-US" b="1" dirty="0"/>
              <a:t>对于第二张选右概率图，我们可以观察到随着</a:t>
            </a:r>
            <a:r>
              <a:rPr lang="en-US" altLang="zh-CN" b="1" dirty="0"/>
              <a:t>ratio</a:t>
            </a:r>
            <a:r>
              <a:rPr lang="zh-CN" altLang="en-US" b="1" dirty="0"/>
              <a:t>的增大，选右概率不断提升，这也是很符合直觉的。</a:t>
            </a:r>
            <a:endParaRPr lang="en-US" altLang="zh-CN" b="1" dirty="0"/>
          </a:p>
          <a:p>
            <a:endParaRPr lang="en-US" altLang="zh-CN" b="1" dirty="0"/>
          </a:p>
          <a:p>
            <a:r>
              <a:rPr lang="zh-CN" altLang="en-US" b="1" dirty="0"/>
              <a:t>对于第三张反应时间图，图的趋势恰好与第一张图相反，代表比较难度越大，比较耗时越长。注意到这几张图的规律与</a:t>
            </a:r>
            <a:r>
              <a:rPr lang="en-US" altLang="zh-CN" b="1" dirty="0"/>
              <a:t>DDM</a:t>
            </a:r>
            <a:r>
              <a:rPr lang="zh-CN" altLang="en-US" b="1" dirty="0"/>
              <a:t>非常地接近，因此我们猜测，可以利用</a:t>
            </a:r>
            <a:r>
              <a:rPr lang="en-US" altLang="zh-CN" b="1" dirty="0"/>
              <a:t>DDM</a:t>
            </a:r>
            <a:r>
              <a:rPr lang="zh-CN" altLang="en-US" b="1" dirty="0"/>
              <a:t>模型来建模这个决策任务。</a:t>
            </a:r>
            <a:endParaRPr lang="en-US" altLang="zh-CN" b="1" dirty="0"/>
          </a:p>
          <a:p>
            <a:endParaRPr lang="en-US" altLang="zh-CN" b="1"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a:t>
            </a:fld>
            <a:endParaRPr lang="zh-CN" altLang="en-US"/>
          </a:p>
        </p:txBody>
      </p:sp>
    </p:spTree>
    <p:extLst>
      <p:ext uri="{BB962C8B-B14F-4D97-AF65-F5344CB8AC3E}">
        <p14:creationId xmlns:p14="http://schemas.microsoft.com/office/powerpoint/2010/main" val="2656464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我们用</a:t>
            </a:r>
            <a:r>
              <a:rPr lang="en-US" altLang="zh-CN" dirty="0"/>
              <a:t>DDM</a:t>
            </a:r>
            <a:r>
              <a:rPr lang="zh-CN" altLang="en-US" dirty="0"/>
              <a:t>来拟合我们的结果。</a:t>
            </a:r>
            <a:endParaRPr lang="en-US" altLang="zh-CN" dirty="0"/>
          </a:p>
          <a:p>
            <a:r>
              <a:rPr lang="zh-CN" altLang="en-US" dirty="0"/>
              <a:t>最开始的拟合效果很差，我们对结果分析后发现这可能是因为：</a:t>
            </a:r>
            <a:endParaRPr lang="en-US" altLang="zh-CN" dirty="0"/>
          </a:p>
          <a:p>
            <a:r>
              <a:rPr lang="zh-CN" altLang="en-US" dirty="0"/>
              <a:t>我们的实验设置较为简单，实验结果呈现出较高的漂移率，我们的实验的边界更小，</a:t>
            </a:r>
            <a:endParaRPr lang="en-US" altLang="zh-CN" dirty="0"/>
          </a:p>
          <a:p>
            <a:r>
              <a:rPr lang="zh-CN" altLang="en-US" dirty="0"/>
              <a:t>因此，我们使用参数搜索来寻找符合我们实验的</a:t>
            </a:r>
            <a:r>
              <a:rPr lang="en-US" altLang="zh-CN" dirty="0"/>
              <a:t>DDM</a:t>
            </a:r>
            <a:r>
              <a:rPr lang="zh-CN" altLang="en-US" dirty="0"/>
              <a:t>参数。</a:t>
            </a:r>
            <a:endParaRPr lang="en-US" altLang="zh-CN" dirty="0"/>
          </a:p>
          <a:p>
            <a:r>
              <a:rPr lang="zh-CN" altLang="en-US" dirty="0"/>
              <a:t>这里，我们主要针对漂移率，边界和噪声这三个参数来搜索，目标是最小化反应时间关于椭圆大小比例的交叉熵损失</a:t>
            </a:r>
            <a:r>
              <a:rPr lang="zh-CN" altLang="en-US" b="1" dirty="0"/>
              <a:t>（这里不是交叉熵呀）</a:t>
            </a:r>
            <a:r>
              <a:rPr lang="zh-CN" altLang="en-US" dirty="0"/>
              <a:t>。三个参数看似有线性关系，但我们实验后发现只针对其中两个参数的参数搜索效果并不好，因此我们选择对三个参数使用网络搜索。</a:t>
            </a:r>
            <a:endParaRPr lang="en-US" altLang="zh-CN" dirty="0"/>
          </a:p>
          <a:p>
            <a:endParaRPr lang="en-US" altLang="zh-CN" dirty="0"/>
          </a:p>
          <a:p>
            <a:r>
              <a:rPr lang="zh-CN" altLang="en-US" b="1" dirty="0"/>
              <a:t>当我们考虑用</a:t>
            </a:r>
            <a:r>
              <a:rPr lang="en-US" altLang="zh-CN" b="1" dirty="0"/>
              <a:t>DDM</a:t>
            </a:r>
            <a:r>
              <a:rPr lang="zh-CN" altLang="en-US" b="1" dirty="0"/>
              <a:t>来建模结果的时候，一开始效果是比较差的，大致如右图所示，就反应时间随着</a:t>
            </a:r>
            <a:r>
              <a:rPr lang="en-US" altLang="zh-CN" b="1" dirty="0"/>
              <a:t>r</a:t>
            </a:r>
            <a:r>
              <a:rPr lang="zh-CN" altLang="en-US" b="1" dirty="0"/>
              <a:t>的变化图来说，我们的模型给出的反应时间远大于真实实验结果。这是因为我们并没有采用正确的参数。我们的实验相对来说任务简单，每次比较的耗时也很短，这预示着</a:t>
            </a:r>
            <a:r>
              <a:rPr lang="en-US" altLang="zh-CN" b="1" dirty="0"/>
              <a:t>DDM</a:t>
            </a:r>
            <a:r>
              <a:rPr lang="zh-CN" altLang="en-US" b="1" dirty="0"/>
              <a:t>参数中漂移率会更大，决策边界会更小。那么如何找到合适的参数呢？我们就想到了利用网格搜索的方式。</a:t>
            </a:r>
            <a:endParaRPr lang="en-US" altLang="zh-CN" b="1" dirty="0"/>
          </a:p>
          <a:p>
            <a:endParaRPr lang="en-US" altLang="zh-CN" b="1" dirty="0"/>
          </a:p>
          <a:p>
            <a:r>
              <a:rPr lang="zh-CN" altLang="en-US" b="1" dirty="0"/>
              <a:t>具体来讲，我们针对三个关键参数：漂移率，噪声，决策边界进行网格搜索，寻找合适的数值；而判断是否合适的标准，就是最小化</a:t>
            </a:r>
            <a:r>
              <a:rPr lang="en-US" altLang="zh-CN" b="1" dirty="0"/>
              <a:t>DDM</a:t>
            </a:r>
            <a:r>
              <a:rPr lang="zh-CN" altLang="en-US" b="1" dirty="0"/>
              <a:t>结果图和真实数据结果图之间的均方误差（这里可能需要你对着图解释一下），我们只最小化反应时间图的均方误差，因为这么做找到的参数生成的其它两张图的结果也和真实数据非常接近。注意这里的漂移率是一个参数，而漂移率乘上</a:t>
            </a:r>
            <a:r>
              <a:rPr lang="en-US" altLang="zh-CN" b="1" dirty="0"/>
              <a:t>ratio</a:t>
            </a:r>
            <a:r>
              <a:rPr lang="zh-CN" altLang="en-US" b="1" dirty="0"/>
              <a:t>才是证据每一时间步积累的量，这样</a:t>
            </a:r>
            <a:r>
              <a:rPr lang="en-US" altLang="zh-CN" b="1" dirty="0"/>
              <a:t>ratio</a:t>
            </a:r>
            <a:r>
              <a:rPr lang="zh-CN" altLang="en-US" b="1" dirty="0"/>
              <a:t>越大自然证据也就积累地越快。具体可以参照右边图的代码，它描述了证据积累的过程。</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8</a:t>
            </a:fld>
            <a:endParaRPr lang="zh-CN" altLang="en-US"/>
          </a:p>
        </p:txBody>
      </p:sp>
    </p:spTree>
    <p:extLst>
      <p:ext uri="{BB962C8B-B14F-4D97-AF65-F5344CB8AC3E}">
        <p14:creationId xmlns:p14="http://schemas.microsoft.com/office/powerpoint/2010/main" val="2519516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这是我们的拟合结果，可以看到，参数搜索后的</a:t>
            </a:r>
            <a:r>
              <a:rPr lang="en-US" altLang="zh-CN" dirty="0"/>
              <a:t>DDM</a:t>
            </a:r>
            <a:r>
              <a:rPr lang="zh-CN" altLang="en-US" dirty="0"/>
              <a:t>模型对我们的实验结果拟合效果非常好。</a:t>
            </a:r>
            <a:endParaRPr lang="en-US" altLang="zh-CN" dirty="0"/>
          </a:p>
          <a:p>
            <a:endParaRPr lang="en-US" altLang="zh-CN" dirty="0"/>
          </a:p>
          <a:p>
            <a:r>
              <a:rPr lang="zh-CN" altLang="en-US" b="1" dirty="0"/>
              <a:t>经过我们的参数搜索，我们得到了良好的拟合效果。</a:t>
            </a:r>
            <a:endParaRPr lang="en-US" altLang="zh-CN" b="1" dirty="0"/>
          </a:p>
          <a:p>
            <a:endParaRPr lang="en-US" altLang="zh-CN" b="1" dirty="0"/>
          </a:p>
          <a:p>
            <a:r>
              <a:rPr lang="zh-CN" altLang="en-US" b="1" dirty="0"/>
              <a:t>左图可视化了我们参数搜索的过程，其中红色线是真实实验数据，其它线是搜索过程中不同参数下的</a:t>
            </a:r>
            <a:r>
              <a:rPr lang="en-US" altLang="zh-CN" b="1" dirty="0"/>
              <a:t>DDM</a:t>
            </a:r>
            <a:r>
              <a:rPr lang="zh-CN" altLang="en-US" b="1" dirty="0"/>
              <a:t>生成的结果，相对真实数据，它们有的拟合效果很差，有的拟合效果很好。其中蓝线是我们找到的最优参数情况下的</a:t>
            </a:r>
            <a:r>
              <a:rPr lang="en-US" altLang="zh-CN" b="1" dirty="0"/>
              <a:t>DDM</a:t>
            </a:r>
            <a:r>
              <a:rPr lang="zh-CN" altLang="en-US" b="1" dirty="0"/>
              <a:t>结果，它的拟合效果已经非常好。</a:t>
            </a:r>
            <a:endParaRPr lang="en-US" altLang="zh-CN" b="1" dirty="0"/>
          </a:p>
          <a:p>
            <a:endParaRPr lang="en-US" altLang="zh-CN" b="1" dirty="0"/>
          </a:p>
          <a:p>
            <a:r>
              <a:rPr lang="zh-CN" altLang="en-US" b="1" dirty="0"/>
              <a:t>为了进一步展示，我们绘制了右图</a:t>
            </a:r>
            <a:r>
              <a:rPr lang="en-US" altLang="zh-CN" b="1" dirty="0"/>
              <a:t>——</a:t>
            </a:r>
            <a:r>
              <a:rPr lang="zh-CN" altLang="en-US" b="1" dirty="0"/>
              <a:t>不同被试的结果图，其中蓝色线是最优参数</a:t>
            </a:r>
            <a:r>
              <a:rPr lang="en-US" altLang="zh-CN" b="1" dirty="0"/>
              <a:t>DDM</a:t>
            </a:r>
            <a:r>
              <a:rPr lang="zh-CN" altLang="en-US" b="1" dirty="0"/>
              <a:t>图，其它的每一个虚线代表一个被试的结果，可以看到，我们的蓝线基本描述了不同被试的平均结果的规律。</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9</a:t>
            </a:fld>
            <a:endParaRPr lang="zh-CN" altLang="en-US"/>
          </a:p>
        </p:txBody>
      </p:sp>
    </p:spTree>
    <p:extLst>
      <p:ext uri="{BB962C8B-B14F-4D97-AF65-F5344CB8AC3E}">
        <p14:creationId xmlns:p14="http://schemas.microsoft.com/office/powerpoint/2010/main" val="1756322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对于基础实验的结果，我们发现和作业中的</a:t>
            </a:r>
            <a:r>
              <a:rPr lang="en-US" altLang="zh-CN" dirty="0"/>
              <a:t>DDM</a:t>
            </a:r>
            <a:r>
              <a:rPr lang="zh-CN" altLang="en-US" dirty="0"/>
              <a:t>拟合曲线相比，我们的结果图在中间部分缺少一个凹陷。</a:t>
            </a:r>
            <a:endParaRPr lang="en-US" altLang="zh-CN" dirty="0"/>
          </a:p>
          <a:p>
            <a:r>
              <a:rPr lang="zh-CN" altLang="en-US" dirty="0"/>
              <a:t>同时，在基础实验的基础上，我们做了如下改进：</a:t>
            </a:r>
            <a:endParaRPr lang="en-US" altLang="zh-CN" dirty="0"/>
          </a:p>
          <a:p>
            <a:r>
              <a:rPr lang="zh-CN" altLang="en-US" dirty="0"/>
              <a:t>减少椭圆间的距离</a:t>
            </a:r>
            <a:r>
              <a:rPr lang="zh-CN" altLang="en-US" b="1" dirty="0"/>
              <a:t>（这个就不提了）</a:t>
            </a:r>
            <a:r>
              <a:rPr lang="zh-CN" altLang="en-US" dirty="0"/>
              <a:t>，删除特别小的椭圆，将左右键改为</a:t>
            </a:r>
            <a:r>
              <a:rPr lang="en-US" altLang="zh-CN" dirty="0"/>
              <a:t>F</a:t>
            </a:r>
            <a:r>
              <a:rPr lang="zh-CN" altLang="en-US" dirty="0"/>
              <a:t>键和</a:t>
            </a:r>
            <a:r>
              <a:rPr lang="en-US" altLang="zh-CN" dirty="0"/>
              <a:t>J</a:t>
            </a:r>
            <a:r>
              <a:rPr lang="zh-CN" altLang="en-US" dirty="0"/>
              <a:t>键，在每次决策过后增加白板，防止视觉暂留。</a:t>
            </a:r>
            <a:endParaRPr lang="en-US" altLang="zh-CN" dirty="0"/>
          </a:p>
          <a:p>
            <a:endParaRPr lang="en-US" altLang="zh-CN" dirty="0"/>
          </a:p>
          <a:p>
            <a:r>
              <a:rPr lang="zh-CN" altLang="en-US" b="1" dirty="0"/>
              <a:t>至此，我们已经完成了基础实验部分。而我们再仔细看一眼实验结果图，会产生一个疑问：不知道大家有没有注意到，我们之前作业里里面的</a:t>
            </a:r>
            <a:r>
              <a:rPr lang="en-US" altLang="zh-CN" b="1" dirty="0"/>
              <a:t>DDM</a:t>
            </a:r>
            <a:r>
              <a:rPr lang="zh-CN" altLang="en-US" b="1" dirty="0"/>
              <a:t>的模型结果中，反应时间随着</a:t>
            </a:r>
            <a:r>
              <a:rPr lang="en-US" altLang="zh-CN" b="1" dirty="0"/>
              <a:t>coherence</a:t>
            </a:r>
            <a:r>
              <a:rPr lang="zh-CN" altLang="en-US" b="1" dirty="0"/>
              <a:t>的图中间是有一个凹陷的。</a:t>
            </a:r>
            <a:endParaRPr lang="en-US" altLang="zh-CN" b="1" dirty="0"/>
          </a:p>
          <a:p>
            <a:r>
              <a:rPr lang="zh-CN" altLang="en-US" b="1" dirty="0"/>
              <a:t>那么这是为什么？（停顿一小会）这个凹陷代表的是</a:t>
            </a:r>
            <a:r>
              <a:rPr lang="en-US" altLang="zh-CN" b="1" dirty="0"/>
              <a:t>coherence</a:t>
            </a:r>
            <a:r>
              <a:rPr lang="zh-CN" altLang="en-US" b="1" dirty="0"/>
              <a:t>，也就是我们这里的</a:t>
            </a:r>
            <a:r>
              <a:rPr lang="en-US" altLang="zh-CN" b="1" dirty="0"/>
              <a:t>ratio</a:t>
            </a:r>
            <a:r>
              <a:rPr lang="zh-CN" altLang="en-US" b="1" dirty="0"/>
              <a:t>为</a:t>
            </a:r>
            <a:r>
              <a:rPr lang="en-US" altLang="zh-CN" b="1" dirty="0"/>
              <a:t>0</a:t>
            </a:r>
            <a:r>
              <a:rPr lang="zh-CN" altLang="en-US" b="1" dirty="0"/>
              <a:t>的时候，相比</a:t>
            </a:r>
            <a:r>
              <a:rPr lang="en-US" altLang="zh-CN" b="1" dirty="0"/>
              <a:t>ratio</a:t>
            </a:r>
            <a:r>
              <a:rPr lang="zh-CN" altLang="en-US" b="1" dirty="0"/>
              <a:t>有值但是很小的时候，反应时间更短。在我们的基础实验中，真实数据是不可能出现这种情况的，因为看到左右两个完全相等的圆时，大多是情况人都会楞一下，更何况我们没有告诉被试是有大小相等的情况的。而纯看</a:t>
            </a:r>
            <a:r>
              <a:rPr lang="en-US" altLang="zh-CN" b="1" dirty="0"/>
              <a:t>DDM</a:t>
            </a:r>
            <a:r>
              <a:rPr lang="zh-CN" altLang="en-US" b="1" dirty="0"/>
              <a:t>这个模型，是有可能出现凹陷的，注意到</a:t>
            </a:r>
            <a:r>
              <a:rPr lang="en-US" altLang="zh-CN" b="1" dirty="0"/>
              <a:t>ratio</a:t>
            </a:r>
            <a:r>
              <a:rPr lang="zh-CN" altLang="en-US" b="1" dirty="0"/>
              <a:t>为</a:t>
            </a:r>
            <a:r>
              <a:rPr lang="en-US" altLang="zh-CN" b="1" dirty="0"/>
              <a:t>0</a:t>
            </a:r>
            <a:r>
              <a:rPr lang="zh-CN" altLang="en-US" b="1" dirty="0"/>
              <a:t>的时候，漂移率乘以</a:t>
            </a:r>
            <a:r>
              <a:rPr lang="en-US" altLang="zh-CN" b="1" dirty="0"/>
              <a:t>ratio</a:t>
            </a:r>
            <a:r>
              <a:rPr lang="zh-CN" altLang="en-US" b="1" dirty="0"/>
              <a:t>就是</a:t>
            </a:r>
            <a:r>
              <a:rPr lang="en-US" altLang="zh-CN" b="1" dirty="0"/>
              <a:t>0</a:t>
            </a:r>
            <a:r>
              <a:rPr lang="zh-CN" altLang="en-US" b="1" dirty="0"/>
              <a:t>，也就是漂移不起作用了，达到证据边界完全靠噪声的影响。而在漂移率比较小，噪声比较大，决策边界比较小的情况，就有可能会出现</a:t>
            </a:r>
            <a:r>
              <a:rPr lang="en-US" altLang="zh-CN" b="1" dirty="0"/>
              <a:t>ratio</a:t>
            </a:r>
            <a:r>
              <a:rPr lang="zh-CN" altLang="en-US" b="1" dirty="0"/>
              <a:t>为</a:t>
            </a:r>
            <a:r>
              <a:rPr lang="en-US" altLang="zh-CN" b="1" dirty="0"/>
              <a:t>0</a:t>
            </a:r>
            <a:r>
              <a:rPr lang="zh-CN" altLang="en-US" b="1" dirty="0"/>
              <a:t>的时候决策反而更快的情形。</a:t>
            </a:r>
            <a:endParaRPr lang="en-US" altLang="zh-CN" b="1" dirty="0"/>
          </a:p>
          <a:p>
            <a:endParaRPr lang="en-US" altLang="zh-CN" b="1" dirty="0"/>
          </a:p>
          <a:p>
            <a:r>
              <a:rPr lang="zh-CN" altLang="en-US" b="1" dirty="0"/>
              <a:t>基于以上思考，我们顺理成章地设计了第一个变种实验。在那之前，我们还稍微优化了一下基础实验。一是我们一开始生成圆的时候，有些圆形实在太小难以比较，接下来我们避免了这些情况。二是我们按键从按左和右键改为了用左手按</a:t>
            </a:r>
            <a:r>
              <a:rPr lang="en-US" altLang="zh-CN" b="1" dirty="0"/>
              <a:t>f</a:t>
            </a:r>
            <a:r>
              <a:rPr lang="zh-CN" altLang="en-US" b="1" dirty="0"/>
              <a:t>，右手按</a:t>
            </a:r>
            <a:r>
              <a:rPr lang="en-US" altLang="zh-CN" b="1" dirty="0"/>
              <a:t>j</a:t>
            </a:r>
            <a:r>
              <a:rPr lang="zh-CN" altLang="en-US" b="1" dirty="0"/>
              <a:t>这样更加对称的设计。三是我们在每次比较后增加了一个白板间歇，这是为了防止上一次比较视觉暂留的影响。</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10</a:t>
            </a:fld>
            <a:endParaRPr lang="zh-CN" altLang="en-US"/>
          </a:p>
        </p:txBody>
      </p:sp>
    </p:spTree>
    <p:extLst>
      <p:ext uri="{BB962C8B-B14F-4D97-AF65-F5344CB8AC3E}">
        <p14:creationId xmlns:p14="http://schemas.microsoft.com/office/powerpoint/2010/main" val="22042190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F5A46-D9CE-B3B1-77CF-23DAE53856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8CD9605-066D-4049-1CD9-173F23739B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AA2F9C-106E-4192-6254-03BD7705CDCC}"/>
              </a:ext>
            </a:extLst>
          </p:cNvPr>
          <p:cNvSpPr>
            <a:spLocks noGrp="1"/>
          </p:cNvSpPr>
          <p:nvPr>
            <p:ph type="body" idx="1"/>
          </p:nvPr>
        </p:nvSpPr>
        <p:spPr/>
        <p:txBody>
          <a:bodyPr/>
          <a:lstStyle/>
          <a:p>
            <a:r>
              <a:rPr lang="zh-CN" altLang="en-US" dirty="0"/>
              <a:t>接下来是一些实验变种。</a:t>
            </a:r>
            <a:r>
              <a:rPr lang="zh-CN" altLang="en-US" b="1" dirty="0"/>
              <a:t>这些实验变种均是基于思考而很自然地设计出来的。</a:t>
            </a:r>
            <a:endParaRPr lang="zh-CN" altLang="en-US" dirty="0"/>
          </a:p>
        </p:txBody>
      </p:sp>
      <p:sp>
        <p:nvSpPr>
          <p:cNvPr id="4" name="灯片编号占位符 3">
            <a:extLst>
              <a:ext uri="{FF2B5EF4-FFF2-40B4-BE49-F238E27FC236}">
                <a16:creationId xmlns:a16="http://schemas.microsoft.com/office/drawing/2014/main" id="{459AB952-5D32-7D53-1A8F-795947F4358A}"/>
              </a:ext>
            </a:extLst>
          </p:cNvPr>
          <p:cNvSpPr>
            <a:spLocks noGrp="1"/>
          </p:cNvSpPr>
          <p:nvPr>
            <p:ph type="sldNum" sz="quarter" idx="5"/>
          </p:nvPr>
        </p:nvSpPr>
        <p:spPr/>
        <p:txBody>
          <a:bodyPr/>
          <a:lstStyle/>
          <a:p>
            <a:fld id="{F4B9ED47-EE91-4403-9E82-880EC51C5D5D}" type="slidenum">
              <a:rPr lang="zh-CN" altLang="en-US" smtClean="0"/>
              <a:t>11</a:t>
            </a:fld>
            <a:endParaRPr lang="zh-CN" altLang="en-US"/>
          </a:p>
        </p:txBody>
      </p:sp>
    </p:spTree>
    <p:extLst>
      <p:ext uri="{BB962C8B-B14F-4D97-AF65-F5344CB8AC3E}">
        <p14:creationId xmlns:p14="http://schemas.microsoft.com/office/powerpoint/2010/main" val="337927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首先是变种一，我们增加了时间压力，具体体现在当被试者过了一定时间后还未做出决策，屏幕上将呈现</a:t>
            </a:r>
            <a:r>
              <a:rPr lang="en-US" altLang="zh-CN" dirty="0"/>
              <a:t>Faster</a:t>
            </a:r>
            <a:r>
              <a:rPr lang="zh-CN" altLang="en-US" dirty="0"/>
              <a:t>的提示，模拟被试者受到了惩罚。相应地，我们在拟合的时候，对边界</a:t>
            </a:r>
            <a:r>
              <a:rPr lang="en-US" altLang="zh-CN" dirty="0"/>
              <a:t>B</a:t>
            </a:r>
            <a:r>
              <a:rPr lang="zh-CN" altLang="en-US" dirty="0"/>
              <a:t>做出了相应修正，这里是具体的代码。</a:t>
            </a:r>
            <a:endParaRPr lang="en-US" altLang="zh-CN" dirty="0"/>
          </a:p>
          <a:p>
            <a:endParaRPr lang="en-US" altLang="zh-CN" dirty="0"/>
          </a:p>
          <a:p>
            <a:r>
              <a:rPr lang="zh-CN" altLang="en-US" b="1" dirty="0"/>
              <a:t>首先是变种一，基于我们之前的分析，我们认为增加时间压力也许能够使得反应时间结果图中出现凹陷，同时增加时间压力也是</a:t>
            </a:r>
            <a:r>
              <a:rPr lang="en-US" altLang="zh-CN" b="1" dirty="0"/>
              <a:t>DDM</a:t>
            </a:r>
            <a:r>
              <a:rPr lang="zh-CN" altLang="en-US" b="1" dirty="0"/>
              <a:t>一个很常用的变种。</a:t>
            </a:r>
            <a:endParaRPr lang="en-US" altLang="zh-CN" b="1" dirty="0"/>
          </a:p>
          <a:p>
            <a:endParaRPr lang="en-US" altLang="zh-CN" b="1" dirty="0"/>
          </a:p>
          <a:p>
            <a:r>
              <a:rPr lang="zh-CN" altLang="en-US" b="1" dirty="0"/>
              <a:t>具体来讲，当被试者过了一定时间后还未做出决策，屏幕上将呈现醒目的</a:t>
            </a:r>
            <a:r>
              <a:rPr lang="en-US" altLang="zh-CN" b="1" dirty="0"/>
              <a:t>Faster</a:t>
            </a:r>
            <a:r>
              <a:rPr lang="zh-CN" altLang="en-US" b="1" dirty="0"/>
              <a:t>的提示，我们告诉被试出现这个的时候可以理解为自己被电击了一下。我们放宽了准确率的要求，其它设置和基础实验保持不变。</a:t>
            </a:r>
            <a:endParaRPr lang="en-US" altLang="zh-CN" b="1" dirty="0"/>
          </a:p>
          <a:p>
            <a:endParaRPr lang="en-US" altLang="zh-CN" b="1" dirty="0"/>
          </a:p>
          <a:p>
            <a:r>
              <a:rPr lang="zh-CN" altLang="en-US" b="1" dirty="0"/>
              <a:t>变种一中，我们不仅使用基础</a:t>
            </a:r>
            <a:r>
              <a:rPr lang="en-US" altLang="zh-CN" b="1" dirty="0"/>
              <a:t>DDM</a:t>
            </a:r>
            <a:r>
              <a:rPr lang="zh-CN" altLang="en-US" b="1" dirty="0"/>
              <a:t>进行建模，还考虑了一种可能更适合这个任务的</a:t>
            </a:r>
            <a:r>
              <a:rPr lang="en-US" altLang="zh-CN" b="1" dirty="0"/>
              <a:t>DDM</a:t>
            </a:r>
            <a:r>
              <a:rPr lang="zh-CN" altLang="en-US" b="1" dirty="0"/>
              <a:t>变种，即崩溃边界变种，这个变种中，决策边界会随着时间步不断地缩小，预示着更小的决策时间。</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12</a:t>
            </a:fld>
            <a:endParaRPr lang="zh-CN" altLang="en-US"/>
          </a:p>
        </p:txBody>
      </p:sp>
    </p:spTree>
    <p:extLst>
      <p:ext uri="{BB962C8B-B14F-4D97-AF65-F5344CB8AC3E}">
        <p14:creationId xmlns:p14="http://schemas.microsoft.com/office/powerpoint/2010/main" val="17742947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从拟合结果中可以看出，基础的</a:t>
            </a:r>
            <a:r>
              <a:rPr lang="en-US" altLang="zh-CN" dirty="0"/>
              <a:t>DDM</a:t>
            </a:r>
            <a:r>
              <a:rPr lang="zh-CN" altLang="en-US" dirty="0"/>
              <a:t>模型对我们的实验结果拟合效果较差。</a:t>
            </a:r>
            <a:endParaRPr lang="en-US" altLang="zh-CN" dirty="0"/>
          </a:p>
          <a:p>
            <a:endParaRPr lang="en-US" altLang="zh-CN" dirty="0"/>
          </a:p>
          <a:p>
            <a:r>
              <a:rPr lang="zh-CN" altLang="en-US" b="1" dirty="0"/>
              <a:t>这是我们变种一实验的结果。表格数据上，相比基础实验，由于时间压力，被试的平均反应时间大大减小，而准确率略微下降。更有一丝的是结果曲线图。首先看右图，红色线是我们的真实数据，我们惊喜地发现反应时间图中恰好出现了凹陷。蓝色线是我们采用基础实验中</a:t>
            </a:r>
            <a:r>
              <a:rPr lang="en-US" altLang="zh-CN" b="1" dirty="0"/>
              <a:t>DDM</a:t>
            </a:r>
            <a:r>
              <a:rPr lang="zh-CN" altLang="en-US" b="1" dirty="0"/>
              <a:t>的方法，形成的拟合结果图，我们会发现结果有些差强人意。</a:t>
            </a:r>
            <a:endParaRPr lang="en-US" altLang="zh-CN" b="1" dirty="0"/>
          </a:p>
          <a:p>
            <a:r>
              <a:rPr lang="zh-CN" altLang="en-US" b="1" dirty="0"/>
              <a:t>同时，</a:t>
            </a:r>
            <a:r>
              <a:rPr lang="en-US" altLang="zh-CN" b="1" dirty="0"/>
              <a:t>DDM</a:t>
            </a:r>
            <a:r>
              <a:rPr lang="zh-CN" altLang="en-US" b="1" dirty="0"/>
              <a:t>结果也没有出现凹陷。这是为什么呢？</a:t>
            </a:r>
            <a:endParaRPr lang="en-US" altLang="zh-CN" b="1" dirty="0"/>
          </a:p>
          <a:p>
            <a:endParaRPr lang="en-US" altLang="zh-CN" b="1" dirty="0"/>
          </a:p>
          <a:p>
            <a:r>
              <a:rPr lang="zh-CN" altLang="en-US" b="1" dirty="0"/>
              <a:t>这基本可以用左图来解释。左图是证据积累图，每种颜色的线代表某个</a:t>
            </a:r>
            <a:r>
              <a:rPr lang="en-US" altLang="zh-CN" b="1" dirty="0"/>
              <a:t>ratio</a:t>
            </a:r>
            <a:r>
              <a:rPr lang="zh-CN" altLang="en-US" b="1" dirty="0"/>
              <a:t>值下的证据积累过程，上下两条虚线是左右两个决策边界，其中上面一条代表右。我们可以看到</a:t>
            </a:r>
            <a:r>
              <a:rPr lang="en-US" altLang="zh-CN" b="1" dirty="0"/>
              <a:t>ratio</a:t>
            </a:r>
            <a:r>
              <a:rPr lang="zh-CN" altLang="en-US" b="1" dirty="0"/>
              <a:t>为</a:t>
            </a:r>
            <a:r>
              <a:rPr lang="en-US" altLang="zh-CN" b="1" dirty="0"/>
              <a:t>0</a:t>
            </a:r>
            <a:r>
              <a:rPr lang="zh-CN" altLang="en-US" b="1" dirty="0"/>
              <a:t>的蓝色的线，由于没有漂移的影响，纯靠噪声在摆动，达到证据边界的时间最久，而</a:t>
            </a:r>
            <a:r>
              <a:rPr lang="en-US" altLang="zh-CN" b="1" dirty="0"/>
              <a:t>ratio</a:t>
            </a:r>
            <a:r>
              <a:rPr lang="zh-CN" altLang="en-US" b="1" dirty="0"/>
              <a:t>为</a:t>
            </a:r>
            <a:r>
              <a:rPr lang="en-US" altLang="zh-CN" b="1" dirty="0"/>
              <a:t>-0.08</a:t>
            </a:r>
            <a:r>
              <a:rPr lang="zh-CN" altLang="en-US" b="1" dirty="0"/>
              <a:t>的绿色的线，尽管</a:t>
            </a:r>
            <a:r>
              <a:rPr lang="en-US" altLang="zh-CN" b="1" dirty="0"/>
              <a:t>ratio</a:t>
            </a:r>
            <a:r>
              <a:rPr lang="zh-CN" altLang="en-US" b="1" dirty="0"/>
              <a:t>数值小，但是证据积累的还是要比</a:t>
            </a:r>
            <a:r>
              <a:rPr lang="en-US" altLang="zh-CN" b="1" dirty="0"/>
              <a:t>ratio</a:t>
            </a:r>
            <a:r>
              <a:rPr lang="zh-CN" altLang="en-US" b="1" dirty="0"/>
              <a:t>为</a:t>
            </a:r>
            <a:r>
              <a:rPr lang="en-US" altLang="zh-CN" b="1" dirty="0"/>
              <a:t>0</a:t>
            </a:r>
            <a:r>
              <a:rPr lang="zh-CN" altLang="en-US" b="1" dirty="0"/>
              <a:t>的时候更快。</a:t>
            </a:r>
            <a:endParaRPr lang="en-US" altLang="zh-CN" b="1"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13</a:t>
            </a:fld>
            <a:endParaRPr lang="zh-CN" altLang="en-US"/>
          </a:p>
        </p:txBody>
      </p:sp>
    </p:spTree>
    <p:extLst>
      <p:ext uri="{BB962C8B-B14F-4D97-AF65-F5344CB8AC3E}">
        <p14:creationId xmlns:p14="http://schemas.microsoft.com/office/powerpoint/2010/main" val="6738298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而塌陷边界</a:t>
            </a:r>
            <a:r>
              <a:rPr lang="en-US" altLang="zh-CN" dirty="0"/>
              <a:t>DDM</a:t>
            </a:r>
            <a:r>
              <a:rPr lang="zh-CN" altLang="en-US" dirty="0"/>
              <a:t>的拟合效果很好，与我们的实验设置形成了很好的呼应。</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而相比之下，我们的崩溃边界</a:t>
            </a:r>
            <a:r>
              <a:rPr lang="en-US" altLang="zh-CN" b="1" dirty="0"/>
              <a:t>DDM</a:t>
            </a:r>
            <a:r>
              <a:rPr lang="zh-CN" altLang="en-US" b="1" dirty="0"/>
              <a:t>在变种一的拟合上就非常优秀。首先是右图，我们的崩溃边界</a:t>
            </a:r>
            <a:r>
              <a:rPr lang="en-US" altLang="zh-CN" b="1" dirty="0"/>
              <a:t>DDM</a:t>
            </a:r>
            <a:r>
              <a:rPr lang="zh-CN" altLang="en-US" b="1" dirty="0"/>
              <a:t>的结果拟合效果非常好，均方误差只有</a:t>
            </a:r>
            <a:r>
              <a:rPr lang="en-US" altLang="zh-CN" b="1" dirty="0"/>
              <a:t>0.000262</a:t>
            </a:r>
            <a:r>
              <a:rPr lang="zh-CN" altLang="en-US" b="1" dirty="0"/>
              <a:t>，是基础</a:t>
            </a:r>
            <a:r>
              <a:rPr lang="en-US" altLang="zh-CN" b="1" dirty="0"/>
              <a:t>DDM</a:t>
            </a:r>
            <a:r>
              <a:rPr lang="zh-CN" altLang="en-US" b="1" dirty="0"/>
              <a:t>的三分之一。更可贵的是，我们观察到了想要的现象，</a:t>
            </a:r>
            <a:r>
              <a:rPr lang="en-US" altLang="zh-CN" b="1" dirty="0"/>
              <a:t>DDM</a:t>
            </a:r>
            <a:r>
              <a:rPr lang="zh-CN" altLang="en-US" b="1" dirty="0"/>
              <a:t>反应时间图曲线的中间也出现了凹陷。一种解释就是我们之前分析的，注意这个模型的最优参数中漂移率和边界相对较小，而噪声相对较大。另外一种解释还是看左图的证据积累图。</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左图中，我们可以看到决策边界是随着时间缩减的，</a:t>
            </a:r>
            <a:r>
              <a:rPr lang="en-US" altLang="zh-CN" b="1" dirty="0"/>
              <a:t>ratio</a:t>
            </a:r>
            <a:r>
              <a:rPr lang="zh-CN" altLang="en-US" b="1" dirty="0"/>
              <a:t>为</a:t>
            </a:r>
            <a:r>
              <a:rPr lang="en-US" altLang="zh-CN" b="1" dirty="0"/>
              <a:t>0</a:t>
            </a:r>
            <a:r>
              <a:rPr lang="zh-CN" altLang="en-US" b="1" dirty="0"/>
              <a:t>的蓝色线，相比于</a:t>
            </a:r>
            <a:r>
              <a:rPr lang="en-US" altLang="zh-CN" b="1" dirty="0"/>
              <a:t>ratio</a:t>
            </a:r>
            <a:r>
              <a:rPr lang="zh-CN" altLang="en-US" b="1" dirty="0"/>
              <a:t>为</a:t>
            </a:r>
            <a:r>
              <a:rPr lang="en-US" altLang="zh-CN" b="1" dirty="0"/>
              <a:t>0.08</a:t>
            </a:r>
            <a:r>
              <a:rPr lang="zh-CN" altLang="en-US" b="1" dirty="0"/>
              <a:t>的橙色线，更早达到了决策边界。也就是说，纯靠噪声，相比有漂移率但是漂移率相对噪声比较小的情况，有时候更容易达到很小的甚至在不断减小的决策边界。</a:t>
            </a:r>
          </a:p>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14</a:t>
            </a:fld>
            <a:endParaRPr lang="zh-CN" altLang="en-US"/>
          </a:p>
        </p:txBody>
      </p:sp>
    </p:spTree>
    <p:extLst>
      <p:ext uri="{BB962C8B-B14F-4D97-AF65-F5344CB8AC3E}">
        <p14:creationId xmlns:p14="http://schemas.microsoft.com/office/powerpoint/2010/main" val="7074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为基础实验中，我们的结果一直是对称的，于是在变种二中，我们增加了不对称的先验。这一灵感来自于老师的建议和在一些电影语言中，处于画面左边的通常是正派，而处在画面右边的通常是反派这一价值倾向。具体的设置是让该轮实验中有</a:t>
            </a:r>
            <a:r>
              <a:rPr lang="en-US" altLang="zh-CN" dirty="0"/>
              <a:t>75%</a:t>
            </a:r>
            <a:r>
              <a:rPr lang="zh-CN" altLang="en-US" dirty="0"/>
              <a:t>的概率是左边大或右边大，并将这一先验信息提前告知被试者。</a:t>
            </a:r>
            <a:endParaRPr lang="en-US" altLang="zh-CN" dirty="0"/>
          </a:p>
          <a:p>
            <a:endParaRPr lang="en-US" altLang="zh-CN" dirty="0"/>
          </a:p>
          <a:p>
            <a:r>
              <a:rPr lang="zh-CN" altLang="en-US" b="1" dirty="0"/>
              <a:t>在基础实验和变种一实验中，大家可以发现，有很多的对称性，比如实验设置的对称性，实验结果的对称性。但是显示世界决策很多情况下是不对称的，比如右边这张海报，为什么要把哈利波特放在左半边，这很有可能是因为人们会自然地倾向于左边是好人而右边是坏人，这就是不对称性。我们很好奇在不对称情况下会有什么结果，更好奇</a:t>
            </a:r>
            <a:r>
              <a:rPr lang="en-US" altLang="zh-CN" b="1" dirty="0"/>
              <a:t>DDM</a:t>
            </a:r>
            <a:r>
              <a:rPr lang="zh-CN" altLang="en-US" b="1" dirty="0"/>
              <a:t>既然适用性很广，那么能否有</a:t>
            </a:r>
            <a:r>
              <a:rPr lang="en-US" altLang="zh-CN" b="1" dirty="0"/>
              <a:t>DDM</a:t>
            </a:r>
            <a:r>
              <a:rPr lang="zh-CN" altLang="en-US" b="1" dirty="0"/>
              <a:t>变种能够建模不对称的决策过程？在老师的启发下，我们设计了变种二。</a:t>
            </a:r>
            <a:endParaRPr lang="en-US" altLang="zh-CN" b="1" dirty="0"/>
          </a:p>
          <a:p>
            <a:endParaRPr lang="en-US" altLang="zh-CN" b="1" dirty="0"/>
          </a:p>
          <a:p>
            <a:r>
              <a:rPr lang="zh-CN" altLang="en-US" b="1" dirty="0"/>
              <a:t>在变种二中，我们增加了不对称的先验，我们将实验一分为二，在第一部分中提前告诉被试，左边圆会有</a:t>
            </a:r>
            <a:r>
              <a:rPr lang="en-US" altLang="zh-CN" b="1" dirty="0"/>
              <a:t>75%</a:t>
            </a:r>
            <a:r>
              <a:rPr lang="zh-CN" altLang="en-US" b="1" dirty="0"/>
              <a:t>的概率比右边更大，在数据生成上也是左边</a:t>
            </a:r>
            <a:r>
              <a:rPr lang="en-US" altLang="zh-CN" b="1" dirty="0"/>
              <a:t>75%</a:t>
            </a:r>
            <a:r>
              <a:rPr lang="zh-CN" altLang="en-US" b="1" dirty="0"/>
              <a:t>可能更大。而在第二部分中与此恰好相反。我们接下来将探索这两种实验。</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15</a:t>
            </a:fld>
            <a:endParaRPr lang="zh-CN" altLang="en-US"/>
          </a:p>
        </p:txBody>
      </p:sp>
    </p:spTree>
    <p:extLst>
      <p:ext uri="{BB962C8B-B14F-4D97-AF65-F5344CB8AC3E}">
        <p14:creationId xmlns:p14="http://schemas.microsoft.com/office/powerpoint/2010/main" val="1468890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此时，通过实验结果我们可以看到，用没有偏置的</a:t>
            </a:r>
            <a:r>
              <a:rPr lang="en-US" altLang="zh-CN" dirty="0"/>
              <a:t>DDM</a:t>
            </a:r>
            <a:r>
              <a:rPr lang="zh-CN" altLang="en-US" dirty="0"/>
              <a:t>拟合效果很差。</a:t>
            </a:r>
            <a:endParaRPr lang="en-US" altLang="zh-CN" dirty="0"/>
          </a:p>
          <a:p>
            <a:endParaRPr lang="en-US" altLang="zh-CN" dirty="0"/>
          </a:p>
          <a:p>
            <a:r>
              <a:rPr lang="zh-CN" altLang="en-US" b="1" dirty="0"/>
              <a:t>以左边圆大的概率更大的结果为例，我们发现结果出现了极大的不对称性，图中红色线是真实实验结果。准确率上</a:t>
            </a:r>
            <a:r>
              <a:rPr lang="en-US" altLang="zh-CN" b="1" dirty="0"/>
              <a:t>ratio</a:t>
            </a:r>
            <a:r>
              <a:rPr lang="zh-CN" altLang="en-US" b="1" dirty="0"/>
              <a:t>小于</a:t>
            </a:r>
            <a:r>
              <a:rPr lang="en-US" altLang="zh-CN" b="1" dirty="0"/>
              <a:t>0</a:t>
            </a:r>
            <a:r>
              <a:rPr lang="zh-CN" altLang="en-US" b="1" dirty="0"/>
              <a:t>的时候会明显高于</a:t>
            </a:r>
            <a:r>
              <a:rPr lang="en-US" altLang="zh-CN" b="1" dirty="0"/>
              <a:t>ratio</a:t>
            </a:r>
            <a:r>
              <a:rPr lang="zh-CN" altLang="en-US" b="1" dirty="0"/>
              <a:t>大于</a:t>
            </a:r>
            <a:r>
              <a:rPr lang="en-US" altLang="zh-CN" b="1" dirty="0"/>
              <a:t>0</a:t>
            </a:r>
            <a:r>
              <a:rPr lang="zh-CN" altLang="en-US" b="1" dirty="0"/>
              <a:t>的时候；选右的概率曲线整体下移了，代表被试选右的整体概率都变低了，甚至在</a:t>
            </a:r>
            <a:r>
              <a:rPr lang="en-US" altLang="zh-CN" b="1" dirty="0"/>
              <a:t>ratio</a:t>
            </a:r>
            <a:r>
              <a:rPr lang="zh-CN" altLang="en-US" b="1" dirty="0"/>
              <a:t>为</a:t>
            </a:r>
            <a:r>
              <a:rPr lang="en-US" altLang="zh-CN" b="1" dirty="0"/>
              <a:t>0.32</a:t>
            </a:r>
            <a:r>
              <a:rPr lang="zh-CN" altLang="en-US" b="1" dirty="0"/>
              <a:t>这样很大的数值的时候都达不到百分百选右；反应时间上，</a:t>
            </a:r>
            <a:r>
              <a:rPr lang="en-US" altLang="zh-CN" b="1" dirty="0"/>
              <a:t>ratio</a:t>
            </a:r>
            <a:r>
              <a:rPr lang="zh-CN" altLang="en-US" b="1" dirty="0"/>
              <a:t>小于</a:t>
            </a:r>
            <a:r>
              <a:rPr lang="en-US" altLang="zh-CN" b="1" dirty="0"/>
              <a:t>0</a:t>
            </a:r>
            <a:r>
              <a:rPr lang="zh-CN" altLang="en-US" b="1" dirty="0"/>
              <a:t>的时候也明显更短。</a:t>
            </a:r>
            <a:endParaRPr lang="en-US" altLang="zh-CN" b="1" dirty="0"/>
          </a:p>
          <a:p>
            <a:endParaRPr lang="en-US" altLang="zh-CN" b="1" dirty="0"/>
          </a:p>
          <a:p>
            <a:r>
              <a:rPr lang="zh-CN" altLang="en-US" b="1" dirty="0"/>
              <a:t>这些结果都是合理的，反应了不对称先验的影响。但是问题来了，蓝色线是</a:t>
            </a:r>
            <a:r>
              <a:rPr lang="en-US" altLang="zh-CN" b="1" dirty="0"/>
              <a:t>DDM</a:t>
            </a:r>
            <a:r>
              <a:rPr lang="zh-CN" altLang="en-US" b="1" dirty="0"/>
              <a:t>的拟合效果，这个结果非常差，那么有没有合适的</a:t>
            </a:r>
            <a:r>
              <a:rPr lang="en-US" altLang="zh-CN" b="1" dirty="0"/>
              <a:t>DDM</a:t>
            </a:r>
            <a:r>
              <a:rPr lang="zh-CN" altLang="en-US" b="1" dirty="0"/>
              <a:t>变种来建模这个实验呢？</a:t>
            </a:r>
            <a:endParaRPr lang="en-US" altLang="zh-CN"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16</a:t>
            </a:fld>
            <a:endParaRPr lang="zh-CN" altLang="en-US"/>
          </a:p>
        </p:txBody>
      </p:sp>
    </p:spTree>
    <p:extLst>
      <p:ext uri="{BB962C8B-B14F-4D97-AF65-F5344CB8AC3E}">
        <p14:creationId xmlns:p14="http://schemas.microsoft.com/office/powerpoint/2010/main" val="14969742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因此，我们改变了决策的初始点，即如果有</a:t>
            </a:r>
            <a:r>
              <a:rPr lang="en-US" altLang="zh-CN" dirty="0"/>
              <a:t>75%</a:t>
            </a:r>
            <a:r>
              <a:rPr lang="zh-CN" altLang="en-US" dirty="0"/>
              <a:t>的概率左边大，就将初始点朝着代表左侧的一边移动一定距离，反之亦然。这是具体代码实现。可以看出，用含有偏置的</a:t>
            </a:r>
            <a:r>
              <a:rPr lang="en-US" altLang="zh-CN" dirty="0"/>
              <a:t>DDM</a:t>
            </a:r>
            <a:r>
              <a:rPr lang="zh-CN" altLang="en-US" dirty="0"/>
              <a:t>拟合的效果很好。</a:t>
            </a:r>
            <a:endParaRPr lang="en-US" altLang="zh-CN" dirty="0"/>
          </a:p>
          <a:p>
            <a:endParaRPr lang="en-US" altLang="zh-CN" dirty="0"/>
          </a:p>
          <a:p>
            <a:r>
              <a:rPr lang="zh-CN" altLang="en-US" b="1" dirty="0"/>
              <a:t>经过我们的探索，我们在一篇论文中找到了思路，采用的是带有初始偏置的证据积累起始点的</a:t>
            </a:r>
            <a:r>
              <a:rPr lang="en-US" altLang="zh-CN" b="1" dirty="0"/>
              <a:t>DDM</a:t>
            </a:r>
            <a:r>
              <a:rPr lang="zh-CN" altLang="en-US" b="1" dirty="0"/>
              <a:t>。以右边圆大的概率更大的结果为例，我们修改了证据积累起始点，使起点更接近上面一条边界，即选右的边界，修改的距离是三分之一的总距离。具体看左下角的证据积累图，我们也能发现，除了</a:t>
            </a:r>
            <a:r>
              <a:rPr lang="en-US" altLang="zh-CN" b="1" dirty="0"/>
              <a:t>ratio</a:t>
            </a:r>
            <a:r>
              <a:rPr lang="zh-CN" altLang="en-US" b="1" dirty="0"/>
              <a:t>为正的情况达到上面边界，</a:t>
            </a:r>
            <a:r>
              <a:rPr lang="en-US" altLang="zh-CN" b="1" dirty="0"/>
              <a:t>ratio</a:t>
            </a:r>
            <a:r>
              <a:rPr lang="zh-CN" altLang="en-US" b="1" dirty="0"/>
              <a:t>为负数但是负得不是很多的时候，也会由于初始点的偏置，错误地达到上面的边界。</a:t>
            </a:r>
            <a:endParaRPr lang="en-US" altLang="zh-CN" b="1" dirty="0"/>
          </a:p>
          <a:p>
            <a:endParaRPr lang="en-US" altLang="zh-CN" b="1" dirty="0"/>
          </a:p>
          <a:p>
            <a:r>
              <a:rPr lang="zh-CN" altLang="en-US" b="1" dirty="0"/>
              <a:t>而这个</a:t>
            </a:r>
            <a:r>
              <a:rPr lang="en-US" altLang="zh-CN" b="1" dirty="0"/>
              <a:t>DDM</a:t>
            </a:r>
            <a:r>
              <a:rPr lang="zh-CN" altLang="en-US" b="1" dirty="0"/>
              <a:t>变种恰好很好地建模了我们的变种二实验，右图是我们的拟合结果，可以发现，相比之前，拟合效果得到了很大的提升，也表现出类似的不对称性。</a:t>
            </a:r>
            <a:endParaRPr lang="en-US" altLang="zh-CN"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17</a:t>
            </a:fld>
            <a:endParaRPr lang="zh-CN" altLang="en-US"/>
          </a:p>
        </p:txBody>
      </p:sp>
    </p:spTree>
    <p:extLst>
      <p:ext uri="{BB962C8B-B14F-4D97-AF65-F5344CB8AC3E}">
        <p14:creationId xmlns:p14="http://schemas.microsoft.com/office/powerpoint/2010/main" val="2816194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在收集变种二的结果时，我们发现了一份非常奇怪的结果。在</a:t>
            </a:r>
            <a:r>
              <a:rPr lang="en-US" altLang="zh-CN" dirty="0"/>
              <a:t>75%</a:t>
            </a:r>
            <a:r>
              <a:rPr lang="zh-CN" altLang="en-US" dirty="0"/>
              <a:t>的概率右边大的实验中，有一份数据中被试做出了奇怪的结果。在复盘后我们发现，这是因为被试者在做实验时不停地与舍友说话，噪声导致了这样的一份错误样本。因此，我们开始研究噪声对决策过程的影响。我们在原先的椭圆背后加上灰色的更大的椭圆作为噪声干扰，这里是实现的代码：其中噪声大小是随机选取的。</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在收集变种二的实验结果过程中，我们曾得到过一份非常奇怪的数据。我（这里“我”是泛指，你提前跟你舍友说一下就行，不要转换人称了，很麻烦）的一个舍友在做</a:t>
            </a:r>
            <a:r>
              <a:rPr lang="en-US" altLang="zh-CN" b="1" dirty="0"/>
              <a:t>75%</a:t>
            </a:r>
            <a:r>
              <a:rPr lang="zh-CN" altLang="en-US" b="1" dirty="0"/>
              <a:t>的概率右边大的实验的时候，产生的结果反而更有点像是左边概率大的结果，而且随机性很大。这是因为我在他做实验的时候一直和他说话。我没有为这份坏数据而感到失望，反而想要探索一下噪声对决策实验的影响。经过我们小组成员的讨论，我们设计了变种三</a:t>
            </a:r>
            <a:r>
              <a:rPr lang="en-US" altLang="zh-CN" b="1" dirty="0"/>
              <a:t>——</a:t>
            </a:r>
            <a:r>
              <a:rPr lang="zh-CN" altLang="en-US" b="1" dirty="0"/>
              <a:t>加噪实验。我们在原先的圆的背后加上灰色的随机大小的圆作为噪声干扰，具体实现上可以看左边的代码：代码中我们确保了背景能够包含住里面的蓝色的圆，并且大小是随机的，而我们的实验目的不变，即只判断里面蓝色圆的大小。</a:t>
            </a:r>
            <a:endParaRPr lang="en-US" altLang="zh-CN" b="1"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18</a:t>
            </a:fld>
            <a:endParaRPr lang="zh-CN" altLang="en-US"/>
          </a:p>
        </p:txBody>
      </p:sp>
    </p:spTree>
    <p:extLst>
      <p:ext uri="{BB962C8B-B14F-4D97-AF65-F5344CB8AC3E}">
        <p14:creationId xmlns:p14="http://schemas.microsoft.com/office/powerpoint/2010/main" val="3986128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我们分析实验结果发现，噪声会带来更低的效率，更长的反应时间以及</a:t>
            </a:r>
            <a:r>
              <a:rPr lang="en-US" altLang="zh-CN" dirty="0"/>
              <a:t>DDM</a:t>
            </a:r>
            <a:r>
              <a:rPr lang="zh-CN" altLang="en-US" dirty="0"/>
              <a:t>模型参数的改变。</a:t>
            </a:r>
            <a:endParaRPr lang="en-US" altLang="zh-CN" dirty="0"/>
          </a:p>
          <a:p>
            <a:endParaRPr lang="en-US" altLang="zh-CN" dirty="0"/>
          </a:p>
          <a:p>
            <a:r>
              <a:rPr lang="zh-CN" altLang="en-US" b="1" dirty="0"/>
              <a:t>我们这个实验分为两组，两组区别仅仅在于是否增加背景干扰，我们将两组实验结果相比，得到以下结果：加噪实验做出来准确率非常低，有的被试的准确率刚过</a:t>
            </a:r>
            <a:r>
              <a:rPr lang="en-US" altLang="zh-CN" b="1" dirty="0"/>
              <a:t>80%</a:t>
            </a:r>
            <a:r>
              <a:rPr lang="zh-CN" altLang="en-US" b="1" dirty="0"/>
              <a:t>，远不及不加噪实验。基于噪声的影响，加噪实验相比于不加噪实验，</a:t>
            </a:r>
            <a:r>
              <a:rPr lang="en-US" altLang="zh-CN" b="1" dirty="0"/>
              <a:t>DDM</a:t>
            </a:r>
            <a:r>
              <a:rPr lang="zh-CN" altLang="en-US" b="1" dirty="0"/>
              <a:t>的最优参数搜索出来的数值也发生了变化，漂移率变得更小，代表被试比较的置信度变小；噪声显著增大；同时决策边界变大，预示决策难度变高。</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19</a:t>
            </a:fld>
            <a:endParaRPr lang="zh-CN" altLang="en-US"/>
          </a:p>
        </p:txBody>
      </p:sp>
    </p:spTree>
    <p:extLst>
      <p:ext uri="{BB962C8B-B14F-4D97-AF65-F5344CB8AC3E}">
        <p14:creationId xmlns:p14="http://schemas.microsoft.com/office/powerpoint/2010/main" val="32435253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B591D-C7E8-E559-8524-9E39F3715F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0F1412-DA49-25BF-C952-BFEFEA1E70C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F2C5608-0F6C-6CA2-AD0F-81F198243C1C}"/>
              </a:ext>
            </a:extLst>
          </p:cNvPr>
          <p:cNvSpPr>
            <a:spLocks noGrp="1"/>
          </p:cNvSpPr>
          <p:nvPr>
            <p:ph type="body" idx="1"/>
          </p:nvPr>
        </p:nvSpPr>
        <p:spPr/>
        <p:txBody>
          <a:bodyPr/>
          <a:lstStyle/>
          <a:p>
            <a:r>
              <a:rPr lang="zh-CN" altLang="en-US" dirty="0"/>
              <a:t>接下来是对于</a:t>
            </a:r>
            <a:r>
              <a:rPr lang="en-US" altLang="zh-CN" dirty="0"/>
              <a:t>DDM</a:t>
            </a:r>
            <a:r>
              <a:rPr lang="zh-CN" altLang="en-US" dirty="0"/>
              <a:t>模型的一些拓展和深入思考。</a:t>
            </a:r>
            <a:endParaRPr lang="en-US" altLang="zh-CN" dirty="0"/>
          </a:p>
          <a:p>
            <a:endParaRPr lang="en-US" altLang="zh-CN" dirty="0"/>
          </a:p>
          <a:p>
            <a:r>
              <a:rPr lang="zh-CN" altLang="en-US" b="1" dirty="0"/>
              <a:t>我们小组在交流和讨论中，其实还产生了关于决策过程的其它的一些</a:t>
            </a:r>
            <a:r>
              <a:rPr lang="en-US" altLang="zh-CN" b="1" dirty="0"/>
              <a:t>idea</a:t>
            </a:r>
            <a:r>
              <a:rPr lang="zh-CN" altLang="en-US" b="1" dirty="0"/>
              <a:t>，这些</a:t>
            </a:r>
            <a:r>
              <a:rPr lang="en-US" altLang="zh-CN" b="1" dirty="0"/>
              <a:t>idea</a:t>
            </a:r>
            <a:r>
              <a:rPr lang="zh-CN" altLang="en-US" b="1" dirty="0"/>
              <a:t>我们虽然没有进行非常充足的实验，但是也都进行了简要的实验和分析，主要作为实验拓展一和拓展二。另外，基于整个项目，我们还产生了一些更深入的思考，这将在下一部分展示。</a:t>
            </a:r>
          </a:p>
        </p:txBody>
      </p:sp>
      <p:sp>
        <p:nvSpPr>
          <p:cNvPr id="4" name="灯片编号占位符 3">
            <a:extLst>
              <a:ext uri="{FF2B5EF4-FFF2-40B4-BE49-F238E27FC236}">
                <a16:creationId xmlns:a16="http://schemas.microsoft.com/office/drawing/2014/main" id="{B827D30C-9C11-F603-89E3-23131632F2D5}"/>
              </a:ext>
            </a:extLst>
          </p:cNvPr>
          <p:cNvSpPr>
            <a:spLocks noGrp="1"/>
          </p:cNvSpPr>
          <p:nvPr>
            <p:ph type="sldNum" sz="quarter" idx="5"/>
          </p:nvPr>
        </p:nvSpPr>
        <p:spPr/>
        <p:txBody>
          <a:bodyPr/>
          <a:lstStyle/>
          <a:p>
            <a:fld id="{F4B9ED47-EE91-4403-9E82-880EC51C5D5D}" type="slidenum">
              <a:rPr lang="zh-CN" altLang="en-US" smtClean="0"/>
              <a:t>20</a:t>
            </a:fld>
            <a:endParaRPr lang="zh-CN" altLang="en-US"/>
          </a:p>
        </p:txBody>
      </p:sp>
    </p:spTree>
    <p:extLst>
      <p:ext uri="{BB962C8B-B14F-4D97-AF65-F5344CB8AC3E}">
        <p14:creationId xmlns:p14="http://schemas.microsoft.com/office/powerpoint/2010/main" val="12657665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第一个拓展中，我们不断让被试者在实验过程中记忆数字，这样可以保持被试者的记忆压力。在实验结果中，我们惊讶地发现被试者的反应时间变短了，联想到大家在思政考试中总是趁脑海中还有记忆，快速将试卷写完，这一现象有了合理的解释。</a:t>
            </a:r>
            <a:endParaRPr lang="en-US" altLang="zh-CN" dirty="0"/>
          </a:p>
          <a:p>
            <a:r>
              <a:rPr lang="zh-CN" altLang="en-US" dirty="0"/>
              <a:t>在第二个拓展中，</a:t>
            </a:r>
            <a:r>
              <a:rPr lang="en-US" altLang="zh-CN" dirty="0"/>
              <a:t>r</a:t>
            </a:r>
            <a:r>
              <a:rPr lang="zh-CN" altLang="en-US" dirty="0"/>
              <a:t>不再是随机选择，而是线性变化，我们发现在</a:t>
            </a:r>
            <a:r>
              <a:rPr lang="en-US" altLang="zh-CN" dirty="0"/>
              <a:t>r</a:t>
            </a:r>
            <a:r>
              <a:rPr lang="zh-CN" altLang="en-US" dirty="0"/>
              <a:t>从小变大，即两个椭圆大小的差距越来越明显时，被试者的反应时间比较平稳，而</a:t>
            </a:r>
            <a:r>
              <a:rPr lang="en-US" altLang="zh-CN" dirty="0"/>
              <a:t>r</a:t>
            </a:r>
            <a:r>
              <a:rPr lang="zh-CN" altLang="en-US" dirty="0"/>
              <a:t>大变小，即两个椭圆大小的差距越来越小时，被试者的反应时间从一开始的很短转而变得很长，我们推测，这是因为被试者在起初很简单的实验中对实验难度进行了预设，因此当实验变难时，被试者倾向于犹豫更长时间。而面对起初很难的实验的被试者，对于实验的难度有着更好的适应性，因此表现较为平稳。</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拓展一中，我们探索了记忆任务对决策的影响。我们让被试者在实验过程中不断去记忆新出现的数字，以此增加记忆负荷，之所以不是在一开始给一串数字，是因为时间久了被试就记住了，所以要不断记忆新的数字。我们会在每组实验的最后询问之前出现的数字，并且过滤掉被试回答错误的实验结果。我们本以为被试反应时间会边长，因为需要不断花时间记忆数字，但我们惊讶地发现，被试者的反应时间反而明显地变短了。这是为什么呢？（停顿）大家联想一下思政期末考试应该就明白了，我们为什么思政考试的时候写字更快？这正是因为时间久了，我们背的知识就忘掉了。那么记忆任务实际上变相地是一种时间压力。</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在拓展二中，我们使得</a:t>
            </a:r>
            <a:r>
              <a:rPr lang="en-US" altLang="zh-CN" b="1" dirty="0"/>
              <a:t>ratio</a:t>
            </a:r>
            <a:r>
              <a:rPr lang="zh-CN" altLang="en-US" b="1" dirty="0"/>
              <a:t>不再是随机打乱地出现，而是根据</a:t>
            </a:r>
            <a:r>
              <a:rPr lang="en-US" altLang="zh-CN" b="1" dirty="0"/>
              <a:t>ratio</a:t>
            </a:r>
            <a:r>
              <a:rPr lang="zh-CN" altLang="en-US" b="1" dirty="0"/>
              <a:t>的绝对值分为增序和降序来出现，分别代表着任务难度降序和增序。如右图所示，我们发现这两种情况的差异居然如此巨大！</a:t>
            </a:r>
            <a:r>
              <a:rPr lang="en-US" altLang="zh-CN" b="1" dirty="0"/>
              <a:t>ratio</a:t>
            </a:r>
            <a:r>
              <a:rPr lang="zh-CN" altLang="en-US" b="1" dirty="0"/>
              <a:t>绝对值增顺的情况下，反应时间图很平稳，而降序情况却有很大的差异，这是为什么呢？（停顿）我们经过思考，推测这是因为增序情况下，被试在起初很简单的实验中对实验难度进行了预设，认为实验比较简单，而当实验变难时，被试者会产生不适应性，倾向于犹豫更长时间。相反，面对起初很难的实验，被试一开始就对于实验的难度有着更好的适应性，因此表现较为平稳。</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21</a:t>
            </a:fld>
            <a:endParaRPr lang="zh-CN" altLang="en-US"/>
          </a:p>
        </p:txBody>
      </p:sp>
    </p:spTree>
    <p:extLst>
      <p:ext uri="{BB962C8B-B14F-4D97-AF65-F5344CB8AC3E}">
        <p14:creationId xmlns:p14="http://schemas.microsoft.com/office/powerpoint/2010/main" val="6578109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通过上述实验，我们理解了准确率、反应时间和做出两种决策的概率，</a:t>
            </a:r>
            <a:endParaRPr lang="en-US" altLang="zh-CN" dirty="0"/>
          </a:p>
          <a:p>
            <a:r>
              <a:rPr lang="zh-CN" altLang="en-US" dirty="0"/>
              <a:t>我们还意识到</a:t>
            </a:r>
            <a:r>
              <a:rPr lang="en-US" altLang="zh-CN" dirty="0"/>
              <a:t>DDM</a:t>
            </a:r>
            <a:r>
              <a:rPr lang="zh-CN" altLang="en-US" dirty="0"/>
              <a:t>模型是事后使用模型，存在过拟合的现象，以及假设设置较为简单，对假设敏感等缺点。</a:t>
            </a:r>
            <a:endParaRPr lang="en-US" altLang="zh-CN" dirty="0"/>
          </a:p>
          <a:p>
            <a:endParaRPr lang="en-US" altLang="zh-CN" dirty="0"/>
          </a:p>
          <a:p>
            <a:r>
              <a:rPr lang="zh-CN" altLang="en-US" b="1" dirty="0"/>
              <a:t>通过以上种种实验，我们收获很大，得到了一些深入的见解，比如</a:t>
            </a:r>
            <a:r>
              <a:rPr lang="en-US" altLang="zh-CN" b="1" dirty="0"/>
              <a:t>DDM</a:t>
            </a:r>
            <a:r>
              <a:rPr lang="zh-CN" altLang="en-US" b="1" dirty="0"/>
              <a:t>的一些参数，到底该怎么去更深地理解？具体来说，漂移率可能与被试进行任务的信心挂钩，噪声反映了随机的影响，决策边界可能代表着任务难度和时间压力等等，这些都在我们之前的实验中得到充分的探索。</a:t>
            </a:r>
            <a:endParaRPr lang="en-US" altLang="zh-CN" b="1" dirty="0"/>
          </a:p>
          <a:p>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第二，我们通过广泛阅读网上资料和论文，发现：虽然</a:t>
            </a:r>
            <a:r>
              <a:rPr lang="en-US" altLang="zh-CN" b="1" dirty="0"/>
              <a:t>DDM</a:t>
            </a:r>
            <a:r>
              <a:rPr lang="zh-CN" altLang="en-US" b="1" dirty="0"/>
              <a:t>是一个普遍使用的模型，也取得的极大的成功。但是</a:t>
            </a:r>
            <a:r>
              <a:rPr lang="en-US" altLang="zh-CN" b="1" dirty="0"/>
              <a:t>DDM</a:t>
            </a:r>
            <a:r>
              <a:rPr lang="zh-CN" altLang="en-US" b="1" dirty="0"/>
              <a:t>也有一些缺点，网上也有一些批评</a:t>
            </a:r>
            <a:r>
              <a:rPr lang="en-US" altLang="zh-CN" b="1" dirty="0"/>
              <a:t>DDM</a:t>
            </a:r>
            <a:r>
              <a:rPr lang="zh-CN" altLang="en-US" b="1" dirty="0"/>
              <a:t>的文章。比如：</a:t>
            </a:r>
            <a:r>
              <a:rPr lang="en-US" altLang="zh-CN" b="1" dirty="0"/>
              <a:t>DDM</a:t>
            </a:r>
            <a:r>
              <a:rPr lang="zh-CN" altLang="en-US" b="1" dirty="0"/>
              <a:t>模型是事后使用模型，存在过拟合的现象，以及假设设置较为简单，对假设敏感等缺点。这些讨论可能会更加拓深我们对人类决策过程的认知。</a:t>
            </a:r>
            <a:endParaRPr lang="en-US" altLang="zh-CN" b="1" dirty="0"/>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22</a:t>
            </a:fld>
            <a:endParaRPr lang="zh-CN" altLang="en-US"/>
          </a:p>
        </p:txBody>
      </p:sp>
    </p:spTree>
    <p:extLst>
      <p:ext uri="{BB962C8B-B14F-4D97-AF65-F5344CB8AC3E}">
        <p14:creationId xmlns:p14="http://schemas.microsoft.com/office/powerpoint/2010/main" val="5675548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我们也了解了其它的决策模型，如多属性决策方法，决策树等，</a:t>
            </a:r>
            <a:endParaRPr lang="en-US" altLang="zh-CN" dirty="0"/>
          </a:p>
          <a:p>
            <a:r>
              <a:rPr lang="zh-CN" altLang="en-US" dirty="0"/>
              <a:t>通过此次项目，我们更好地理解了人类决策的优缺点，模型是固化的，但人类是灵活的，我们在日后应当如何合适地做出决策以及如何看待他人的决策。</a:t>
            </a:r>
            <a:endParaRPr lang="en-US" altLang="zh-CN" dirty="0"/>
          </a:p>
          <a:p>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第三，我们跳出</a:t>
            </a:r>
            <a:r>
              <a:rPr lang="en-US" altLang="zh-CN" b="1" dirty="0"/>
              <a:t>DDM</a:t>
            </a:r>
            <a:r>
              <a:rPr lang="zh-CN" altLang="en-US" b="1" dirty="0"/>
              <a:t>思维的盒子，还思考了一些其它用于决策的模型。比如</a:t>
            </a:r>
            <a:r>
              <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rPr>
              <a:t>Multi-Attribute Decision Making (MADM)</a:t>
            </a: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，决策树和贝叶斯方法等等。相比于这些模型，</a:t>
            </a:r>
            <a:r>
              <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rPr>
              <a:t>DDM</a:t>
            </a: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模型有它的优势，比如在某些任务上更贴近人做决策的思维过程，也有它的不足，比如存在一定的随机性，需要仿真才能得到结果，不像类似决策树可以直接做推断，还有剪纸等等可以维护和提升模型的手段。</a:t>
            </a: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1" dirty="0">
                <a:latin typeface="Times New Roman" panose="02020603050405020304" pitchFamily="18" charset="0"/>
                <a:ea typeface="方正小标宋简体" panose="03000509000000000000" pitchFamily="65" charset="-122"/>
                <a:cs typeface="Times New Roman" panose="02020603050405020304" pitchFamily="18" charset="0"/>
              </a:rPr>
              <a:t>第四，我们的项目其实也能启发我们的生活。我们会理解人类决策过程的优缺点，特别是缺点，比如会基于时间压力而决策质量下降，由于不对称先验就影响自己的公平决策等等。我们还会发现模型是死的，人是活的。人类的决策总是伴随着一定的“人味”，比如会因为跟人讲话做出无法用模型解释的实验结果，再比如在变种二不对称先验实验中，极个别被试会不相信我们提供的先验情况，从而产生更多有意思的结果。最终，我们希望我们的项目能够启发大家如何做出更好的决策，以及如何理性看待别人做的决定等等。</a:t>
            </a:r>
            <a:endParaRPr lang="en-US" altLang="zh-CN" sz="1200" b="1" dirty="0">
              <a:latin typeface="Times New Roman" panose="02020603050405020304" pitchFamily="18" charset="0"/>
              <a:ea typeface="方正小标宋简体" panose="03000509000000000000" pitchFamily="65" charset="-122"/>
              <a:cs typeface="Times New Roman" panose="02020603050405020304" pitchFamily="18" charset="0"/>
            </a:endParaRPr>
          </a:p>
          <a:p>
            <a:endParaRPr lang="zh-CN" altLang="en-US" b="1"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23</a:t>
            </a:fld>
            <a:endParaRPr lang="zh-CN" altLang="en-US"/>
          </a:p>
        </p:txBody>
      </p:sp>
    </p:spTree>
    <p:extLst>
      <p:ext uri="{BB962C8B-B14F-4D97-AF65-F5344CB8AC3E}">
        <p14:creationId xmlns:p14="http://schemas.microsoft.com/office/powerpoint/2010/main" val="35328763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0EE2A-F7E4-B74C-55BA-491F20D7E7A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27DCD3-51D0-70AC-96C8-ACA42A2594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4E53ED-48E2-D119-3065-C26822699D45}"/>
              </a:ext>
            </a:extLst>
          </p:cNvPr>
          <p:cNvSpPr>
            <a:spLocks noGrp="1"/>
          </p:cNvSpPr>
          <p:nvPr>
            <p:ph type="body" idx="1"/>
          </p:nvPr>
        </p:nvSpPr>
        <p:spPr/>
        <p:txBody>
          <a:bodyPr/>
          <a:lstStyle/>
          <a:p>
            <a:r>
              <a:rPr lang="zh-CN" altLang="en-US" dirty="0"/>
              <a:t>最后是总结部分。</a:t>
            </a:r>
            <a:endParaRPr lang="en-US" altLang="zh-CN" dirty="0"/>
          </a:p>
          <a:p>
            <a:endParaRPr lang="zh-CN" altLang="en-US" dirty="0"/>
          </a:p>
        </p:txBody>
      </p:sp>
      <p:sp>
        <p:nvSpPr>
          <p:cNvPr id="4" name="灯片编号占位符 3">
            <a:extLst>
              <a:ext uri="{FF2B5EF4-FFF2-40B4-BE49-F238E27FC236}">
                <a16:creationId xmlns:a16="http://schemas.microsoft.com/office/drawing/2014/main" id="{81AFFE33-86A7-1D27-751F-3B7AE4F174F2}"/>
              </a:ext>
            </a:extLst>
          </p:cNvPr>
          <p:cNvSpPr>
            <a:spLocks noGrp="1"/>
          </p:cNvSpPr>
          <p:nvPr>
            <p:ph type="sldNum" sz="quarter" idx="5"/>
          </p:nvPr>
        </p:nvSpPr>
        <p:spPr/>
        <p:txBody>
          <a:bodyPr/>
          <a:lstStyle/>
          <a:p>
            <a:fld id="{F4B9ED47-EE91-4403-9E82-880EC51C5D5D}" type="slidenum">
              <a:rPr lang="zh-CN" altLang="en-US" smtClean="0"/>
              <a:t>24</a:t>
            </a:fld>
            <a:endParaRPr lang="zh-CN" altLang="en-US"/>
          </a:p>
        </p:txBody>
      </p:sp>
    </p:spTree>
    <p:extLst>
      <p:ext uri="{BB962C8B-B14F-4D97-AF65-F5344CB8AC3E}">
        <p14:creationId xmlns:p14="http://schemas.microsoft.com/office/powerpoint/2010/main" val="42543903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的项目不是以任务为导向，而是以思考为导向。我们研究了漂移扩散模型及其许多变体，这些研究都源于有趣且自然的想法。在每次实验中，我们都进行了定性和定量分析，并尽最大努力解释和很好地拟合实验结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我们用三个</a:t>
            </a:r>
            <a:r>
              <a:rPr lang="en-US" altLang="zh-CN" b="1" dirty="0"/>
              <a:t>but</a:t>
            </a:r>
            <a:r>
              <a:rPr lang="zh-CN" altLang="en-US" b="1" dirty="0"/>
              <a:t>来总结我们的实验：</a:t>
            </a:r>
            <a:endParaRPr lang="en-US" altLang="zh-CN" b="1"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1" dirty="0"/>
              <a:t>直接读三句话就行！</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25</a:t>
            </a:fld>
            <a:endParaRPr lang="zh-CN" altLang="en-US"/>
          </a:p>
        </p:txBody>
      </p:sp>
    </p:spTree>
    <p:extLst>
      <p:ext uri="{BB962C8B-B14F-4D97-AF65-F5344CB8AC3E}">
        <p14:creationId xmlns:p14="http://schemas.microsoft.com/office/powerpoint/2010/main" val="29549090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这是参考文献。</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26</a:t>
            </a:fld>
            <a:endParaRPr lang="zh-CN" altLang="en-US"/>
          </a:p>
        </p:txBody>
      </p:sp>
    </p:spTree>
    <p:extLst>
      <p:ext uri="{BB962C8B-B14F-4D97-AF65-F5344CB8AC3E}">
        <p14:creationId xmlns:p14="http://schemas.microsoft.com/office/powerpoint/2010/main" val="41861571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a:t>感谢垂听！</a:t>
            </a:r>
          </a:p>
        </p:txBody>
      </p:sp>
      <p:sp>
        <p:nvSpPr>
          <p:cNvPr id="4" name="灯片编号占位符 3"/>
          <p:cNvSpPr>
            <a:spLocks noGrp="1"/>
          </p:cNvSpPr>
          <p:nvPr>
            <p:ph type="sldNum" sz="quarter" idx="5"/>
          </p:nvPr>
        </p:nvSpPr>
        <p:spPr/>
        <p:txBody>
          <a:bodyPr/>
          <a:lstStyle/>
          <a:p>
            <a:fld id="{A6837353-30EB-4A48-80EB-173D804AEFBD}" type="slidenum">
              <a:rPr lang="zh-CN" altLang="en-US" smtClean="0"/>
              <a:t>27</a:t>
            </a:fld>
            <a:endParaRPr lang="zh-CN" altLang="en-US"/>
          </a:p>
        </p:txBody>
      </p:sp>
    </p:spTree>
    <p:extLst>
      <p:ext uri="{BB962C8B-B14F-4D97-AF65-F5344CB8AC3E}">
        <p14:creationId xmlns:p14="http://schemas.microsoft.com/office/powerpoint/2010/main" val="656538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2024/12/14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3" Type="http://schemas.openxmlformats.org/officeDocument/2006/relationships/tags" Target="../tags/tag4.xml"/><Relationship Id="rId7" Type="http://schemas.openxmlformats.org/officeDocument/2006/relationships/slideLayout" Target="../slideLayouts/slideLayout6.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hyperlink" Target="https://psycnet.apa.org/doi/10.1037/0033-295X.85.2.59" TargetMode="Externa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5.xml"/><Relationship Id="rId3" Type="http://schemas.openxmlformats.org/officeDocument/2006/relationships/tags" Target="../tags/tag11.xml"/><Relationship Id="rId7" Type="http://schemas.openxmlformats.org/officeDocument/2006/relationships/slideLayout" Target="../slideLayouts/slideLayout6.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9"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8" Type="http://schemas.openxmlformats.org/officeDocument/2006/relationships/notesSlide" Target="../notesSlides/notesSlide11.xml"/><Relationship Id="rId3" Type="http://schemas.openxmlformats.org/officeDocument/2006/relationships/tags" Target="../tags/tag17.xml"/><Relationship Id="rId7" Type="http://schemas.openxmlformats.org/officeDocument/2006/relationships/slideLayout" Target="../slideLayouts/slideLayout6.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9"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8" Type="http://schemas.openxmlformats.org/officeDocument/2006/relationships/notesSlide" Target="../notesSlides/notesSlide20.xml"/><Relationship Id="rId3" Type="http://schemas.openxmlformats.org/officeDocument/2006/relationships/tags" Target="../tags/tag23.xml"/><Relationship Id="rId7" Type="http://schemas.openxmlformats.org/officeDocument/2006/relationships/slideLayout" Target="../slideLayouts/slideLayout6.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9"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8" Type="http://schemas.openxmlformats.org/officeDocument/2006/relationships/notesSlide" Target="../notesSlides/notesSlide24.xml"/><Relationship Id="rId3" Type="http://schemas.openxmlformats.org/officeDocument/2006/relationships/tags" Target="../tags/tag33.xml"/><Relationship Id="rId7" Type="http://schemas.openxmlformats.org/officeDocument/2006/relationships/slideLayout" Target="../slideLayouts/slideLayout6.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9"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37.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hyperlink" Target="https://psycnet.apa.org/doi/10.1037/0033-295X.85.2.59" TargetMode="Externa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6.xml"/><Relationship Id="rId1" Type="http://schemas.openxmlformats.org/officeDocument/2006/relationships/tags" Target="../tags/tag39.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5080"/>
            <a:ext cx="12205335" cy="6863080"/>
            <a:chOff x="-8" y="-8"/>
            <a:chExt cx="19221" cy="10808"/>
          </a:xfrm>
        </p:grpSpPr>
        <p:pic>
          <p:nvPicPr>
            <p:cNvPr id="109" name="图片 108"/>
            <p:cNvPicPr>
              <a:picLocks noChangeAspect="1"/>
            </p:cNvPicPr>
            <p:nvPr/>
          </p:nvPicPr>
          <p:blipFill>
            <a:blip r:embed="rId4"/>
            <a:srcRect b="17500"/>
            <a:stretch>
              <a:fillRect/>
            </a:stretch>
          </p:blipFill>
          <p:spPr>
            <a:xfrm>
              <a:off x="14" y="-8"/>
              <a:ext cx="19182" cy="10808"/>
            </a:xfrm>
            <a:prstGeom prst="rect">
              <a:avLst/>
            </a:prstGeom>
          </p:spPr>
        </p:pic>
        <p:sp>
          <p:nvSpPr>
            <p:cNvPr id="5" name="矩形 4"/>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p:cNvSpPr txBox="1"/>
          <p:nvPr/>
        </p:nvSpPr>
        <p:spPr>
          <a:xfrm>
            <a:off x="1006475" y="1327280"/>
            <a:ext cx="10599420" cy="178779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Deep Insights into the Drift Diffusion Model: From Basics to Variants</a:t>
            </a:r>
            <a:endParaRPr lang="zh-CN" altLang="en-US" sz="48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C424B-55F7-3181-D224-59601F7A64D3}"/>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5C4A87C9-54D7-8AE5-7372-C1F0F654FD14}"/>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0ABE1AB5-69DB-4EDA-0D0E-844F21E7BAA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C8C657A5-C818-627B-6BBD-FD78F594372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B9342E2-B7B3-FD29-3645-C98FBB24BA11}"/>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3783B010-77C5-8B2C-2B02-941888C19343}"/>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26997F5-E628-5F25-3B78-489AE82ADB77}"/>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A0A0080E-311C-1901-2892-7653FCB05C48}"/>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48DC5273-6920-97D6-6923-6265F2BEA1F7}"/>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CC925BA6-19D4-0F8B-588E-900277322FF8}"/>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F546BDC7-84F2-8E73-6748-4B45B82C272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A902111-0CC9-3F24-3AFE-AFC689513984}"/>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B6E408D7-4E27-1A6F-D186-17FC208AA9A7}"/>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62734617-BCC9-433D-4187-A91E0FBC8E7D}"/>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D361E038-E604-11FF-3091-99F57CD0EC6B}"/>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ECC55D42-30C8-919B-6F54-F329E7B37DF1}"/>
              </a:ext>
            </a:extLst>
          </p:cNvPr>
          <p:cNvSpPr txBox="1"/>
          <p:nvPr/>
        </p:nvSpPr>
        <p:spPr>
          <a:xfrm>
            <a:off x="5273038" y="1916167"/>
            <a:ext cx="5432474"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662138DF-D83D-3254-D16C-E4744F90BD0B}"/>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EAEC4AD9-BE13-1E6E-C438-245093BB4DEC}"/>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ECD35F38-B78D-A9F3-0DB3-CC13A476D431}"/>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D2A7500-53C9-58E4-18DC-E9CD3E2043D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3946141D-B0AE-466B-C4EC-056D2E6F984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24EC383D-931D-9C74-8371-35061580F039}"/>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58FDB8C-D6BA-4370-74D2-1D9EEA18C7E2}"/>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6C877ED2-CA80-EAF3-CE26-4DAD304134BC}"/>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6B90F83C-151B-BE7C-250B-3CED53E0EE36}"/>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901E483B-F531-C7F9-45E3-8466039A22F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EB4CF970-73AE-1276-F142-28835F8C6D61}"/>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24296380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p:cNvGrpSpPr>
            <a:grpSpLocks noChangeAspect="1"/>
          </p:cNvGrpSpPr>
          <p:nvPr>
            <p:custDataLst>
              <p:tags r:id="rId1"/>
            </p:custDataLst>
          </p:nvPr>
        </p:nvGrpSpPr>
        <p:grpSpPr>
          <a:xfrm>
            <a:off x="-3387577" y="1923819"/>
            <a:ext cx="11850077" cy="2450858"/>
            <a:chOff x="1" y="1895348"/>
            <a:chExt cx="7123176" cy="3143504"/>
          </a:xfrm>
        </p:grpSpPr>
        <p:sp>
          <p:nvSpPr>
            <p:cNvPr id="10" name="í$ḻídè"/>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7" name="组合 6"/>
          <p:cNvGrpSpPr/>
          <p:nvPr/>
        </p:nvGrpSpPr>
        <p:grpSpPr>
          <a:xfrm>
            <a:off x="10638155" y="640715"/>
            <a:ext cx="956310" cy="222250"/>
            <a:chOff x="16633" y="9089"/>
            <a:chExt cx="1506" cy="350"/>
          </a:xfrm>
        </p:grpSpPr>
        <p:grpSp>
          <p:nvGrpSpPr>
            <p:cNvPr id="49" name="组合 48"/>
            <p:cNvGrpSpPr/>
            <p:nvPr/>
          </p:nvGrpSpPr>
          <p:grpSpPr>
            <a:xfrm>
              <a:off x="16633" y="9089"/>
              <a:ext cx="351" cy="351"/>
              <a:chOff x="10882313" y="6396038"/>
              <a:chExt cx="303212" cy="303212"/>
            </a:xfrm>
          </p:grpSpPr>
          <p:sp>
            <p:nvSpPr>
              <p:cNvPr id="50" name="任意多边形: 形状 49"/>
              <p:cNvSpPr>
                <a:spLocks noChangeAspect="1"/>
              </p:cNvSpPr>
              <p:nvPr/>
            </p:nvSpPr>
            <p:spPr bwMode="auto">
              <a:xfrm>
                <a:off x="10982939" y="6442640"/>
                <a:ext cx="101961" cy="210009"/>
              </a:xfrm>
              <a:custGeom>
                <a:avLst/>
                <a:gdLst>
                  <a:gd name="connsiteX0" fmla="*/ 153435 w 326134"/>
                  <a:gd name="connsiteY0" fmla="*/ 529358 h 671736"/>
                  <a:gd name="connsiteX1" fmla="*/ 119645 w 326134"/>
                  <a:gd name="connsiteY1" fmla="*/ 546898 h 671736"/>
                  <a:gd name="connsiteX2" fmla="*/ 159446 w 326134"/>
                  <a:gd name="connsiteY2" fmla="*/ 561302 h 671736"/>
                  <a:gd name="connsiteX3" fmla="*/ 159446 w 326134"/>
                  <a:gd name="connsiteY3" fmla="*/ 529682 h 671736"/>
                  <a:gd name="connsiteX4" fmla="*/ 153435 w 326134"/>
                  <a:gd name="connsiteY4" fmla="*/ 529358 h 671736"/>
                  <a:gd name="connsiteX5" fmla="*/ 226631 w 326134"/>
                  <a:gd name="connsiteY5" fmla="*/ 422217 h 671736"/>
                  <a:gd name="connsiteX6" fmla="*/ 202308 w 326134"/>
                  <a:gd name="connsiteY6" fmla="*/ 424428 h 671736"/>
                  <a:gd name="connsiteX7" fmla="*/ 202308 w 326134"/>
                  <a:gd name="connsiteY7" fmla="*/ 474666 h 671736"/>
                  <a:gd name="connsiteX8" fmla="*/ 252558 w 326134"/>
                  <a:gd name="connsiteY8" fmla="*/ 441764 h 671736"/>
                  <a:gd name="connsiteX9" fmla="*/ 226631 w 326134"/>
                  <a:gd name="connsiteY9" fmla="*/ 422217 h 671736"/>
                  <a:gd name="connsiteX10" fmla="*/ 149921 w 326134"/>
                  <a:gd name="connsiteY10" fmla="*/ 298453 h 671736"/>
                  <a:gd name="connsiteX11" fmla="*/ 88390 w 326134"/>
                  <a:gd name="connsiteY11" fmla="*/ 343711 h 671736"/>
                  <a:gd name="connsiteX12" fmla="*/ 149921 w 326134"/>
                  <a:gd name="connsiteY12" fmla="*/ 379555 h 671736"/>
                  <a:gd name="connsiteX13" fmla="*/ 217727 w 326134"/>
                  <a:gd name="connsiteY13" fmla="*/ 142410 h 671736"/>
                  <a:gd name="connsiteX14" fmla="*/ 208658 w 326134"/>
                  <a:gd name="connsiteY14" fmla="*/ 143472 h 671736"/>
                  <a:gd name="connsiteX15" fmla="*/ 208658 w 326134"/>
                  <a:gd name="connsiteY15" fmla="*/ 222253 h 671736"/>
                  <a:gd name="connsiteX16" fmla="*/ 270961 w 326134"/>
                  <a:gd name="connsiteY16" fmla="*/ 166600 h 671736"/>
                  <a:gd name="connsiteX17" fmla="*/ 217727 w 326134"/>
                  <a:gd name="connsiteY17" fmla="*/ 142410 h 671736"/>
                  <a:gd name="connsiteX18" fmla="*/ 176946 w 326134"/>
                  <a:gd name="connsiteY18" fmla="*/ 57 h 671736"/>
                  <a:gd name="connsiteX19" fmla="*/ 222429 w 326134"/>
                  <a:gd name="connsiteY19" fmla="*/ 17460 h 671736"/>
                  <a:gd name="connsiteX20" fmla="*/ 209421 w 326134"/>
                  <a:gd name="connsiteY20" fmla="*/ 68451 h 671736"/>
                  <a:gd name="connsiteX21" fmla="*/ 209421 w 326134"/>
                  <a:gd name="connsiteY21" fmla="*/ 91957 h 671736"/>
                  <a:gd name="connsiteX22" fmla="*/ 325412 w 326134"/>
                  <a:gd name="connsiteY22" fmla="*/ 151627 h 671736"/>
                  <a:gd name="connsiteX23" fmla="*/ 205085 w 326134"/>
                  <a:gd name="connsiteY23" fmla="*/ 278199 h 671736"/>
                  <a:gd name="connsiteX24" fmla="*/ 205085 w 326134"/>
                  <a:gd name="connsiteY24" fmla="*/ 376202 h 671736"/>
                  <a:gd name="connsiteX25" fmla="*/ 304092 w 326134"/>
                  <a:gd name="connsiteY25" fmla="*/ 432979 h 671736"/>
                  <a:gd name="connsiteX26" fmla="*/ 193883 w 326134"/>
                  <a:gd name="connsiteY26" fmla="*/ 519409 h 671736"/>
                  <a:gd name="connsiteX27" fmla="*/ 193883 w 326134"/>
                  <a:gd name="connsiteY27" fmla="*/ 575101 h 671736"/>
                  <a:gd name="connsiteX28" fmla="*/ 326134 w 326134"/>
                  <a:gd name="connsiteY28" fmla="*/ 618859 h 671736"/>
                  <a:gd name="connsiteX29" fmla="*/ 194606 w 326134"/>
                  <a:gd name="connsiteY29" fmla="*/ 599692 h 671736"/>
                  <a:gd name="connsiteX30" fmla="*/ 170396 w 326134"/>
                  <a:gd name="connsiteY30" fmla="*/ 671658 h 671736"/>
                  <a:gd name="connsiteX31" fmla="*/ 159556 w 326134"/>
                  <a:gd name="connsiteY31" fmla="*/ 598246 h 671736"/>
                  <a:gd name="connsiteX32" fmla="*/ 63078 w 326134"/>
                  <a:gd name="connsiteY32" fmla="*/ 542192 h 671736"/>
                  <a:gd name="connsiteX33" fmla="*/ 153413 w 326134"/>
                  <a:gd name="connsiteY33" fmla="*/ 479630 h 671736"/>
                  <a:gd name="connsiteX34" fmla="*/ 153413 w 326134"/>
                  <a:gd name="connsiteY34" fmla="*/ 410919 h 671736"/>
                  <a:gd name="connsiteX35" fmla="*/ 38868 w 326134"/>
                  <a:gd name="connsiteY35" fmla="*/ 356312 h 671736"/>
                  <a:gd name="connsiteX36" fmla="*/ 149800 w 326134"/>
                  <a:gd name="connsiteY36" fmla="*/ 239142 h 671736"/>
                  <a:gd name="connsiteX37" fmla="*/ 149800 w 326134"/>
                  <a:gd name="connsiteY37" fmla="*/ 167177 h 671736"/>
                  <a:gd name="connsiteX38" fmla="*/ 11768 w 326134"/>
                  <a:gd name="connsiteY38" fmla="*/ 206234 h 671736"/>
                  <a:gd name="connsiteX39" fmla="*/ 27305 w 326134"/>
                  <a:gd name="connsiteY39" fmla="*/ 144756 h 671736"/>
                  <a:gd name="connsiteX40" fmla="*/ 148355 w 326134"/>
                  <a:gd name="connsiteY40" fmla="*/ 97743 h 671736"/>
                  <a:gd name="connsiteX41" fmla="*/ 148355 w 326134"/>
                  <a:gd name="connsiteY41" fmla="*/ 63750 h 671736"/>
                  <a:gd name="connsiteX42" fmla="*/ 134985 w 326134"/>
                  <a:gd name="connsiteY42" fmla="*/ 30117 h 671736"/>
                  <a:gd name="connsiteX43" fmla="*/ 176946 w 326134"/>
                  <a:gd name="connsiteY43" fmla="*/ 57 h 671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26134" h="671736">
                    <a:moveTo>
                      <a:pt x="153435" y="529358"/>
                    </a:moveTo>
                    <a:cubicBezTo>
                      <a:pt x="142586" y="529177"/>
                      <a:pt x="120751" y="530824"/>
                      <a:pt x="119645" y="546898"/>
                    </a:cubicBezTo>
                    <a:cubicBezTo>
                      <a:pt x="118171" y="568329"/>
                      <a:pt x="159446" y="561302"/>
                      <a:pt x="159446" y="561302"/>
                    </a:cubicBezTo>
                    <a:lnTo>
                      <a:pt x="159446" y="529682"/>
                    </a:lnTo>
                    <a:cubicBezTo>
                      <a:pt x="159446" y="529682"/>
                      <a:pt x="157051" y="529419"/>
                      <a:pt x="153435" y="529358"/>
                    </a:cubicBezTo>
                    <a:close/>
                    <a:moveTo>
                      <a:pt x="226631" y="422217"/>
                    </a:moveTo>
                    <a:cubicBezTo>
                      <a:pt x="214336" y="421509"/>
                      <a:pt x="202308" y="424428"/>
                      <a:pt x="202308" y="424428"/>
                    </a:cubicBezTo>
                    <a:lnTo>
                      <a:pt x="202308" y="474666"/>
                    </a:lnTo>
                    <a:cubicBezTo>
                      <a:pt x="202308" y="474666"/>
                      <a:pt x="254696" y="470421"/>
                      <a:pt x="252558" y="441764"/>
                    </a:cubicBezTo>
                    <a:cubicBezTo>
                      <a:pt x="251489" y="427259"/>
                      <a:pt x="238926" y="422925"/>
                      <a:pt x="226631" y="422217"/>
                    </a:cubicBezTo>
                    <a:close/>
                    <a:moveTo>
                      <a:pt x="149921" y="298453"/>
                    </a:moveTo>
                    <a:cubicBezTo>
                      <a:pt x="149921" y="298453"/>
                      <a:pt x="92302" y="306056"/>
                      <a:pt x="88390" y="343711"/>
                    </a:cubicBezTo>
                    <a:cubicBezTo>
                      <a:pt x="84833" y="381003"/>
                      <a:pt x="149921" y="379555"/>
                      <a:pt x="149921" y="379555"/>
                    </a:cubicBezTo>
                    <a:close/>
                    <a:moveTo>
                      <a:pt x="217727" y="142410"/>
                    </a:moveTo>
                    <a:cubicBezTo>
                      <a:pt x="212256" y="142839"/>
                      <a:pt x="208658" y="143472"/>
                      <a:pt x="208658" y="143472"/>
                    </a:cubicBezTo>
                    <a:lnTo>
                      <a:pt x="208658" y="222253"/>
                    </a:lnTo>
                    <a:cubicBezTo>
                      <a:pt x="208658" y="222253"/>
                      <a:pt x="275333" y="199486"/>
                      <a:pt x="270961" y="166600"/>
                    </a:cubicBezTo>
                    <a:cubicBezTo>
                      <a:pt x="267409" y="141665"/>
                      <a:pt x="234140" y="141123"/>
                      <a:pt x="217727" y="142410"/>
                    </a:cubicBezTo>
                    <a:close/>
                    <a:moveTo>
                      <a:pt x="176946" y="57"/>
                    </a:moveTo>
                    <a:cubicBezTo>
                      <a:pt x="197226" y="-712"/>
                      <a:pt x="218093" y="6431"/>
                      <a:pt x="222429" y="17460"/>
                    </a:cubicBezTo>
                    <a:cubicBezTo>
                      <a:pt x="231463" y="39520"/>
                      <a:pt x="209421" y="68451"/>
                      <a:pt x="209421" y="68451"/>
                    </a:cubicBezTo>
                    <a:lnTo>
                      <a:pt x="209421" y="91957"/>
                    </a:lnTo>
                    <a:cubicBezTo>
                      <a:pt x="324689" y="73514"/>
                      <a:pt x="325412" y="151627"/>
                      <a:pt x="325412" y="151627"/>
                    </a:cubicBezTo>
                    <a:cubicBezTo>
                      <a:pt x="323966" y="248907"/>
                      <a:pt x="205085" y="278199"/>
                      <a:pt x="205085" y="278199"/>
                    </a:cubicBezTo>
                    <a:lnTo>
                      <a:pt x="205085" y="376202"/>
                    </a:lnTo>
                    <a:cubicBezTo>
                      <a:pt x="205085" y="376202"/>
                      <a:pt x="301924" y="369693"/>
                      <a:pt x="304092" y="432979"/>
                    </a:cubicBezTo>
                    <a:cubicBezTo>
                      <a:pt x="306260" y="496265"/>
                      <a:pt x="193883" y="519409"/>
                      <a:pt x="193883" y="519409"/>
                    </a:cubicBezTo>
                    <a:lnTo>
                      <a:pt x="193883" y="575101"/>
                    </a:lnTo>
                    <a:cubicBezTo>
                      <a:pt x="220261" y="589205"/>
                      <a:pt x="326134" y="618859"/>
                      <a:pt x="326134" y="618859"/>
                    </a:cubicBezTo>
                    <a:cubicBezTo>
                      <a:pt x="293252" y="618859"/>
                      <a:pt x="194606" y="599692"/>
                      <a:pt x="194606" y="599692"/>
                    </a:cubicBezTo>
                    <a:cubicBezTo>
                      <a:pt x="195329" y="654661"/>
                      <a:pt x="180875" y="673104"/>
                      <a:pt x="170396" y="671658"/>
                    </a:cubicBezTo>
                    <a:cubicBezTo>
                      <a:pt x="160279" y="670211"/>
                      <a:pt x="159556" y="598246"/>
                      <a:pt x="159556" y="598246"/>
                    </a:cubicBezTo>
                    <a:cubicBezTo>
                      <a:pt x="159556" y="598246"/>
                      <a:pt x="66691" y="584865"/>
                      <a:pt x="63078" y="542192"/>
                    </a:cubicBezTo>
                    <a:cubicBezTo>
                      <a:pt x="59465" y="499519"/>
                      <a:pt x="153413" y="479630"/>
                      <a:pt x="153413" y="479630"/>
                    </a:cubicBezTo>
                    <a:lnTo>
                      <a:pt x="153413" y="410919"/>
                    </a:lnTo>
                    <a:cubicBezTo>
                      <a:pt x="153413" y="410919"/>
                      <a:pt x="47902" y="418152"/>
                      <a:pt x="38868" y="356312"/>
                    </a:cubicBezTo>
                    <a:cubicBezTo>
                      <a:pt x="30196" y="294473"/>
                      <a:pt x="149800" y="239142"/>
                      <a:pt x="149800" y="239142"/>
                    </a:cubicBezTo>
                    <a:lnTo>
                      <a:pt x="149800" y="167177"/>
                    </a:lnTo>
                    <a:cubicBezTo>
                      <a:pt x="90179" y="167177"/>
                      <a:pt x="32364" y="214190"/>
                      <a:pt x="11768" y="206234"/>
                    </a:cubicBezTo>
                    <a:cubicBezTo>
                      <a:pt x="-8829" y="197916"/>
                      <a:pt x="-1602" y="163922"/>
                      <a:pt x="27305" y="144756"/>
                    </a:cubicBezTo>
                    <a:cubicBezTo>
                      <a:pt x="55851" y="125951"/>
                      <a:pt x="148355" y="97743"/>
                      <a:pt x="148355" y="97743"/>
                    </a:cubicBezTo>
                    <a:lnTo>
                      <a:pt x="148355" y="63750"/>
                    </a:lnTo>
                    <a:cubicBezTo>
                      <a:pt x="127758" y="55794"/>
                      <a:pt x="134985" y="30117"/>
                      <a:pt x="134985" y="30117"/>
                    </a:cubicBezTo>
                    <a:cubicBezTo>
                      <a:pt x="136972" y="9504"/>
                      <a:pt x="156665" y="825"/>
                      <a:pt x="176946" y="57"/>
                    </a:cubicBezTo>
                    <a:close/>
                  </a:path>
                </a:pathLst>
              </a:custGeom>
              <a:solidFill>
                <a:schemeClr val="accent1"/>
              </a:solid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1" name="椭圆 50"/>
              <p:cNvSpPr/>
              <p:nvPr/>
            </p:nvSpPr>
            <p:spPr>
              <a:xfrm>
                <a:off x="10882313"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52" name="组合 51"/>
            <p:cNvGrpSpPr/>
            <p:nvPr/>
          </p:nvGrpSpPr>
          <p:grpSpPr>
            <a:xfrm>
              <a:off x="17211" y="9089"/>
              <a:ext cx="351" cy="351"/>
              <a:chOff x="11237431" y="6396038"/>
              <a:chExt cx="303212" cy="303212"/>
            </a:xfrm>
          </p:grpSpPr>
          <p:grpSp>
            <p:nvGrpSpPr>
              <p:cNvPr id="53" name="组合 52"/>
              <p:cNvGrpSpPr>
                <a:grpSpLocks noChangeAspect="1"/>
              </p:cNvGrpSpPr>
              <p:nvPr/>
            </p:nvGrpSpPr>
            <p:grpSpPr>
              <a:xfrm>
                <a:off x="11294041" y="6451104"/>
                <a:ext cx="213972" cy="210009"/>
                <a:chOff x="3263255" y="1417662"/>
                <a:chExt cx="415236" cy="407545"/>
              </a:xfrm>
              <a:solidFill>
                <a:schemeClr val="accent4"/>
              </a:solidFill>
            </p:grpSpPr>
            <p:sp>
              <p:nvSpPr>
                <p:cNvPr id="55" name="Freeform 99"/>
                <p:cNvSpPr/>
                <p:nvPr/>
              </p:nvSpPr>
              <p:spPr bwMode="auto">
                <a:xfrm>
                  <a:off x="3263255" y="1452265"/>
                  <a:ext cx="63439" cy="74973"/>
                </a:xfrm>
                <a:custGeom>
                  <a:avLst/>
                  <a:gdLst>
                    <a:gd name="T0" fmla="*/ 380 w 437"/>
                    <a:gd name="T1" fmla="*/ 0 h 517"/>
                    <a:gd name="T2" fmla="*/ 356 w 437"/>
                    <a:gd name="T3" fmla="*/ 326 h 517"/>
                    <a:gd name="T4" fmla="*/ 110 w 437"/>
                    <a:gd name="T5" fmla="*/ 517 h 517"/>
                    <a:gd name="T6" fmla="*/ 380 w 437"/>
                    <a:gd name="T7" fmla="*/ 0 h 517"/>
                  </a:gdLst>
                  <a:ahLst/>
                  <a:cxnLst>
                    <a:cxn ang="0">
                      <a:pos x="T0" y="T1"/>
                    </a:cxn>
                    <a:cxn ang="0">
                      <a:pos x="T2" y="T3"/>
                    </a:cxn>
                    <a:cxn ang="0">
                      <a:pos x="T4" y="T5"/>
                    </a:cxn>
                    <a:cxn ang="0">
                      <a:pos x="T6" y="T7"/>
                    </a:cxn>
                  </a:cxnLst>
                  <a:rect l="0" t="0" r="r" b="b"/>
                  <a:pathLst>
                    <a:path w="437" h="517">
                      <a:moveTo>
                        <a:pt x="380" y="0"/>
                      </a:moveTo>
                      <a:cubicBezTo>
                        <a:pt x="380" y="0"/>
                        <a:pt x="437" y="159"/>
                        <a:pt x="356" y="326"/>
                      </a:cubicBezTo>
                      <a:cubicBezTo>
                        <a:pt x="275" y="493"/>
                        <a:pt x="110" y="517"/>
                        <a:pt x="110" y="517"/>
                      </a:cubicBezTo>
                      <a:cubicBezTo>
                        <a:pt x="110" y="517"/>
                        <a:pt x="0" y="98"/>
                        <a:pt x="38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6" name="Freeform 100"/>
                <p:cNvSpPr/>
                <p:nvPr/>
              </p:nvSpPr>
              <p:spPr bwMode="auto">
                <a:xfrm>
                  <a:off x="3318364" y="1466363"/>
                  <a:ext cx="80100" cy="84585"/>
                </a:xfrm>
                <a:custGeom>
                  <a:avLst/>
                  <a:gdLst>
                    <a:gd name="T0" fmla="*/ 368 w 547"/>
                    <a:gd name="T1" fmla="*/ 0 h 581"/>
                    <a:gd name="T2" fmla="*/ 525 w 547"/>
                    <a:gd name="T3" fmla="*/ 257 h 581"/>
                    <a:gd name="T4" fmla="*/ 370 w 547"/>
                    <a:gd name="T5" fmla="*/ 581 h 581"/>
                    <a:gd name="T6" fmla="*/ 368 w 547"/>
                    <a:gd name="T7" fmla="*/ 0 h 581"/>
                  </a:gdLst>
                  <a:ahLst/>
                  <a:cxnLst>
                    <a:cxn ang="0">
                      <a:pos x="T0" y="T1"/>
                    </a:cxn>
                    <a:cxn ang="0">
                      <a:pos x="T2" y="T3"/>
                    </a:cxn>
                    <a:cxn ang="0">
                      <a:pos x="T4" y="T5"/>
                    </a:cxn>
                    <a:cxn ang="0">
                      <a:pos x="T6" y="T7"/>
                    </a:cxn>
                  </a:cxnLst>
                  <a:rect l="0" t="0" r="r" b="b"/>
                  <a:pathLst>
                    <a:path w="547" h="581">
                      <a:moveTo>
                        <a:pt x="368" y="0"/>
                      </a:moveTo>
                      <a:cubicBezTo>
                        <a:pt x="368" y="0"/>
                        <a:pt x="502" y="78"/>
                        <a:pt x="525" y="257"/>
                      </a:cubicBezTo>
                      <a:cubicBezTo>
                        <a:pt x="547" y="436"/>
                        <a:pt x="370" y="581"/>
                        <a:pt x="370" y="581"/>
                      </a:cubicBezTo>
                      <a:cubicBezTo>
                        <a:pt x="370" y="581"/>
                        <a:pt x="0" y="276"/>
                        <a:pt x="36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7" name="Freeform 101"/>
                <p:cNvSpPr/>
                <p:nvPr/>
              </p:nvSpPr>
              <p:spPr bwMode="auto">
                <a:xfrm>
                  <a:off x="3392696" y="1417662"/>
                  <a:ext cx="73051" cy="99964"/>
                </a:xfrm>
                <a:custGeom>
                  <a:avLst/>
                  <a:gdLst>
                    <a:gd name="T0" fmla="*/ 298 w 500"/>
                    <a:gd name="T1" fmla="*/ 0 h 683"/>
                    <a:gd name="T2" fmla="*/ 491 w 500"/>
                    <a:gd name="T3" fmla="*/ 324 h 683"/>
                    <a:gd name="T4" fmla="*/ 355 w 500"/>
                    <a:gd name="T5" fmla="*/ 683 h 683"/>
                    <a:gd name="T6" fmla="*/ 298 w 500"/>
                    <a:gd name="T7" fmla="*/ 0 h 683"/>
                  </a:gdLst>
                  <a:ahLst/>
                  <a:cxnLst>
                    <a:cxn ang="0">
                      <a:pos x="T0" y="T1"/>
                    </a:cxn>
                    <a:cxn ang="0">
                      <a:pos x="T2" y="T3"/>
                    </a:cxn>
                    <a:cxn ang="0">
                      <a:pos x="T4" y="T5"/>
                    </a:cxn>
                    <a:cxn ang="0">
                      <a:pos x="T6" y="T7"/>
                    </a:cxn>
                  </a:cxnLst>
                  <a:rect l="0" t="0" r="r" b="b"/>
                  <a:pathLst>
                    <a:path w="500" h="683">
                      <a:moveTo>
                        <a:pt x="298" y="0"/>
                      </a:moveTo>
                      <a:cubicBezTo>
                        <a:pt x="298" y="0"/>
                        <a:pt x="483" y="145"/>
                        <a:pt x="491" y="324"/>
                      </a:cubicBezTo>
                      <a:cubicBezTo>
                        <a:pt x="500" y="504"/>
                        <a:pt x="355" y="683"/>
                        <a:pt x="355" y="683"/>
                      </a:cubicBezTo>
                      <a:cubicBezTo>
                        <a:pt x="355" y="683"/>
                        <a:pt x="0" y="316"/>
                        <a:pt x="298"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8" name="Freeform 102"/>
                <p:cNvSpPr/>
                <p:nvPr/>
              </p:nvSpPr>
              <p:spPr bwMode="auto">
                <a:xfrm>
                  <a:off x="3489456" y="1438808"/>
                  <a:ext cx="71128" cy="71128"/>
                </a:xfrm>
                <a:custGeom>
                  <a:avLst/>
                  <a:gdLst>
                    <a:gd name="T0" fmla="*/ 449 w 486"/>
                    <a:gd name="T1" fmla="*/ 0 h 487"/>
                    <a:gd name="T2" fmla="*/ 344 w 486"/>
                    <a:gd name="T3" fmla="*/ 363 h 487"/>
                    <a:gd name="T4" fmla="*/ 39 w 486"/>
                    <a:gd name="T5" fmla="*/ 469 h 487"/>
                    <a:gd name="T6" fmla="*/ 449 w 486"/>
                    <a:gd name="T7" fmla="*/ 0 h 487"/>
                  </a:gdLst>
                  <a:ahLst/>
                  <a:cxnLst>
                    <a:cxn ang="0">
                      <a:pos x="T0" y="T1"/>
                    </a:cxn>
                    <a:cxn ang="0">
                      <a:pos x="T2" y="T3"/>
                    </a:cxn>
                    <a:cxn ang="0">
                      <a:pos x="T4" y="T5"/>
                    </a:cxn>
                    <a:cxn ang="0">
                      <a:pos x="T6" y="T7"/>
                    </a:cxn>
                  </a:cxnLst>
                  <a:rect l="0" t="0" r="r" b="b"/>
                  <a:pathLst>
                    <a:path w="486" h="487">
                      <a:moveTo>
                        <a:pt x="449" y="0"/>
                      </a:moveTo>
                      <a:cubicBezTo>
                        <a:pt x="449" y="0"/>
                        <a:pt x="486" y="238"/>
                        <a:pt x="344" y="363"/>
                      </a:cubicBezTo>
                      <a:cubicBezTo>
                        <a:pt x="201" y="487"/>
                        <a:pt x="39" y="469"/>
                        <a:pt x="39" y="469"/>
                      </a:cubicBezTo>
                      <a:cubicBezTo>
                        <a:pt x="39" y="469"/>
                        <a:pt x="0" y="100"/>
                        <a:pt x="449"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59" name="Freeform 103"/>
                <p:cNvSpPr/>
                <p:nvPr/>
              </p:nvSpPr>
              <p:spPr bwMode="auto">
                <a:xfrm>
                  <a:off x="3579808" y="1471489"/>
                  <a:ext cx="97401" cy="74973"/>
                </a:xfrm>
                <a:custGeom>
                  <a:avLst/>
                  <a:gdLst>
                    <a:gd name="T0" fmla="*/ 669 w 669"/>
                    <a:gd name="T1" fmla="*/ 179 h 512"/>
                    <a:gd name="T2" fmla="*/ 358 w 669"/>
                    <a:gd name="T3" fmla="*/ 0 h 512"/>
                    <a:gd name="T4" fmla="*/ 0 w 669"/>
                    <a:gd name="T5" fmla="*/ 141 h 512"/>
                    <a:gd name="T6" fmla="*/ 669 w 669"/>
                    <a:gd name="T7" fmla="*/ 179 h 512"/>
                  </a:gdLst>
                  <a:ahLst/>
                  <a:cxnLst>
                    <a:cxn ang="0">
                      <a:pos x="T0" y="T1"/>
                    </a:cxn>
                    <a:cxn ang="0">
                      <a:pos x="T2" y="T3"/>
                    </a:cxn>
                    <a:cxn ang="0">
                      <a:pos x="T4" y="T5"/>
                    </a:cxn>
                    <a:cxn ang="0">
                      <a:pos x="T6" y="T7"/>
                    </a:cxn>
                  </a:cxnLst>
                  <a:rect l="0" t="0" r="r" b="b"/>
                  <a:pathLst>
                    <a:path w="669" h="512">
                      <a:moveTo>
                        <a:pt x="669" y="179"/>
                      </a:moveTo>
                      <a:cubicBezTo>
                        <a:pt x="669" y="179"/>
                        <a:pt x="557" y="0"/>
                        <a:pt x="358" y="0"/>
                      </a:cubicBezTo>
                      <a:cubicBezTo>
                        <a:pt x="159" y="0"/>
                        <a:pt x="0" y="141"/>
                        <a:pt x="0" y="141"/>
                      </a:cubicBezTo>
                      <a:cubicBezTo>
                        <a:pt x="0" y="141"/>
                        <a:pt x="267" y="512"/>
                        <a:pt x="669" y="179"/>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0" name="Freeform 104"/>
                <p:cNvSpPr/>
                <p:nvPr/>
              </p:nvSpPr>
              <p:spPr bwMode="auto">
                <a:xfrm>
                  <a:off x="3506117" y="1518267"/>
                  <a:ext cx="109576" cy="71769"/>
                </a:xfrm>
                <a:custGeom>
                  <a:avLst/>
                  <a:gdLst>
                    <a:gd name="T0" fmla="*/ 752 w 752"/>
                    <a:gd name="T1" fmla="*/ 171 h 489"/>
                    <a:gd name="T2" fmla="*/ 380 w 752"/>
                    <a:gd name="T3" fmla="*/ 10 h 489"/>
                    <a:gd name="T4" fmla="*/ 0 w 752"/>
                    <a:gd name="T5" fmla="*/ 153 h 489"/>
                    <a:gd name="T6" fmla="*/ 752 w 752"/>
                    <a:gd name="T7" fmla="*/ 171 h 489"/>
                  </a:gdLst>
                  <a:ahLst/>
                  <a:cxnLst>
                    <a:cxn ang="0">
                      <a:pos x="T0" y="T1"/>
                    </a:cxn>
                    <a:cxn ang="0">
                      <a:pos x="T2" y="T3"/>
                    </a:cxn>
                    <a:cxn ang="0">
                      <a:pos x="T4" y="T5"/>
                    </a:cxn>
                    <a:cxn ang="0">
                      <a:pos x="T6" y="T7"/>
                    </a:cxn>
                  </a:cxnLst>
                  <a:rect l="0" t="0" r="r" b="b"/>
                  <a:pathLst>
                    <a:path w="752" h="489">
                      <a:moveTo>
                        <a:pt x="752" y="171"/>
                      </a:moveTo>
                      <a:cubicBezTo>
                        <a:pt x="752" y="171"/>
                        <a:pt x="577" y="0"/>
                        <a:pt x="380" y="10"/>
                      </a:cubicBezTo>
                      <a:cubicBezTo>
                        <a:pt x="183" y="20"/>
                        <a:pt x="0" y="153"/>
                        <a:pt x="0" y="153"/>
                      </a:cubicBezTo>
                      <a:cubicBezTo>
                        <a:pt x="0" y="153"/>
                        <a:pt x="324" y="489"/>
                        <a:pt x="752" y="17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1" name="Freeform 105"/>
                <p:cNvSpPr/>
                <p:nvPr/>
              </p:nvSpPr>
              <p:spPr bwMode="auto">
                <a:xfrm>
                  <a:off x="3602236" y="1568249"/>
                  <a:ext cx="76255" cy="69847"/>
                </a:xfrm>
                <a:custGeom>
                  <a:avLst/>
                  <a:gdLst>
                    <a:gd name="T0" fmla="*/ 526 w 526"/>
                    <a:gd name="T1" fmla="*/ 361 h 477"/>
                    <a:gd name="T2" fmla="*/ 339 w 526"/>
                    <a:gd name="T3" fmla="*/ 76 h 477"/>
                    <a:gd name="T4" fmla="*/ 0 w 526"/>
                    <a:gd name="T5" fmla="*/ 66 h 477"/>
                    <a:gd name="T6" fmla="*/ 526 w 526"/>
                    <a:gd name="T7" fmla="*/ 361 h 477"/>
                  </a:gdLst>
                  <a:ahLst/>
                  <a:cxnLst>
                    <a:cxn ang="0">
                      <a:pos x="T0" y="T1"/>
                    </a:cxn>
                    <a:cxn ang="0">
                      <a:pos x="T2" y="T3"/>
                    </a:cxn>
                    <a:cxn ang="0">
                      <a:pos x="T4" y="T5"/>
                    </a:cxn>
                    <a:cxn ang="0">
                      <a:pos x="T6" y="T7"/>
                    </a:cxn>
                  </a:cxnLst>
                  <a:rect l="0" t="0" r="r" b="b"/>
                  <a:pathLst>
                    <a:path w="526" h="477">
                      <a:moveTo>
                        <a:pt x="526" y="361"/>
                      </a:moveTo>
                      <a:cubicBezTo>
                        <a:pt x="526" y="361"/>
                        <a:pt x="485" y="151"/>
                        <a:pt x="339" y="76"/>
                      </a:cubicBezTo>
                      <a:cubicBezTo>
                        <a:pt x="193" y="0"/>
                        <a:pt x="0" y="66"/>
                        <a:pt x="0" y="66"/>
                      </a:cubicBezTo>
                      <a:cubicBezTo>
                        <a:pt x="0" y="66"/>
                        <a:pt x="97" y="477"/>
                        <a:pt x="526" y="361"/>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2" name="Freeform 106"/>
                <p:cNvSpPr/>
                <p:nvPr/>
              </p:nvSpPr>
              <p:spPr bwMode="auto">
                <a:xfrm>
                  <a:off x="3525981" y="1586191"/>
                  <a:ext cx="77536" cy="65361"/>
                </a:xfrm>
                <a:custGeom>
                  <a:avLst/>
                  <a:gdLst>
                    <a:gd name="T0" fmla="*/ 531 w 531"/>
                    <a:gd name="T1" fmla="*/ 326 h 446"/>
                    <a:gd name="T2" fmla="*/ 305 w 531"/>
                    <a:gd name="T3" fmla="*/ 44 h 446"/>
                    <a:gd name="T4" fmla="*/ 0 w 531"/>
                    <a:gd name="T5" fmla="*/ 38 h 446"/>
                    <a:gd name="T6" fmla="*/ 531 w 531"/>
                    <a:gd name="T7" fmla="*/ 326 h 446"/>
                  </a:gdLst>
                  <a:ahLst/>
                  <a:cxnLst>
                    <a:cxn ang="0">
                      <a:pos x="T0" y="T1"/>
                    </a:cxn>
                    <a:cxn ang="0">
                      <a:pos x="T2" y="T3"/>
                    </a:cxn>
                    <a:cxn ang="0">
                      <a:pos x="T4" y="T5"/>
                    </a:cxn>
                    <a:cxn ang="0">
                      <a:pos x="T6" y="T7"/>
                    </a:cxn>
                  </a:cxnLst>
                  <a:rect l="0" t="0" r="r" b="b"/>
                  <a:pathLst>
                    <a:path w="531" h="446">
                      <a:moveTo>
                        <a:pt x="531" y="326"/>
                      </a:moveTo>
                      <a:cubicBezTo>
                        <a:pt x="531" y="326"/>
                        <a:pt x="435" y="89"/>
                        <a:pt x="305" y="44"/>
                      </a:cubicBezTo>
                      <a:cubicBezTo>
                        <a:pt x="175" y="0"/>
                        <a:pt x="0" y="38"/>
                        <a:pt x="0" y="38"/>
                      </a:cubicBezTo>
                      <a:cubicBezTo>
                        <a:pt x="0" y="38"/>
                        <a:pt x="96" y="446"/>
                        <a:pt x="531" y="32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3" name="Freeform 107"/>
                <p:cNvSpPr/>
                <p:nvPr/>
              </p:nvSpPr>
              <p:spPr bwMode="auto">
                <a:xfrm>
                  <a:off x="3406153" y="1539413"/>
                  <a:ext cx="101246" cy="87789"/>
                </a:xfrm>
                <a:custGeom>
                  <a:avLst/>
                  <a:gdLst>
                    <a:gd name="T0" fmla="*/ 697 w 697"/>
                    <a:gd name="T1" fmla="*/ 232 h 599"/>
                    <a:gd name="T2" fmla="*/ 433 w 697"/>
                    <a:gd name="T3" fmla="*/ 24 h 599"/>
                    <a:gd name="T4" fmla="*/ 0 w 697"/>
                    <a:gd name="T5" fmla="*/ 140 h 599"/>
                    <a:gd name="T6" fmla="*/ 697 w 697"/>
                    <a:gd name="T7" fmla="*/ 232 h 599"/>
                  </a:gdLst>
                  <a:ahLst/>
                  <a:cxnLst>
                    <a:cxn ang="0">
                      <a:pos x="T0" y="T1"/>
                    </a:cxn>
                    <a:cxn ang="0">
                      <a:pos x="T2" y="T3"/>
                    </a:cxn>
                    <a:cxn ang="0">
                      <a:pos x="T4" y="T5"/>
                    </a:cxn>
                    <a:cxn ang="0">
                      <a:pos x="T6" y="T7"/>
                    </a:cxn>
                  </a:cxnLst>
                  <a:rect l="0" t="0" r="r" b="b"/>
                  <a:pathLst>
                    <a:path w="697" h="599">
                      <a:moveTo>
                        <a:pt x="697" y="232"/>
                      </a:moveTo>
                      <a:cubicBezTo>
                        <a:pt x="697" y="232"/>
                        <a:pt x="616" y="49"/>
                        <a:pt x="433" y="24"/>
                      </a:cubicBezTo>
                      <a:cubicBezTo>
                        <a:pt x="250" y="0"/>
                        <a:pt x="0" y="140"/>
                        <a:pt x="0" y="140"/>
                      </a:cubicBezTo>
                      <a:cubicBezTo>
                        <a:pt x="0" y="140"/>
                        <a:pt x="356" y="599"/>
                        <a:pt x="697" y="232"/>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4" name="Freeform 108"/>
                <p:cNvSpPr/>
                <p:nvPr/>
              </p:nvSpPr>
              <p:spPr bwMode="auto">
                <a:xfrm>
                  <a:off x="3408716" y="1601570"/>
                  <a:ext cx="89071" cy="70487"/>
                </a:xfrm>
                <a:custGeom>
                  <a:avLst/>
                  <a:gdLst>
                    <a:gd name="T0" fmla="*/ 614 w 614"/>
                    <a:gd name="T1" fmla="*/ 324 h 483"/>
                    <a:gd name="T2" fmla="*/ 356 w 614"/>
                    <a:gd name="T3" fmla="*/ 49 h 483"/>
                    <a:gd name="T4" fmla="*/ 0 w 614"/>
                    <a:gd name="T5" fmla="*/ 67 h 483"/>
                    <a:gd name="T6" fmla="*/ 614 w 614"/>
                    <a:gd name="T7" fmla="*/ 324 h 483"/>
                  </a:gdLst>
                  <a:ahLst/>
                  <a:cxnLst>
                    <a:cxn ang="0">
                      <a:pos x="T0" y="T1"/>
                    </a:cxn>
                    <a:cxn ang="0">
                      <a:pos x="T2" y="T3"/>
                    </a:cxn>
                    <a:cxn ang="0">
                      <a:pos x="T4" y="T5"/>
                    </a:cxn>
                    <a:cxn ang="0">
                      <a:pos x="T6" y="T7"/>
                    </a:cxn>
                  </a:cxnLst>
                  <a:rect l="0" t="0" r="r" b="b"/>
                  <a:pathLst>
                    <a:path w="614" h="483">
                      <a:moveTo>
                        <a:pt x="614" y="324"/>
                      </a:moveTo>
                      <a:cubicBezTo>
                        <a:pt x="614" y="324"/>
                        <a:pt x="466" y="97"/>
                        <a:pt x="356" y="49"/>
                      </a:cubicBezTo>
                      <a:cubicBezTo>
                        <a:pt x="246" y="0"/>
                        <a:pt x="0" y="67"/>
                        <a:pt x="0" y="67"/>
                      </a:cubicBezTo>
                      <a:cubicBezTo>
                        <a:pt x="0" y="67"/>
                        <a:pt x="132" y="483"/>
                        <a:pt x="614" y="324"/>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 name="Freeform 109"/>
                <p:cNvSpPr/>
                <p:nvPr/>
              </p:nvSpPr>
              <p:spPr bwMode="auto">
                <a:xfrm>
                  <a:off x="3503554" y="1609901"/>
                  <a:ext cx="74332" cy="171092"/>
                </a:xfrm>
                <a:custGeom>
                  <a:avLst/>
                  <a:gdLst>
                    <a:gd name="T0" fmla="*/ 0 w 508"/>
                    <a:gd name="T1" fmla="*/ 0 h 1171"/>
                    <a:gd name="T2" fmla="*/ 51 w 508"/>
                    <a:gd name="T3" fmla="*/ 187 h 1171"/>
                    <a:gd name="T4" fmla="*/ 282 w 508"/>
                    <a:gd name="T5" fmla="*/ 587 h 1171"/>
                    <a:gd name="T6" fmla="*/ 323 w 508"/>
                    <a:gd name="T7" fmla="*/ 1171 h 1171"/>
                    <a:gd name="T8" fmla="*/ 0 w 508"/>
                    <a:gd name="T9" fmla="*/ 0 h 1171"/>
                  </a:gdLst>
                  <a:ahLst/>
                  <a:cxnLst>
                    <a:cxn ang="0">
                      <a:pos x="T0" y="T1"/>
                    </a:cxn>
                    <a:cxn ang="0">
                      <a:pos x="T2" y="T3"/>
                    </a:cxn>
                    <a:cxn ang="0">
                      <a:pos x="T4" y="T5"/>
                    </a:cxn>
                    <a:cxn ang="0">
                      <a:pos x="T6" y="T7"/>
                    </a:cxn>
                    <a:cxn ang="0">
                      <a:pos x="T8" y="T9"/>
                    </a:cxn>
                  </a:cxnLst>
                  <a:rect l="0" t="0" r="r" b="b"/>
                  <a:pathLst>
                    <a:path w="508" h="1171">
                      <a:moveTo>
                        <a:pt x="0" y="0"/>
                      </a:moveTo>
                      <a:lnTo>
                        <a:pt x="51" y="187"/>
                      </a:lnTo>
                      <a:cubicBezTo>
                        <a:pt x="51" y="187"/>
                        <a:pt x="227" y="313"/>
                        <a:pt x="282" y="587"/>
                      </a:cubicBezTo>
                      <a:cubicBezTo>
                        <a:pt x="337" y="860"/>
                        <a:pt x="323" y="1171"/>
                        <a:pt x="323" y="1171"/>
                      </a:cubicBezTo>
                      <a:cubicBezTo>
                        <a:pt x="323" y="1171"/>
                        <a:pt x="508" y="324"/>
                        <a:pt x="0" y="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6" name="Freeform 110"/>
                <p:cNvSpPr/>
                <p:nvPr/>
              </p:nvSpPr>
              <p:spPr bwMode="auto">
                <a:xfrm>
                  <a:off x="3436911" y="1665650"/>
                  <a:ext cx="54468" cy="112780"/>
                </a:xfrm>
                <a:custGeom>
                  <a:avLst/>
                  <a:gdLst>
                    <a:gd name="T0" fmla="*/ 171 w 372"/>
                    <a:gd name="T1" fmla="*/ 20 h 772"/>
                    <a:gd name="T2" fmla="*/ 0 w 372"/>
                    <a:gd name="T3" fmla="*/ 0 h 772"/>
                    <a:gd name="T4" fmla="*/ 187 w 372"/>
                    <a:gd name="T5" fmla="*/ 354 h 772"/>
                    <a:gd name="T6" fmla="*/ 198 w 372"/>
                    <a:gd name="T7" fmla="*/ 772 h 772"/>
                    <a:gd name="T8" fmla="*/ 171 w 372"/>
                    <a:gd name="T9" fmla="*/ 20 h 772"/>
                  </a:gdLst>
                  <a:ahLst/>
                  <a:cxnLst>
                    <a:cxn ang="0">
                      <a:pos x="T0" y="T1"/>
                    </a:cxn>
                    <a:cxn ang="0">
                      <a:pos x="T2" y="T3"/>
                    </a:cxn>
                    <a:cxn ang="0">
                      <a:pos x="T4" y="T5"/>
                    </a:cxn>
                    <a:cxn ang="0">
                      <a:pos x="T6" y="T7"/>
                    </a:cxn>
                    <a:cxn ang="0">
                      <a:pos x="T8" y="T9"/>
                    </a:cxn>
                  </a:cxnLst>
                  <a:rect l="0" t="0" r="r" b="b"/>
                  <a:pathLst>
                    <a:path w="372" h="772">
                      <a:moveTo>
                        <a:pt x="171" y="20"/>
                      </a:moveTo>
                      <a:lnTo>
                        <a:pt x="0" y="0"/>
                      </a:lnTo>
                      <a:cubicBezTo>
                        <a:pt x="0" y="0"/>
                        <a:pt x="139" y="149"/>
                        <a:pt x="187" y="354"/>
                      </a:cubicBezTo>
                      <a:cubicBezTo>
                        <a:pt x="236" y="560"/>
                        <a:pt x="198" y="772"/>
                        <a:pt x="198" y="772"/>
                      </a:cubicBezTo>
                      <a:cubicBezTo>
                        <a:pt x="198" y="772"/>
                        <a:pt x="372" y="491"/>
                        <a:pt x="171" y="20"/>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67" name="Freeform 111"/>
                <p:cNvSpPr/>
                <p:nvPr/>
              </p:nvSpPr>
              <p:spPr bwMode="auto">
                <a:xfrm>
                  <a:off x="3290169" y="1548384"/>
                  <a:ext cx="148024" cy="276823"/>
                </a:xfrm>
                <a:custGeom>
                  <a:avLst/>
                  <a:gdLst>
                    <a:gd name="T0" fmla="*/ 752 w 1017"/>
                    <a:gd name="T1" fmla="*/ 208 h 1899"/>
                    <a:gd name="T2" fmla="*/ 399 w 1017"/>
                    <a:gd name="T3" fmla="*/ 966 h 1899"/>
                    <a:gd name="T4" fmla="*/ 1017 w 1017"/>
                    <a:gd name="T5" fmla="*/ 1899 h 1899"/>
                    <a:gd name="T6" fmla="*/ 521 w 1017"/>
                    <a:gd name="T7" fmla="*/ 1879 h 1899"/>
                    <a:gd name="T8" fmla="*/ 407 w 1017"/>
                    <a:gd name="T9" fmla="*/ 489 h 1899"/>
                    <a:gd name="T10" fmla="*/ 281 w 1017"/>
                    <a:gd name="T11" fmla="*/ 0 h 1899"/>
                    <a:gd name="T12" fmla="*/ 492 w 1017"/>
                    <a:gd name="T13" fmla="*/ 379 h 1899"/>
                    <a:gd name="T14" fmla="*/ 598 w 1017"/>
                    <a:gd name="T15" fmla="*/ 269 h 1899"/>
                    <a:gd name="T16" fmla="*/ 752 w 1017"/>
                    <a:gd name="T17" fmla="*/ 208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17" h="1899">
                      <a:moveTo>
                        <a:pt x="752" y="208"/>
                      </a:moveTo>
                      <a:cubicBezTo>
                        <a:pt x="752" y="208"/>
                        <a:pt x="354" y="456"/>
                        <a:pt x="399" y="966"/>
                      </a:cubicBezTo>
                      <a:cubicBezTo>
                        <a:pt x="443" y="1475"/>
                        <a:pt x="1017" y="1899"/>
                        <a:pt x="1017" y="1899"/>
                      </a:cubicBezTo>
                      <a:lnTo>
                        <a:pt x="521" y="1879"/>
                      </a:lnTo>
                      <a:cubicBezTo>
                        <a:pt x="521" y="1879"/>
                        <a:pt x="0" y="1161"/>
                        <a:pt x="407" y="489"/>
                      </a:cubicBezTo>
                      <a:cubicBezTo>
                        <a:pt x="407" y="489"/>
                        <a:pt x="460" y="191"/>
                        <a:pt x="281" y="0"/>
                      </a:cubicBezTo>
                      <a:cubicBezTo>
                        <a:pt x="281" y="0"/>
                        <a:pt x="472" y="142"/>
                        <a:pt x="492" y="379"/>
                      </a:cubicBezTo>
                      <a:cubicBezTo>
                        <a:pt x="492" y="379"/>
                        <a:pt x="543" y="326"/>
                        <a:pt x="598" y="269"/>
                      </a:cubicBezTo>
                      <a:cubicBezTo>
                        <a:pt x="653" y="212"/>
                        <a:pt x="752" y="208"/>
                        <a:pt x="752" y="208"/>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54" name="椭圆 53"/>
              <p:cNvSpPr/>
              <p:nvPr/>
            </p:nvSpPr>
            <p:spPr>
              <a:xfrm>
                <a:off x="11237431"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nvGrpSpPr>
            <p:cNvPr id="68" name="组合 67"/>
            <p:cNvGrpSpPr/>
            <p:nvPr/>
          </p:nvGrpSpPr>
          <p:grpSpPr>
            <a:xfrm>
              <a:off x="17789" y="9089"/>
              <a:ext cx="351" cy="351"/>
              <a:chOff x="11616276" y="6396038"/>
              <a:chExt cx="303212" cy="303212"/>
            </a:xfrm>
          </p:grpSpPr>
          <p:grpSp>
            <p:nvGrpSpPr>
              <p:cNvPr id="69" name="组合 68"/>
              <p:cNvGrpSpPr>
                <a:grpSpLocks noChangeAspect="1"/>
              </p:cNvGrpSpPr>
              <p:nvPr/>
            </p:nvGrpSpPr>
            <p:grpSpPr>
              <a:xfrm>
                <a:off x="11641148" y="6471951"/>
                <a:ext cx="253468" cy="151386"/>
                <a:chOff x="2655835" y="2119973"/>
                <a:chExt cx="793944" cy="474188"/>
              </a:xfrm>
              <a:solidFill>
                <a:schemeClr val="tx1">
                  <a:lumMod val="50000"/>
                  <a:lumOff val="50000"/>
                </a:schemeClr>
              </a:solidFill>
            </p:grpSpPr>
            <p:sp>
              <p:nvSpPr>
                <p:cNvPr id="71" name="任意多边形: 形状 70"/>
                <p:cNvSpPr/>
                <p:nvPr/>
              </p:nvSpPr>
              <p:spPr bwMode="auto">
                <a:xfrm>
                  <a:off x="2699409" y="2278890"/>
                  <a:ext cx="705515" cy="314630"/>
                </a:xfrm>
                <a:custGeom>
                  <a:avLst/>
                  <a:gdLst>
                    <a:gd name="connsiteX0" fmla="*/ 1425576 w 1747838"/>
                    <a:gd name="connsiteY0" fmla="*/ 322262 h 779463"/>
                    <a:gd name="connsiteX1" fmla="*/ 1376363 w 1747838"/>
                    <a:gd name="connsiteY1" fmla="*/ 326643 h 779463"/>
                    <a:gd name="connsiteX2" fmla="*/ 1376363 w 1747838"/>
                    <a:gd name="connsiteY2" fmla="*/ 390525 h 779463"/>
                    <a:gd name="connsiteX3" fmla="*/ 1425576 w 1747838"/>
                    <a:gd name="connsiteY3" fmla="*/ 383954 h 779463"/>
                    <a:gd name="connsiteX4" fmla="*/ 327025 w 1747838"/>
                    <a:gd name="connsiteY4" fmla="*/ 322262 h 779463"/>
                    <a:gd name="connsiteX5" fmla="*/ 327025 w 1747838"/>
                    <a:gd name="connsiteY5" fmla="*/ 383954 h 779463"/>
                    <a:gd name="connsiteX6" fmla="*/ 376238 w 1747838"/>
                    <a:gd name="connsiteY6" fmla="*/ 390525 h 779463"/>
                    <a:gd name="connsiteX7" fmla="*/ 376238 w 1747838"/>
                    <a:gd name="connsiteY7" fmla="*/ 326643 h 779463"/>
                    <a:gd name="connsiteX8" fmla="*/ 1524000 w 1747838"/>
                    <a:gd name="connsiteY8" fmla="*/ 312737 h 779463"/>
                    <a:gd name="connsiteX9" fmla="*/ 1476375 w 1747838"/>
                    <a:gd name="connsiteY9" fmla="*/ 315581 h 779463"/>
                    <a:gd name="connsiteX10" fmla="*/ 1476375 w 1747838"/>
                    <a:gd name="connsiteY10" fmla="*/ 381000 h 779463"/>
                    <a:gd name="connsiteX11" fmla="*/ 1524000 w 1747838"/>
                    <a:gd name="connsiteY11" fmla="*/ 372112 h 779463"/>
                    <a:gd name="connsiteX12" fmla="*/ 228600 w 1747838"/>
                    <a:gd name="connsiteY12" fmla="*/ 312737 h 779463"/>
                    <a:gd name="connsiteX13" fmla="*/ 228600 w 1747838"/>
                    <a:gd name="connsiteY13" fmla="*/ 372112 h 779463"/>
                    <a:gd name="connsiteX14" fmla="*/ 276225 w 1747838"/>
                    <a:gd name="connsiteY14" fmla="*/ 381000 h 779463"/>
                    <a:gd name="connsiteX15" fmla="*/ 276225 w 1747838"/>
                    <a:gd name="connsiteY15" fmla="*/ 315581 h 779463"/>
                    <a:gd name="connsiteX16" fmla="*/ 1625600 w 1747838"/>
                    <a:gd name="connsiteY16" fmla="*/ 292100 h 779463"/>
                    <a:gd name="connsiteX17" fmla="*/ 1574800 w 1747838"/>
                    <a:gd name="connsiteY17" fmla="*/ 303285 h 779463"/>
                    <a:gd name="connsiteX18" fmla="*/ 1574800 w 1747838"/>
                    <a:gd name="connsiteY18" fmla="*/ 363538 h 779463"/>
                    <a:gd name="connsiteX19" fmla="*/ 1625600 w 1747838"/>
                    <a:gd name="connsiteY19" fmla="*/ 353075 h 779463"/>
                    <a:gd name="connsiteX20" fmla="*/ 127000 w 1747838"/>
                    <a:gd name="connsiteY20" fmla="*/ 292100 h 779463"/>
                    <a:gd name="connsiteX21" fmla="*/ 127000 w 1747838"/>
                    <a:gd name="connsiteY21" fmla="*/ 353075 h 779463"/>
                    <a:gd name="connsiteX22" fmla="*/ 177800 w 1747838"/>
                    <a:gd name="connsiteY22" fmla="*/ 363538 h 779463"/>
                    <a:gd name="connsiteX23" fmla="*/ 177800 w 1747838"/>
                    <a:gd name="connsiteY23" fmla="*/ 303285 h 779463"/>
                    <a:gd name="connsiteX24" fmla="*/ 425450 w 1747838"/>
                    <a:gd name="connsiteY24" fmla="*/ 290512 h 779463"/>
                    <a:gd name="connsiteX25" fmla="*/ 425450 w 1747838"/>
                    <a:gd name="connsiteY25" fmla="*/ 354012 h 779463"/>
                    <a:gd name="connsiteX26" fmla="*/ 1327150 w 1747838"/>
                    <a:gd name="connsiteY26" fmla="*/ 354012 h 779463"/>
                    <a:gd name="connsiteX27" fmla="*/ 1327150 w 1747838"/>
                    <a:gd name="connsiteY27" fmla="*/ 290512 h 779463"/>
                    <a:gd name="connsiteX28" fmla="*/ 1714501 w 1747838"/>
                    <a:gd name="connsiteY28" fmla="*/ 276225 h 779463"/>
                    <a:gd name="connsiteX29" fmla="*/ 1671638 w 1747838"/>
                    <a:gd name="connsiteY29" fmla="*/ 280963 h 779463"/>
                    <a:gd name="connsiteX30" fmla="*/ 1671638 w 1747838"/>
                    <a:gd name="connsiteY30" fmla="*/ 347663 h 779463"/>
                    <a:gd name="connsiteX31" fmla="*/ 1714501 w 1747838"/>
                    <a:gd name="connsiteY31" fmla="*/ 346205 h 779463"/>
                    <a:gd name="connsiteX32" fmla="*/ 38100 w 1747838"/>
                    <a:gd name="connsiteY32" fmla="*/ 276225 h 779463"/>
                    <a:gd name="connsiteX33" fmla="*/ 38100 w 1747838"/>
                    <a:gd name="connsiteY33" fmla="*/ 346205 h 779463"/>
                    <a:gd name="connsiteX34" fmla="*/ 80963 w 1747838"/>
                    <a:gd name="connsiteY34" fmla="*/ 347663 h 779463"/>
                    <a:gd name="connsiteX35" fmla="*/ 80963 w 1747838"/>
                    <a:gd name="connsiteY35" fmla="*/ 280963 h 779463"/>
                    <a:gd name="connsiteX36" fmla="*/ 876335 w 1747838"/>
                    <a:gd name="connsiteY36" fmla="*/ 96837 h 779463"/>
                    <a:gd name="connsiteX37" fmla="*/ 547688 w 1747838"/>
                    <a:gd name="connsiteY37" fmla="*/ 265112 h 779463"/>
                    <a:gd name="connsiteX38" fmla="*/ 1209676 w 1747838"/>
                    <a:gd name="connsiteY38" fmla="*/ 265112 h 779463"/>
                    <a:gd name="connsiteX39" fmla="*/ 1011507 w 1747838"/>
                    <a:gd name="connsiteY39" fmla="*/ 0 h 779463"/>
                    <a:gd name="connsiteX40" fmla="*/ 1112261 w 1747838"/>
                    <a:gd name="connsiteY40" fmla="*/ 0 h 779463"/>
                    <a:gd name="connsiteX41" fmla="*/ 1112261 w 1747838"/>
                    <a:gd name="connsiteY41" fmla="*/ 158204 h 779463"/>
                    <a:gd name="connsiteX42" fmla="*/ 1163540 w 1747838"/>
                    <a:gd name="connsiteY42" fmla="*/ 177348 h 779463"/>
                    <a:gd name="connsiteX43" fmla="*/ 1163540 w 1747838"/>
                    <a:gd name="connsiteY43" fmla="*/ 5418 h 779463"/>
                    <a:gd name="connsiteX44" fmla="*/ 1226737 w 1747838"/>
                    <a:gd name="connsiteY44" fmla="*/ 5418 h 779463"/>
                    <a:gd name="connsiteX45" fmla="*/ 1226737 w 1747838"/>
                    <a:gd name="connsiteY45" fmla="*/ 209133 h 779463"/>
                    <a:gd name="connsiteX46" fmla="*/ 1332546 w 1747838"/>
                    <a:gd name="connsiteY46" fmla="*/ 268731 h 779463"/>
                    <a:gd name="connsiteX47" fmla="*/ 1747838 w 1747838"/>
                    <a:gd name="connsiteY47" fmla="*/ 184211 h 779463"/>
                    <a:gd name="connsiteX48" fmla="*/ 1747838 w 1747838"/>
                    <a:gd name="connsiteY48" fmla="*/ 224665 h 779463"/>
                    <a:gd name="connsiteX49" fmla="*/ 1342658 w 1747838"/>
                    <a:gd name="connsiteY49" fmla="*/ 285707 h 779463"/>
                    <a:gd name="connsiteX50" fmla="*/ 1348074 w 1747838"/>
                    <a:gd name="connsiteY50" fmla="*/ 305212 h 779463"/>
                    <a:gd name="connsiteX51" fmla="*/ 1746394 w 1747838"/>
                    <a:gd name="connsiteY51" fmla="*/ 251754 h 779463"/>
                    <a:gd name="connsiteX52" fmla="*/ 1746394 w 1747838"/>
                    <a:gd name="connsiteY52" fmla="*/ 775851 h 779463"/>
                    <a:gd name="connsiteX53" fmla="*/ 1696559 w 1747838"/>
                    <a:gd name="connsiteY53" fmla="*/ 775851 h 779463"/>
                    <a:gd name="connsiteX54" fmla="*/ 1696559 w 1747838"/>
                    <a:gd name="connsiteY54" fmla="*/ 463777 h 779463"/>
                    <a:gd name="connsiteX55" fmla="*/ 1610611 w 1747838"/>
                    <a:gd name="connsiteY55" fmla="*/ 394427 h 779463"/>
                    <a:gd name="connsiteX56" fmla="*/ 1262488 w 1747838"/>
                    <a:gd name="connsiteY56" fmla="*/ 438132 h 779463"/>
                    <a:gd name="connsiteX57" fmla="*/ 1262488 w 1747838"/>
                    <a:gd name="connsiteY57" fmla="*/ 777296 h 779463"/>
                    <a:gd name="connsiteX58" fmla="*/ 1203986 w 1747838"/>
                    <a:gd name="connsiteY58" fmla="*/ 777296 h 779463"/>
                    <a:gd name="connsiteX59" fmla="*/ 1203986 w 1747838"/>
                    <a:gd name="connsiteY59" fmla="*/ 385036 h 779463"/>
                    <a:gd name="connsiteX60" fmla="*/ 1115872 w 1747838"/>
                    <a:gd name="connsiteY60" fmla="*/ 385036 h 779463"/>
                    <a:gd name="connsiteX61" fmla="*/ 1115872 w 1747838"/>
                    <a:gd name="connsiteY61" fmla="*/ 774406 h 779463"/>
                    <a:gd name="connsiteX62" fmla="*/ 1046897 w 1747838"/>
                    <a:gd name="connsiteY62" fmla="*/ 774406 h 779463"/>
                    <a:gd name="connsiteX63" fmla="*/ 1046897 w 1747838"/>
                    <a:gd name="connsiteY63" fmla="*/ 386481 h 779463"/>
                    <a:gd name="connsiteX64" fmla="*/ 701663 w 1747838"/>
                    <a:gd name="connsiteY64" fmla="*/ 386481 h 779463"/>
                    <a:gd name="connsiteX65" fmla="*/ 701663 w 1747838"/>
                    <a:gd name="connsiteY65" fmla="*/ 774406 h 779463"/>
                    <a:gd name="connsiteX66" fmla="*/ 633411 w 1747838"/>
                    <a:gd name="connsiteY66" fmla="*/ 774406 h 779463"/>
                    <a:gd name="connsiteX67" fmla="*/ 633411 w 1747838"/>
                    <a:gd name="connsiteY67" fmla="*/ 386481 h 779463"/>
                    <a:gd name="connsiteX68" fmla="*/ 540963 w 1747838"/>
                    <a:gd name="connsiteY68" fmla="*/ 386481 h 779463"/>
                    <a:gd name="connsiteX69" fmla="*/ 540963 w 1747838"/>
                    <a:gd name="connsiteY69" fmla="*/ 775129 h 779463"/>
                    <a:gd name="connsiteX70" fmla="*/ 479572 w 1747838"/>
                    <a:gd name="connsiteY70" fmla="*/ 775129 h 779463"/>
                    <a:gd name="connsiteX71" fmla="*/ 479572 w 1747838"/>
                    <a:gd name="connsiteY71" fmla="*/ 437410 h 779463"/>
                    <a:gd name="connsiteX72" fmla="*/ 135060 w 1747838"/>
                    <a:gd name="connsiteY72" fmla="*/ 395150 h 779463"/>
                    <a:gd name="connsiteX73" fmla="*/ 47669 w 1747838"/>
                    <a:gd name="connsiteY73" fmla="*/ 468111 h 779463"/>
                    <a:gd name="connsiteX74" fmla="*/ 47669 w 1747838"/>
                    <a:gd name="connsiteY74" fmla="*/ 779463 h 779463"/>
                    <a:gd name="connsiteX75" fmla="*/ 2889 w 1747838"/>
                    <a:gd name="connsiteY75" fmla="*/ 779463 h 779463"/>
                    <a:gd name="connsiteX76" fmla="*/ 2889 w 1747838"/>
                    <a:gd name="connsiteY76" fmla="*/ 251032 h 779463"/>
                    <a:gd name="connsiteX77" fmla="*/ 392903 w 1747838"/>
                    <a:gd name="connsiteY77" fmla="*/ 309185 h 779463"/>
                    <a:gd name="connsiteX78" fmla="*/ 395069 w 1747838"/>
                    <a:gd name="connsiteY78" fmla="*/ 282095 h 779463"/>
                    <a:gd name="connsiteX79" fmla="*/ 0 w 1747838"/>
                    <a:gd name="connsiteY79" fmla="*/ 226109 h 779463"/>
                    <a:gd name="connsiteX80" fmla="*/ 2889 w 1747838"/>
                    <a:gd name="connsiteY80" fmla="*/ 187100 h 779463"/>
                    <a:gd name="connsiteX81" fmla="*/ 416376 w 1747838"/>
                    <a:gd name="connsiteY81" fmla="*/ 265119 h 779463"/>
                    <a:gd name="connsiteX82" fmla="*/ 525796 w 1747838"/>
                    <a:gd name="connsiteY82" fmla="*/ 206244 h 779463"/>
                    <a:gd name="connsiteX83" fmla="*/ 525796 w 1747838"/>
                    <a:gd name="connsiteY83" fmla="*/ 5418 h 779463"/>
                    <a:gd name="connsiteX84" fmla="*/ 586465 w 1747838"/>
                    <a:gd name="connsiteY84" fmla="*/ 5418 h 779463"/>
                    <a:gd name="connsiteX85" fmla="*/ 586465 w 1747838"/>
                    <a:gd name="connsiteY85" fmla="*/ 175181 h 779463"/>
                    <a:gd name="connsiteX86" fmla="*/ 634133 w 1747838"/>
                    <a:gd name="connsiteY86" fmla="*/ 155315 h 779463"/>
                    <a:gd name="connsiteX87" fmla="*/ 634133 w 1747838"/>
                    <a:gd name="connsiteY87" fmla="*/ 6140 h 779463"/>
                    <a:gd name="connsiteX88" fmla="*/ 738498 w 1747838"/>
                    <a:gd name="connsiteY88" fmla="*/ 6140 h 779463"/>
                    <a:gd name="connsiteX89" fmla="*/ 738498 w 1747838"/>
                    <a:gd name="connsiteY89" fmla="*/ 103664 h 779463"/>
                    <a:gd name="connsiteX90" fmla="*/ 784722 w 1747838"/>
                    <a:gd name="connsiteY90" fmla="*/ 78019 h 779463"/>
                    <a:gd name="connsiteX91" fmla="*/ 784722 w 1747838"/>
                    <a:gd name="connsiteY91" fmla="*/ 2167 h 779463"/>
                    <a:gd name="connsiteX92" fmla="*/ 959506 w 1747838"/>
                    <a:gd name="connsiteY92" fmla="*/ 2167 h 779463"/>
                    <a:gd name="connsiteX93" fmla="*/ 959506 w 1747838"/>
                    <a:gd name="connsiteY93" fmla="*/ 83075 h 779463"/>
                    <a:gd name="connsiteX94" fmla="*/ 1011507 w 1747838"/>
                    <a:gd name="connsiteY94" fmla="*/ 111971 h 779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747838" h="779463">
                      <a:moveTo>
                        <a:pt x="1425576" y="322262"/>
                      </a:moveTo>
                      <a:lnTo>
                        <a:pt x="1376363" y="326643"/>
                      </a:lnTo>
                      <a:lnTo>
                        <a:pt x="1376363" y="390525"/>
                      </a:lnTo>
                      <a:lnTo>
                        <a:pt x="1425576" y="383954"/>
                      </a:lnTo>
                      <a:close/>
                      <a:moveTo>
                        <a:pt x="327025" y="322262"/>
                      </a:moveTo>
                      <a:lnTo>
                        <a:pt x="327025" y="383954"/>
                      </a:lnTo>
                      <a:lnTo>
                        <a:pt x="376238" y="390525"/>
                      </a:lnTo>
                      <a:lnTo>
                        <a:pt x="376238" y="326643"/>
                      </a:lnTo>
                      <a:close/>
                      <a:moveTo>
                        <a:pt x="1524000" y="312737"/>
                      </a:moveTo>
                      <a:lnTo>
                        <a:pt x="1476375" y="315581"/>
                      </a:lnTo>
                      <a:lnTo>
                        <a:pt x="1476375" y="381000"/>
                      </a:lnTo>
                      <a:lnTo>
                        <a:pt x="1524000" y="372112"/>
                      </a:lnTo>
                      <a:close/>
                      <a:moveTo>
                        <a:pt x="228600" y="312737"/>
                      </a:moveTo>
                      <a:lnTo>
                        <a:pt x="228600" y="372112"/>
                      </a:lnTo>
                      <a:lnTo>
                        <a:pt x="276225" y="381000"/>
                      </a:lnTo>
                      <a:lnTo>
                        <a:pt x="276225" y="315581"/>
                      </a:lnTo>
                      <a:close/>
                      <a:moveTo>
                        <a:pt x="1625600" y="292100"/>
                      </a:moveTo>
                      <a:lnTo>
                        <a:pt x="1574800" y="303285"/>
                      </a:lnTo>
                      <a:lnTo>
                        <a:pt x="1574800" y="363538"/>
                      </a:lnTo>
                      <a:lnTo>
                        <a:pt x="1625600" y="353075"/>
                      </a:lnTo>
                      <a:close/>
                      <a:moveTo>
                        <a:pt x="127000" y="292100"/>
                      </a:moveTo>
                      <a:lnTo>
                        <a:pt x="127000" y="353075"/>
                      </a:lnTo>
                      <a:lnTo>
                        <a:pt x="177800" y="363538"/>
                      </a:lnTo>
                      <a:lnTo>
                        <a:pt x="177800" y="303285"/>
                      </a:lnTo>
                      <a:close/>
                      <a:moveTo>
                        <a:pt x="425450" y="290512"/>
                      </a:moveTo>
                      <a:lnTo>
                        <a:pt x="425450" y="354012"/>
                      </a:lnTo>
                      <a:lnTo>
                        <a:pt x="1327150" y="354012"/>
                      </a:lnTo>
                      <a:lnTo>
                        <a:pt x="1327150" y="290512"/>
                      </a:lnTo>
                      <a:close/>
                      <a:moveTo>
                        <a:pt x="1714501" y="276225"/>
                      </a:moveTo>
                      <a:lnTo>
                        <a:pt x="1671638" y="280963"/>
                      </a:lnTo>
                      <a:lnTo>
                        <a:pt x="1671638" y="347663"/>
                      </a:lnTo>
                      <a:lnTo>
                        <a:pt x="1714501" y="346205"/>
                      </a:lnTo>
                      <a:close/>
                      <a:moveTo>
                        <a:pt x="38100" y="276225"/>
                      </a:moveTo>
                      <a:lnTo>
                        <a:pt x="38100" y="346205"/>
                      </a:lnTo>
                      <a:lnTo>
                        <a:pt x="80963" y="347663"/>
                      </a:lnTo>
                      <a:lnTo>
                        <a:pt x="80963" y="280963"/>
                      </a:lnTo>
                      <a:close/>
                      <a:moveTo>
                        <a:pt x="876335" y="96837"/>
                      </a:moveTo>
                      <a:lnTo>
                        <a:pt x="547688" y="265112"/>
                      </a:lnTo>
                      <a:lnTo>
                        <a:pt x="1209676" y="265112"/>
                      </a:lnTo>
                      <a:close/>
                      <a:moveTo>
                        <a:pt x="1011507" y="0"/>
                      </a:moveTo>
                      <a:lnTo>
                        <a:pt x="1112261" y="0"/>
                      </a:lnTo>
                      <a:lnTo>
                        <a:pt x="1112261" y="158204"/>
                      </a:lnTo>
                      <a:lnTo>
                        <a:pt x="1163540" y="177348"/>
                      </a:lnTo>
                      <a:lnTo>
                        <a:pt x="1163540" y="5418"/>
                      </a:lnTo>
                      <a:lnTo>
                        <a:pt x="1226737" y="5418"/>
                      </a:lnTo>
                      <a:lnTo>
                        <a:pt x="1226737" y="209133"/>
                      </a:lnTo>
                      <a:lnTo>
                        <a:pt x="1332546" y="268731"/>
                      </a:lnTo>
                      <a:lnTo>
                        <a:pt x="1747838" y="184211"/>
                      </a:lnTo>
                      <a:lnTo>
                        <a:pt x="1747838" y="224665"/>
                      </a:lnTo>
                      <a:lnTo>
                        <a:pt x="1342658" y="285707"/>
                      </a:lnTo>
                      <a:lnTo>
                        <a:pt x="1348074" y="305212"/>
                      </a:lnTo>
                      <a:lnTo>
                        <a:pt x="1746394" y="251754"/>
                      </a:lnTo>
                      <a:lnTo>
                        <a:pt x="1746394" y="775851"/>
                      </a:lnTo>
                      <a:lnTo>
                        <a:pt x="1696559" y="775851"/>
                      </a:lnTo>
                      <a:lnTo>
                        <a:pt x="1696559" y="463777"/>
                      </a:lnTo>
                      <a:lnTo>
                        <a:pt x="1610611" y="394427"/>
                      </a:lnTo>
                      <a:lnTo>
                        <a:pt x="1262488" y="438132"/>
                      </a:lnTo>
                      <a:lnTo>
                        <a:pt x="1262488" y="777296"/>
                      </a:lnTo>
                      <a:lnTo>
                        <a:pt x="1203986" y="777296"/>
                      </a:lnTo>
                      <a:lnTo>
                        <a:pt x="1203986" y="385036"/>
                      </a:lnTo>
                      <a:lnTo>
                        <a:pt x="1115872" y="385036"/>
                      </a:lnTo>
                      <a:lnTo>
                        <a:pt x="1115872" y="774406"/>
                      </a:lnTo>
                      <a:lnTo>
                        <a:pt x="1046897" y="774406"/>
                      </a:lnTo>
                      <a:lnTo>
                        <a:pt x="1046897" y="386481"/>
                      </a:lnTo>
                      <a:lnTo>
                        <a:pt x="701663" y="386481"/>
                      </a:lnTo>
                      <a:lnTo>
                        <a:pt x="701663" y="774406"/>
                      </a:lnTo>
                      <a:lnTo>
                        <a:pt x="633411" y="774406"/>
                      </a:lnTo>
                      <a:lnTo>
                        <a:pt x="633411" y="386481"/>
                      </a:lnTo>
                      <a:lnTo>
                        <a:pt x="540963" y="386481"/>
                      </a:lnTo>
                      <a:lnTo>
                        <a:pt x="540963" y="775129"/>
                      </a:lnTo>
                      <a:lnTo>
                        <a:pt x="479572" y="775129"/>
                      </a:lnTo>
                      <a:lnTo>
                        <a:pt x="479572" y="437410"/>
                      </a:lnTo>
                      <a:lnTo>
                        <a:pt x="135060" y="395150"/>
                      </a:lnTo>
                      <a:lnTo>
                        <a:pt x="47669" y="468111"/>
                      </a:lnTo>
                      <a:lnTo>
                        <a:pt x="47669" y="779463"/>
                      </a:lnTo>
                      <a:lnTo>
                        <a:pt x="2889" y="779463"/>
                      </a:lnTo>
                      <a:lnTo>
                        <a:pt x="2889" y="251032"/>
                      </a:lnTo>
                      <a:lnTo>
                        <a:pt x="392903" y="309185"/>
                      </a:lnTo>
                      <a:lnTo>
                        <a:pt x="395069" y="282095"/>
                      </a:lnTo>
                      <a:lnTo>
                        <a:pt x="0" y="226109"/>
                      </a:lnTo>
                      <a:lnTo>
                        <a:pt x="2889" y="187100"/>
                      </a:lnTo>
                      <a:lnTo>
                        <a:pt x="416376" y="265119"/>
                      </a:lnTo>
                      <a:lnTo>
                        <a:pt x="525796" y="206244"/>
                      </a:lnTo>
                      <a:lnTo>
                        <a:pt x="525796" y="5418"/>
                      </a:lnTo>
                      <a:lnTo>
                        <a:pt x="586465" y="5418"/>
                      </a:lnTo>
                      <a:lnTo>
                        <a:pt x="586465" y="175181"/>
                      </a:lnTo>
                      <a:lnTo>
                        <a:pt x="634133" y="155315"/>
                      </a:lnTo>
                      <a:lnTo>
                        <a:pt x="634133" y="6140"/>
                      </a:lnTo>
                      <a:lnTo>
                        <a:pt x="738498" y="6140"/>
                      </a:lnTo>
                      <a:lnTo>
                        <a:pt x="738498" y="103664"/>
                      </a:lnTo>
                      <a:lnTo>
                        <a:pt x="784722" y="78019"/>
                      </a:lnTo>
                      <a:lnTo>
                        <a:pt x="784722" y="2167"/>
                      </a:lnTo>
                      <a:lnTo>
                        <a:pt x="959506" y="2167"/>
                      </a:lnTo>
                      <a:lnTo>
                        <a:pt x="959506" y="83075"/>
                      </a:lnTo>
                      <a:lnTo>
                        <a:pt x="1011507" y="111971"/>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2" name="Freeform 5"/>
                <p:cNvSpPr/>
                <p:nvPr/>
              </p:nvSpPr>
              <p:spPr bwMode="auto">
                <a:xfrm>
                  <a:off x="3416458" y="2353222"/>
                  <a:ext cx="33321" cy="237735"/>
                </a:xfrm>
                <a:custGeom>
                  <a:avLst/>
                  <a:gdLst>
                    <a:gd name="T0" fmla="*/ 4 w 229"/>
                    <a:gd name="T1" fmla="*/ 0 h 1632"/>
                    <a:gd name="T2" fmla="*/ 0 w 229"/>
                    <a:gd name="T3" fmla="*/ 1632 h 1632"/>
                    <a:gd name="T4" fmla="*/ 229 w 229"/>
                    <a:gd name="T5" fmla="*/ 1591 h 1632"/>
                    <a:gd name="T6" fmla="*/ 229 w 229"/>
                    <a:gd name="T7" fmla="*/ 279 h 1632"/>
                    <a:gd name="T8" fmla="*/ 4 w 229"/>
                    <a:gd name="T9" fmla="*/ 0 h 1632"/>
                  </a:gdLst>
                  <a:ahLst/>
                  <a:cxnLst>
                    <a:cxn ang="0">
                      <a:pos x="T0" y="T1"/>
                    </a:cxn>
                    <a:cxn ang="0">
                      <a:pos x="T2" y="T3"/>
                    </a:cxn>
                    <a:cxn ang="0">
                      <a:pos x="T4" y="T5"/>
                    </a:cxn>
                    <a:cxn ang="0">
                      <a:pos x="T6" y="T7"/>
                    </a:cxn>
                    <a:cxn ang="0">
                      <a:pos x="T8" y="T9"/>
                    </a:cxn>
                  </a:cxnLst>
                  <a:rect l="0" t="0" r="r" b="b"/>
                  <a:pathLst>
                    <a:path w="229" h="1632">
                      <a:moveTo>
                        <a:pt x="4" y="0"/>
                      </a:moveTo>
                      <a:lnTo>
                        <a:pt x="0" y="1632"/>
                      </a:lnTo>
                      <a:lnTo>
                        <a:pt x="229" y="1591"/>
                      </a:lnTo>
                      <a:lnTo>
                        <a:pt x="229" y="279"/>
                      </a:lnTo>
                      <a:lnTo>
                        <a:pt x="4"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3" name="Freeform 71"/>
                <p:cNvSpPr/>
                <p:nvPr/>
              </p:nvSpPr>
              <p:spPr bwMode="auto">
                <a:xfrm>
                  <a:off x="3046079" y="2119973"/>
                  <a:ext cx="13457" cy="33321"/>
                </a:xfrm>
                <a:custGeom>
                  <a:avLst/>
                  <a:gdLst>
                    <a:gd name="T0" fmla="*/ 36 w 92"/>
                    <a:gd name="T1" fmla="*/ 0 h 229"/>
                    <a:gd name="T2" fmla="*/ 0 w 92"/>
                    <a:gd name="T3" fmla="*/ 229 h 229"/>
                    <a:gd name="T4" fmla="*/ 92 w 92"/>
                    <a:gd name="T5" fmla="*/ 229 h 229"/>
                    <a:gd name="T6" fmla="*/ 36 w 92"/>
                    <a:gd name="T7" fmla="*/ 0 h 229"/>
                  </a:gdLst>
                  <a:ahLst/>
                  <a:cxnLst>
                    <a:cxn ang="0">
                      <a:pos x="T0" y="T1"/>
                    </a:cxn>
                    <a:cxn ang="0">
                      <a:pos x="T2" y="T3"/>
                    </a:cxn>
                    <a:cxn ang="0">
                      <a:pos x="T4" y="T5"/>
                    </a:cxn>
                    <a:cxn ang="0">
                      <a:pos x="T6" y="T7"/>
                    </a:cxn>
                  </a:cxnLst>
                  <a:rect l="0" t="0" r="r" b="b"/>
                  <a:pathLst>
                    <a:path w="92" h="229">
                      <a:moveTo>
                        <a:pt x="36" y="0"/>
                      </a:moveTo>
                      <a:lnTo>
                        <a:pt x="0" y="229"/>
                      </a:lnTo>
                      <a:lnTo>
                        <a:pt x="92" y="229"/>
                      </a:lnTo>
                      <a:lnTo>
                        <a:pt x="3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4" name="Freeform 72"/>
                <p:cNvSpPr/>
                <p:nvPr/>
              </p:nvSpPr>
              <p:spPr bwMode="auto">
                <a:xfrm>
                  <a:off x="2932658" y="2160984"/>
                  <a:ext cx="239657" cy="89711"/>
                </a:xfrm>
                <a:custGeom>
                  <a:avLst/>
                  <a:gdLst>
                    <a:gd name="T0" fmla="*/ 0 w 1642"/>
                    <a:gd name="T1" fmla="*/ 616 h 616"/>
                    <a:gd name="T2" fmla="*/ 1642 w 1642"/>
                    <a:gd name="T3" fmla="*/ 616 h 616"/>
                    <a:gd name="T4" fmla="*/ 837 w 1642"/>
                    <a:gd name="T5" fmla="*/ 4 h 616"/>
                    <a:gd name="T6" fmla="*/ 0 w 1642"/>
                    <a:gd name="T7" fmla="*/ 616 h 616"/>
                  </a:gdLst>
                  <a:ahLst/>
                  <a:cxnLst>
                    <a:cxn ang="0">
                      <a:pos x="T0" y="T1"/>
                    </a:cxn>
                    <a:cxn ang="0">
                      <a:pos x="T2" y="T3"/>
                    </a:cxn>
                    <a:cxn ang="0">
                      <a:pos x="T4" y="T5"/>
                    </a:cxn>
                    <a:cxn ang="0">
                      <a:pos x="T6" y="T7"/>
                    </a:cxn>
                  </a:cxnLst>
                  <a:rect l="0" t="0" r="r" b="b"/>
                  <a:pathLst>
                    <a:path w="1642" h="616">
                      <a:moveTo>
                        <a:pt x="0" y="616"/>
                      </a:moveTo>
                      <a:lnTo>
                        <a:pt x="1642" y="616"/>
                      </a:lnTo>
                      <a:cubicBezTo>
                        <a:pt x="1642" y="616"/>
                        <a:pt x="1443" y="0"/>
                        <a:pt x="837" y="4"/>
                      </a:cubicBezTo>
                      <a:cubicBezTo>
                        <a:pt x="232" y="8"/>
                        <a:pt x="49" y="477"/>
                        <a:pt x="0" y="616"/>
                      </a:cubicBez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5" name="Rectangle 73"/>
                <p:cNvSpPr>
                  <a:spLocks noChangeArrowheads="1"/>
                </p:cNvSpPr>
                <p:nvPr/>
              </p:nvSpPr>
              <p:spPr bwMode="auto">
                <a:xfrm>
                  <a:off x="2907667" y="2260948"/>
                  <a:ext cx="286435" cy="9612"/>
                </a:xfrm>
                <a:prstGeom prst="rect">
                  <a:avLst/>
                </a:pr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6" name="Freeform 74"/>
                <p:cNvSpPr/>
                <p:nvPr/>
              </p:nvSpPr>
              <p:spPr bwMode="auto">
                <a:xfrm>
                  <a:off x="3230628" y="2544179"/>
                  <a:ext cx="99964" cy="49982"/>
                </a:xfrm>
                <a:custGeom>
                  <a:avLst/>
                  <a:gdLst>
                    <a:gd name="T0" fmla="*/ 553 w 689"/>
                    <a:gd name="T1" fmla="*/ 338 h 346"/>
                    <a:gd name="T2" fmla="*/ 553 w 689"/>
                    <a:gd name="T3" fmla="*/ 100 h 346"/>
                    <a:gd name="T4" fmla="*/ 427 w 689"/>
                    <a:gd name="T5" fmla="*/ 100 h 346"/>
                    <a:gd name="T6" fmla="*/ 427 w 689"/>
                    <a:gd name="T7" fmla="*/ 336 h 346"/>
                    <a:gd name="T8" fmla="*/ 282 w 689"/>
                    <a:gd name="T9" fmla="*/ 336 h 346"/>
                    <a:gd name="T10" fmla="*/ 282 w 689"/>
                    <a:gd name="T11" fmla="*/ 98 h 346"/>
                    <a:gd name="T12" fmla="*/ 142 w 689"/>
                    <a:gd name="T13" fmla="*/ 98 h 346"/>
                    <a:gd name="T14" fmla="*/ 142 w 689"/>
                    <a:gd name="T15" fmla="*/ 346 h 346"/>
                    <a:gd name="T16" fmla="*/ 0 w 689"/>
                    <a:gd name="T17" fmla="*/ 346 h 346"/>
                    <a:gd name="T18" fmla="*/ 0 w 689"/>
                    <a:gd name="T19" fmla="*/ 0 h 346"/>
                    <a:gd name="T20" fmla="*/ 689 w 689"/>
                    <a:gd name="T21" fmla="*/ 0 h 346"/>
                    <a:gd name="T22" fmla="*/ 689 w 689"/>
                    <a:gd name="T23" fmla="*/ 340 h 346"/>
                    <a:gd name="T24" fmla="*/ 553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553" y="338"/>
                      </a:moveTo>
                      <a:lnTo>
                        <a:pt x="553" y="100"/>
                      </a:lnTo>
                      <a:lnTo>
                        <a:pt x="427" y="100"/>
                      </a:lnTo>
                      <a:lnTo>
                        <a:pt x="427" y="336"/>
                      </a:lnTo>
                      <a:lnTo>
                        <a:pt x="282" y="336"/>
                      </a:lnTo>
                      <a:lnTo>
                        <a:pt x="282" y="98"/>
                      </a:lnTo>
                      <a:lnTo>
                        <a:pt x="142" y="98"/>
                      </a:lnTo>
                      <a:lnTo>
                        <a:pt x="142" y="346"/>
                      </a:lnTo>
                      <a:lnTo>
                        <a:pt x="0" y="346"/>
                      </a:lnTo>
                      <a:lnTo>
                        <a:pt x="0" y="0"/>
                      </a:lnTo>
                      <a:lnTo>
                        <a:pt x="689" y="0"/>
                      </a:lnTo>
                      <a:lnTo>
                        <a:pt x="689" y="340"/>
                      </a:lnTo>
                      <a:lnTo>
                        <a:pt x="553"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7" name="Freeform 75"/>
                <p:cNvSpPr/>
                <p:nvPr/>
              </p:nvSpPr>
              <p:spPr bwMode="auto">
                <a:xfrm>
                  <a:off x="3230628" y="2470488"/>
                  <a:ext cx="20505" cy="58953"/>
                </a:xfrm>
                <a:custGeom>
                  <a:avLst/>
                  <a:gdLst>
                    <a:gd name="T0" fmla="*/ 140 w 140"/>
                    <a:gd name="T1" fmla="*/ 0 h 404"/>
                    <a:gd name="T2" fmla="*/ 140 w 140"/>
                    <a:gd name="T3" fmla="*/ 404 h 404"/>
                    <a:gd name="T4" fmla="*/ 0 w 140"/>
                    <a:gd name="T5" fmla="*/ 404 h 404"/>
                    <a:gd name="T6" fmla="*/ 0 w 140"/>
                    <a:gd name="T7" fmla="*/ 11 h 404"/>
                    <a:gd name="T8" fmla="*/ 140 w 140"/>
                    <a:gd name="T9" fmla="*/ 0 h 404"/>
                  </a:gdLst>
                  <a:ahLst/>
                  <a:cxnLst>
                    <a:cxn ang="0">
                      <a:pos x="T0" y="T1"/>
                    </a:cxn>
                    <a:cxn ang="0">
                      <a:pos x="T2" y="T3"/>
                    </a:cxn>
                    <a:cxn ang="0">
                      <a:pos x="T4" y="T5"/>
                    </a:cxn>
                    <a:cxn ang="0">
                      <a:pos x="T6" y="T7"/>
                    </a:cxn>
                    <a:cxn ang="0">
                      <a:pos x="T8" y="T9"/>
                    </a:cxn>
                  </a:cxnLst>
                  <a:rect l="0" t="0" r="r" b="b"/>
                  <a:pathLst>
                    <a:path w="140" h="404">
                      <a:moveTo>
                        <a:pt x="140" y="0"/>
                      </a:moveTo>
                      <a:lnTo>
                        <a:pt x="140" y="404"/>
                      </a:lnTo>
                      <a:lnTo>
                        <a:pt x="0" y="404"/>
                      </a:lnTo>
                      <a:lnTo>
                        <a:pt x="0" y="11"/>
                      </a:lnTo>
                      <a:lnTo>
                        <a:pt x="14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8" name="Freeform 76"/>
                <p:cNvSpPr/>
                <p:nvPr/>
              </p:nvSpPr>
              <p:spPr bwMode="auto">
                <a:xfrm>
                  <a:off x="3272920" y="2467284"/>
                  <a:ext cx="19224" cy="62157"/>
                </a:xfrm>
                <a:custGeom>
                  <a:avLst/>
                  <a:gdLst>
                    <a:gd name="T0" fmla="*/ 132 w 132"/>
                    <a:gd name="T1" fmla="*/ 0 h 428"/>
                    <a:gd name="T2" fmla="*/ 132 w 132"/>
                    <a:gd name="T3" fmla="*/ 428 h 428"/>
                    <a:gd name="T4" fmla="*/ 0 w 132"/>
                    <a:gd name="T5" fmla="*/ 428 h 428"/>
                    <a:gd name="T6" fmla="*/ 0 w 132"/>
                    <a:gd name="T7" fmla="*/ 6 h 428"/>
                    <a:gd name="T8" fmla="*/ 132 w 132"/>
                    <a:gd name="T9" fmla="*/ 0 h 428"/>
                  </a:gdLst>
                  <a:ahLst/>
                  <a:cxnLst>
                    <a:cxn ang="0">
                      <a:pos x="T0" y="T1"/>
                    </a:cxn>
                    <a:cxn ang="0">
                      <a:pos x="T2" y="T3"/>
                    </a:cxn>
                    <a:cxn ang="0">
                      <a:pos x="T4" y="T5"/>
                    </a:cxn>
                    <a:cxn ang="0">
                      <a:pos x="T6" y="T7"/>
                    </a:cxn>
                    <a:cxn ang="0">
                      <a:pos x="T8" y="T9"/>
                    </a:cxn>
                  </a:cxnLst>
                  <a:rect l="0" t="0" r="r" b="b"/>
                  <a:pathLst>
                    <a:path w="132" h="428">
                      <a:moveTo>
                        <a:pt x="132" y="0"/>
                      </a:moveTo>
                      <a:lnTo>
                        <a:pt x="132" y="428"/>
                      </a:lnTo>
                      <a:lnTo>
                        <a:pt x="0" y="428"/>
                      </a:lnTo>
                      <a:lnTo>
                        <a:pt x="0" y="6"/>
                      </a:lnTo>
                      <a:lnTo>
                        <a:pt x="132"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79" name="Freeform 77"/>
                <p:cNvSpPr/>
                <p:nvPr/>
              </p:nvSpPr>
              <p:spPr bwMode="auto">
                <a:xfrm>
                  <a:off x="3313290" y="2462157"/>
                  <a:ext cx="16661" cy="66002"/>
                </a:xfrm>
                <a:custGeom>
                  <a:avLst/>
                  <a:gdLst>
                    <a:gd name="T0" fmla="*/ 118 w 118"/>
                    <a:gd name="T1" fmla="*/ 0 h 451"/>
                    <a:gd name="T2" fmla="*/ 118 w 118"/>
                    <a:gd name="T3" fmla="*/ 451 h 451"/>
                    <a:gd name="T4" fmla="*/ 0 w 118"/>
                    <a:gd name="T5" fmla="*/ 451 h 451"/>
                    <a:gd name="T6" fmla="*/ 0 w 118"/>
                    <a:gd name="T7" fmla="*/ 15 h 451"/>
                    <a:gd name="T8" fmla="*/ 118 w 118"/>
                    <a:gd name="T9" fmla="*/ 0 h 451"/>
                  </a:gdLst>
                  <a:ahLst/>
                  <a:cxnLst>
                    <a:cxn ang="0">
                      <a:pos x="T0" y="T1"/>
                    </a:cxn>
                    <a:cxn ang="0">
                      <a:pos x="T2" y="T3"/>
                    </a:cxn>
                    <a:cxn ang="0">
                      <a:pos x="T4" y="T5"/>
                    </a:cxn>
                    <a:cxn ang="0">
                      <a:pos x="T6" y="T7"/>
                    </a:cxn>
                    <a:cxn ang="0">
                      <a:pos x="T8" y="T9"/>
                    </a:cxn>
                  </a:cxnLst>
                  <a:rect l="0" t="0" r="r" b="b"/>
                  <a:pathLst>
                    <a:path w="118" h="451">
                      <a:moveTo>
                        <a:pt x="118" y="0"/>
                      </a:moveTo>
                      <a:lnTo>
                        <a:pt x="118" y="451"/>
                      </a:lnTo>
                      <a:lnTo>
                        <a:pt x="0" y="451"/>
                      </a:lnTo>
                      <a:lnTo>
                        <a:pt x="0" y="15"/>
                      </a:lnTo>
                      <a:lnTo>
                        <a:pt x="118"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0" name="Freeform 78"/>
                <p:cNvSpPr/>
                <p:nvPr/>
              </p:nvSpPr>
              <p:spPr bwMode="auto">
                <a:xfrm>
                  <a:off x="3352379" y="2459594"/>
                  <a:ext cx="13457" cy="133285"/>
                </a:xfrm>
                <a:custGeom>
                  <a:avLst/>
                  <a:gdLst>
                    <a:gd name="T0" fmla="*/ 0 w 94"/>
                    <a:gd name="T1" fmla="*/ 0 h 917"/>
                    <a:gd name="T2" fmla="*/ 0 w 94"/>
                    <a:gd name="T3" fmla="*/ 917 h 917"/>
                    <a:gd name="T4" fmla="*/ 94 w 94"/>
                    <a:gd name="T5" fmla="*/ 917 h 917"/>
                    <a:gd name="T6" fmla="*/ 94 w 94"/>
                    <a:gd name="T7" fmla="*/ 112 h 917"/>
                    <a:gd name="T8" fmla="*/ 0 w 94"/>
                    <a:gd name="T9" fmla="*/ 0 h 917"/>
                  </a:gdLst>
                  <a:ahLst/>
                  <a:cxnLst>
                    <a:cxn ang="0">
                      <a:pos x="T0" y="T1"/>
                    </a:cxn>
                    <a:cxn ang="0">
                      <a:pos x="T2" y="T3"/>
                    </a:cxn>
                    <a:cxn ang="0">
                      <a:pos x="T4" y="T5"/>
                    </a:cxn>
                    <a:cxn ang="0">
                      <a:pos x="T6" y="T7"/>
                    </a:cxn>
                    <a:cxn ang="0">
                      <a:pos x="T8" y="T9"/>
                    </a:cxn>
                  </a:cxnLst>
                  <a:rect l="0" t="0" r="r" b="b"/>
                  <a:pathLst>
                    <a:path w="94" h="917">
                      <a:moveTo>
                        <a:pt x="0" y="0"/>
                      </a:moveTo>
                      <a:lnTo>
                        <a:pt x="0" y="917"/>
                      </a:lnTo>
                      <a:lnTo>
                        <a:pt x="94" y="917"/>
                      </a:lnTo>
                      <a:lnTo>
                        <a:pt x="94" y="112"/>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1" name="Freeform 83"/>
                <p:cNvSpPr/>
                <p:nvPr/>
              </p:nvSpPr>
              <p:spPr bwMode="auto">
                <a:xfrm>
                  <a:off x="3015321" y="2467924"/>
                  <a:ext cx="73692" cy="125596"/>
                </a:xfrm>
                <a:custGeom>
                  <a:avLst/>
                  <a:gdLst>
                    <a:gd name="T0" fmla="*/ 0 w 508"/>
                    <a:gd name="T1" fmla="*/ 862 h 862"/>
                    <a:gd name="T2" fmla="*/ 508 w 508"/>
                    <a:gd name="T3" fmla="*/ 862 h 862"/>
                    <a:gd name="T4" fmla="*/ 508 w 508"/>
                    <a:gd name="T5" fmla="*/ 254 h 862"/>
                    <a:gd name="T6" fmla="*/ 254 w 508"/>
                    <a:gd name="T7" fmla="*/ 0 h 862"/>
                    <a:gd name="T8" fmla="*/ 254 w 508"/>
                    <a:gd name="T9" fmla="*/ 0 h 862"/>
                    <a:gd name="T10" fmla="*/ 0 w 508"/>
                    <a:gd name="T11" fmla="*/ 254 h 862"/>
                    <a:gd name="T12" fmla="*/ 0 w 508"/>
                    <a:gd name="T13" fmla="*/ 862 h 862"/>
                  </a:gdLst>
                  <a:ahLst/>
                  <a:cxnLst>
                    <a:cxn ang="0">
                      <a:pos x="T0" y="T1"/>
                    </a:cxn>
                    <a:cxn ang="0">
                      <a:pos x="T2" y="T3"/>
                    </a:cxn>
                    <a:cxn ang="0">
                      <a:pos x="T4" y="T5"/>
                    </a:cxn>
                    <a:cxn ang="0">
                      <a:pos x="T6" y="T7"/>
                    </a:cxn>
                    <a:cxn ang="0">
                      <a:pos x="T8" y="T9"/>
                    </a:cxn>
                    <a:cxn ang="0">
                      <a:pos x="T10" y="T11"/>
                    </a:cxn>
                    <a:cxn ang="0">
                      <a:pos x="T12" y="T13"/>
                    </a:cxn>
                  </a:cxnLst>
                  <a:rect l="0" t="0" r="r" b="b"/>
                  <a:pathLst>
                    <a:path w="508" h="862">
                      <a:moveTo>
                        <a:pt x="0" y="862"/>
                      </a:moveTo>
                      <a:lnTo>
                        <a:pt x="508" y="862"/>
                      </a:lnTo>
                      <a:lnTo>
                        <a:pt x="508" y="254"/>
                      </a:lnTo>
                      <a:cubicBezTo>
                        <a:pt x="508" y="114"/>
                        <a:pt x="394" y="0"/>
                        <a:pt x="254" y="0"/>
                      </a:cubicBezTo>
                      <a:lnTo>
                        <a:pt x="254" y="0"/>
                      </a:lnTo>
                      <a:cubicBezTo>
                        <a:pt x="114" y="0"/>
                        <a:pt x="0" y="114"/>
                        <a:pt x="0" y="254"/>
                      </a:cubicBezTo>
                      <a:lnTo>
                        <a:pt x="0" y="862"/>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2" name="Freeform 86"/>
                <p:cNvSpPr/>
                <p:nvPr/>
              </p:nvSpPr>
              <p:spPr bwMode="auto">
                <a:xfrm>
                  <a:off x="2775023" y="2544179"/>
                  <a:ext cx="100605" cy="49982"/>
                </a:xfrm>
                <a:custGeom>
                  <a:avLst/>
                  <a:gdLst>
                    <a:gd name="T0" fmla="*/ 136 w 689"/>
                    <a:gd name="T1" fmla="*/ 338 h 346"/>
                    <a:gd name="T2" fmla="*/ 136 w 689"/>
                    <a:gd name="T3" fmla="*/ 100 h 346"/>
                    <a:gd name="T4" fmla="*/ 262 w 689"/>
                    <a:gd name="T5" fmla="*/ 100 h 346"/>
                    <a:gd name="T6" fmla="*/ 262 w 689"/>
                    <a:gd name="T7" fmla="*/ 336 h 346"/>
                    <a:gd name="T8" fmla="*/ 406 w 689"/>
                    <a:gd name="T9" fmla="*/ 336 h 346"/>
                    <a:gd name="T10" fmla="*/ 406 w 689"/>
                    <a:gd name="T11" fmla="*/ 98 h 346"/>
                    <a:gd name="T12" fmla="*/ 546 w 689"/>
                    <a:gd name="T13" fmla="*/ 98 h 346"/>
                    <a:gd name="T14" fmla="*/ 546 w 689"/>
                    <a:gd name="T15" fmla="*/ 346 h 346"/>
                    <a:gd name="T16" fmla="*/ 689 w 689"/>
                    <a:gd name="T17" fmla="*/ 346 h 346"/>
                    <a:gd name="T18" fmla="*/ 689 w 689"/>
                    <a:gd name="T19" fmla="*/ 0 h 346"/>
                    <a:gd name="T20" fmla="*/ 0 w 689"/>
                    <a:gd name="T21" fmla="*/ 0 h 346"/>
                    <a:gd name="T22" fmla="*/ 0 w 689"/>
                    <a:gd name="T23" fmla="*/ 340 h 346"/>
                    <a:gd name="T24" fmla="*/ 136 w 689"/>
                    <a:gd name="T25" fmla="*/ 338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9" h="346">
                      <a:moveTo>
                        <a:pt x="136" y="338"/>
                      </a:moveTo>
                      <a:lnTo>
                        <a:pt x="136" y="100"/>
                      </a:lnTo>
                      <a:lnTo>
                        <a:pt x="262" y="100"/>
                      </a:lnTo>
                      <a:lnTo>
                        <a:pt x="262" y="336"/>
                      </a:lnTo>
                      <a:lnTo>
                        <a:pt x="406" y="336"/>
                      </a:lnTo>
                      <a:lnTo>
                        <a:pt x="406" y="98"/>
                      </a:lnTo>
                      <a:lnTo>
                        <a:pt x="546" y="98"/>
                      </a:lnTo>
                      <a:lnTo>
                        <a:pt x="546" y="346"/>
                      </a:lnTo>
                      <a:lnTo>
                        <a:pt x="689" y="346"/>
                      </a:lnTo>
                      <a:lnTo>
                        <a:pt x="689" y="0"/>
                      </a:lnTo>
                      <a:lnTo>
                        <a:pt x="0" y="0"/>
                      </a:lnTo>
                      <a:lnTo>
                        <a:pt x="0" y="340"/>
                      </a:lnTo>
                      <a:lnTo>
                        <a:pt x="136" y="338"/>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3" name="Freeform 87"/>
                <p:cNvSpPr/>
                <p:nvPr/>
              </p:nvSpPr>
              <p:spPr bwMode="auto">
                <a:xfrm>
                  <a:off x="2855122" y="2470488"/>
                  <a:ext cx="20505" cy="58953"/>
                </a:xfrm>
                <a:custGeom>
                  <a:avLst/>
                  <a:gdLst>
                    <a:gd name="T0" fmla="*/ 0 w 141"/>
                    <a:gd name="T1" fmla="*/ 0 h 404"/>
                    <a:gd name="T2" fmla="*/ 0 w 141"/>
                    <a:gd name="T3" fmla="*/ 404 h 404"/>
                    <a:gd name="T4" fmla="*/ 141 w 141"/>
                    <a:gd name="T5" fmla="*/ 404 h 404"/>
                    <a:gd name="T6" fmla="*/ 141 w 141"/>
                    <a:gd name="T7" fmla="*/ 11 h 404"/>
                    <a:gd name="T8" fmla="*/ 0 w 141"/>
                    <a:gd name="T9" fmla="*/ 0 h 404"/>
                  </a:gdLst>
                  <a:ahLst/>
                  <a:cxnLst>
                    <a:cxn ang="0">
                      <a:pos x="T0" y="T1"/>
                    </a:cxn>
                    <a:cxn ang="0">
                      <a:pos x="T2" y="T3"/>
                    </a:cxn>
                    <a:cxn ang="0">
                      <a:pos x="T4" y="T5"/>
                    </a:cxn>
                    <a:cxn ang="0">
                      <a:pos x="T6" y="T7"/>
                    </a:cxn>
                    <a:cxn ang="0">
                      <a:pos x="T8" y="T9"/>
                    </a:cxn>
                  </a:cxnLst>
                  <a:rect l="0" t="0" r="r" b="b"/>
                  <a:pathLst>
                    <a:path w="141" h="404">
                      <a:moveTo>
                        <a:pt x="0" y="0"/>
                      </a:moveTo>
                      <a:lnTo>
                        <a:pt x="0" y="404"/>
                      </a:lnTo>
                      <a:lnTo>
                        <a:pt x="141" y="404"/>
                      </a:lnTo>
                      <a:lnTo>
                        <a:pt x="141" y="11"/>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4" name="Freeform 88"/>
                <p:cNvSpPr/>
                <p:nvPr/>
              </p:nvSpPr>
              <p:spPr bwMode="auto">
                <a:xfrm>
                  <a:off x="2814111" y="2467284"/>
                  <a:ext cx="19224" cy="62157"/>
                </a:xfrm>
                <a:custGeom>
                  <a:avLst/>
                  <a:gdLst>
                    <a:gd name="T0" fmla="*/ 0 w 132"/>
                    <a:gd name="T1" fmla="*/ 0 h 428"/>
                    <a:gd name="T2" fmla="*/ 0 w 132"/>
                    <a:gd name="T3" fmla="*/ 428 h 428"/>
                    <a:gd name="T4" fmla="*/ 132 w 132"/>
                    <a:gd name="T5" fmla="*/ 428 h 428"/>
                    <a:gd name="T6" fmla="*/ 132 w 132"/>
                    <a:gd name="T7" fmla="*/ 6 h 428"/>
                    <a:gd name="T8" fmla="*/ 0 w 132"/>
                    <a:gd name="T9" fmla="*/ 0 h 428"/>
                  </a:gdLst>
                  <a:ahLst/>
                  <a:cxnLst>
                    <a:cxn ang="0">
                      <a:pos x="T0" y="T1"/>
                    </a:cxn>
                    <a:cxn ang="0">
                      <a:pos x="T2" y="T3"/>
                    </a:cxn>
                    <a:cxn ang="0">
                      <a:pos x="T4" y="T5"/>
                    </a:cxn>
                    <a:cxn ang="0">
                      <a:pos x="T6" y="T7"/>
                    </a:cxn>
                    <a:cxn ang="0">
                      <a:pos x="T8" y="T9"/>
                    </a:cxn>
                  </a:cxnLst>
                  <a:rect l="0" t="0" r="r" b="b"/>
                  <a:pathLst>
                    <a:path w="132" h="428">
                      <a:moveTo>
                        <a:pt x="0" y="0"/>
                      </a:moveTo>
                      <a:lnTo>
                        <a:pt x="0" y="428"/>
                      </a:lnTo>
                      <a:lnTo>
                        <a:pt x="132" y="428"/>
                      </a:lnTo>
                      <a:lnTo>
                        <a:pt x="132" y="6"/>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5" name="Freeform 89"/>
                <p:cNvSpPr/>
                <p:nvPr/>
              </p:nvSpPr>
              <p:spPr bwMode="auto">
                <a:xfrm>
                  <a:off x="2775664" y="2462157"/>
                  <a:ext cx="17302" cy="66002"/>
                </a:xfrm>
                <a:custGeom>
                  <a:avLst/>
                  <a:gdLst>
                    <a:gd name="T0" fmla="*/ 0 w 117"/>
                    <a:gd name="T1" fmla="*/ 0 h 451"/>
                    <a:gd name="T2" fmla="*/ 0 w 117"/>
                    <a:gd name="T3" fmla="*/ 451 h 451"/>
                    <a:gd name="T4" fmla="*/ 117 w 117"/>
                    <a:gd name="T5" fmla="*/ 451 h 451"/>
                    <a:gd name="T6" fmla="*/ 117 w 117"/>
                    <a:gd name="T7" fmla="*/ 15 h 451"/>
                    <a:gd name="T8" fmla="*/ 0 w 117"/>
                    <a:gd name="T9" fmla="*/ 0 h 451"/>
                  </a:gdLst>
                  <a:ahLst/>
                  <a:cxnLst>
                    <a:cxn ang="0">
                      <a:pos x="T0" y="T1"/>
                    </a:cxn>
                    <a:cxn ang="0">
                      <a:pos x="T2" y="T3"/>
                    </a:cxn>
                    <a:cxn ang="0">
                      <a:pos x="T4" y="T5"/>
                    </a:cxn>
                    <a:cxn ang="0">
                      <a:pos x="T6" y="T7"/>
                    </a:cxn>
                    <a:cxn ang="0">
                      <a:pos x="T8" y="T9"/>
                    </a:cxn>
                  </a:cxnLst>
                  <a:rect l="0" t="0" r="r" b="b"/>
                  <a:pathLst>
                    <a:path w="117" h="451">
                      <a:moveTo>
                        <a:pt x="0" y="0"/>
                      </a:moveTo>
                      <a:lnTo>
                        <a:pt x="0" y="451"/>
                      </a:lnTo>
                      <a:lnTo>
                        <a:pt x="117" y="451"/>
                      </a:lnTo>
                      <a:lnTo>
                        <a:pt x="117" y="15"/>
                      </a:lnTo>
                      <a:lnTo>
                        <a:pt x="0"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6" name="Freeform 90"/>
                <p:cNvSpPr/>
                <p:nvPr/>
              </p:nvSpPr>
              <p:spPr bwMode="auto">
                <a:xfrm>
                  <a:off x="2739779" y="2459594"/>
                  <a:ext cx="14097" cy="133285"/>
                </a:xfrm>
                <a:custGeom>
                  <a:avLst/>
                  <a:gdLst>
                    <a:gd name="T0" fmla="*/ 93 w 93"/>
                    <a:gd name="T1" fmla="*/ 0 h 917"/>
                    <a:gd name="T2" fmla="*/ 93 w 93"/>
                    <a:gd name="T3" fmla="*/ 917 h 917"/>
                    <a:gd name="T4" fmla="*/ 0 w 93"/>
                    <a:gd name="T5" fmla="*/ 917 h 917"/>
                    <a:gd name="T6" fmla="*/ 0 w 93"/>
                    <a:gd name="T7" fmla="*/ 112 h 917"/>
                    <a:gd name="T8" fmla="*/ 93 w 93"/>
                    <a:gd name="T9" fmla="*/ 0 h 917"/>
                  </a:gdLst>
                  <a:ahLst/>
                  <a:cxnLst>
                    <a:cxn ang="0">
                      <a:pos x="T0" y="T1"/>
                    </a:cxn>
                    <a:cxn ang="0">
                      <a:pos x="T2" y="T3"/>
                    </a:cxn>
                    <a:cxn ang="0">
                      <a:pos x="T4" y="T5"/>
                    </a:cxn>
                    <a:cxn ang="0">
                      <a:pos x="T6" y="T7"/>
                    </a:cxn>
                    <a:cxn ang="0">
                      <a:pos x="T8" y="T9"/>
                    </a:cxn>
                  </a:cxnLst>
                  <a:rect l="0" t="0" r="r" b="b"/>
                  <a:pathLst>
                    <a:path w="93" h="917">
                      <a:moveTo>
                        <a:pt x="93" y="0"/>
                      </a:moveTo>
                      <a:lnTo>
                        <a:pt x="93" y="917"/>
                      </a:lnTo>
                      <a:lnTo>
                        <a:pt x="0" y="917"/>
                      </a:lnTo>
                      <a:lnTo>
                        <a:pt x="0" y="112"/>
                      </a:lnTo>
                      <a:lnTo>
                        <a:pt x="93"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sp>
              <p:nvSpPr>
                <p:cNvPr id="87" name="Freeform 96"/>
                <p:cNvSpPr/>
                <p:nvPr/>
              </p:nvSpPr>
              <p:spPr bwMode="auto">
                <a:xfrm>
                  <a:off x="2655835" y="2354504"/>
                  <a:ext cx="33321" cy="238376"/>
                </a:xfrm>
                <a:custGeom>
                  <a:avLst/>
                  <a:gdLst>
                    <a:gd name="T0" fmla="*/ 226 w 230"/>
                    <a:gd name="T1" fmla="*/ 0 h 1632"/>
                    <a:gd name="T2" fmla="*/ 230 w 230"/>
                    <a:gd name="T3" fmla="*/ 1632 h 1632"/>
                    <a:gd name="T4" fmla="*/ 0 w 230"/>
                    <a:gd name="T5" fmla="*/ 1591 h 1632"/>
                    <a:gd name="T6" fmla="*/ 0 w 230"/>
                    <a:gd name="T7" fmla="*/ 279 h 1632"/>
                    <a:gd name="T8" fmla="*/ 226 w 230"/>
                    <a:gd name="T9" fmla="*/ 0 h 1632"/>
                  </a:gdLst>
                  <a:ahLst/>
                  <a:cxnLst>
                    <a:cxn ang="0">
                      <a:pos x="T0" y="T1"/>
                    </a:cxn>
                    <a:cxn ang="0">
                      <a:pos x="T2" y="T3"/>
                    </a:cxn>
                    <a:cxn ang="0">
                      <a:pos x="T4" y="T5"/>
                    </a:cxn>
                    <a:cxn ang="0">
                      <a:pos x="T6" y="T7"/>
                    </a:cxn>
                    <a:cxn ang="0">
                      <a:pos x="T8" y="T9"/>
                    </a:cxn>
                  </a:cxnLst>
                  <a:rect l="0" t="0" r="r" b="b"/>
                  <a:pathLst>
                    <a:path w="230" h="1632">
                      <a:moveTo>
                        <a:pt x="226" y="0"/>
                      </a:moveTo>
                      <a:lnTo>
                        <a:pt x="230" y="1632"/>
                      </a:lnTo>
                      <a:lnTo>
                        <a:pt x="0" y="1591"/>
                      </a:lnTo>
                      <a:lnTo>
                        <a:pt x="0" y="279"/>
                      </a:lnTo>
                      <a:lnTo>
                        <a:pt x="226" y="0"/>
                      </a:lnTo>
                      <a:close/>
                    </a:path>
                  </a:pathLst>
                </a:custGeom>
                <a:grpFill/>
                <a:ln>
                  <a:solidFill>
                    <a:schemeClr val="bg1"/>
                  </a:solidFill>
                </a:ln>
              </p:spPr>
              <p:txBody>
                <a:bodyPr vert="horz" wrap="square" lIns="91440" tIns="45720" rIns="91440" bIns="45720" numCol="1" anchor="t" anchorCtr="0" compatLnSpc="1">
                  <a:noAutofit/>
                </a:bodyPr>
                <a:lstStyle/>
                <a:p>
                  <a:endParaRPr lang="zh-CN" altLang="en-US">
                    <a:cs typeface="+mn-ea"/>
                    <a:sym typeface="+mn-lt"/>
                  </a:endParaRPr>
                </a:p>
              </p:txBody>
            </p:sp>
          </p:grpSp>
          <p:sp>
            <p:nvSpPr>
              <p:cNvPr id="70" name="椭圆 69"/>
              <p:cNvSpPr/>
              <p:nvPr/>
            </p:nvSpPr>
            <p:spPr>
              <a:xfrm>
                <a:off x="11616276" y="6396038"/>
                <a:ext cx="303212" cy="303212"/>
              </a:xfrm>
              <a:prstGeom prst="ellipse">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31" name="文本占位符 85"/>
          <p:cNvSpPr txBox="1"/>
          <p:nvPr/>
        </p:nvSpPr>
        <p:spPr>
          <a:xfrm>
            <a:off x="8013065" y="2005965"/>
            <a:ext cx="3512185" cy="1716239"/>
          </a:xfrm>
          <a:prstGeom prst="rect">
            <a:avLst/>
          </a:prstGeom>
          <a:ln>
            <a:noFill/>
          </a:ln>
        </p:spPr>
        <p:txBody>
          <a:bodyPr wrap="squar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11500" dirty="0">
                <a:ln>
                  <a:gradFill>
                    <a:gsLst>
                      <a:gs pos="0">
                        <a:schemeClr val="bg1">
                          <a:alpha val="17000"/>
                          <a:lumMod val="94000"/>
                        </a:schemeClr>
                      </a:gs>
                      <a:gs pos="100000">
                        <a:srgbClr val="2F6CBA">
                          <a:alpha val="0"/>
                        </a:srgbClr>
                      </a:gs>
                    </a:gsLst>
                    <a:lin ang="5400000" scaled="1"/>
                  </a:gradFill>
                </a:ln>
                <a:noFill/>
                <a:latin typeface="方正小标宋简体" panose="03000509000000000000" pitchFamily="65" charset="-122"/>
                <a:ea typeface="方正小标宋简体" panose="03000509000000000000" pitchFamily="65" charset="-122"/>
                <a:cs typeface="+mj-lt"/>
                <a:sym typeface="+mn-lt"/>
              </a:rPr>
              <a:t>topic</a:t>
            </a:r>
          </a:p>
        </p:txBody>
      </p:sp>
      <p:sp>
        <p:nvSpPr>
          <p:cNvPr id="34" name="椭圆 33"/>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9" name="图片 8">
            <a:extLst>
              <a:ext uri="{FF2B5EF4-FFF2-40B4-BE49-F238E27FC236}">
                <a16:creationId xmlns:a16="http://schemas.microsoft.com/office/drawing/2014/main" id="{298D951E-866E-0230-A289-E96613E7DB3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631412" y="74572"/>
            <a:ext cx="3429000" cy="6858000"/>
          </a:xfrm>
          <a:prstGeom prst="rect">
            <a:avLst/>
          </a:prstGeom>
        </p:spPr>
      </p:pic>
      <p:sp>
        <p:nvSpPr>
          <p:cNvPr id="12" name="文本框 11">
            <a:extLst>
              <a:ext uri="{FF2B5EF4-FFF2-40B4-BE49-F238E27FC236}">
                <a16:creationId xmlns:a16="http://schemas.microsoft.com/office/drawing/2014/main" id="{4F00CD09-8C16-1A27-B77C-E3969E5574EF}"/>
              </a:ext>
            </a:extLst>
          </p:cNvPr>
          <p:cNvSpPr txBox="1"/>
          <p:nvPr/>
        </p:nvSpPr>
        <p:spPr>
          <a:xfrm>
            <a:off x="719557" y="2289205"/>
            <a:ext cx="8010524" cy="1569660"/>
          </a:xfrm>
          <a:prstGeom prst="rect">
            <a:avLst/>
          </a:prstGeom>
          <a:noFill/>
        </p:spPr>
        <p:txBody>
          <a:bodyPr wrap="square">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craze of Xiao Yuan Kousuan</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 simple process of decision</a:t>
            </a:r>
            <a:endPar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Accuracy and reaction time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Study humans’ decision processes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AE23A-4D7E-A422-0EC9-5227D69DBF7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D3CD698-2E6C-5E0A-A3AD-A239183DCAC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55B7E7FA-63C5-A613-064A-129C0DF3BFD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DDB53E6-0B90-47CD-6E32-6BB8E73C549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4C8240FD-F555-105B-6635-9396D201FDEA}"/>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60BD515-68C9-CA34-A09C-3737A81EB2D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2" name="矩形 11">
            <a:extLst>
              <a:ext uri="{FF2B5EF4-FFF2-40B4-BE49-F238E27FC236}">
                <a16:creationId xmlns:a16="http://schemas.microsoft.com/office/drawing/2014/main" id="{151B876F-F08D-C7D0-E633-D1A7F8FD0815}"/>
              </a:ext>
            </a:extLst>
          </p:cNvPr>
          <p:cNvSpPr/>
          <p:nvPr/>
        </p:nvSpPr>
        <p:spPr>
          <a:xfrm>
            <a:off x="8423178" y="1024451"/>
            <a:ext cx="3396564" cy="227931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文本框 12">
            <a:extLst>
              <a:ext uri="{FF2B5EF4-FFF2-40B4-BE49-F238E27FC236}">
                <a16:creationId xmlns:a16="http://schemas.microsoft.com/office/drawing/2014/main" id="{9589198F-E895-7849-06D6-B2C624A8E011}"/>
              </a:ext>
            </a:extLst>
          </p:cNvPr>
          <p:cNvSpPr txBox="1"/>
          <p:nvPr/>
        </p:nvSpPr>
        <p:spPr>
          <a:xfrm>
            <a:off x="8481627" y="1024451"/>
            <a:ext cx="3533455" cy="2246769"/>
          </a:xfrm>
          <a:prstGeom prst="rect">
            <a:avLst/>
          </a:prstGeom>
          <a:noFill/>
        </p:spPr>
        <p:txBody>
          <a:bodyPr wrap="square" rtlCol="0">
            <a:spAutoFit/>
          </a:bodyPr>
          <a:lstStyle/>
          <a:p>
            <a:pPr algn="l"/>
            <a:r>
              <a:rPr lang="en-US" altLang="zh-CN" sz="2000" b="1" dirty="0">
                <a:latin typeface="Times New Roman" panose="02020603050405020304" pitchFamily="18" charset="0"/>
                <a:ea typeface="方正小标宋简体" panose="03000509000000000000" pitchFamily="65" charset="-122"/>
                <a:cs typeface="Times New Roman" panose="02020603050405020304" pitchFamily="18" charset="0"/>
              </a:rPr>
              <a:t>Parameters: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drift rate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boundary size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noise</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non-decision times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starting point</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0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矩形 13">
            <a:extLst>
              <a:ext uri="{FF2B5EF4-FFF2-40B4-BE49-F238E27FC236}">
                <a16:creationId xmlns:a16="http://schemas.microsoft.com/office/drawing/2014/main" id="{BE2632C9-2824-AD51-1B9E-0E3B864AC76A}"/>
              </a:ext>
            </a:extLst>
          </p:cNvPr>
          <p:cNvSpPr/>
          <p:nvPr/>
        </p:nvSpPr>
        <p:spPr>
          <a:xfrm>
            <a:off x="8423178" y="3718779"/>
            <a:ext cx="3414096" cy="17026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B132A99C-CFD8-901A-8EE7-825458509CEE}"/>
              </a:ext>
            </a:extLst>
          </p:cNvPr>
          <p:cNvSpPr txBox="1"/>
          <p:nvPr/>
        </p:nvSpPr>
        <p:spPr>
          <a:xfrm>
            <a:off x="8440709" y="3714644"/>
            <a:ext cx="3396564" cy="1631216"/>
          </a:xfrm>
          <a:prstGeom prst="rect">
            <a:avLst/>
          </a:prstGeom>
          <a:noFill/>
        </p:spPr>
        <p:txBody>
          <a:bodyPr wrap="square" rtlCol="0">
            <a:spAutoFit/>
          </a:bodyPr>
          <a:lstStyle/>
          <a:p>
            <a:pPr algn="l"/>
            <a:r>
              <a:rPr lang="en-US" altLang="zh-CN" sz="2000" b="1" dirty="0">
                <a:latin typeface="Times New Roman" panose="02020603050405020304" pitchFamily="18" charset="0"/>
                <a:ea typeface="方正小标宋简体" panose="03000509000000000000" pitchFamily="65" charset="-122"/>
                <a:cs typeface="Times New Roman" panose="02020603050405020304" pitchFamily="18" charset="0"/>
              </a:rPr>
              <a:t>Measures: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accuracy</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response times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probabilities of making choices</a:t>
            </a:r>
          </a:p>
          <a:p>
            <a:pPr algn="l"/>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0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6" name="文本框 5">
            <a:extLst>
              <a:ext uri="{FF2B5EF4-FFF2-40B4-BE49-F238E27FC236}">
                <a16:creationId xmlns:a16="http://schemas.microsoft.com/office/drawing/2014/main" id="{B753DB80-3F54-DB9B-6D3F-A87EE9DF8DA9}"/>
              </a:ext>
            </a:extLst>
          </p:cNvPr>
          <p:cNvSpPr txBox="1"/>
          <p:nvPr/>
        </p:nvSpPr>
        <p:spPr>
          <a:xfrm>
            <a:off x="509272" y="468691"/>
            <a:ext cx="568901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Drift Diffusion Model </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9" name="图片 18">
            <a:extLst>
              <a:ext uri="{FF2B5EF4-FFF2-40B4-BE49-F238E27FC236}">
                <a16:creationId xmlns:a16="http://schemas.microsoft.com/office/drawing/2014/main" id="{27B62D30-97B1-A3E9-ACEA-A4CF1BC5BC06}"/>
              </a:ext>
            </a:extLst>
          </p:cNvPr>
          <p:cNvPicPr>
            <a:picLocks noChangeAspect="1"/>
          </p:cNvPicPr>
          <p:nvPr/>
        </p:nvPicPr>
        <p:blipFill>
          <a:blip r:embed="rId3"/>
          <a:stretch>
            <a:fillRect/>
          </a:stretch>
        </p:blipFill>
        <p:spPr>
          <a:xfrm>
            <a:off x="509620" y="1317384"/>
            <a:ext cx="7777413" cy="4441972"/>
          </a:xfrm>
          <a:prstGeom prst="rect">
            <a:avLst/>
          </a:prstGeom>
        </p:spPr>
      </p:pic>
      <p:sp>
        <p:nvSpPr>
          <p:cNvPr id="20" name="文本框 19">
            <a:extLst>
              <a:ext uri="{FF2B5EF4-FFF2-40B4-BE49-F238E27FC236}">
                <a16:creationId xmlns:a16="http://schemas.microsoft.com/office/drawing/2014/main" id="{BC58BFBA-9F83-DBCB-5A1D-B171BCA60CE1}"/>
              </a:ext>
            </a:extLst>
          </p:cNvPr>
          <p:cNvSpPr txBox="1"/>
          <p:nvPr/>
        </p:nvSpPr>
        <p:spPr>
          <a:xfrm>
            <a:off x="509272" y="5974352"/>
            <a:ext cx="11263628" cy="646331"/>
          </a:xfrm>
          <a:prstGeom prst="rect">
            <a:avLst/>
          </a:prstGeom>
          <a:noFill/>
        </p:spPr>
        <p:txBody>
          <a:bodyPr wrap="square" rtlCol="0">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[1]Ratcliff, R. (1978). A theory of memory retrieval. </a:t>
            </a:r>
            <a:r>
              <a:rPr lang="en-US" altLang="zh-CN" b="0" i="1" dirty="0">
                <a:solidFill>
                  <a:srgbClr val="333333"/>
                </a:solidFill>
                <a:effectLst/>
                <a:latin typeface="Times New Roman" panose="02020603050405020304" pitchFamily="18" charset="0"/>
                <a:cs typeface="Times New Roman" panose="02020603050405020304" pitchFamily="18" charset="0"/>
              </a:rPr>
              <a:t>Psychological Review, 85</a:t>
            </a:r>
            <a:r>
              <a:rPr lang="en-US" altLang="zh-CN" b="0" i="0" dirty="0">
                <a:solidFill>
                  <a:srgbClr val="333333"/>
                </a:solidFill>
                <a:effectLst/>
                <a:latin typeface="Times New Roman" panose="02020603050405020304" pitchFamily="18" charset="0"/>
                <a:cs typeface="Times New Roman" panose="02020603050405020304" pitchFamily="18" charset="0"/>
              </a:rPr>
              <a:t>(2), 59-108.  </a:t>
            </a:r>
            <a:r>
              <a:rPr lang="en-US" altLang="zh-CN" b="0" i="0" u="none" strike="noStrike" dirty="0">
                <a:solidFill>
                  <a:srgbClr val="2C72B7"/>
                </a:solidFill>
                <a:effectLst/>
                <a:latin typeface="Times New Roman" panose="02020603050405020304" pitchFamily="18" charset="0"/>
                <a:cs typeface="Times New Roman" panose="02020603050405020304" pitchFamily="18" charset="0"/>
                <a:hlinkClick r:id="rId4"/>
              </a:rPr>
              <a:t>https://doi.org/10.1037/0033-295X.85.2.59</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9167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C1358-BBC6-D4CD-F82E-35A038EDB9A0}"/>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D379055-1546-6092-92AA-68DE0B8F6CA5}"/>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C5167D-61D6-149A-6842-D93F95EF9B7C}"/>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47C098E5-E1A4-9E99-6A07-03B79E2977B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CED9B68-7A13-5FE0-D1D0-3A08F9430683}"/>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94E06B6A-4E1D-2296-745D-9D6CC3FB2C1E}"/>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BE6EA189-48E1-FE11-8DB2-3D4B88BD8A1B}"/>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6F070228-12E9-0BCA-6779-4E413A44E95D}"/>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7DB320F0-B3ED-AE4F-4A71-8811C9655BC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426E0DA9-6A7C-ABE8-FC76-7231C1DBACD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690D9534-43BD-76F2-8FEC-BE819C5C6B0C}"/>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8FD18DB8-0D41-A18F-9D8A-13CAE7448DB8}"/>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4B9DBE30-28C8-43E6-5906-ADA8FDE72C69}"/>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D58943C-0992-0C65-8FB3-42B44F3A9886}"/>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90B7DB81-437E-18B0-C267-7C507BAB2FE8}"/>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93CEDDF3-99B4-DE9F-166F-EA9BEFEC8E39}"/>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211FF8C3-C3C2-4EAA-FC9E-DFB119EDFF0E}"/>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5FCF4275-CBF7-7C45-6C06-748F5C3A6117}"/>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8408257C-8498-67CD-6CAA-9971D0F53584}"/>
              </a:ext>
            </a:extLst>
          </p:cNvPr>
          <p:cNvSpPr txBox="1"/>
          <p:nvPr/>
        </p:nvSpPr>
        <p:spPr>
          <a:xfrm>
            <a:off x="5238445" y="3168106"/>
            <a:ext cx="5803237"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FBBD5B54-5B4E-3EF6-E2DF-1F7C2708BAF5}"/>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F0B4278-7427-AC50-D814-E65658E6FFBF}"/>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1B56178-4156-5E78-9469-CF3F7410570D}"/>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8FB54FD7-0D3B-A492-444C-122EF7FEA75B}"/>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826FC643-7F8D-D5B7-99FC-F9C67C55A029}"/>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CB5A188C-A0C0-F3CA-0C91-7AE05686AE1F}"/>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0198488-8D88-00B4-5516-B3C4ABB387B5}"/>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6EF570F2-B972-A2EB-51FD-5E3D2D776683}"/>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401713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7B3-B909-6074-AE60-249534720385}"/>
            </a:ext>
          </a:extLst>
        </p:cNvPr>
        <p:cNvGrpSpPr/>
        <p:nvPr/>
      </p:nvGrpSpPr>
      <p:grpSpPr>
        <a:xfrm>
          <a:off x="0" y="0"/>
          <a:ext cx="0" cy="0"/>
          <a:chOff x="0" y="0"/>
          <a:chExt cx="0" cy="0"/>
        </a:xfrm>
      </p:grpSpPr>
      <p:sp>
        <p:nvSpPr>
          <p:cNvPr id="11" name="矩形 10">
            <a:extLst>
              <a:ext uri="{FF2B5EF4-FFF2-40B4-BE49-F238E27FC236}">
                <a16:creationId xmlns:a16="http://schemas.microsoft.com/office/drawing/2014/main" id="{DD366370-1171-FFA5-0A9F-9919A39B7F03}"/>
              </a:ext>
            </a:extLst>
          </p:cNvPr>
          <p:cNvSpPr/>
          <p:nvPr/>
        </p:nvSpPr>
        <p:spPr>
          <a:xfrm>
            <a:off x="580023" y="2221485"/>
            <a:ext cx="9588863" cy="20007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椭圆 3">
            <a:extLst>
              <a:ext uri="{FF2B5EF4-FFF2-40B4-BE49-F238E27FC236}">
                <a16:creationId xmlns:a16="http://schemas.microsoft.com/office/drawing/2014/main" id="{0C4349DE-1BB4-F103-1293-EFC9130C11E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A64D25-F435-7028-C262-D87CBAED4224}"/>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3F7C741-7D42-10A0-0251-4A83A393E34F}"/>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205EA0-121F-8F43-2343-419825D2D02D}"/>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CAFFBD2-1135-0D23-8833-B1EF24AF157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D370B1B-6DD5-8431-CF34-FAFE352CE552}"/>
              </a:ext>
            </a:extLst>
          </p:cNvPr>
          <p:cNvSpPr txBox="1"/>
          <p:nvPr/>
        </p:nvSpPr>
        <p:spPr>
          <a:xfrm>
            <a:off x="509271" y="468691"/>
            <a:ext cx="65074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7" name="文本框 16">
            <a:extLst>
              <a:ext uri="{FF2B5EF4-FFF2-40B4-BE49-F238E27FC236}">
                <a16:creationId xmlns:a16="http://schemas.microsoft.com/office/drawing/2014/main" id="{D6CF3B82-BB7B-2A09-0CB7-8EA2316ED284}"/>
              </a:ext>
            </a:extLst>
          </p:cNvPr>
          <p:cNvSpPr txBox="1"/>
          <p:nvPr/>
        </p:nvSpPr>
        <p:spPr>
          <a:xfrm>
            <a:off x="614679" y="2221485"/>
            <a:ext cx="9588863" cy="1938992"/>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Gaze on the center cross “×”</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Press the corresponding key to indicate the larger circle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Prioritize</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accuracy, then as quickly as possible</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 (size_right / size_left) – 1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coherence</a:t>
            </a:r>
            <a:r>
              <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 random dots motion[2])</a:t>
            </a:r>
          </a:p>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r </a:t>
            </a:r>
            <a:r>
              <a:rPr lang="zh-CN" altLang="en-US" sz="2400" dirty="0"/>
              <a:t>∈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[-0.32, -0.24, -0.16, -0.08, 0, 0.08, 0.16, 0.24, 0.32]</a:t>
            </a:r>
          </a:p>
        </p:txBody>
      </p:sp>
      <p:sp>
        <p:nvSpPr>
          <p:cNvPr id="18" name="文本框 17">
            <a:extLst>
              <a:ext uri="{FF2B5EF4-FFF2-40B4-BE49-F238E27FC236}">
                <a16:creationId xmlns:a16="http://schemas.microsoft.com/office/drawing/2014/main" id="{4A3D03E5-E032-0B79-65D4-7D34C55654F5}"/>
              </a:ext>
            </a:extLst>
          </p:cNvPr>
          <p:cNvSpPr txBox="1"/>
          <p:nvPr/>
        </p:nvSpPr>
        <p:spPr>
          <a:xfrm>
            <a:off x="7707960" y="1811121"/>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A simple but robust size-comparison task</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9" name="矩形 18">
            <a:extLst>
              <a:ext uri="{FF2B5EF4-FFF2-40B4-BE49-F238E27FC236}">
                <a16:creationId xmlns:a16="http://schemas.microsoft.com/office/drawing/2014/main" id="{530C63D7-6985-1C9B-CB34-C17B116DBEA6}"/>
              </a:ext>
            </a:extLst>
          </p:cNvPr>
          <p:cNvSpPr/>
          <p:nvPr/>
        </p:nvSpPr>
        <p:spPr>
          <a:xfrm>
            <a:off x="614680" y="4899043"/>
            <a:ext cx="9554206" cy="94851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070C16E9-3177-4EAE-A5D5-13317F57C2D6}"/>
              </a:ext>
            </a:extLst>
          </p:cNvPr>
          <p:cNvSpPr txBox="1"/>
          <p:nvPr/>
        </p:nvSpPr>
        <p:spPr>
          <a:xfrm>
            <a:off x="711835" y="4934667"/>
            <a:ext cx="10049876" cy="1107996"/>
          </a:xfrm>
          <a:prstGeom prst="rect">
            <a:avLst/>
          </a:prstGeom>
          <a:noFill/>
        </p:spPr>
        <p:txBody>
          <a:bodyPr wrap="square" rtlCol="0">
            <a:spAutoFit/>
          </a:bodyPr>
          <a:lstStyle/>
          <a:p>
            <a:pPr marL="342900" indent="-342900">
              <a:buFont typeface="Arial" panose="020B0604020202020204" pitchFamily="34" charset="0"/>
              <a:buChar char="•"/>
            </a:pP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15</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undergraduates from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Nanjing University </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and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Tsinghua University</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Each completed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160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size-comparison trials, </a:t>
            </a:r>
            <a:r>
              <a:rPr lang="en-US" altLang="zh-CN" sz="2400" b="1" dirty="0">
                <a:latin typeface="Times New Roman" panose="02020603050405020304" pitchFamily="18" charset="0"/>
                <a:ea typeface="方正小标宋简体" panose="03000509000000000000" pitchFamily="65" charset="-122"/>
                <a:cs typeface="Times New Roman" panose="02020603050405020304" pitchFamily="18" charset="0"/>
              </a:rPr>
              <a:t>2400</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in total</a:t>
            </a:r>
          </a:p>
          <a:p>
            <a:endParaRPr lang="zh-CN" altLang="en-US" dirty="0"/>
          </a:p>
        </p:txBody>
      </p:sp>
      <p:sp>
        <p:nvSpPr>
          <p:cNvPr id="7" name="文本框 6">
            <a:extLst>
              <a:ext uri="{FF2B5EF4-FFF2-40B4-BE49-F238E27FC236}">
                <a16:creationId xmlns:a16="http://schemas.microsoft.com/office/drawing/2014/main" id="{D36F3163-07CC-137A-4AD0-6C5CEA27477B}"/>
              </a:ext>
            </a:extLst>
          </p:cNvPr>
          <p:cNvSpPr txBox="1"/>
          <p:nvPr/>
        </p:nvSpPr>
        <p:spPr>
          <a:xfrm>
            <a:off x="614680" y="161368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 name="文本框 7">
            <a:extLst>
              <a:ext uri="{FF2B5EF4-FFF2-40B4-BE49-F238E27FC236}">
                <a16:creationId xmlns:a16="http://schemas.microsoft.com/office/drawing/2014/main" id="{14B6A35D-F68A-608C-EC9F-B53646091766}"/>
              </a:ext>
            </a:extLst>
          </p:cNvPr>
          <p:cNvSpPr txBox="1"/>
          <p:nvPr/>
        </p:nvSpPr>
        <p:spPr>
          <a:xfrm>
            <a:off x="523877" y="6049081"/>
            <a:ext cx="11263628" cy="646331"/>
          </a:xfrm>
          <a:prstGeom prst="rect">
            <a:avLst/>
          </a:prstGeom>
          <a:noFill/>
        </p:spPr>
        <p:txBody>
          <a:bodyPr wrap="square" rtlCol="0">
            <a:spAutoFit/>
          </a:bodyPr>
          <a:lstStyle/>
          <a:p>
            <a:r>
              <a:rPr lang="en-US" altLang="zh-CN" dirty="0"/>
              <a:t>[2]K. Britten, M. </a:t>
            </a:r>
            <a:r>
              <a:rPr lang="en-US" altLang="zh-CN" dirty="0" err="1"/>
              <a:t>Shadlen</a:t>
            </a:r>
            <a:r>
              <a:rPr lang="en-US" altLang="zh-CN" dirty="0"/>
              <a:t>, W. Newsome, and J. </a:t>
            </a:r>
            <a:r>
              <a:rPr lang="en-US" altLang="zh-CN" dirty="0" err="1"/>
              <a:t>Movshon</a:t>
            </a:r>
            <a:r>
              <a:rPr lang="en-US" altLang="zh-CN" dirty="0"/>
              <a:t>, “The analysis of visual motion: a comparison of neuronal and psychophysical performance,” Journal of Neuroscience, vol. 12, no. 12, pp. 4745–4765, 1992.</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D027966A-03F5-3DC3-8ABA-6556D217DC67}"/>
              </a:ext>
            </a:extLst>
          </p:cNvPr>
          <p:cNvSpPr txBox="1"/>
          <p:nvPr/>
        </p:nvSpPr>
        <p:spPr>
          <a:xfrm>
            <a:off x="580024" y="4290307"/>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Data sufficiency</a:t>
            </a:r>
          </a:p>
        </p:txBody>
      </p:sp>
      <p:pic>
        <p:nvPicPr>
          <p:cNvPr id="14" name="39ffb38d9e4e87d0fafd2a0cc87a376f">
            <a:hlinkClick r:id="" action="ppaction://media"/>
            <a:extLst>
              <a:ext uri="{FF2B5EF4-FFF2-40B4-BE49-F238E27FC236}">
                <a16:creationId xmlns:a16="http://schemas.microsoft.com/office/drawing/2014/main" id="{B7FA9896-E096-67AF-0B2A-6626119B1B45}"/>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7522980" y="74825"/>
            <a:ext cx="4328660" cy="1803609"/>
          </a:xfrm>
          <a:prstGeom prst="rect">
            <a:avLst/>
          </a:prstGeom>
        </p:spPr>
      </p:pic>
    </p:spTree>
    <p:extLst>
      <p:ext uri="{BB962C8B-B14F-4D97-AF65-F5344CB8AC3E}">
        <p14:creationId xmlns:p14="http://schemas.microsoft.com/office/powerpoint/2010/main" val="288687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466" fill="hold"/>
                                        <p:tgtEl>
                                          <p:spTgt spid="1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14"/>
                </p:tgtEl>
              </p:cMediaNode>
            </p:video>
            <p:seq concurrent="1" nextAc="seek">
              <p:cTn id="8" restart="whenNotActive" fill="hold" evtFilter="cancelBubble" nodeType="interactiveSeq">
                <p:stCondLst>
                  <p:cond evt="onClick" delay="0">
                    <p:tgtEl>
                      <p:spTgt spid="1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E9706-BDCF-D13B-67B0-478AFD64911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26394EC-489F-5FCD-835A-FC68F0E286B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F53BF36E-1AB6-7936-7CE3-7D05F7D9789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ACC1D1BF-906A-F459-9DDA-12E4376580DB}"/>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589CBCF-A2BC-E1F6-98DF-3CCC7269E38A}"/>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E93064AD-FC00-DA4B-1952-1C3EFFD4A81E}"/>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601CDACA-8C70-67CC-BE6D-40AFA3F38CF9}"/>
              </a:ext>
            </a:extLst>
          </p:cNvPr>
          <p:cNvSpPr txBox="1"/>
          <p:nvPr/>
        </p:nvSpPr>
        <p:spPr>
          <a:xfrm>
            <a:off x="509271" y="468691"/>
            <a:ext cx="6837484"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Experimental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880BF25C-F6AE-CB93-B051-897A7BE4D2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5681" y="976630"/>
            <a:ext cx="5531919" cy="5097439"/>
          </a:xfrm>
          <a:prstGeom prst="rect">
            <a:avLst/>
          </a:prstGeom>
        </p:spPr>
      </p:pic>
      <p:pic>
        <p:nvPicPr>
          <p:cNvPr id="7" name="图片 6">
            <a:extLst>
              <a:ext uri="{FF2B5EF4-FFF2-40B4-BE49-F238E27FC236}">
                <a16:creationId xmlns:a16="http://schemas.microsoft.com/office/drawing/2014/main" id="{906951C2-A01C-031C-0937-148039D0A6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680" y="1879500"/>
            <a:ext cx="4433711" cy="3098999"/>
          </a:xfrm>
          <a:prstGeom prst="rect">
            <a:avLst/>
          </a:prstGeom>
        </p:spPr>
      </p:pic>
    </p:spTree>
    <p:extLst>
      <p:ext uri="{BB962C8B-B14F-4D97-AF65-F5344CB8AC3E}">
        <p14:creationId xmlns:p14="http://schemas.microsoft.com/office/powerpoint/2010/main" val="113990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F87B3-B909-6074-AE60-249534720385}"/>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0C4349DE-1BB4-F103-1293-EFC9130C11E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A64D25-F435-7028-C262-D87CBAED4224}"/>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3F7C741-7D42-10A0-0251-4A83A393E34F}"/>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1205EA0-121F-8F43-2343-419825D2D02D}"/>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CAFFBD2-1135-0D23-8833-B1EF24AF157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D370B1B-6DD5-8431-CF34-FAFE352CE552}"/>
              </a:ext>
            </a:extLst>
          </p:cNvPr>
          <p:cNvSpPr txBox="1"/>
          <p:nvPr/>
        </p:nvSpPr>
        <p:spPr>
          <a:xfrm>
            <a:off x="509271" y="468691"/>
            <a:ext cx="6837484"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Use DDM to Fit the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2" name="文本框 11">
            <a:extLst>
              <a:ext uri="{FF2B5EF4-FFF2-40B4-BE49-F238E27FC236}">
                <a16:creationId xmlns:a16="http://schemas.microsoft.com/office/drawing/2014/main" id="{B48C6F7A-DD05-DBC7-BFEF-0EA2476B4B3B}"/>
              </a:ext>
            </a:extLst>
          </p:cNvPr>
          <p:cNvSpPr txBox="1"/>
          <p:nvPr/>
        </p:nvSpPr>
        <p:spPr>
          <a:xfrm>
            <a:off x="614680" y="1620982"/>
            <a:ext cx="5908858" cy="2308324"/>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effect is poor at first !</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Reasons:</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Relatively easy experiment</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 slightly higher drift rate</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Smaller bounds</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3" name="文本框 12">
            <a:extLst>
              <a:ext uri="{FF2B5EF4-FFF2-40B4-BE49-F238E27FC236}">
                <a16:creationId xmlns:a16="http://schemas.microsoft.com/office/drawing/2014/main" id="{B9DC52BE-0560-5F44-D837-3674973075EF}"/>
              </a:ext>
            </a:extLst>
          </p:cNvPr>
          <p:cNvSpPr txBox="1"/>
          <p:nvPr/>
        </p:nvSpPr>
        <p:spPr>
          <a:xfrm>
            <a:off x="509271" y="4003375"/>
            <a:ext cx="726972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Parameter Search</a:t>
            </a:r>
          </a:p>
        </p:txBody>
      </p:sp>
      <p:sp>
        <p:nvSpPr>
          <p:cNvPr id="15" name="矩形 14">
            <a:extLst>
              <a:ext uri="{FF2B5EF4-FFF2-40B4-BE49-F238E27FC236}">
                <a16:creationId xmlns:a16="http://schemas.microsoft.com/office/drawing/2014/main" id="{60FB3CE3-1C70-BD53-FAEB-2BBDA01EC38C}"/>
              </a:ext>
            </a:extLst>
          </p:cNvPr>
          <p:cNvSpPr/>
          <p:nvPr/>
        </p:nvSpPr>
        <p:spPr>
          <a:xfrm>
            <a:off x="580023" y="4659874"/>
            <a:ext cx="6072389" cy="10831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2224D7D2-A22F-E13F-7D62-E3A56BD8E971}"/>
              </a:ext>
            </a:extLst>
          </p:cNvPr>
          <p:cNvSpPr txBox="1"/>
          <p:nvPr/>
        </p:nvSpPr>
        <p:spPr>
          <a:xfrm>
            <a:off x="614680" y="4763795"/>
            <a:ext cx="5848264" cy="830997"/>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Goal: minimize the MSE of the RT-r plot</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Use grid search for three parameters</a:t>
            </a:r>
          </a:p>
        </p:txBody>
      </p:sp>
      <p:pic>
        <p:nvPicPr>
          <p:cNvPr id="7" name="图片 6">
            <a:extLst>
              <a:ext uri="{FF2B5EF4-FFF2-40B4-BE49-F238E27FC236}">
                <a16:creationId xmlns:a16="http://schemas.microsoft.com/office/drawing/2014/main" id="{C198A54F-A597-6817-7F6C-FA9F0CE41B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6198" y="1115022"/>
            <a:ext cx="6249257" cy="3024635"/>
          </a:xfrm>
          <a:prstGeom prst="rect">
            <a:avLst/>
          </a:prstGeom>
        </p:spPr>
      </p:pic>
      <p:pic>
        <p:nvPicPr>
          <p:cNvPr id="9" name="图片 8">
            <a:extLst>
              <a:ext uri="{FF2B5EF4-FFF2-40B4-BE49-F238E27FC236}">
                <a16:creationId xmlns:a16="http://schemas.microsoft.com/office/drawing/2014/main" id="{BA1C5F93-11F1-E56B-B89F-DBE4BD5E4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46756" y="4659874"/>
            <a:ext cx="4548699" cy="1276470"/>
          </a:xfrm>
          <a:prstGeom prst="rect">
            <a:avLst/>
          </a:prstGeom>
        </p:spPr>
      </p:pic>
    </p:spTree>
    <p:extLst>
      <p:ext uri="{BB962C8B-B14F-4D97-AF65-F5344CB8AC3E}">
        <p14:creationId xmlns:p14="http://schemas.microsoft.com/office/powerpoint/2010/main" val="101633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DB3FE-B540-3AB6-6159-E74B0C36BC2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31619132-2710-6615-AF4C-0B9B4DEDF6D5}"/>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02027F3-0220-BFEC-BE42-A0B512F575C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BD6ABDF-EF38-F079-CE11-DA5DF52D13E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539B1064-3A18-F4A2-2032-955DC363A4D7}"/>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2C20CC2-699A-E563-62F5-01C80368EB1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AA8A370C-C552-96EB-0A8A-F0F418A861DD}"/>
              </a:ext>
            </a:extLst>
          </p:cNvPr>
          <p:cNvSpPr txBox="1"/>
          <p:nvPr/>
        </p:nvSpPr>
        <p:spPr>
          <a:xfrm>
            <a:off x="509271" y="468691"/>
            <a:ext cx="685672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Results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4" name="图片 13">
            <a:extLst>
              <a:ext uri="{FF2B5EF4-FFF2-40B4-BE49-F238E27FC236}">
                <a16:creationId xmlns:a16="http://schemas.microsoft.com/office/drawing/2014/main" id="{AA503F08-7C2E-585C-1035-A3AC746017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69282" y="1115022"/>
            <a:ext cx="5242560" cy="5242560"/>
          </a:xfrm>
          <a:prstGeom prst="rect">
            <a:avLst/>
          </a:prstGeom>
        </p:spPr>
      </p:pic>
      <p:pic>
        <p:nvPicPr>
          <p:cNvPr id="16" name="图片 15">
            <a:extLst>
              <a:ext uri="{FF2B5EF4-FFF2-40B4-BE49-F238E27FC236}">
                <a16:creationId xmlns:a16="http://schemas.microsoft.com/office/drawing/2014/main" id="{2538F0A3-5DC9-A5E6-1812-78F774EA94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680" y="1196340"/>
            <a:ext cx="5242560" cy="5242560"/>
          </a:xfrm>
          <a:prstGeom prst="rect">
            <a:avLst/>
          </a:prstGeom>
        </p:spPr>
      </p:pic>
    </p:spTree>
    <p:extLst>
      <p:ext uri="{BB962C8B-B14F-4D97-AF65-F5344CB8AC3E}">
        <p14:creationId xmlns:p14="http://schemas.microsoft.com/office/powerpoint/2010/main" val="1985613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01D64-E185-B184-D644-2C3A7CC5BA1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0E324F9-39F3-3C22-126F-0874DD51612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EEC06602-8FD8-84D1-1DA9-39E054BC07A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8BB8179-3ED5-2722-56F0-D6B945D476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2FDDE2ED-8F55-ACCB-BCD1-EC4D13F9E395}"/>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F3E1582-D00D-2E30-400B-686ED1C68867}"/>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DEE30B25-D3BD-E681-7517-AE93AB04E4FB}"/>
              </a:ext>
            </a:extLst>
          </p:cNvPr>
          <p:cNvSpPr txBox="1"/>
          <p:nvPr/>
        </p:nvSpPr>
        <p:spPr>
          <a:xfrm>
            <a:off x="509271" y="468691"/>
            <a:ext cx="8044179"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 - The Best Fit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7" name="图片 6">
            <a:extLst>
              <a:ext uri="{FF2B5EF4-FFF2-40B4-BE49-F238E27FC236}">
                <a16:creationId xmlns:a16="http://schemas.microsoft.com/office/drawing/2014/main" id="{34021976-260C-392C-2049-3D546450C9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4680" y="1178991"/>
            <a:ext cx="5242560" cy="5242560"/>
          </a:xfrm>
          <a:prstGeom prst="rect">
            <a:avLst/>
          </a:prstGeom>
        </p:spPr>
      </p:pic>
      <p:sp>
        <p:nvSpPr>
          <p:cNvPr id="9" name="文本框 8">
            <a:extLst>
              <a:ext uri="{FF2B5EF4-FFF2-40B4-BE49-F238E27FC236}">
                <a16:creationId xmlns:a16="http://schemas.microsoft.com/office/drawing/2014/main" id="{BF641647-940F-3B0D-D1AE-2AE33B155761}"/>
              </a:ext>
            </a:extLst>
          </p:cNvPr>
          <p:cNvSpPr txBox="1"/>
          <p:nvPr/>
        </p:nvSpPr>
        <p:spPr>
          <a:xfrm>
            <a:off x="6334762" y="4143182"/>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Improvement of Experiment</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0" name="文本框 9">
            <a:extLst>
              <a:ext uri="{FF2B5EF4-FFF2-40B4-BE49-F238E27FC236}">
                <a16:creationId xmlns:a16="http://schemas.microsoft.com/office/drawing/2014/main" id="{9E884849-8545-41DF-D9B9-C71D131D0272}"/>
              </a:ext>
            </a:extLst>
          </p:cNvPr>
          <p:cNvSpPr txBox="1"/>
          <p:nvPr/>
        </p:nvSpPr>
        <p:spPr>
          <a:xfrm>
            <a:off x="6334762" y="4666402"/>
            <a:ext cx="9271584" cy="1200329"/>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Discard circles that are too small</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Set the keys to F and J</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Add white board</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080556FF-7DF9-70C8-520D-BF843F134135}"/>
              </a:ext>
            </a:extLst>
          </p:cNvPr>
          <p:cNvPicPr>
            <a:picLocks noChangeAspect="1"/>
          </p:cNvPicPr>
          <p:nvPr/>
        </p:nvPicPr>
        <p:blipFill>
          <a:blip r:embed="rId4"/>
          <a:stretch>
            <a:fillRect/>
          </a:stretch>
        </p:blipFill>
        <p:spPr>
          <a:xfrm>
            <a:off x="6541171" y="1220219"/>
            <a:ext cx="4429383" cy="2309072"/>
          </a:xfrm>
          <a:prstGeom prst="rect">
            <a:avLst/>
          </a:prstGeom>
        </p:spPr>
      </p:pic>
      <p:sp>
        <p:nvSpPr>
          <p:cNvPr id="13" name="文本框 12">
            <a:extLst>
              <a:ext uri="{FF2B5EF4-FFF2-40B4-BE49-F238E27FC236}">
                <a16:creationId xmlns:a16="http://schemas.microsoft.com/office/drawing/2014/main" id="{2BBC38C3-868F-C8F8-A851-696D0E89E879}"/>
              </a:ext>
            </a:extLst>
          </p:cNvPr>
          <p:cNvSpPr txBox="1"/>
          <p:nvPr/>
        </p:nvSpPr>
        <p:spPr>
          <a:xfrm>
            <a:off x="7634723" y="3529291"/>
            <a:ext cx="5163609" cy="400110"/>
          </a:xfrm>
          <a:prstGeom prst="rect">
            <a:avLst/>
          </a:prstGeom>
          <a:noFill/>
        </p:spPr>
        <p:txBody>
          <a:bodyPr wrap="square" rtlCol="0">
            <a:spAutoFit/>
          </a:bodyPr>
          <a:lstStyle/>
          <a:p>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A </a:t>
            </a:r>
            <a:r>
              <a:rPr lang="en-US" altLang="zh-CN" sz="20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dig</a:t>
            </a:r>
            <a:r>
              <a:rPr lang="en-US" altLang="zh-CN" sz="2000" dirty="0">
                <a:latin typeface="Times New Roman" panose="02020603050405020304" pitchFamily="18" charset="0"/>
                <a:ea typeface="方正小标宋简体" panose="03000509000000000000" pitchFamily="65" charset="-122"/>
                <a:cs typeface="Times New Roman" panose="02020603050405020304" pitchFamily="18" charset="0"/>
              </a:rPr>
              <a:t> in the middle</a:t>
            </a:r>
          </a:p>
        </p:txBody>
      </p:sp>
    </p:spTree>
    <p:extLst>
      <p:ext uri="{BB962C8B-B14F-4D97-AF65-F5344CB8AC3E}">
        <p14:creationId xmlns:p14="http://schemas.microsoft.com/office/powerpoint/2010/main" val="1908371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60E98-16E7-E4B5-AE24-FB5D0E5A20FE}"/>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32B50890-C6BC-C9A9-93AC-CBE5F2E09D78}"/>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9D8B75BD-087C-591A-2A22-4696022AEA1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F4457581-3A2F-B87C-BCE8-F2C2B5C29257}"/>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2B566610-C896-728A-8B59-72EB124F4CC5}"/>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0559E6CA-4232-BAD7-B1E6-72AF109E33BA}"/>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CD939D32-B88E-ED88-1B90-166CA85FA174}"/>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4981CEE0-1D94-7A01-A3AF-1C8EBB58177F}"/>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A043092E-0855-CAB6-6AEC-2E8525D8C564}"/>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662E10DF-3D02-22D4-8AA6-E06B60DECE15}"/>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06EF67B6-487C-07D1-4726-CC48CC691A9B}"/>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04DEADA8-8E4B-071E-19B8-AA22E88D61DF}"/>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DE778376-A113-C890-CAFD-5E86DF97E705}"/>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00957FFA-129C-2858-390F-EBACB42089F7}"/>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49723670-2B9F-C268-40E1-852678AD8C93}"/>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19EED1E6-6799-1F19-9462-96DA25D2DF8D}"/>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FA28E867-49A1-73A2-6538-DA80EDE2C059}"/>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8EC0E9AB-398A-E254-584A-C821AF9DD642}"/>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731FFF47-55B6-9FE8-93D5-0DD968A858D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8365F07B-E307-8E3A-CC0D-C7FD9D6C5489}"/>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7DC4C109-E6B1-012D-A8D1-E2EAB1EB973E}"/>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E4CAD323-09E7-B59E-F262-8C1A62997B35}"/>
              </a:ext>
            </a:extLst>
          </p:cNvPr>
          <p:cNvSpPr txBox="1"/>
          <p:nvPr/>
        </p:nvSpPr>
        <p:spPr>
          <a:xfrm>
            <a:off x="5273038" y="4428239"/>
            <a:ext cx="6410178" cy="52322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6F0CD86D-0340-149C-48D2-AE2083C26123}"/>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91E366C9-7CD1-AB3D-04CB-6F24110E324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D39B8A90-0823-94FD-C3DF-F45CEAC7294A}"/>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DE82A7AC-3B44-144C-270D-EF2D0D861DEF}"/>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A2302F2-C8BE-13D1-B200-FC49E1EF604C}"/>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1914086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3029-171E-81D0-DC19-C9FD7C68C38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F2B4AE9-625A-3A3D-A806-30F232FBFF5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3CA5A4F-7F88-3937-2ED4-175D88317DA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B55D8894-AC20-9608-A903-FB1753A88E2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B48E5A8-85CE-D2EA-C5C2-C2DAE474A83F}"/>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6CFB4DD-B9C9-449E-02FE-49001B7B6EF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A140871-055B-AE48-987B-1AD77EBBBC1F}"/>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1" name="图片 10">
            <a:extLst>
              <a:ext uri="{FF2B5EF4-FFF2-40B4-BE49-F238E27FC236}">
                <a16:creationId xmlns:a16="http://schemas.microsoft.com/office/drawing/2014/main" id="{D2451F39-F435-6BE9-2114-54ED33C2F820}"/>
              </a:ext>
            </a:extLst>
          </p:cNvPr>
          <p:cNvPicPr>
            <a:picLocks noChangeAspect="1"/>
          </p:cNvPicPr>
          <p:nvPr/>
        </p:nvPicPr>
        <p:blipFill>
          <a:blip r:embed="rId3"/>
          <a:stretch>
            <a:fillRect/>
          </a:stretch>
        </p:blipFill>
        <p:spPr>
          <a:xfrm>
            <a:off x="614679" y="4410606"/>
            <a:ext cx="9376464" cy="829326"/>
          </a:xfrm>
          <a:prstGeom prst="rect">
            <a:avLst/>
          </a:prstGeom>
        </p:spPr>
      </p:pic>
      <p:pic>
        <p:nvPicPr>
          <p:cNvPr id="8" name="图片 7">
            <a:extLst>
              <a:ext uri="{FF2B5EF4-FFF2-40B4-BE49-F238E27FC236}">
                <a16:creationId xmlns:a16="http://schemas.microsoft.com/office/drawing/2014/main" id="{7B110535-B7F5-8771-2408-7856C94490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96772" y="468691"/>
            <a:ext cx="4180548" cy="1383972"/>
          </a:xfrm>
          <a:prstGeom prst="rect">
            <a:avLst/>
          </a:prstGeom>
        </p:spPr>
      </p:pic>
      <p:sp>
        <p:nvSpPr>
          <p:cNvPr id="9" name="矩形 8">
            <a:extLst>
              <a:ext uri="{FF2B5EF4-FFF2-40B4-BE49-F238E27FC236}">
                <a16:creationId xmlns:a16="http://schemas.microsoft.com/office/drawing/2014/main" id="{38B6DBD9-23FD-83EE-3FCE-687C09BE3A86}"/>
              </a:ext>
            </a:extLst>
          </p:cNvPr>
          <p:cNvSpPr/>
          <p:nvPr/>
        </p:nvSpPr>
        <p:spPr>
          <a:xfrm>
            <a:off x="580023" y="2357965"/>
            <a:ext cx="9588863" cy="524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文本框 9">
            <a:extLst>
              <a:ext uri="{FF2B5EF4-FFF2-40B4-BE49-F238E27FC236}">
                <a16:creationId xmlns:a16="http://schemas.microsoft.com/office/drawing/2014/main" id="{612CD054-D853-BD56-3230-FE928AE3DBB2}"/>
              </a:ext>
            </a:extLst>
          </p:cNvPr>
          <p:cNvSpPr txBox="1"/>
          <p:nvPr/>
        </p:nvSpPr>
        <p:spPr>
          <a:xfrm>
            <a:off x="614679" y="2357965"/>
            <a:ext cx="9588863"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As fast as possible while ensuring a certain level of accuracy.</a:t>
            </a:r>
          </a:p>
        </p:txBody>
      </p:sp>
      <p:sp>
        <p:nvSpPr>
          <p:cNvPr id="12" name="文本框 11">
            <a:extLst>
              <a:ext uri="{FF2B5EF4-FFF2-40B4-BE49-F238E27FC236}">
                <a16:creationId xmlns:a16="http://schemas.microsoft.com/office/drawing/2014/main" id="{8319CF76-7499-09CE-9E66-36466649E5CF}"/>
              </a:ext>
            </a:extLst>
          </p:cNvPr>
          <p:cNvSpPr txBox="1"/>
          <p:nvPr/>
        </p:nvSpPr>
        <p:spPr>
          <a:xfrm>
            <a:off x="614680" y="161368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DB6A9092-4D27-7F49-DF36-AFA5CB287CDC}"/>
              </a:ext>
            </a:extLst>
          </p:cNvPr>
          <p:cNvSpPr txBox="1"/>
          <p:nvPr/>
        </p:nvSpPr>
        <p:spPr>
          <a:xfrm>
            <a:off x="580023" y="3664767"/>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Collapsing Bound Fitting</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68192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6CCC2-0BBC-E2DD-7947-D2DB79753554}"/>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9969B0B0-F040-4E3F-CE2C-2D1B1DAB343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B99AD86-C000-8730-1302-6E3D83EDA45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6428E71B-3544-F472-934B-63F0EC079218}"/>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3C3D475F-AD51-E84F-D582-C01F3B4A852B}"/>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9BE98C0-9AC6-4AA5-B827-5E17D14A15A1}"/>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4" name="图片 13">
            <a:extLst>
              <a:ext uri="{FF2B5EF4-FFF2-40B4-BE49-F238E27FC236}">
                <a16:creationId xmlns:a16="http://schemas.microsoft.com/office/drawing/2014/main" id="{A68A8AFF-14C3-1E5A-174C-37C2CE031A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7797" y="569950"/>
            <a:ext cx="5326335" cy="5326335"/>
          </a:xfrm>
          <a:prstGeom prst="rect">
            <a:avLst/>
          </a:prstGeom>
        </p:spPr>
      </p:pic>
      <p:pic>
        <p:nvPicPr>
          <p:cNvPr id="17" name="图片 16">
            <a:extLst>
              <a:ext uri="{FF2B5EF4-FFF2-40B4-BE49-F238E27FC236}">
                <a16:creationId xmlns:a16="http://schemas.microsoft.com/office/drawing/2014/main" id="{BADB6AC4-3CF9-D87A-5112-AE8032AFD1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866" y="2554926"/>
            <a:ext cx="5568931" cy="3341359"/>
          </a:xfrm>
          <a:prstGeom prst="rect">
            <a:avLst/>
          </a:prstGeom>
        </p:spPr>
      </p:pic>
      <p:sp>
        <p:nvSpPr>
          <p:cNvPr id="18" name="文本框 17">
            <a:extLst>
              <a:ext uri="{FF2B5EF4-FFF2-40B4-BE49-F238E27FC236}">
                <a16:creationId xmlns:a16="http://schemas.microsoft.com/office/drawing/2014/main" id="{66EEB029-167B-3105-A5BC-01958B5E7419}"/>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Basic DDM</a:t>
            </a:r>
          </a:p>
        </p:txBody>
      </p:sp>
      <p:sp>
        <p:nvSpPr>
          <p:cNvPr id="3" name="文本框 2">
            <a:extLst>
              <a:ext uri="{FF2B5EF4-FFF2-40B4-BE49-F238E27FC236}">
                <a16:creationId xmlns:a16="http://schemas.microsoft.com/office/drawing/2014/main" id="{ECDC3296-613B-56E1-F982-6270D0D15FB5}"/>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923903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3A915-2D29-BAF2-0EFC-6949D472954A}"/>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57E9A64-65B8-9BC4-2E25-311939F5BDB0}"/>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1C003BD4-4C24-3DD8-D580-346F254F7C9D}"/>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5CF30142-1927-710A-8E9E-C1E5B1319A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112A06C-BA43-8D18-BF8D-FDA7F8633AA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DD094367-FC2D-D5AA-1BF8-3116069CEF4A}"/>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7" name="图片 6">
            <a:extLst>
              <a:ext uri="{FF2B5EF4-FFF2-40B4-BE49-F238E27FC236}">
                <a16:creationId xmlns:a16="http://schemas.microsoft.com/office/drawing/2014/main" id="{8F7E9612-C8B5-9E37-C455-092CAAE37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069" y="2554926"/>
            <a:ext cx="5568931" cy="3341359"/>
          </a:xfrm>
          <a:prstGeom prst="rect">
            <a:avLst/>
          </a:prstGeom>
        </p:spPr>
      </p:pic>
      <p:pic>
        <p:nvPicPr>
          <p:cNvPr id="10" name="图片 9">
            <a:extLst>
              <a:ext uri="{FF2B5EF4-FFF2-40B4-BE49-F238E27FC236}">
                <a16:creationId xmlns:a16="http://schemas.microsoft.com/office/drawing/2014/main" id="{840E846F-8FE5-DEA2-2BA4-B084BEB883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7797" y="569949"/>
            <a:ext cx="5326336" cy="5326336"/>
          </a:xfrm>
          <a:prstGeom prst="rect">
            <a:avLst/>
          </a:prstGeom>
        </p:spPr>
      </p:pic>
      <p:sp>
        <p:nvSpPr>
          <p:cNvPr id="11" name="文本框 10">
            <a:extLst>
              <a:ext uri="{FF2B5EF4-FFF2-40B4-BE49-F238E27FC236}">
                <a16:creationId xmlns:a16="http://schemas.microsoft.com/office/drawing/2014/main" id="{FEA41FEF-3D72-3E99-0E36-BB930A92FF1D}"/>
              </a:ext>
            </a:extLst>
          </p:cNvPr>
          <p:cNvSpPr txBox="1"/>
          <p:nvPr/>
        </p:nvSpPr>
        <p:spPr>
          <a:xfrm>
            <a:off x="1083816" y="1611764"/>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Collapsing Bound DDM</a:t>
            </a:r>
          </a:p>
        </p:txBody>
      </p:sp>
      <p:sp>
        <p:nvSpPr>
          <p:cNvPr id="9" name="文本框 8">
            <a:extLst>
              <a:ext uri="{FF2B5EF4-FFF2-40B4-BE49-F238E27FC236}">
                <a16:creationId xmlns:a16="http://schemas.microsoft.com/office/drawing/2014/main" id="{7D92F3D1-60F8-6598-E814-99A06A6CE7E6}"/>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 - Time Pressure</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827878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E98D-2F96-5E31-125A-DB53AE06D1A6}"/>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CA7F3BDB-3ECA-3410-F32B-F47664B1D679}"/>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DE2CA395-A3F1-362A-B54E-530ABFAE9D2A}"/>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A8417603-AE4D-C5F7-6710-74A005B243E6}"/>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F66A0D55-C4CB-D956-3F56-8483C7E14D2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D42CB4-6EF2-4A2B-B98B-2ACBB4930470}"/>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26CB12E5-A5BA-DE9B-48FA-C312078D7698}"/>
              </a:ext>
            </a:extLst>
          </p:cNvPr>
          <p:cNvSpPr txBox="1"/>
          <p:nvPr/>
        </p:nvSpPr>
        <p:spPr>
          <a:xfrm>
            <a:off x="509271" y="468691"/>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12" name="图片 11">
            <a:extLst>
              <a:ext uri="{FF2B5EF4-FFF2-40B4-BE49-F238E27FC236}">
                <a16:creationId xmlns:a16="http://schemas.microsoft.com/office/drawing/2014/main" id="{6D7105E5-2EFC-A5A4-9CE5-CC685BFC51C6}"/>
              </a:ext>
            </a:extLst>
          </p:cNvPr>
          <p:cNvPicPr>
            <a:picLocks noChangeAspect="1"/>
          </p:cNvPicPr>
          <p:nvPr/>
        </p:nvPicPr>
        <p:blipFill>
          <a:blip r:embed="rId3" cstate="print">
            <a:extLst>
              <a:ext uri="{28A0092B-C50C-407E-A947-70E740481C1C}">
                <a14:useLocalDpi xmlns:a14="http://schemas.microsoft.com/office/drawing/2010/main" val="0"/>
              </a:ext>
            </a:extLst>
          </a:blip>
          <a:srcRect l="7180" r="6070" b="7861"/>
          <a:stretch/>
        </p:blipFill>
        <p:spPr>
          <a:xfrm>
            <a:off x="7641940" y="889867"/>
            <a:ext cx="4208878" cy="5211687"/>
          </a:xfrm>
          <a:prstGeom prst="rect">
            <a:avLst/>
          </a:prstGeom>
        </p:spPr>
      </p:pic>
      <p:sp>
        <p:nvSpPr>
          <p:cNvPr id="13" name="文本框 12">
            <a:extLst>
              <a:ext uri="{FF2B5EF4-FFF2-40B4-BE49-F238E27FC236}">
                <a16:creationId xmlns:a16="http://schemas.microsoft.com/office/drawing/2014/main" id="{E916588C-5EBC-C8CA-52EE-F6A57CC2301E}"/>
              </a:ext>
            </a:extLst>
          </p:cNvPr>
          <p:cNvSpPr txBox="1"/>
          <p:nvPr/>
        </p:nvSpPr>
        <p:spPr>
          <a:xfrm>
            <a:off x="648812" y="1494612"/>
            <a:ext cx="6761935" cy="2677656"/>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 basic experiment: always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symmetrical</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results </a:t>
            </a:r>
          </a:p>
          <a:p>
            <a:pPr algn="l"/>
            <a:endPar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endParaRPr>
          </a:p>
          <a:p>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Human decision-making is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asymmetrical</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in reality </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Teacher’s advise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Asymmetric priors</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 Film language</a:t>
            </a:r>
          </a:p>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14" name="文本框 13">
            <a:extLst>
              <a:ext uri="{FF2B5EF4-FFF2-40B4-BE49-F238E27FC236}">
                <a16:creationId xmlns:a16="http://schemas.microsoft.com/office/drawing/2014/main" id="{ACAF3002-E187-7E06-DC0A-9FC0C4A2931F}"/>
              </a:ext>
            </a:extLst>
          </p:cNvPr>
          <p:cNvSpPr txBox="1"/>
          <p:nvPr/>
        </p:nvSpPr>
        <p:spPr>
          <a:xfrm>
            <a:off x="509271" y="4235386"/>
            <a:ext cx="726972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Asymmetrical Priors in humans’ decision</a:t>
            </a:r>
          </a:p>
        </p:txBody>
      </p:sp>
      <p:sp>
        <p:nvSpPr>
          <p:cNvPr id="15" name="矩形 14">
            <a:extLst>
              <a:ext uri="{FF2B5EF4-FFF2-40B4-BE49-F238E27FC236}">
                <a16:creationId xmlns:a16="http://schemas.microsoft.com/office/drawing/2014/main" id="{19850608-2C17-BD1E-7CD7-4B4402D5D07F}"/>
              </a:ext>
            </a:extLst>
          </p:cNvPr>
          <p:cNvSpPr/>
          <p:nvPr/>
        </p:nvSpPr>
        <p:spPr>
          <a:xfrm>
            <a:off x="580023" y="5804035"/>
            <a:ext cx="5711595" cy="5247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 name="文本框 15">
            <a:extLst>
              <a:ext uri="{FF2B5EF4-FFF2-40B4-BE49-F238E27FC236}">
                <a16:creationId xmlns:a16="http://schemas.microsoft.com/office/drawing/2014/main" id="{0632C039-0FEA-E204-D8A9-091E3AF5F5D0}"/>
              </a:ext>
            </a:extLst>
          </p:cNvPr>
          <p:cNvSpPr txBox="1"/>
          <p:nvPr/>
        </p:nvSpPr>
        <p:spPr>
          <a:xfrm>
            <a:off x="614679" y="5804035"/>
            <a:ext cx="5758825" cy="461665"/>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75% left is bigger / right is bigger </a:t>
            </a:r>
          </a:p>
        </p:txBody>
      </p:sp>
      <p:sp>
        <p:nvSpPr>
          <p:cNvPr id="17" name="文本框 16">
            <a:extLst>
              <a:ext uri="{FF2B5EF4-FFF2-40B4-BE49-F238E27FC236}">
                <a16:creationId xmlns:a16="http://schemas.microsoft.com/office/drawing/2014/main" id="{4D38DBE2-CD30-9168-863A-30F7A297BECB}"/>
              </a:ext>
            </a:extLst>
          </p:cNvPr>
          <p:cNvSpPr txBox="1"/>
          <p:nvPr/>
        </p:nvSpPr>
        <p:spPr>
          <a:xfrm>
            <a:off x="614680" y="5059759"/>
            <a:ext cx="6564874"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Settings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9867767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A920B-3A9F-A166-941A-0B327702CA63}"/>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5479A21-5884-1CED-EDC4-260871EC21FE}"/>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46CE2C30-7C21-3609-7AA4-4973CE8D4F91}"/>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CC8A043-08E0-AA96-7B33-B795E365F08A}"/>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E337AECA-F6BE-5806-BA7A-C18B9E459CE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35D59B5-61C5-0786-788B-C55B2E285F98}"/>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6EB3D299-BF94-3274-B108-133E59F99F17}"/>
              </a:ext>
            </a:extLst>
          </p:cNvPr>
          <p:cNvSpPr txBox="1"/>
          <p:nvPr/>
        </p:nvSpPr>
        <p:spPr>
          <a:xfrm>
            <a:off x="681444" y="1203883"/>
            <a:ext cx="5414556"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Without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 left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6" name="图片 5">
            <a:extLst>
              <a:ext uri="{FF2B5EF4-FFF2-40B4-BE49-F238E27FC236}">
                <a16:creationId xmlns:a16="http://schemas.microsoft.com/office/drawing/2014/main" id="{1DD0F2B0-6344-D8B7-E9B6-D7F6B47D79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06885" y="1761605"/>
            <a:ext cx="4679915" cy="4679915"/>
          </a:xfrm>
          <a:prstGeom prst="rect">
            <a:avLst/>
          </a:prstGeom>
        </p:spPr>
      </p:pic>
      <p:sp>
        <p:nvSpPr>
          <p:cNvPr id="9" name="文本框 8">
            <a:extLst>
              <a:ext uri="{FF2B5EF4-FFF2-40B4-BE49-F238E27FC236}">
                <a16:creationId xmlns:a16="http://schemas.microsoft.com/office/drawing/2014/main" id="{81B85D5E-2656-5BAD-BF35-BA8070425134}"/>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4468017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675C7-50A3-C0A6-3C14-FC06D4838C92}"/>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616B8964-1F29-7E59-D080-A533F4E4B5B8}"/>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36C50DBA-8BBB-FEEE-4E87-183A7B9E3532}"/>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8902330F-AB05-2388-5498-4CB13DCD431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14836A7-92B2-0701-2351-56441286408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BF56EE-9E75-A87C-6084-19567555A56D}"/>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0" name="图片 9">
            <a:extLst>
              <a:ext uri="{FF2B5EF4-FFF2-40B4-BE49-F238E27FC236}">
                <a16:creationId xmlns:a16="http://schemas.microsoft.com/office/drawing/2014/main" id="{0813D221-8A97-3EA6-BF0B-764CBABB6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56393" y="536836"/>
            <a:ext cx="5326336" cy="5326336"/>
          </a:xfrm>
          <a:prstGeom prst="rect">
            <a:avLst/>
          </a:prstGeom>
        </p:spPr>
      </p:pic>
      <p:sp>
        <p:nvSpPr>
          <p:cNvPr id="11" name="文本框 10">
            <a:extLst>
              <a:ext uri="{FF2B5EF4-FFF2-40B4-BE49-F238E27FC236}">
                <a16:creationId xmlns:a16="http://schemas.microsoft.com/office/drawing/2014/main" id="{AF660CCD-298E-7CEE-4833-ADD0893B7C24}"/>
              </a:ext>
            </a:extLst>
          </p:cNvPr>
          <p:cNvSpPr txBox="1"/>
          <p:nvPr/>
        </p:nvSpPr>
        <p:spPr>
          <a:xfrm>
            <a:off x="655068" y="1396536"/>
            <a:ext cx="5281707"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With Bias</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75% right is bigger</a:t>
            </a:r>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endPar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pic>
        <p:nvPicPr>
          <p:cNvPr id="6" name="图片 5">
            <a:extLst>
              <a:ext uri="{FF2B5EF4-FFF2-40B4-BE49-F238E27FC236}">
                <a16:creationId xmlns:a16="http://schemas.microsoft.com/office/drawing/2014/main" id="{E7DF0CCD-6D79-A41F-9608-C6044A2FB1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27478" y="543329"/>
            <a:ext cx="5384165" cy="5384165"/>
          </a:xfrm>
          <a:prstGeom prst="rect">
            <a:avLst/>
          </a:prstGeom>
        </p:spPr>
      </p:pic>
      <p:pic>
        <p:nvPicPr>
          <p:cNvPr id="9" name="图片 8">
            <a:extLst>
              <a:ext uri="{FF2B5EF4-FFF2-40B4-BE49-F238E27FC236}">
                <a16:creationId xmlns:a16="http://schemas.microsoft.com/office/drawing/2014/main" id="{87650F16-47EA-6E1A-2274-D5B0EAD427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64864" y="617968"/>
            <a:ext cx="5384164" cy="5384164"/>
          </a:xfrm>
          <a:prstGeom prst="rect">
            <a:avLst/>
          </a:prstGeom>
        </p:spPr>
      </p:pic>
      <p:pic>
        <p:nvPicPr>
          <p:cNvPr id="13" name="图片 12">
            <a:extLst>
              <a:ext uri="{FF2B5EF4-FFF2-40B4-BE49-F238E27FC236}">
                <a16:creationId xmlns:a16="http://schemas.microsoft.com/office/drawing/2014/main" id="{F71BE49A-42BE-4AE3-7D9E-7622F29E9A6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0360" y="2928925"/>
            <a:ext cx="5440931" cy="3264559"/>
          </a:xfrm>
          <a:prstGeom prst="rect">
            <a:avLst/>
          </a:prstGeom>
        </p:spPr>
      </p:pic>
      <p:pic>
        <p:nvPicPr>
          <p:cNvPr id="16" name="图片 15">
            <a:extLst>
              <a:ext uri="{FF2B5EF4-FFF2-40B4-BE49-F238E27FC236}">
                <a16:creationId xmlns:a16="http://schemas.microsoft.com/office/drawing/2014/main" id="{420FB6A3-CD92-5946-8CE9-261763FA669E}"/>
              </a:ext>
            </a:extLst>
          </p:cNvPr>
          <p:cNvPicPr>
            <a:picLocks noChangeAspect="1"/>
          </p:cNvPicPr>
          <p:nvPr/>
        </p:nvPicPr>
        <p:blipFill>
          <a:blip r:embed="rId7"/>
          <a:stretch>
            <a:fillRect/>
          </a:stretch>
        </p:blipFill>
        <p:spPr>
          <a:xfrm>
            <a:off x="1094405" y="2150973"/>
            <a:ext cx="3932840" cy="726923"/>
          </a:xfrm>
          <a:prstGeom prst="rect">
            <a:avLst/>
          </a:prstGeom>
        </p:spPr>
      </p:pic>
      <p:sp>
        <p:nvSpPr>
          <p:cNvPr id="7" name="文本框 6">
            <a:extLst>
              <a:ext uri="{FF2B5EF4-FFF2-40B4-BE49-F238E27FC236}">
                <a16:creationId xmlns:a16="http://schemas.microsoft.com/office/drawing/2014/main" id="{50D9DF2B-70E4-3EA3-3BDE-6A86A42DD9C2}"/>
              </a:ext>
            </a:extLst>
          </p:cNvPr>
          <p:cNvSpPr txBox="1"/>
          <p:nvPr/>
        </p:nvSpPr>
        <p:spPr>
          <a:xfrm>
            <a:off x="1085713" y="6156597"/>
            <a:ext cx="9974729" cy="646331"/>
          </a:xfrm>
          <a:prstGeom prst="rect">
            <a:avLst/>
          </a:prstGeom>
          <a:noFill/>
        </p:spPr>
        <p:txBody>
          <a:bodyPr wrap="square">
            <a:spAutoFit/>
          </a:bodyPr>
          <a:lstStyle/>
          <a:p>
            <a:r>
              <a:rPr lang="en-US" altLang="zh-CN" dirty="0"/>
              <a:t>[3]R. Ratcliff and G. </a:t>
            </a:r>
            <a:r>
              <a:rPr lang="en-US" altLang="zh-CN" dirty="0" err="1"/>
              <a:t>McKoon</a:t>
            </a:r>
            <a:r>
              <a:rPr lang="en-US" altLang="zh-CN" dirty="0"/>
              <a:t>, “The Diffusion Decision Model: Theory and Data for Two-Choice Decision Tasks,” Neural Computation, vol. 20, pp. 873–922, Apr. 2008.</a:t>
            </a:r>
            <a:endParaRPr lang="zh-CN" altLang="en-US" dirty="0"/>
          </a:p>
        </p:txBody>
      </p:sp>
      <p:sp>
        <p:nvSpPr>
          <p:cNvPr id="15" name="文本框 14">
            <a:extLst>
              <a:ext uri="{FF2B5EF4-FFF2-40B4-BE49-F238E27FC236}">
                <a16:creationId xmlns:a16="http://schemas.microsoft.com/office/drawing/2014/main" id="{79DFD009-C930-D6C7-4F55-C2FF7EE9BB86}"/>
              </a:ext>
            </a:extLst>
          </p:cNvPr>
          <p:cNvSpPr txBox="1"/>
          <p:nvPr/>
        </p:nvSpPr>
        <p:spPr>
          <a:xfrm>
            <a:off x="509271" y="477382"/>
            <a:ext cx="7215362" cy="1200329"/>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 - Asymmetrical Priors</a:t>
            </a:r>
          </a:p>
          <a:p>
            <a:pPr algn="l"/>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10372573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88912-08A4-976F-D54F-B1531CA5CA9B}"/>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EC0409E9-AE51-3C5D-CBE6-0DD1FF1F9861}"/>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0F1AE2E8-8487-0657-F647-AF57B09FD94F}"/>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405A0342-6126-C806-08FA-72E5F116E8BD}"/>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C931364-8F92-0F30-64DF-DE28FAD19523}"/>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9AA122D-0E66-1FF8-6805-C24BE407E5B3}"/>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E33B0C7A-1F4C-5B54-8329-8EFD9A8227E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sp>
        <p:nvSpPr>
          <p:cNvPr id="13" name="文本框 12">
            <a:extLst>
              <a:ext uri="{FF2B5EF4-FFF2-40B4-BE49-F238E27FC236}">
                <a16:creationId xmlns:a16="http://schemas.microsoft.com/office/drawing/2014/main" id="{098AC025-22B8-B713-E24E-E2D50387070E}"/>
              </a:ext>
            </a:extLst>
          </p:cNvPr>
          <p:cNvSpPr txBox="1"/>
          <p:nvPr/>
        </p:nvSpPr>
        <p:spPr>
          <a:xfrm>
            <a:off x="741158" y="1329838"/>
            <a:ext cx="6203862" cy="1200329"/>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We once got a totally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weird</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data in Variant II.</a:t>
            </a:r>
          </a:p>
          <a:p>
            <a:pPr algn="l"/>
            <a:endPar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endParaRPr>
          </a:p>
          <a:p>
            <a:pPr algn="l"/>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Why? </a:t>
            </a:r>
          </a:p>
        </p:txBody>
      </p:sp>
      <p:sp>
        <p:nvSpPr>
          <p:cNvPr id="3" name="文本框 2">
            <a:extLst>
              <a:ext uri="{FF2B5EF4-FFF2-40B4-BE49-F238E27FC236}">
                <a16:creationId xmlns:a16="http://schemas.microsoft.com/office/drawing/2014/main" id="{EF8B0D8A-6631-C6FB-E610-2569764A5AD6}"/>
              </a:ext>
            </a:extLst>
          </p:cNvPr>
          <p:cNvSpPr txBox="1"/>
          <p:nvPr/>
        </p:nvSpPr>
        <p:spPr>
          <a:xfrm>
            <a:off x="741158" y="2785962"/>
            <a:ext cx="9271584"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Noise</a:t>
            </a:r>
          </a:p>
        </p:txBody>
      </p:sp>
      <p:pic>
        <p:nvPicPr>
          <p:cNvPr id="8" name="图片 7">
            <a:extLst>
              <a:ext uri="{FF2B5EF4-FFF2-40B4-BE49-F238E27FC236}">
                <a16:creationId xmlns:a16="http://schemas.microsoft.com/office/drawing/2014/main" id="{834E1204-398A-C64D-9CC9-92645ECC2D35}"/>
              </a:ext>
            </a:extLst>
          </p:cNvPr>
          <p:cNvPicPr>
            <a:picLocks noChangeAspect="1"/>
          </p:cNvPicPr>
          <p:nvPr/>
        </p:nvPicPr>
        <p:blipFill>
          <a:blip r:embed="rId3"/>
          <a:stretch>
            <a:fillRect/>
          </a:stretch>
        </p:blipFill>
        <p:spPr>
          <a:xfrm>
            <a:off x="803512" y="3429000"/>
            <a:ext cx="5292488" cy="2824612"/>
          </a:xfrm>
          <a:prstGeom prst="rect">
            <a:avLst/>
          </a:prstGeom>
        </p:spPr>
      </p:pic>
      <p:pic>
        <p:nvPicPr>
          <p:cNvPr id="10" name="图片 9">
            <a:extLst>
              <a:ext uri="{FF2B5EF4-FFF2-40B4-BE49-F238E27FC236}">
                <a16:creationId xmlns:a16="http://schemas.microsoft.com/office/drawing/2014/main" id="{6A95C992-8C78-1ADA-F093-04D76D7BCF9C}"/>
              </a:ext>
            </a:extLst>
          </p:cNvPr>
          <p:cNvPicPr>
            <a:picLocks noChangeAspect="1"/>
          </p:cNvPicPr>
          <p:nvPr/>
        </p:nvPicPr>
        <p:blipFill>
          <a:blip r:embed="rId4"/>
          <a:stretch>
            <a:fillRect/>
          </a:stretch>
        </p:blipFill>
        <p:spPr>
          <a:xfrm>
            <a:off x="6599924" y="4082220"/>
            <a:ext cx="4880241" cy="1481652"/>
          </a:xfrm>
          <a:prstGeom prst="rect">
            <a:avLst/>
          </a:prstGeom>
        </p:spPr>
      </p:pic>
      <p:pic>
        <p:nvPicPr>
          <p:cNvPr id="11" name="图片 10">
            <a:extLst>
              <a:ext uri="{FF2B5EF4-FFF2-40B4-BE49-F238E27FC236}">
                <a16:creationId xmlns:a16="http://schemas.microsoft.com/office/drawing/2014/main" id="{7953A82A-DB77-E4CF-B4B1-5200BC0FA8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5368" y="678537"/>
            <a:ext cx="4855474" cy="2328549"/>
          </a:xfrm>
          <a:prstGeom prst="rect">
            <a:avLst/>
          </a:prstGeom>
        </p:spPr>
      </p:pic>
    </p:spTree>
    <p:extLst>
      <p:ext uri="{BB962C8B-B14F-4D97-AF65-F5344CB8AC3E}">
        <p14:creationId xmlns:p14="http://schemas.microsoft.com/office/powerpoint/2010/main" val="2906534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4747C-6CCB-BE39-BB20-F395A73ABAC1}"/>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7E0CADD6-0112-BE6A-A8F9-699750FB3C7C}"/>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2D88BAF2-2D02-DFD1-9808-9F3F2383629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705782B4-2D54-3C4F-C1BC-4AFCFA8CCB4C}"/>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FE989FD-8F18-3A8B-89B4-9E4D8BC3A9A9}"/>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821D09B-C68E-5AED-A0DD-43C97B494F6B}"/>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pic>
        <p:nvPicPr>
          <p:cNvPr id="14" name="图片 13">
            <a:extLst>
              <a:ext uri="{FF2B5EF4-FFF2-40B4-BE49-F238E27FC236}">
                <a16:creationId xmlns:a16="http://schemas.microsoft.com/office/drawing/2014/main" id="{4BF9D931-45ED-7B72-606F-225F1D7A69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1514" y="732512"/>
            <a:ext cx="4234490" cy="2540694"/>
          </a:xfrm>
          <a:prstGeom prst="rect">
            <a:avLst/>
          </a:prstGeom>
        </p:spPr>
      </p:pic>
      <p:sp>
        <p:nvSpPr>
          <p:cNvPr id="7" name="文本框 6">
            <a:extLst>
              <a:ext uri="{FF2B5EF4-FFF2-40B4-BE49-F238E27FC236}">
                <a16:creationId xmlns:a16="http://schemas.microsoft.com/office/drawing/2014/main" id="{0F0BB5C6-8901-0D67-37DB-4FA6A5D869FF}"/>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Variant III – Adding Noise</a:t>
            </a:r>
          </a:p>
        </p:txBody>
      </p:sp>
      <p:pic>
        <p:nvPicPr>
          <p:cNvPr id="6" name="图片 5">
            <a:extLst>
              <a:ext uri="{FF2B5EF4-FFF2-40B4-BE49-F238E27FC236}">
                <a16:creationId xmlns:a16="http://schemas.microsoft.com/office/drawing/2014/main" id="{DDDD3855-DD09-8042-40D9-FC72C97C17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9004" y="3603089"/>
            <a:ext cx="4234490" cy="2540694"/>
          </a:xfrm>
          <a:prstGeom prst="rect">
            <a:avLst/>
          </a:prstGeom>
        </p:spPr>
      </p:pic>
      <p:sp>
        <p:nvSpPr>
          <p:cNvPr id="3" name="文本框 2">
            <a:extLst>
              <a:ext uri="{FF2B5EF4-FFF2-40B4-BE49-F238E27FC236}">
                <a16:creationId xmlns:a16="http://schemas.microsoft.com/office/drawing/2014/main" id="{66158DA4-0E54-91B6-304A-06E1B21B4263}"/>
              </a:ext>
            </a:extLst>
          </p:cNvPr>
          <p:cNvSpPr txBox="1"/>
          <p:nvPr/>
        </p:nvSpPr>
        <p:spPr>
          <a:xfrm>
            <a:off x="8376884" y="3183070"/>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Without noise</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9" name="文本框 8">
            <a:extLst>
              <a:ext uri="{FF2B5EF4-FFF2-40B4-BE49-F238E27FC236}">
                <a16:creationId xmlns:a16="http://schemas.microsoft.com/office/drawing/2014/main" id="{5AE4BA0A-B1E7-12AB-E521-9124406755CA}"/>
              </a:ext>
            </a:extLst>
          </p:cNvPr>
          <p:cNvSpPr txBox="1"/>
          <p:nvPr/>
        </p:nvSpPr>
        <p:spPr>
          <a:xfrm>
            <a:off x="8500186" y="6143783"/>
            <a:ext cx="4054957" cy="369332"/>
          </a:xfrm>
          <a:prstGeom prst="rect">
            <a:avLst/>
          </a:prstGeom>
          <a:noFill/>
        </p:spPr>
        <p:txBody>
          <a:bodyPr wrap="square" rtlCol="0">
            <a:spAutoFit/>
          </a:bodyPr>
          <a:lstStyle/>
          <a:p>
            <a:pPr algn="l"/>
            <a:r>
              <a:rPr lang="en-US" altLang="zh-CN" dirty="0">
                <a:latin typeface="Times New Roman" panose="02020603050405020304" pitchFamily="18" charset="0"/>
                <a:ea typeface="方正小标宋简体" panose="03000509000000000000" pitchFamily="65" charset="-122"/>
                <a:cs typeface="Times New Roman" panose="02020603050405020304" pitchFamily="18" charset="0"/>
              </a:rPr>
              <a:t>With noise</a:t>
            </a:r>
            <a:endParaRPr lang="zh-CN" altLang="en-US"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0" name="矩形 9">
            <a:extLst>
              <a:ext uri="{FF2B5EF4-FFF2-40B4-BE49-F238E27FC236}">
                <a16:creationId xmlns:a16="http://schemas.microsoft.com/office/drawing/2014/main" id="{F31BB530-179D-8D90-3639-204221EA65CE}"/>
              </a:ext>
            </a:extLst>
          </p:cNvPr>
          <p:cNvSpPr/>
          <p:nvPr/>
        </p:nvSpPr>
        <p:spPr>
          <a:xfrm>
            <a:off x="617773" y="1923820"/>
            <a:ext cx="6402855" cy="26373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ABE8BC77-473B-AF51-04DC-F11B1AF30CE8}"/>
                  </a:ext>
                </a:extLst>
              </p:cNvPr>
              <p:cNvSpPr txBox="1"/>
              <p:nvPr/>
            </p:nvSpPr>
            <p:spPr>
              <a:xfrm>
                <a:off x="617772" y="2119044"/>
                <a:ext cx="6200337" cy="2308324"/>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Lower accuracy</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Longer reaction times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best DDM parameters changes with noise:</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Drift rate:   2.25 </a:t>
                </a:r>
                <a14:m>
                  <m:oMath xmlns:m="http://schemas.openxmlformats.org/officeDocument/2006/math">
                    <m:r>
                      <a:rPr lang="en-US" altLang="zh-CN" sz="2400" b="0" i="1" smtClean="0">
                        <a:latin typeface="Cambria Math" panose="02040503050406030204" pitchFamily="18" charset="0"/>
                        <a:ea typeface="方正小标宋简体" panose="03000509000000000000" pitchFamily="65" charset="-122"/>
                        <a:cs typeface="Times New Roman" panose="02020603050405020304" pitchFamily="18" charset="0"/>
                      </a:rPr>
                      <m:t>→</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1.3 </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Noise:        0.22 </a:t>
                </a:r>
                <a14:m>
                  <m:oMath xmlns:m="http://schemas.openxmlformats.org/officeDocument/2006/math">
                    <m:r>
                      <a:rPr lang="en-US" altLang="zh-CN" sz="2400" b="0" i="1" smtClean="0">
                        <a:latin typeface="Cambria Math" panose="02040503050406030204" pitchFamily="18" charset="0"/>
                        <a:ea typeface="方正小标宋简体" panose="03000509000000000000" pitchFamily="65" charset="-122"/>
                        <a:cs typeface="Times New Roman" panose="02020603050405020304" pitchFamily="18" charset="0"/>
                      </a:rPr>
                      <m:t>→ </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0.28  </a:t>
                </a:r>
              </a:p>
              <a:p>
                <a:pPr marL="800100" lvl="1"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Bound:       0.08 </a:t>
                </a:r>
                <a14:m>
                  <m:oMath xmlns:m="http://schemas.openxmlformats.org/officeDocument/2006/math">
                    <m:r>
                      <a:rPr lang="en-US" altLang="zh-CN" sz="2400" i="1">
                        <a:latin typeface="Cambria Math" panose="02040503050406030204" pitchFamily="18" charset="0"/>
                        <a:ea typeface="方正小标宋简体" panose="03000509000000000000" pitchFamily="65" charset="-122"/>
                        <a:cs typeface="Times New Roman" panose="02020603050405020304" pitchFamily="18" charset="0"/>
                      </a:rPr>
                      <m:t>→</m:t>
                    </m:r>
                  </m:oMath>
                </a14:m>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0.12</a:t>
                </a:r>
              </a:p>
            </p:txBody>
          </p:sp>
        </mc:Choice>
        <mc:Fallback xmlns="">
          <p:sp>
            <p:nvSpPr>
              <p:cNvPr id="11" name="文本框 10">
                <a:extLst>
                  <a:ext uri="{FF2B5EF4-FFF2-40B4-BE49-F238E27FC236}">
                    <a16:creationId xmlns:a16="http://schemas.microsoft.com/office/drawing/2014/main" id="{ABE8BC77-473B-AF51-04DC-F11B1AF30CE8}"/>
                  </a:ext>
                </a:extLst>
              </p:cNvPr>
              <p:cNvSpPr txBox="1">
                <a:spLocks noRot="1" noChangeAspect="1" noMove="1" noResize="1" noEditPoints="1" noAdjustHandles="1" noChangeArrowheads="1" noChangeShapeType="1" noTextEdit="1"/>
              </p:cNvSpPr>
              <p:nvPr/>
            </p:nvSpPr>
            <p:spPr>
              <a:xfrm>
                <a:off x="617772" y="2119044"/>
                <a:ext cx="6200337" cy="2308324"/>
              </a:xfrm>
              <a:prstGeom prst="rect">
                <a:avLst/>
              </a:prstGeom>
              <a:blipFill>
                <a:blip r:embed="rId5"/>
                <a:stretch>
                  <a:fillRect l="-1278" t="-2116" r="-2262" b="-529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65534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FEFE4-ECEB-1EFE-BB4F-5953B97BF15D}"/>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96EBC5B6-1BAE-F3E4-E764-0430FB871413}"/>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D18B3F77-C2EA-3388-9197-A00D40486EDA}"/>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B90FA1CB-FEFE-E865-DD0B-542DA676DD3F}"/>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0309461B-B5DA-18D9-9A38-AC5FC9C2959A}"/>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C308FF1E-4D21-B058-6B36-BEE237B21B1F}"/>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2BEEA702-3551-FE77-ABC1-A3DC46F056AD}"/>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B00CF61F-F4B1-9D5A-05CA-6AB9D5BAB796}"/>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B4D85004-6E3B-CBF9-A2DA-EB92F0586A51}"/>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8EF1EDC4-2607-0C11-F706-D006B6A3E87E}"/>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A825CFFA-064D-5396-FB20-94B0473FC6E1}"/>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BB706636-358C-EF5A-7E9B-D373E2AF82A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E77F7E50-E0C4-2DD4-8B1A-7B9B1630F3C3}"/>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D8761793-282B-8B0A-4EEC-3D1ACCE1FF08}"/>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563711E9-165D-7055-B93E-D70FB4142BB6}"/>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41980AF2-3EC6-D978-E61E-1AD2C3AB0EC5}"/>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EE3A7BDD-E21F-7BC3-7AC5-E0A8DD79BA43}"/>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0B6AAA0F-7945-AA05-5233-C39C2E98E8AE}"/>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A318A155-BCE0-79B5-46AF-58097D53B765}"/>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2C49C7BF-ED56-91BB-81F5-D7625E15A1C3}"/>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182DEB78-EC4A-DCAB-4CF7-7F93968F810C}"/>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C604EBAC-DBB4-1018-F484-C712BFEE8188}"/>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297018CB-D8EA-9928-FEBE-136C8A08E834}"/>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CD80B9DB-8ADB-E1C5-FB47-429B76220E34}"/>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AA829772-AFC9-34E4-E405-B2DF151F7034}"/>
              </a:ext>
            </a:extLst>
          </p:cNvPr>
          <p:cNvSpPr txBox="1"/>
          <p:nvPr/>
        </p:nvSpPr>
        <p:spPr>
          <a:xfrm>
            <a:off x="5273040" y="5680178"/>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AC98B9C2-65FF-38CD-2106-592678DB0F08}"/>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57A80FBE-1991-12A9-A9E1-D2945B9CB1F2}"/>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21076647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E5DD7-D901-20DD-6B66-A74D1F2B75D8}"/>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2FDC161A-DECD-15BA-6401-7B4E4188A60B}"/>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BA11C38E-04EA-9C8C-F9A7-E5725F2FCB1C}"/>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997946DE-7478-8E38-D486-F423BC82A127}"/>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0E062A85-FE3C-6505-C6F5-9A3C0415F11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3BD99D5-EA05-19A3-FFA1-EFCA3403FCD6}"/>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4D188318-F1C8-A562-375D-77CACF022879}"/>
              </a:ext>
            </a:extLst>
          </p:cNvPr>
          <p:cNvSpPr txBox="1"/>
          <p:nvPr/>
        </p:nvSpPr>
        <p:spPr>
          <a:xfrm>
            <a:off x="509271" y="468691"/>
            <a:ext cx="7215362"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More Extensions</a:t>
            </a:r>
          </a:p>
        </p:txBody>
      </p:sp>
      <p:sp>
        <p:nvSpPr>
          <p:cNvPr id="13" name="文本框 12">
            <a:extLst>
              <a:ext uri="{FF2B5EF4-FFF2-40B4-BE49-F238E27FC236}">
                <a16:creationId xmlns:a16="http://schemas.microsoft.com/office/drawing/2014/main" id="{46D00741-2C3D-0BDD-6348-8FB164860EC6}"/>
              </a:ext>
            </a:extLst>
          </p:cNvPr>
          <p:cNvSpPr txBox="1"/>
          <p:nvPr/>
        </p:nvSpPr>
        <p:spPr>
          <a:xfrm>
            <a:off x="690590" y="3003603"/>
            <a:ext cx="5758825" cy="461665"/>
          </a:xfrm>
          <a:prstGeom prst="rect">
            <a:avLst/>
          </a:prstGeom>
          <a:noFill/>
        </p:spPr>
        <p:txBody>
          <a:bodyPr wrap="square" rtlCol="0">
            <a:spAutoFit/>
          </a:bodyPr>
          <a:lstStyle/>
          <a:p>
            <a:pPr algn="l"/>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Imagine a politic exam……</a:t>
            </a:r>
          </a:p>
        </p:txBody>
      </p:sp>
      <p:sp>
        <p:nvSpPr>
          <p:cNvPr id="3" name="文本框 2">
            <a:extLst>
              <a:ext uri="{FF2B5EF4-FFF2-40B4-BE49-F238E27FC236}">
                <a16:creationId xmlns:a16="http://schemas.microsoft.com/office/drawing/2014/main" id="{5269A998-74D1-3C1E-FC79-DE25C5A0F65D}"/>
              </a:ext>
            </a:extLst>
          </p:cNvPr>
          <p:cNvSpPr txBox="1"/>
          <p:nvPr/>
        </p:nvSpPr>
        <p:spPr>
          <a:xfrm>
            <a:off x="718577" y="1257720"/>
            <a:ext cx="4841466"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 I - Memory</a:t>
            </a:r>
          </a:p>
        </p:txBody>
      </p:sp>
      <p:pic>
        <p:nvPicPr>
          <p:cNvPr id="11" name="图片 10">
            <a:extLst>
              <a:ext uri="{FF2B5EF4-FFF2-40B4-BE49-F238E27FC236}">
                <a16:creationId xmlns:a16="http://schemas.microsoft.com/office/drawing/2014/main" id="{785F0F1A-E9AC-D792-E881-D7A7C6306D07}"/>
              </a:ext>
            </a:extLst>
          </p:cNvPr>
          <p:cNvPicPr>
            <a:picLocks noChangeAspect="1"/>
          </p:cNvPicPr>
          <p:nvPr/>
        </p:nvPicPr>
        <p:blipFill>
          <a:blip r:embed="rId3"/>
          <a:srcRect l="1592" t="4065" b="1"/>
          <a:stretch/>
        </p:blipFill>
        <p:spPr>
          <a:xfrm>
            <a:off x="7431943" y="1381988"/>
            <a:ext cx="3471114" cy="1556013"/>
          </a:xfrm>
          <a:prstGeom prst="rect">
            <a:avLst/>
          </a:prstGeom>
        </p:spPr>
      </p:pic>
      <p:sp>
        <p:nvSpPr>
          <p:cNvPr id="12" name="矩形 11">
            <a:extLst>
              <a:ext uri="{FF2B5EF4-FFF2-40B4-BE49-F238E27FC236}">
                <a16:creationId xmlns:a16="http://schemas.microsoft.com/office/drawing/2014/main" id="{87BBB542-AA17-0403-BB5A-9ECCD3B0406A}"/>
              </a:ext>
            </a:extLst>
          </p:cNvPr>
          <p:cNvSpPr/>
          <p:nvPr/>
        </p:nvSpPr>
        <p:spPr>
          <a:xfrm>
            <a:off x="722902" y="1914412"/>
            <a:ext cx="6075779" cy="87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921A38B4-E5B6-D05C-0366-747444948F01}"/>
              </a:ext>
            </a:extLst>
          </p:cNvPr>
          <p:cNvSpPr txBox="1"/>
          <p:nvPr/>
        </p:nvSpPr>
        <p:spPr>
          <a:xfrm>
            <a:off x="757558" y="1914412"/>
            <a:ext cx="5758825"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Continuously add numbers</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Time turned out to be </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shorter</a:t>
            </a: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not longer!</a:t>
            </a:r>
          </a:p>
        </p:txBody>
      </p:sp>
      <p:sp>
        <p:nvSpPr>
          <p:cNvPr id="16" name="文本框 15">
            <a:extLst>
              <a:ext uri="{FF2B5EF4-FFF2-40B4-BE49-F238E27FC236}">
                <a16:creationId xmlns:a16="http://schemas.microsoft.com/office/drawing/2014/main" id="{D43076B6-F9B5-8981-3924-F792CCF5459E}"/>
              </a:ext>
            </a:extLst>
          </p:cNvPr>
          <p:cNvSpPr txBox="1"/>
          <p:nvPr/>
        </p:nvSpPr>
        <p:spPr>
          <a:xfrm>
            <a:off x="718577" y="3854034"/>
            <a:ext cx="4774969"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Extension II - Sequential</a:t>
            </a:r>
          </a:p>
        </p:txBody>
      </p:sp>
      <p:pic>
        <p:nvPicPr>
          <p:cNvPr id="17" name="图片 16">
            <a:extLst>
              <a:ext uri="{FF2B5EF4-FFF2-40B4-BE49-F238E27FC236}">
                <a16:creationId xmlns:a16="http://schemas.microsoft.com/office/drawing/2014/main" id="{34B00D89-7985-EDB4-70A7-4B62E70D32AB}"/>
              </a:ext>
            </a:extLst>
          </p:cNvPr>
          <p:cNvPicPr>
            <a:picLocks noChangeAspect="1"/>
          </p:cNvPicPr>
          <p:nvPr/>
        </p:nvPicPr>
        <p:blipFill>
          <a:blip r:embed="rId4">
            <a:extLst>
              <a:ext uri="{28A0092B-C50C-407E-A947-70E740481C1C}">
                <a14:useLocalDpi xmlns:a14="http://schemas.microsoft.com/office/drawing/2010/main" val="0"/>
              </a:ext>
            </a:extLst>
          </a:blip>
          <a:srcRect l="5095" t="5912" r="8253" b="2358"/>
          <a:stretch/>
        </p:blipFill>
        <p:spPr>
          <a:xfrm>
            <a:off x="7119028" y="3681448"/>
            <a:ext cx="4354395" cy="2613562"/>
          </a:xfrm>
          <a:prstGeom prst="rect">
            <a:avLst/>
          </a:prstGeom>
        </p:spPr>
      </p:pic>
      <p:sp>
        <p:nvSpPr>
          <p:cNvPr id="18" name="文本框 17">
            <a:extLst>
              <a:ext uri="{FF2B5EF4-FFF2-40B4-BE49-F238E27FC236}">
                <a16:creationId xmlns:a16="http://schemas.microsoft.com/office/drawing/2014/main" id="{2E7F8C88-A6BF-8CCB-6336-1ED98A1BA805}"/>
              </a:ext>
            </a:extLst>
          </p:cNvPr>
          <p:cNvSpPr txBox="1"/>
          <p:nvPr/>
        </p:nvSpPr>
        <p:spPr>
          <a:xfrm>
            <a:off x="690590" y="5807929"/>
            <a:ext cx="4155528" cy="523220"/>
          </a:xfrm>
          <a:prstGeom prst="rect">
            <a:avLst/>
          </a:prstGeom>
          <a:noFill/>
        </p:spPr>
        <p:txBody>
          <a:bodyPr wrap="square" rtlCol="0">
            <a:spAutoFit/>
          </a:bodyPr>
          <a:lstStyle/>
          <a:p>
            <a:pPr algn="l"/>
            <a:r>
              <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 </a:t>
            </a:r>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a:t>
            </a:r>
          </a:p>
        </p:txBody>
      </p:sp>
      <p:sp>
        <p:nvSpPr>
          <p:cNvPr id="7" name="矩形 6">
            <a:extLst>
              <a:ext uri="{FF2B5EF4-FFF2-40B4-BE49-F238E27FC236}">
                <a16:creationId xmlns:a16="http://schemas.microsoft.com/office/drawing/2014/main" id="{0E78BA1F-B6EF-516E-9EFD-3D3D93D8B6D6}"/>
              </a:ext>
            </a:extLst>
          </p:cNvPr>
          <p:cNvSpPr/>
          <p:nvPr/>
        </p:nvSpPr>
        <p:spPr>
          <a:xfrm>
            <a:off x="741057" y="4572731"/>
            <a:ext cx="6075779" cy="8706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a:extLst>
              <a:ext uri="{FF2B5EF4-FFF2-40B4-BE49-F238E27FC236}">
                <a16:creationId xmlns:a16="http://schemas.microsoft.com/office/drawing/2014/main" id="{CC6F6BE9-4B9E-56A0-C112-656458EC63B9}"/>
              </a:ext>
            </a:extLst>
          </p:cNvPr>
          <p:cNvSpPr txBox="1"/>
          <p:nvPr/>
        </p:nvSpPr>
        <p:spPr>
          <a:xfrm>
            <a:off x="779863" y="4572731"/>
            <a:ext cx="6036973" cy="830997"/>
          </a:xfrm>
          <a:prstGeom prst="rect">
            <a:avLst/>
          </a:prstGeom>
          <a:noFill/>
        </p:spPr>
        <p:txBody>
          <a:bodyPr wrap="square" rtlCol="0">
            <a:spAutoFit/>
          </a:bodyPr>
          <a:lstStyle/>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 r | appear in ascending or descending order</a:t>
            </a:r>
          </a:p>
          <a:p>
            <a:pPr marL="342900" indent="-342900">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Interesting differences</a:t>
            </a:r>
          </a:p>
        </p:txBody>
      </p:sp>
    </p:spTree>
    <p:extLst>
      <p:ext uri="{BB962C8B-B14F-4D97-AF65-F5344CB8AC3E}">
        <p14:creationId xmlns:p14="http://schemas.microsoft.com/office/powerpoint/2010/main" val="27152196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03FA7-D52B-4667-279F-6BA34F112ABB}"/>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FEB430F0-B859-9BBA-3B6E-1D4E9DF47E8E}"/>
              </a:ext>
            </a:extLst>
          </p:cNvPr>
          <p:cNvGrpSpPr>
            <a:grpSpLocks noChangeAspect="1"/>
          </p:cNvGrpSpPr>
          <p:nvPr>
            <p:custDataLst>
              <p:tags r:id="rId1"/>
            </p:custDataLst>
          </p:nvPr>
        </p:nvGrpSpPr>
        <p:grpSpPr>
          <a:xfrm>
            <a:off x="-343667" y="1422407"/>
            <a:ext cx="6899274" cy="548641"/>
            <a:chOff x="1" y="1895348"/>
            <a:chExt cx="7123176" cy="3143504"/>
          </a:xfrm>
        </p:grpSpPr>
        <p:sp>
          <p:nvSpPr>
            <p:cNvPr id="10" name="í$ḻídè">
              <a:extLst>
                <a:ext uri="{FF2B5EF4-FFF2-40B4-BE49-F238E27FC236}">
                  <a16:creationId xmlns:a16="http://schemas.microsoft.com/office/drawing/2014/main" id="{4A947B81-E872-F261-BA38-575D75C5ABD6}"/>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FF60BB67-CD77-95AC-F890-C4B857C51C6B}"/>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3B5BAC51-6D9B-471B-0201-CFB017323162}"/>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E6B62FB-0F3C-D237-374C-AC0AD0EDFBB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17F9D983-CFB5-C448-2084-F79253778562}"/>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85C33451-8C8C-77FB-8DD9-4542D16FB920}"/>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E2E9BE0-A2AE-CA7C-69B3-DA7D2BBBBB70}"/>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1428DBF7-9391-69AD-091D-442C500AF331}"/>
              </a:ext>
            </a:extLst>
          </p:cNvPr>
          <p:cNvSpPr txBox="1"/>
          <p:nvPr/>
        </p:nvSpPr>
        <p:spPr>
          <a:xfrm>
            <a:off x="711835" y="1399355"/>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Understand the parameters</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 name="文本框 2">
            <a:extLst>
              <a:ext uri="{FF2B5EF4-FFF2-40B4-BE49-F238E27FC236}">
                <a16:creationId xmlns:a16="http://schemas.microsoft.com/office/drawing/2014/main" id="{B3C7E35D-9316-F989-696B-C0F17BDA254B}"/>
              </a:ext>
            </a:extLst>
          </p:cNvPr>
          <p:cNvSpPr txBox="1"/>
          <p:nvPr/>
        </p:nvSpPr>
        <p:spPr>
          <a:xfrm>
            <a:off x="796502" y="2007176"/>
            <a:ext cx="6180697" cy="1938992"/>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Accuracy </a:t>
            </a:r>
            <a:r>
              <a:rPr lang="zh-CN" altLang="en-US"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这里应该填参数呀，不是评价指标，填漂移率什么的这些，可以直接把前面</a:t>
            </a:r>
            <a:r>
              <a:rPr lang="en-US" altLang="zh-CN"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ppt</a:t>
            </a:r>
            <a:r>
              <a:rPr lang="zh-CN" altLang="en-US" sz="24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的拿过来</a:t>
            </a:r>
            <a:endPar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endParaRP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Response times (RTs)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The probabilities of making the two choices</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7" name="文本框 16">
            <a:extLst>
              <a:ext uri="{FF2B5EF4-FFF2-40B4-BE49-F238E27FC236}">
                <a16:creationId xmlns:a16="http://schemas.microsoft.com/office/drawing/2014/main" id="{9A70C850-D8FC-F0DE-7CBD-8083A2711D38}"/>
              </a:ext>
            </a:extLst>
          </p:cNvPr>
          <p:cNvSpPr txBox="1"/>
          <p:nvPr/>
        </p:nvSpPr>
        <p:spPr>
          <a:xfrm>
            <a:off x="509272" y="468691"/>
            <a:ext cx="3288028"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Deeper Insight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1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112A37A3-2E9A-C36A-B661-3980E1756C69}"/>
              </a:ext>
            </a:extLst>
          </p:cNvPr>
          <p:cNvGrpSpPr>
            <a:grpSpLocks noChangeAspect="1"/>
          </p:cNvGrpSpPr>
          <p:nvPr>
            <p:custDataLst>
              <p:tags r:id="rId2"/>
            </p:custDataLst>
          </p:nvPr>
        </p:nvGrpSpPr>
        <p:grpSpPr>
          <a:xfrm>
            <a:off x="-343666" y="3697301"/>
            <a:ext cx="6899274" cy="548641"/>
            <a:chOff x="1" y="1895348"/>
            <a:chExt cx="7123176" cy="3143504"/>
          </a:xfrm>
        </p:grpSpPr>
        <p:sp>
          <p:nvSpPr>
            <p:cNvPr id="19" name="í$ḻídè">
              <a:extLst>
                <a:ext uri="{FF2B5EF4-FFF2-40B4-BE49-F238E27FC236}">
                  <a16:creationId xmlns:a16="http://schemas.microsoft.com/office/drawing/2014/main" id="{EB1A815C-4131-CC82-7E27-5254E39EF492}"/>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20" name="ïşlíďe">
              <a:extLst>
                <a:ext uri="{FF2B5EF4-FFF2-40B4-BE49-F238E27FC236}">
                  <a16:creationId xmlns:a16="http://schemas.microsoft.com/office/drawing/2014/main" id="{3E3526B9-F368-F80E-E5B0-E5524F5E1B26}"/>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21" name="文本框 20">
            <a:extLst>
              <a:ext uri="{FF2B5EF4-FFF2-40B4-BE49-F238E27FC236}">
                <a16:creationId xmlns:a16="http://schemas.microsoft.com/office/drawing/2014/main" id="{A8EF7774-C6BA-4BBA-D9AD-B463D02E6D9D}"/>
              </a:ext>
            </a:extLst>
          </p:cNvPr>
          <p:cNvSpPr txBox="1"/>
          <p:nvPr/>
        </p:nvSpPr>
        <p:spPr>
          <a:xfrm>
            <a:off x="711835" y="3655217"/>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Shortcomings of DDM </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2" name="文本框 21">
            <a:extLst>
              <a:ext uri="{FF2B5EF4-FFF2-40B4-BE49-F238E27FC236}">
                <a16:creationId xmlns:a16="http://schemas.microsoft.com/office/drawing/2014/main" id="{EEE148A2-CD68-2064-6DCC-B64B4DCC5F9E}"/>
              </a:ext>
            </a:extLst>
          </p:cNvPr>
          <p:cNvSpPr txBox="1"/>
          <p:nvPr/>
        </p:nvSpPr>
        <p:spPr>
          <a:xfrm>
            <a:off x="711835" y="4245942"/>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Post-hoc use and overfitting</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Simplified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Sensitive to assumptions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30536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FB13C-A3D2-3863-9C23-ADE0B42DA0AD}"/>
            </a:ext>
          </a:extLst>
        </p:cNvPr>
        <p:cNvGrpSpPr/>
        <p:nvPr/>
      </p:nvGrpSpPr>
      <p:grpSpPr>
        <a:xfrm>
          <a:off x="0" y="0"/>
          <a:ext cx="0" cy="0"/>
          <a:chOff x="0" y="0"/>
          <a:chExt cx="0" cy="0"/>
        </a:xfrm>
      </p:grpSpPr>
      <p:sp>
        <p:nvSpPr>
          <p:cNvPr id="4" name="椭圆 3">
            <a:extLst>
              <a:ext uri="{FF2B5EF4-FFF2-40B4-BE49-F238E27FC236}">
                <a16:creationId xmlns:a16="http://schemas.microsoft.com/office/drawing/2014/main" id="{BC95AA68-DDB7-C5E8-4246-E7C719017EDD}"/>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7FC4C79B-CA5D-0BC8-CC80-6900A268EAB3}"/>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a:extLst>
              <a:ext uri="{FF2B5EF4-FFF2-40B4-BE49-F238E27FC236}">
                <a16:creationId xmlns:a16="http://schemas.microsoft.com/office/drawing/2014/main" id="{38966657-9E00-B703-0A30-2087E19EEF69}"/>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A40B95C8-FE94-AB90-B9AB-A6208972FDCE}"/>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8C700C4-6B7F-BDEF-B700-13E6A4FA6725}"/>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7" name="文本框 16">
            <a:extLst>
              <a:ext uri="{FF2B5EF4-FFF2-40B4-BE49-F238E27FC236}">
                <a16:creationId xmlns:a16="http://schemas.microsoft.com/office/drawing/2014/main" id="{169FECF2-2FB8-1025-8C52-33925D7B1715}"/>
              </a:ext>
            </a:extLst>
          </p:cNvPr>
          <p:cNvSpPr txBox="1"/>
          <p:nvPr/>
        </p:nvSpPr>
        <p:spPr>
          <a:xfrm>
            <a:off x="509272" y="468691"/>
            <a:ext cx="3288028"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Deeper Insight</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7"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F01934AD-6813-5D2B-0A62-7A147E983FE3}"/>
              </a:ext>
            </a:extLst>
          </p:cNvPr>
          <p:cNvGrpSpPr>
            <a:grpSpLocks noChangeAspect="1"/>
          </p:cNvGrpSpPr>
          <p:nvPr>
            <p:custDataLst>
              <p:tags r:id="rId1"/>
            </p:custDataLst>
          </p:nvPr>
        </p:nvGrpSpPr>
        <p:grpSpPr>
          <a:xfrm>
            <a:off x="-359868" y="1467602"/>
            <a:ext cx="8429907" cy="548641"/>
            <a:chOff x="1" y="1895348"/>
            <a:chExt cx="7123176" cy="3143504"/>
          </a:xfrm>
        </p:grpSpPr>
        <p:sp>
          <p:nvSpPr>
            <p:cNvPr id="9" name="í$ḻídè">
              <a:extLst>
                <a:ext uri="{FF2B5EF4-FFF2-40B4-BE49-F238E27FC236}">
                  <a16:creationId xmlns:a16="http://schemas.microsoft.com/office/drawing/2014/main" id="{46F42678-893B-3291-FF69-F73350949CD2}"/>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2" name="ïşlíďe">
              <a:extLst>
                <a:ext uri="{FF2B5EF4-FFF2-40B4-BE49-F238E27FC236}">
                  <a16:creationId xmlns:a16="http://schemas.microsoft.com/office/drawing/2014/main" id="{7811313C-1EBB-A6B7-EA5D-66CE251155BE}"/>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13" name="文本框 12">
            <a:extLst>
              <a:ext uri="{FF2B5EF4-FFF2-40B4-BE49-F238E27FC236}">
                <a16:creationId xmlns:a16="http://schemas.microsoft.com/office/drawing/2014/main" id="{50F34F8D-4143-E42C-08F8-9E26D23735AD}"/>
              </a:ext>
            </a:extLst>
          </p:cNvPr>
          <p:cNvSpPr txBox="1"/>
          <p:nvPr/>
        </p:nvSpPr>
        <p:spPr>
          <a:xfrm>
            <a:off x="614680" y="1465571"/>
            <a:ext cx="5163608"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Other Models about decision</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文本框 13">
            <a:extLst>
              <a:ext uri="{FF2B5EF4-FFF2-40B4-BE49-F238E27FC236}">
                <a16:creationId xmlns:a16="http://schemas.microsoft.com/office/drawing/2014/main" id="{26140ED5-B918-7853-609E-F6CAAFF3E665}"/>
              </a:ext>
            </a:extLst>
          </p:cNvPr>
          <p:cNvSpPr txBox="1"/>
          <p:nvPr/>
        </p:nvSpPr>
        <p:spPr>
          <a:xfrm>
            <a:off x="614680" y="2181846"/>
            <a:ext cx="6180697"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Multi-Attribute Decision Making (MADM)</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Decision Tree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Bayesian Method</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grpSp>
        <p:nvGrpSpPr>
          <p:cNvPr id="6"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3DCEAA97-9EF2-8DE7-C0FE-EA648163A649}"/>
              </a:ext>
            </a:extLst>
          </p:cNvPr>
          <p:cNvGrpSpPr>
            <a:grpSpLocks noChangeAspect="1"/>
          </p:cNvGrpSpPr>
          <p:nvPr>
            <p:custDataLst>
              <p:tags r:id="rId2"/>
            </p:custDataLst>
          </p:nvPr>
        </p:nvGrpSpPr>
        <p:grpSpPr>
          <a:xfrm>
            <a:off x="-359868" y="3918231"/>
            <a:ext cx="8429908" cy="548641"/>
            <a:chOff x="1" y="1895348"/>
            <a:chExt cx="7123176" cy="3143504"/>
          </a:xfrm>
        </p:grpSpPr>
        <p:sp>
          <p:nvSpPr>
            <p:cNvPr id="15" name="í$ḻídè">
              <a:extLst>
                <a:ext uri="{FF2B5EF4-FFF2-40B4-BE49-F238E27FC236}">
                  <a16:creationId xmlns:a16="http://schemas.microsoft.com/office/drawing/2014/main" id="{A5240275-C6E5-8EDD-2FA0-A697DBB75613}"/>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8" name="ïşlíďe">
              <a:extLst>
                <a:ext uri="{FF2B5EF4-FFF2-40B4-BE49-F238E27FC236}">
                  <a16:creationId xmlns:a16="http://schemas.microsoft.com/office/drawing/2014/main" id="{670B2A6B-8894-7533-A1B2-65B49FAF0B57}"/>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19" name="文本框 18">
            <a:extLst>
              <a:ext uri="{FF2B5EF4-FFF2-40B4-BE49-F238E27FC236}">
                <a16:creationId xmlns:a16="http://schemas.microsoft.com/office/drawing/2014/main" id="{28E6688C-4598-E6E7-A66B-D3B8236A7234}"/>
              </a:ext>
            </a:extLst>
          </p:cNvPr>
          <p:cNvSpPr txBox="1"/>
          <p:nvPr/>
        </p:nvSpPr>
        <p:spPr>
          <a:xfrm>
            <a:off x="614679" y="3917670"/>
            <a:ext cx="5350399" cy="523220"/>
          </a:xfrm>
          <a:prstGeom prst="rect">
            <a:avLst/>
          </a:prstGeom>
          <a:noFill/>
        </p:spPr>
        <p:txBody>
          <a:bodyPr wrap="square" rtlCol="0">
            <a:spAutoFit/>
          </a:bodyPr>
          <a:lstStyle/>
          <a:p>
            <a:pPr algn="l"/>
            <a:r>
              <a:rPr lang="en-US" altLang="zh-CN"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Inspirations for Our Life</a:t>
            </a:r>
            <a:endParaRPr lang="zh-CN" altLang="en-US" sz="28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文本框 19">
            <a:extLst>
              <a:ext uri="{FF2B5EF4-FFF2-40B4-BE49-F238E27FC236}">
                <a16:creationId xmlns:a16="http://schemas.microsoft.com/office/drawing/2014/main" id="{714C2CB6-A9F2-4530-2211-78DBADCBCF39}"/>
              </a:ext>
            </a:extLst>
          </p:cNvPr>
          <p:cNvSpPr txBox="1"/>
          <p:nvPr/>
        </p:nvSpPr>
        <p:spPr>
          <a:xfrm>
            <a:off x="614680" y="4492854"/>
            <a:ext cx="7455360" cy="1569660"/>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Understand merits and demerits of human decision</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Models are rigid, while humans are adaptable</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How to make good decisions and view others’ decisions</a:t>
            </a:r>
          </a:p>
          <a:p>
            <a:pPr marL="342900" indent="-342900" algn="l">
              <a:buFont typeface="Arial" panose="020B0604020202020204" pitchFamily="34" charset="0"/>
              <a:buChar char="•"/>
            </a:pPr>
            <a:r>
              <a:rPr lang="en-US" altLang="zh-CN" sz="2400" dirty="0">
                <a:latin typeface="Times New Roman" panose="02020603050405020304" pitchFamily="18" charset="0"/>
                <a:ea typeface="方正小标宋简体" panose="03000509000000000000" pitchFamily="65" charset="-122"/>
                <a:cs typeface="Times New Roman" panose="02020603050405020304" pitchFamily="18" charset="0"/>
              </a:rPr>
              <a:t>……</a:t>
            </a:r>
            <a:endParaRPr lang="zh-CN" altLang="en-US" sz="24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33513268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F1ED6-1612-76D6-1023-A6D02BEB1B99}"/>
            </a:ext>
          </a:extLst>
        </p:cNvPr>
        <p:cNvGrpSpPr/>
        <p:nvPr/>
      </p:nvGrpSpPr>
      <p:grpSpPr>
        <a:xfrm>
          <a:off x="0" y="0"/>
          <a:ext cx="0" cy="0"/>
          <a:chOff x="0" y="0"/>
          <a:chExt cx="0" cy="0"/>
        </a:xfrm>
      </p:grpSpPr>
      <p:grpSp>
        <p:nvGrpSpPr>
          <p:cNvPr id="6" name="组合 5">
            <a:extLst>
              <a:ext uri="{FF2B5EF4-FFF2-40B4-BE49-F238E27FC236}">
                <a16:creationId xmlns:a16="http://schemas.microsoft.com/office/drawing/2014/main" id="{46A36915-F5FF-2AEA-4815-C80074C9A5A1}"/>
              </a:ext>
            </a:extLst>
          </p:cNvPr>
          <p:cNvGrpSpPr/>
          <p:nvPr/>
        </p:nvGrpSpPr>
        <p:grpSpPr>
          <a:xfrm>
            <a:off x="-5080" y="-5080"/>
            <a:ext cx="10185400" cy="6863080"/>
            <a:chOff x="-8" y="-8"/>
            <a:chExt cx="19221" cy="10808"/>
          </a:xfrm>
        </p:grpSpPr>
        <p:pic>
          <p:nvPicPr>
            <p:cNvPr id="109" name="图片 108">
              <a:extLst>
                <a:ext uri="{FF2B5EF4-FFF2-40B4-BE49-F238E27FC236}">
                  <a16:creationId xmlns:a16="http://schemas.microsoft.com/office/drawing/2014/main" id="{499FF0F8-BF38-18A2-88AF-289B200758F9}"/>
                </a:ext>
              </a:extLst>
            </p:cNvPr>
            <p:cNvPicPr>
              <a:picLocks noChangeAspect="1"/>
            </p:cNvPicPr>
            <p:nvPr/>
          </p:nvPicPr>
          <p:blipFill>
            <a:blip r:embed="rId9"/>
            <a:srcRect b="17500"/>
            <a:stretch>
              <a:fillRect/>
            </a:stretch>
          </p:blipFill>
          <p:spPr>
            <a:xfrm>
              <a:off x="14" y="-8"/>
              <a:ext cx="19182" cy="10808"/>
            </a:xfrm>
            <a:prstGeom prst="rect">
              <a:avLst/>
            </a:prstGeom>
          </p:spPr>
        </p:pic>
        <p:sp>
          <p:nvSpPr>
            <p:cNvPr id="9" name="矩形 8">
              <a:extLst>
                <a:ext uri="{FF2B5EF4-FFF2-40B4-BE49-F238E27FC236}">
                  <a16:creationId xmlns:a16="http://schemas.microsoft.com/office/drawing/2014/main" id="{81AAC2FA-0F69-3ADB-3E1A-CEB70FA67C3E}"/>
                </a:ext>
              </a:extLst>
            </p:cNvPr>
            <p:cNvSpPr/>
            <p:nvPr/>
          </p:nvSpPr>
          <p:spPr>
            <a:xfrm>
              <a:off x="-8" y="0"/>
              <a:ext cx="19221" cy="10800"/>
            </a:xfrm>
            <a:prstGeom prst="rect">
              <a:avLst/>
            </a:prstGeom>
            <a:gradFill>
              <a:gsLst>
                <a:gs pos="0">
                  <a:srgbClr val="FFFFFF">
                    <a:alpha val="82000"/>
                  </a:srgbClr>
                </a:gs>
                <a:gs pos="79000">
                  <a:schemeClr val="bg1">
                    <a:alpha val="89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FBCE1E2B-A457-0321-0EA8-A7EB6F4BC297}"/>
              </a:ext>
            </a:extLst>
          </p:cNvPr>
          <p:cNvSpPr/>
          <p:nvPr>
            <p:custDataLst>
              <p:tags r:id="rId1"/>
            </p:custDataLst>
          </p:nvPr>
        </p:nvSpPr>
        <p:spPr>
          <a:xfrm flipH="1">
            <a:off x="3846195" y="0"/>
            <a:ext cx="8343265" cy="6856095"/>
          </a:xfrm>
          <a:prstGeom prst="rect">
            <a:avLst/>
          </a:prstGeom>
          <a:solidFill>
            <a:schemeClr val="accent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135AD2E1-6DB4-0443-3D4D-A1CFD0F5A262}"/>
              </a:ext>
            </a:extLst>
          </p:cNvPr>
          <p:cNvSpPr txBox="1"/>
          <p:nvPr/>
        </p:nvSpPr>
        <p:spPr>
          <a:xfrm>
            <a:off x="453731" y="3028890"/>
            <a:ext cx="2945311" cy="766557"/>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CONTENT</a:t>
            </a:r>
            <a:endParaRPr lang="zh-CN" altLang="en-US" sz="4000" b="1" dirty="0">
              <a:solidFill>
                <a:schemeClr val="accent2">
                  <a:lumMod val="75000"/>
                </a:schemeClr>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0" name="文本框 29">
            <a:extLst>
              <a:ext uri="{FF2B5EF4-FFF2-40B4-BE49-F238E27FC236}">
                <a16:creationId xmlns:a16="http://schemas.microsoft.com/office/drawing/2014/main" id="{DF26AE38-33E3-B9D1-650D-BAD6179385F3}"/>
              </a:ext>
            </a:extLst>
          </p:cNvPr>
          <p:cNvSpPr txBox="1"/>
          <p:nvPr/>
        </p:nvSpPr>
        <p:spPr>
          <a:xfrm>
            <a:off x="5273040" y="655852"/>
            <a:ext cx="2919730" cy="521970"/>
          </a:xfrm>
          <a:prstGeom prst="rect">
            <a:avLst/>
          </a:prstGeom>
          <a:noFill/>
        </p:spPr>
        <p:txBody>
          <a:bodyPr wrap="square" rtlCol="0">
            <a:spAutoFit/>
          </a:bodyPr>
          <a:lstStyle/>
          <a:p>
            <a:pPr algn="l"/>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Introduction</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89" name="椭圆 88">
            <a:extLst>
              <a:ext uri="{FF2B5EF4-FFF2-40B4-BE49-F238E27FC236}">
                <a16:creationId xmlns:a16="http://schemas.microsoft.com/office/drawing/2014/main" id="{1A8E51F5-D59D-29EE-6D41-8F8D4710C301}"/>
              </a:ext>
            </a:extLst>
          </p:cNvPr>
          <p:cNvSpPr/>
          <p:nvPr/>
        </p:nvSpPr>
        <p:spPr>
          <a:xfrm>
            <a:off x="-1062355" y="-62166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椭圆 91">
            <a:extLst>
              <a:ext uri="{FF2B5EF4-FFF2-40B4-BE49-F238E27FC236}">
                <a16:creationId xmlns:a16="http://schemas.microsoft.com/office/drawing/2014/main" id="{CFD7C06F-9968-B1DA-266A-EB72EFC91708}"/>
              </a:ext>
            </a:extLst>
          </p:cNvPr>
          <p:cNvSpPr/>
          <p:nvPr/>
        </p:nvSpPr>
        <p:spPr>
          <a:xfrm>
            <a:off x="262255" y="1323975"/>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椭圆 92">
            <a:extLst>
              <a:ext uri="{FF2B5EF4-FFF2-40B4-BE49-F238E27FC236}">
                <a16:creationId xmlns:a16="http://schemas.microsoft.com/office/drawing/2014/main" id="{F89B30FB-310C-6727-5446-5765A76D9277}"/>
              </a:ext>
            </a:extLst>
          </p:cNvPr>
          <p:cNvSpPr/>
          <p:nvPr/>
        </p:nvSpPr>
        <p:spPr>
          <a:xfrm>
            <a:off x="3019425" y="5487035"/>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椭圆 93">
            <a:extLst>
              <a:ext uri="{FF2B5EF4-FFF2-40B4-BE49-F238E27FC236}">
                <a16:creationId xmlns:a16="http://schemas.microsoft.com/office/drawing/2014/main" id="{3B66A1A2-E90A-2BEA-AE05-B5B58878E0FF}"/>
              </a:ext>
            </a:extLst>
          </p:cNvPr>
          <p:cNvSpPr/>
          <p:nvPr/>
        </p:nvSpPr>
        <p:spPr>
          <a:xfrm>
            <a:off x="10798175"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42E35DA4-8030-8585-21B8-CFBAEFBFF037}"/>
              </a:ext>
            </a:extLst>
          </p:cNvPr>
          <p:cNvSpPr/>
          <p:nvPr/>
        </p:nvSpPr>
        <p:spPr>
          <a:xfrm>
            <a:off x="11300460" y="572643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A58395E4-E38D-C1FF-696D-8D536198D9EB}"/>
              </a:ext>
            </a:extLst>
          </p:cNvPr>
          <p:cNvSpPr/>
          <p:nvPr/>
        </p:nvSpPr>
        <p:spPr>
          <a:xfrm>
            <a:off x="10407650" y="819785"/>
            <a:ext cx="448310" cy="44831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PA-圆角矩形 5">
            <a:extLst>
              <a:ext uri="{FF2B5EF4-FFF2-40B4-BE49-F238E27FC236}">
                <a16:creationId xmlns:a16="http://schemas.microsoft.com/office/drawing/2014/main" id="{C3DB646C-8085-2E4E-3323-5144A6B9511E}"/>
              </a:ext>
            </a:extLst>
          </p:cNvPr>
          <p:cNvSpPr/>
          <p:nvPr>
            <p:custDataLst>
              <p:tags r:id="rId2"/>
            </p:custDataLst>
          </p:nvPr>
        </p:nvSpPr>
        <p:spPr>
          <a:xfrm>
            <a:off x="4315460" y="558380"/>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4" name="文本框 3">
            <a:extLst>
              <a:ext uri="{FF2B5EF4-FFF2-40B4-BE49-F238E27FC236}">
                <a16:creationId xmlns:a16="http://schemas.microsoft.com/office/drawing/2014/main" id="{BB375FDA-4955-99E4-3B3F-DB8265448BF4}"/>
              </a:ext>
            </a:extLst>
          </p:cNvPr>
          <p:cNvSpPr txBox="1"/>
          <p:nvPr/>
        </p:nvSpPr>
        <p:spPr>
          <a:xfrm>
            <a:off x="4341115" y="642543"/>
            <a:ext cx="82105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01</a:t>
            </a:r>
          </a:p>
        </p:txBody>
      </p:sp>
      <p:sp>
        <p:nvSpPr>
          <p:cNvPr id="5" name="文本框 4">
            <a:extLst>
              <a:ext uri="{FF2B5EF4-FFF2-40B4-BE49-F238E27FC236}">
                <a16:creationId xmlns:a16="http://schemas.microsoft.com/office/drawing/2014/main" id="{566FF50C-4420-B2A7-F797-53900EB750C6}"/>
              </a:ext>
            </a:extLst>
          </p:cNvPr>
          <p:cNvSpPr txBox="1"/>
          <p:nvPr/>
        </p:nvSpPr>
        <p:spPr>
          <a:xfrm>
            <a:off x="5273038" y="1916167"/>
            <a:ext cx="5432474"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Basic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7" name="PA-圆角矩形 5">
            <a:extLst>
              <a:ext uri="{FF2B5EF4-FFF2-40B4-BE49-F238E27FC236}">
                <a16:creationId xmlns:a16="http://schemas.microsoft.com/office/drawing/2014/main" id="{540E040E-C758-65AF-F6D7-13A19A641D2F}"/>
              </a:ext>
            </a:extLst>
          </p:cNvPr>
          <p:cNvSpPr/>
          <p:nvPr>
            <p:custDataLst>
              <p:tags r:id="rId3"/>
            </p:custDataLst>
          </p:nvPr>
        </p:nvSpPr>
        <p:spPr>
          <a:xfrm>
            <a:off x="4315459" y="1814462"/>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8" name="文本框 7">
            <a:extLst>
              <a:ext uri="{FF2B5EF4-FFF2-40B4-BE49-F238E27FC236}">
                <a16:creationId xmlns:a16="http://schemas.microsoft.com/office/drawing/2014/main" id="{298BE84D-41F1-02D7-0933-DC865F14C350}"/>
              </a:ext>
            </a:extLst>
          </p:cNvPr>
          <p:cNvSpPr txBox="1"/>
          <p:nvPr/>
        </p:nvSpPr>
        <p:spPr>
          <a:xfrm>
            <a:off x="4341115" y="1884364"/>
            <a:ext cx="786994"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02</a:t>
            </a:r>
          </a:p>
        </p:txBody>
      </p:sp>
      <p:sp>
        <p:nvSpPr>
          <p:cNvPr id="10" name="文本框 9">
            <a:extLst>
              <a:ext uri="{FF2B5EF4-FFF2-40B4-BE49-F238E27FC236}">
                <a16:creationId xmlns:a16="http://schemas.microsoft.com/office/drawing/2014/main" id="{0B7D9785-462A-F924-D3B9-F7405A4501BB}"/>
              </a:ext>
            </a:extLst>
          </p:cNvPr>
          <p:cNvSpPr txBox="1"/>
          <p:nvPr/>
        </p:nvSpPr>
        <p:spPr>
          <a:xfrm>
            <a:off x="5238445" y="3168106"/>
            <a:ext cx="5803237"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Variants of DDM Experiment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1" name="PA-圆角矩形 5">
            <a:extLst>
              <a:ext uri="{FF2B5EF4-FFF2-40B4-BE49-F238E27FC236}">
                <a16:creationId xmlns:a16="http://schemas.microsoft.com/office/drawing/2014/main" id="{55B9017A-67BC-D4BC-2146-AE9BF7924458}"/>
              </a:ext>
            </a:extLst>
          </p:cNvPr>
          <p:cNvSpPr/>
          <p:nvPr>
            <p:custDataLst>
              <p:tags r:id="rId4"/>
            </p:custDataLst>
          </p:nvPr>
        </p:nvSpPr>
        <p:spPr>
          <a:xfrm>
            <a:off x="4315459" y="3070544"/>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2" name="文本框 11">
            <a:extLst>
              <a:ext uri="{FF2B5EF4-FFF2-40B4-BE49-F238E27FC236}">
                <a16:creationId xmlns:a16="http://schemas.microsoft.com/office/drawing/2014/main" id="{59BFCFAE-E688-472A-CE51-92321A74453D}"/>
              </a:ext>
            </a:extLst>
          </p:cNvPr>
          <p:cNvSpPr txBox="1"/>
          <p:nvPr/>
        </p:nvSpPr>
        <p:spPr>
          <a:xfrm>
            <a:off x="4341115" y="3130277"/>
            <a:ext cx="821055"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03</a:t>
            </a:r>
          </a:p>
        </p:txBody>
      </p:sp>
      <p:sp>
        <p:nvSpPr>
          <p:cNvPr id="13" name="文本框 12">
            <a:extLst>
              <a:ext uri="{FF2B5EF4-FFF2-40B4-BE49-F238E27FC236}">
                <a16:creationId xmlns:a16="http://schemas.microsoft.com/office/drawing/2014/main" id="{54C26EC3-6F51-E09F-2D1F-A1C338C98232}"/>
              </a:ext>
            </a:extLst>
          </p:cNvPr>
          <p:cNvSpPr txBox="1"/>
          <p:nvPr/>
        </p:nvSpPr>
        <p:spPr>
          <a:xfrm>
            <a:off x="5273038" y="4428239"/>
            <a:ext cx="6410178" cy="523220"/>
          </a:xfrm>
          <a:prstGeom prst="rect">
            <a:avLst/>
          </a:prstGeom>
          <a:noFill/>
        </p:spPr>
        <p:txBody>
          <a:bodyPr wrap="square" rtlCol="0">
            <a:spAutoFit/>
          </a:bodyPr>
          <a:lstStyle/>
          <a:p>
            <a:r>
              <a:rPr lang="en-US" altLang="zh-CN"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rPr>
              <a:t>Extensions of DDM and Deeper Insight</a:t>
            </a:r>
            <a:endParaRPr lang="zh-CN" altLang="en-US" sz="2800" b="1" dirty="0">
              <a:solidFill>
                <a:schemeClr val="bg1"/>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14" name="PA-圆角矩形 5">
            <a:extLst>
              <a:ext uri="{FF2B5EF4-FFF2-40B4-BE49-F238E27FC236}">
                <a16:creationId xmlns:a16="http://schemas.microsoft.com/office/drawing/2014/main" id="{0982AB70-667B-BD5B-3348-0F4F2EB80E5D}"/>
              </a:ext>
            </a:extLst>
          </p:cNvPr>
          <p:cNvSpPr/>
          <p:nvPr>
            <p:custDataLst>
              <p:tags r:id="rId5"/>
            </p:custDataLst>
          </p:nvPr>
        </p:nvSpPr>
        <p:spPr>
          <a:xfrm>
            <a:off x="4315458" y="432662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15" name="文本框 14">
            <a:extLst>
              <a:ext uri="{FF2B5EF4-FFF2-40B4-BE49-F238E27FC236}">
                <a16:creationId xmlns:a16="http://schemas.microsoft.com/office/drawing/2014/main" id="{3E8163D1-9A85-1177-0B47-53B07AC33A15}"/>
              </a:ext>
            </a:extLst>
          </p:cNvPr>
          <p:cNvSpPr txBox="1"/>
          <p:nvPr/>
        </p:nvSpPr>
        <p:spPr>
          <a:xfrm>
            <a:off x="4328739" y="4400241"/>
            <a:ext cx="821053"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04</a:t>
            </a:r>
          </a:p>
        </p:txBody>
      </p:sp>
      <p:sp>
        <p:nvSpPr>
          <p:cNvPr id="19" name="文本框 18">
            <a:extLst>
              <a:ext uri="{FF2B5EF4-FFF2-40B4-BE49-F238E27FC236}">
                <a16:creationId xmlns:a16="http://schemas.microsoft.com/office/drawing/2014/main" id="{7280C315-A4C1-B2C2-634D-D4434F9C9AF4}"/>
              </a:ext>
            </a:extLst>
          </p:cNvPr>
          <p:cNvSpPr txBox="1"/>
          <p:nvPr/>
        </p:nvSpPr>
        <p:spPr>
          <a:xfrm>
            <a:off x="5273040" y="5680178"/>
            <a:ext cx="2919730" cy="521970"/>
          </a:xfrm>
          <a:prstGeom prst="rect">
            <a:avLst/>
          </a:prstGeom>
          <a:noFill/>
        </p:spPr>
        <p:txBody>
          <a:bodyPr wrap="square" rtlCol="0">
            <a:spAutoFit/>
          </a:bodyPr>
          <a:lstStyle/>
          <a:p>
            <a:r>
              <a:rPr lang="en-US" altLang="zh-CN"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2800" b="1" dirty="0">
              <a:solidFill>
                <a:schemeClr val="tx2">
                  <a:lumMod val="25000"/>
                  <a:lumOff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20" name="PA-圆角矩形 5">
            <a:extLst>
              <a:ext uri="{FF2B5EF4-FFF2-40B4-BE49-F238E27FC236}">
                <a16:creationId xmlns:a16="http://schemas.microsoft.com/office/drawing/2014/main" id="{6F9E645C-B078-842A-EFF6-C4AE0CF9E736}"/>
              </a:ext>
            </a:extLst>
          </p:cNvPr>
          <p:cNvSpPr/>
          <p:nvPr>
            <p:custDataLst>
              <p:tags r:id="rId6"/>
            </p:custDataLst>
          </p:nvPr>
        </p:nvSpPr>
        <p:spPr>
          <a:xfrm>
            <a:off x="4315460" y="5582706"/>
            <a:ext cx="821055" cy="716915"/>
          </a:xfrm>
          <a:prstGeom prst="roundRect">
            <a:avLst>
              <a:gd name="adj" fmla="val 0"/>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endParaRPr>
          </a:p>
        </p:txBody>
      </p:sp>
      <p:sp>
        <p:nvSpPr>
          <p:cNvPr id="21" name="文本框 20">
            <a:extLst>
              <a:ext uri="{FF2B5EF4-FFF2-40B4-BE49-F238E27FC236}">
                <a16:creationId xmlns:a16="http://schemas.microsoft.com/office/drawing/2014/main" id="{1453807C-AA37-7F32-15DC-B2FFDDAB67CB}"/>
              </a:ext>
            </a:extLst>
          </p:cNvPr>
          <p:cNvSpPr txBox="1"/>
          <p:nvPr/>
        </p:nvSpPr>
        <p:spPr>
          <a:xfrm>
            <a:off x="4361180" y="5649381"/>
            <a:ext cx="699770" cy="583565"/>
          </a:xfrm>
          <a:prstGeom prst="rect">
            <a:avLst/>
          </a:prstGeom>
          <a:noFill/>
        </p:spPr>
        <p:txBody>
          <a:bodyPr wrap="square" rtlCol="0">
            <a:spAutoFit/>
          </a:bodyPr>
          <a:lstStyle/>
          <a:p>
            <a:pPr algn="ctr"/>
            <a:r>
              <a:rPr lang="en-US" altLang="zh-CN" sz="3200" b="1" dirty="0">
                <a:solidFill>
                  <a:schemeClr val="bg1"/>
                </a:solidFill>
                <a:latin typeface="方正小标宋简体" panose="03000509000000000000" pitchFamily="65" charset="-122"/>
                <a:ea typeface="方正小标宋简体" panose="03000509000000000000" pitchFamily="65" charset="-122"/>
              </a:rPr>
              <a:t>05</a:t>
            </a:r>
          </a:p>
        </p:txBody>
      </p:sp>
    </p:spTree>
    <p:extLst>
      <p:ext uri="{BB962C8B-B14F-4D97-AF65-F5344CB8AC3E}">
        <p14:creationId xmlns:p14="http://schemas.microsoft.com/office/powerpoint/2010/main" val="6882274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E5B4-D260-4806-7BDA-FD81429A3A8F}"/>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8850FC93-67CA-7BFC-A202-B8F284126170}"/>
              </a:ext>
            </a:extLst>
          </p:cNvPr>
          <p:cNvGrpSpPr>
            <a:grpSpLocks noChangeAspect="1"/>
          </p:cNvGrpSpPr>
          <p:nvPr>
            <p:custDataLst>
              <p:tags r:id="rId1"/>
            </p:custDataLst>
          </p:nvPr>
        </p:nvGrpSpPr>
        <p:grpSpPr>
          <a:xfrm>
            <a:off x="-4546599" y="1495829"/>
            <a:ext cx="16122650" cy="3705367"/>
            <a:chOff x="1" y="1895348"/>
            <a:chExt cx="7123176" cy="3143504"/>
          </a:xfrm>
        </p:grpSpPr>
        <p:sp>
          <p:nvSpPr>
            <p:cNvPr id="10" name="í$ḻídè">
              <a:extLst>
                <a:ext uri="{FF2B5EF4-FFF2-40B4-BE49-F238E27FC236}">
                  <a16:creationId xmlns:a16="http://schemas.microsoft.com/office/drawing/2014/main" id="{DB5B1594-7CF7-162F-1F35-937EAB5E4655}"/>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608DDEC0-6297-727C-857C-2A17EA12F308}"/>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055C2469-5908-323E-62EF-8D97F99B7E37}"/>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C7E37CF4-4C16-AE7F-3031-7CF4EDD30768}"/>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31AD1913-760D-C81C-0121-FBB44C2A6A7F}"/>
              </a:ext>
            </a:extLst>
          </p:cNvPr>
          <p:cNvSpPr txBox="1"/>
          <p:nvPr/>
        </p:nvSpPr>
        <p:spPr>
          <a:xfrm>
            <a:off x="509272" y="468691"/>
            <a:ext cx="291973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Conclusion</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4" name="椭圆 33">
            <a:extLst>
              <a:ext uri="{FF2B5EF4-FFF2-40B4-BE49-F238E27FC236}">
                <a16:creationId xmlns:a16="http://schemas.microsoft.com/office/drawing/2014/main" id="{CA88ACA1-BFBD-028D-80FD-C84E6CEB9CF2}"/>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6053334D-0389-F8EA-5E40-4E2E05A17771}"/>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91130BE-D1FE-061C-C161-8A5BF912375F}"/>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11" name="文本框 10">
            <a:extLst>
              <a:ext uri="{FF2B5EF4-FFF2-40B4-BE49-F238E27FC236}">
                <a16:creationId xmlns:a16="http://schemas.microsoft.com/office/drawing/2014/main" id="{D633F30A-D513-B4E6-B283-CFF05AF0AA8B}"/>
              </a:ext>
            </a:extLst>
          </p:cNvPr>
          <p:cNvSpPr txBox="1"/>
          <p:nvPr/>
        </p:nvSpPr>
        <p:spPr>
          <a:xfrm>
            <a:off x="810468" y="2332990"/>
            <a:ext cx="9166136" cy="1384995"/>
          </a:xfrm>
          <a:prstGeom prst="rect">
            <a:avLst/>
          </a:prstGeom>
          <a:noFill/>
        </p:spPr>
        <p:txBody>
          <a:bodyPr wrap="square" rtlCol="0">
            <a:spAutoFit/>
          </a:bodyPr>
          <a:lstStyle/>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Not task-oriented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thinking-oriented</a:t>
            </a:r>
          </a:p>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Simple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robust</a:t>
            </a:r>
          </a:p>
          <a:p>
            <a:pPr marL="342900" indent="-342900" algn="l">
              <a:buFont typeface="Arial" panose="020B0604020202020204" pitchFamily="34" charset="0"/>
              <a:buChar char="•"/>
            </a:pP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Based on mathematical models </a:t>
            </a:r>
            <a:r>
              <a:rPr lang="en-US" altLang="zh-CN" sz="2800" dirty="0">
                <a:solidFill>
                  <a:srgbClr val="FF0000"/>
                </a:solidFill>
                <a:latin typeface="Times New Roman" panose="02020603050405020304" pitchFamily="18" charset="0"/>
                <a:ea typeface="方正小标宋简体" panose="03000509000000000000" pitchFamily="65" charset="-122"/>
                <a:cs typeface="Times New Roman" panose="02020603050405020304" pitchFamily="18" charset="0"/>
              </a:rPr>
              <a:t>but</a:t>
            </a:r>
            <a:r>
              <a:rPr lang="en-US" altLang="zh-CN" sz="2800" dirty="0">
                <a:latin typeface="Times New Roman" panose="02020603050405020304" pitchFamily="18" charset="0"/>
                <a:ea typeface="方正小标宋简体" panose="03000509000000000000" pitchFamily="65" charset="-122"/>
                <a:cs typeface="Times New Roman" panose="02020603050405020304" pitchFamily="18" charset="0"/>
              </a:rPr>
              <a:t> can inspire our life</a:t>
            </a:r>
            <a:endParaRPr lang="zh-CN" altLang="en-US" sz="2800" dirty="0">
              <a:latin typeface="Times New Roman" panose="02020603050405020304" pitchFamily="18" charset="0"/>
              <a:ea typeface="方正小标宋简体" panose="03000509000000000000" pitchFamily="65" charset="-122"/>
              <a:cs typeface="Times New Roman" panose="02020603050405020304" pitchFamily="18" charset="0"/>
            </a:endParaRPr>
          </a:p>
        </p:txBody>
      </p:sp>
    </p:spTree>
    <p:extLst>
      <p:ext uri="{BB962C8B-B14F-4D97-AF65-F5344CB8AC3E}">
        <p14:creationId xmlns:p14="http://schemas.microsoft.com/office/powerpoint/2010/main" val="2517601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EB02-A1D8-E4B5-326A-EE65D7B7E83C}"/>
            </a:ext>
          </a:extLst>
        </p:cNvPr>
        <p:cNvGrpSpPr/>
        <p:nvPr/>
      </p:nvGrpSpPr>
      <p:grpSpPr>
        <a:xfrm>
          <a:off x="0" y="0"/>
          <a:ext cx="0" cy="0"/>
          <a:chOff x="0" y="0"/>
          <a:chExt cx="0" cy="0"/>
        </a:xfrm>
      </p:grpSpPr>
      <p:grpSp>
        <p:nvGrpSpPr>
          <p:cNvPr id="8" name="#294670"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a16="http://schemas.microsoft.com/office/drawing/2014/main" id="{3EE74AE9-6F90-E02D-97D2-E9809A61BAB1}"/>
              </a:ext>
            </a:extLst>
          </p:cNvPr>
          <p:cNvGrpSpPr>
            <a:grpSpLocks noChangeAspect="1"/>
          </p:cNvGrpSpPr>
          <p:nvPr>
            <p:custDataLst>
              <p:tags r:id="rId1"/>
            </p:custDataLst>
          </p:nvPr>
        </p:nvGrpSpPr>
        <p:grpSpPr>
          <a:xfrm>
            <a:off x="-4546599" y="1495829"/>
            <a:ext cx="16122650" cy="3705367"/>
            <a:chOff x="1" y="1895348"/>
            <a:chExt cx="7123176" cy="3143504"/>
          </a:xfrm>
        </p:grpSpPr>
        <p:sp>
          <p:nvSpPr>
            <p:cNvPr id="10" name="í$ḻídè">
              <a:extLst>
                <a:ext uri="{FF2B5EF4-FFF2-40B4-BE49-F238E27FC236}">
                  <a16:creationId xmlns:a16="http://schemas.microsoft.com/office/drawing/2014/main" id="{81EEC113-F7D4-FA12-C7FF-5767492AC37E}"/>
                </a:ext>
              </a:extLst>
            </p:cNvPr>
            <p:cNvSpPr/>
            <p:nvPr/>
          </p:nvSpPr>
          <p:spPr>
            <a:xfrm>
              <a:off x="1" y="1895348"/>
              <a:ext cx="7123176" cy="3143504"/>
            </a:xfrm>
            <a:prstGeom prst="rect">
              <a:avLst/>
            </a:prstGeom>
            <a:gradFill flip="none" rotWithShape="1">
              <a:gsLst>
                <a:gs pos="0">
                  <a:schemeClr val="bg1">
                    <a:alpha val="0"/>
                  </a:schemeClr>
                </a:gs>
                <a:gs pos="100000">
                  <a:schemeClr val="bg1">
                    <a:lumMod val="95000"/>
                    <a:alpha val="80000"/>
                  </a:schemeClr>
                </a:gs>
              </a:gsLst>
              <a:lin ang="0" scaled="1"/>
              <a:tileRect/>
            </a:gra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sp>
          <p:nvSpPr>
            <p:cNvPr id="16" name="ïşlíďe">
              <a:extLst>
                <a:ext uri="{FF2B5EF4-FFF2-40B4-BE49-F238E27FC236}">
                  <a16:creationId xmlns:a16="http://schemas.microsoft.com/office/drawing/2014/main" id="{1A6F7F76-ACBD-4463-6769-3F0DFBD8CE75}"/>
                </a:ext>
              </a:extLst>
            </p:cNvPr>
            <p:cNvSpPr/>
            <p:nvPr/>
          </p:nvSpPr>
          <p:spPr>
            <a:xfrm>
              <a:off x="6967728" y="1895348"/>
              <a:ext cx="155448" cy="3143504"/>
            </a:xfrm>
            <a:prstGeom prst="rect">
              <a:avLst/>
            </a:prstGeom>
            <a:solidFill>
              <a:schemeClr val="accent2"/>
            </a:solidFill>
            <a:ln w="12700" cap="rnd">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rmAutofit/>
            </a:bodyPr>
            <a:lstStyle/>
            <a:p>
              <a:pPr algn="ctr" defTabSz="914400"/>
              <a:endParaRPr lang="zh-CN" altLang="en-US" sz="2000" b="1" dirty="0">
                <a:solidFill>
                  <a:schemeClr val="bg1"/>
                </a:solidFill>
              </a:endParaRPr>
            </a:p>
          </p:txBody>
        </p:sp>
      </p:grpSp>
      <p:sp>
        <p:nvSpPr>
          <p:cNvPr id="4" name="椭圆 3">
            <a:extLst>
              <a:ext uri="{FF2B5EF4-FFF2-40B4-BE49-F238E27FC236}">
                <a16:creationId xmlns:a16="http://schemas.microsoft.com/office/drawing/2014/main" id="{CCDFC90A-AAB4-3BF3-2941-4FFCD0873EC3}"/>
              </a:ext>
            </a:extLst>
          </p:cNvPr>
          <p:cNvSpPr/>
          <p:nvPr/>
        </p:nvSpPr>
        <p:spPr>
          <a:xfrm>
            <a:off x="-95250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a:extLst>
              <a:ext uri="{FF2B5EF4-FFF2-40B4-BE49-F238E27FC236}">
                <a16:creationId xmlns:a16="http://schemas.microsoft.com/office/drawing/2014/main" id="{9B7814EC-4959-AD60-F513-2D1506F04EE9}"/>
              </a:ext>
            </a:extLst>
          </p:cNvPr>
          <p:cNvSpPr/>
          <p:nvPr/>
        </p:nvSpPr>
        <p:spPr>
          <a:xfrm>
            <a:off x="340360" y="42799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7993E222-57EA-E026-8B3A-019121EB5371}"/>
              </a:ext>
            </a:extLst>
          </p:cNvPr>
          <p:cNvSpPr txBox="1"/>
          <p:nvPr/>
        </p:nvSpPr>
        <p:spPr>
          <a:xfrm>
            <a:off x="509272" y="468691"/>
            <a:ext cx="2919730" cy="646331"/>
          </a:xfrm>
          <a:prstGeom prst="rect">
            <a:avLst/>
          </a:prstGeom>
          <a:noFill/>
        </p:spPr>
        <p:txBody>
          <a:bodyPr wrap="square" rtlCol="0">
            <a:spAutoFit/>
          </a:bodyPr>
          <a:lstStyle/>
          <a:p>
            <a:pPr algn="l"/>
            <a:r>
              <a:rPr lang="en-US" altLang="zh-CN"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rPr>
              <a:t>References</a:t>
            </a:r>
            <a:endParaRPr lang="zh-CN" altLang="en-US" sz="3600" b="1" dirty="0">
              <a:solidFill>
                <a:schemeClr val="accent2">
                  <a:lumMod val="75000"/>
                </a:schemeClr>
              </a:solidFill>
              <a:latin typeface="Times New Roman" panose="02020603050405020304" pitchFamily="18" charset="0"/>
              <a:ea typeface="方正小标宋简体" panose="03000509000000000000" pitchFamily="65" charset="-122"/>
              <a:cs typeface="Times New Roman" panose="02020603050405020304" pitchFamily="18" charset="0"/>
            </a:endParaRPr>
          </a:p>
        </p:txBody>
      </p:sp>
      <p:sp>
        <p:nvSpPr>
          <p:cNvPr id="34" name="椭圆 33">
            <a:extLst>
              <a:ext uri="{FF2B5EF4-FFF2-40B4-BE49-F238E27FC236}">
                <a16:creationId xmlns:a16="http://schemas.microsoft.com/office/drawing/2014/main" id="{A94C8461-C01B-DD51-069B-C225E8CD994B}"/>
              </a:ext>
            </a:extLst>
          </p:cNvPr>
          <p:cNvSpPr/>
          <p:nvPr/>
        </p:nvSpPr>
        <p:spPr>
          <a:xfrm>
            <a:off x="9575165" y="55079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椭圆 37">
            <a:extLst>
              <a:ext uri="{FF2B5EF4-FFF2-40B4-BE49-F238E27FC236}">
                <a16:creationId xmlns:a16="http://schemas.microsoft.com/office/drawing/2014/main" id="{D2C890F5-7A8A-D0BB-19EE-95D45958D955}"/>
              </a:ext>
            </a:extLst>
          </p:cNvPr>
          <p:cNvSpPr/>
          <p:nvPr/>
        </p:nvSpPr>
        <p:spPr>
          <a:xfrm>
            <a:off x="11151870" y="30740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A7DD7E59-7E45-3FD8-7FCD-E64E694B5FE6}"/>
              </a:ext>
            </a:extLst>
          </p:cNvPr>
          <p:cNvSpPr txBox="1"/>
          <p:nvPr/>
        </p:nvSpPr>
        <p:spPr>
          <a:xfrm>
            <a:off x="4474346" y="266330"/>
            <a:ext cx="1988598" cy="276999"/>
          </a:xfrm>
          <a:prstGeom prst="rect">
            <a:avLst/>
          </a:prstGeom>
          <a:noFill/>
        </p:spPr>
        <p:txBody>
          <a:bodyPr wrap="square" rtlCol="0">
            <a:spAutoFit/>
          </a:bodyPr>
          <a:lstStyle/>
          <a:p>
            <a:r>
              <a:rPr lang="en-US" altLang="zh-CN" sz="1200" dirty="0">
                <a:solidFill>
                  <a:srgbClr val="FFFFFF"/>
                </a:solidFill>
              </a:rPr>
              <a:t>https://www.ypppt.com/</a:t>
            </a:r>
            <a:endParaRPr lang="zh-CN" altLang="en-US" sz="1200" dirty="0">
              <a:solidFill>
                <a:srgbClr val="FFFFFF"/>
              </a:solidFill>
            </a:endParaRPr>
          </a:p>
        </p:txBody>
      </p:sp>
      <p:sp>
        <p:nvSpPr>
          <p:cNvPr id="6" name="文本框 5">
            <a:extLst>
              <a:ext uri="{FF2B5EF4-FFF2-40B4-BE49-F238E27FC236}">
                <a16:creationId xmlns:a16="http://schemas.microsoft.com/office/drawing/2014/main" id="{2E1E4F00-1946-DC9E-9A43-169983C4A98C}"/>
              </a:ext>
            </a:extLst>
          </p:cNvPr>
          <p:cNvSpPr txBox="1"/>
          <p:nvPr/>
        </p:nvSpPr>
        <p:spPr>
          <a:xfrm>
            <a:off x="815925" y="2067522"/>
            <a:ext cx="9657471" cy="2031325"/>
          </a:xfrm>
          <a:prstGeom prst="rect">
            <a:avLst/>
          </a:prstGeom>
          <a:noFill/>
        </p:spPr>
        <p:txBody>
          <a:bodyPr wrap="square">
            <a:spAutoFit/>
          </a:bodyPr>
          <a:lstStyle/>
          <a:p>
            <a:r>
              <a:rPr lang="en-US" altLang="zh-CN" b="0" i="0" dirty="0">
                <a:solidFill>
                  <a:srgbClr val="333333"/>
                </a:solidFill>
                <a:effectLst/>
                <a:latin typeface="Times New Roman" panose="02020603050405020304" pitchFamily="18" charset="0"/>
                <a:cs typeface="Times New Roman" panose="02020603050405020304" pitchFamily="18" charset="0"/>
              </a:rPr>
              <a:t>[1]Ratcliff, R. (1978). A theory of memory retrieval. </a:t>
            </a:r>
            <a:r>
              <a:rPr lang="en-US" altLang="zh-CN" b="0" i="1" dirty="0">
                <a:solidFill>
                  <a:srgbClr val="333333"/>
                </a:solidFill>
                <a:effectLst/>
                <a:latin typeface="Times New Roman" panose="02020603050405020304" pitchFamily="18" charset="0"/>
                <a:cs typeface="Times New Roman" panose="02020603050405020304" pitchFamily="18" charset="0"/>
              </a:rPr>
              <a:t>Psychological Review, 85</a:t>
            </a:r>
            <a:r>
              <a:rPr lang="en-US" altLang="zh-CN" b="0" i="0" dirty="0">
                <a:solidFill>
                  <a:srgbClr val="333333"/>
                </a:solidFill>
                <a:effectLst/>
                <a:latin typeface="Times New Roman" panose="02020603050405020304" pitchFamily="18" charset="0"/>
                <a:cs typeface="Times New Roman" panose="02020603050405020304" pitchFamily="18" charset="0"/>
              </a:rPr>
              <a:t>(2), 59-108.  </a:t>
            </a:r>
            <a:r>
              <a:rPr lang="en-US" altLang="zh-CN" b="0" i="0" u="none" strike="noStrike" dirty="0">
                <a:solidFill>
                  <a:srgbClr val="2C72B7"/>
                </a:solidFill>
                <a:effectLst/>
                <a:latin typeface="Times New Roman" panose="02020603050405020304" pitchFamily="18" charset="0"/>
                <a:cs typeface="Times New Roman" panose="02020603050405020304" pitchFamily="18" charset="0"/>
                <a:hlinkClick r:id="rId4"/>
              </a:rPr>
              <a:t>https://doi.org/10.1037/0033-295X.85.2.59</a:t>
            </a:r>
            <a:endParaRPr lang="en-US" altLang="zh-CN" b="0" i="0" u="none" strike="noStrike" dirty="0">
              <a:solidFill>
                <a:srgbClr val="2C72B7"/>
              </a:solidFill>
              <a:effectLst/>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[2]K. Britten, M. </a:t>
            </a:r>
            <a:r>
              <a:rPr lang="en-US" altLang="zh-CN" dirty="0" err="1">
                <a:latin typeface="Times New Roman" panose="02020603050405020304" pitchFamily="18" charset="0"/>
                <a:cs typeface="Times New Roman" panose="02020603050405020304" pitchFamily="18" charset="0"/>
              </a:rPr>
              <a:t>Shadlen</a:t>
            </a:r>
            <a:r>
              <a:rPr lang="en-US" altLang="zh-CN" dirty="0">
                <a:latin typeface="Times New Roman" panose="02020603050405020304" pitchFamily="18" charset="0"/>
                <a:cs typeface="Times New Roman" panose="02020603050405020304" pitchFamily="18" charset="0"/>
              </a:rPr>
              <a:t>, W. Newsome, and J. </a:t>
            </a:r>
            <a:r>
              <a:rPr lang="en-US" altLang="zh-CN" dirty="0" err="1">
                <a:latin typeface="Times New Roman" panose="02020603050405020304" pitchFamily="18" charset="0"/>
                <a:cs typeface="Times New Roman" panose="02020603050405020304" pitchFamily="18" charset="0"/>
              </a:rPr>
              <a:t>Movshon</a:t>
            </a:r>
            <a:r>
              <a:rPr lang="en-US" altLang="zh-CN" dirty="0">
                <a:latin typeface="Times New Roman" panose="02020603050405020304" pitchFamily="18" charset="0"/>
                <a:cs typeface="Times New Roman" panose="02020603050405020304" pitchFamily="18" charset="0"/>
              </a:rPr>
              <a:t>, “The analysis of visual motion: a comparison of neuronal and psychophysical performance,” Journal of Neuroscience, vol. 12, no. 12, pp. 4745–4765, 1992.</a:t>
            </a:r>
          </a:p>
          <a:p>
            <a:r>
              <a:rPr lang="en-US" altLang="zh-CN" dirty="0">
                <a:latin typeface="Times New Roman" panose="02020603050405020304" pitchFamily="18" charset="0"/>
                <a:cs typeface="Times New Roman" panose="02020603050405020304" pitchFamily="18" charset="0"/>
              </a:rPr>
              <a:t>[3]R. Ratcliff and G. </a:t>
            </a:r>
            <a:r>
              <a:rPr lang="en-US" altLang="zh-CN" dirty="0" err="1">
                <a:latin typeface="Times New Roman" panose="02020603050405020304" pitchFamily="18" charset="0"/>
                <a:cs typeface="Times New Roman" panose="02020603050405020304" pitchFamily="18" charset="0"/>
              </a:rPr>
              <a:t>McKoon</a:t>
            </a:r>
            <a:r>
              <a:rPr lang="en-US" altLang="zh-CN" dirty="0">
                <a:latin typeface="Times New Roman" panose="02020603050405020304" pitchFamily="18" charset="0"/>
                <a:cs typeface="Times New Roman" panose="02020603050405020304" pitchFamily="18" charset="0"/>
              </a:rPr>
              <a:t>, “The Diffusion Decision Model: Theory and Data for Two-Choice Decision Tasks,” Neural Computation, vol. 20, pp. 873–922, Apr. 2008.</a:t>
            </a:r>
          </a:p>
        </p:txBody>
      </p:sp>
    </p:spTree>
    <p:extLst>
      <p:ext uri="{BB962C8B-B14F-4D97-AF65-F5344CB8AC3E}">
        <p14:creationId xmlns:p14="http://schemas.microsoft.com/office/powerpoint/2010/main" val="4988692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D5A09-C0B4-7BED-FAD4-CB6C100024AC}"/>
            </a:ext>
          </a:extLst>
        </p:cNvPr>
        <p:cNvGrpSpPr/>
        <p:nvPr/>
      </p:nvGrpSpPr>
      <p:grpSpPr>
        <a:xfrm>
          <a:off x="0" y="0"/>
          <a:ext cx="0" cy="0"/>
          <a:chOff x="0" y="0"/>
          <a:chExt cx="0" cy="0"/>
        </a:xfrm>
      </p:grpSpPr>
      <p:grpSp>
        <p:nvGrpSpPr>
          <p:cNvPr id="3" name="组合 2">
            <a:extLst>
              <a:ext uri="{FF2B5EF4-FFF2-40B4-BE49-F238E27FC236}">
                <a16:creationId xmlns:a16="http://schemas.microsoft.com/office/drawing/2014/main" id="{9113CDC6-A419-B7AA-B2E3-F49291C62D16}"/>
              </a:ext>
            </a:extLst>
          </p:cNvPr>
          <p:cNvGrpSpPr/>
          <p:nvPr/>
        </p:nvGrpSpPr>
        <p:grpSpPr>
          <a:xfrm>
            <a:off x="-5080" y="-5080"/>
            <a:ext cx="12205335" cy="6863080"/>
            <a:chOff x="-8" y="-8"/>
            <a:chExt cx="19221" cy="10808"/>
          </a:xfrm>
        </p:grpSpPr>
        <p:pic>
          <p:nvPicPr>
            <p:cNvPr id="109" name="图片 108">
              <a:extLst>
                <a:ext uri="{FF2B5EF4-FFF2-40B4-BE49-F238E27FC236}">
                  <a16:creationId xmlns:a16="http://schemas.microsoft.com/office/drawing/2014/main" id="{B4A40B11-B9D4-E87F-E1AF-6E74FE36216B}"/>
                </a:ext>
              </a:extLst>
            </p:cNvPr>
            <p:cNvPicPr>
              <a:picLocks noChangeAspect="1"/>
            </p:cNvPicPr>
            <p:nvPr/>
          </p:nvPicPr>
          <p:blipFill>
            <a:blip r:embed="rId4"/>
            <a:srcRect b="17500"/>
            <a:stretch>
              <a:fillRect/>
            </a:stretch>
          </p:blipFill>
          <p:spPr>
            <a:xfrm>
              <a:off x="14" y="-8"/>
              <a:ext cx="19182" cy="10808"/>
            </a:xfrm>
            <a:prstGeom prst="rect">
              <a:avLst/>
            </a:prstGeom>
          </p:spPr>
        </p:pic>
        <p:sp>
          <p:nvSpPr>
            <p:cNvPr id="5" name="矩形 4">
              <a:extLst>
                <a:ext uri="{FF2B5EF4-FFF2-40B4-BE49-F238E27FC236}">
                  <a16:creationId xmlns:a16="http://schemas.microsoft.com/office/drawing/2014/main" id="{04338581-C67C-D84B-2BB6-5BEA0CA419F6}"/>
                </a:ext>
              </a:extLst>
            </p:cNvPr>
            <p:cNvSpPr/>
            <p:nvPr/>
          </p:nvSpPr>
          <p:spPr>
            <a:xfrm>
              <a:off x="-8" y="0"/>
              <a:ext cx="19221" cy="10800"/>
            </a:xfrm>
            <a:prstGeom prst="rect">
              <a:avLst/>
            </a:prstGeom>
            <a:gradFill>
              <a:gsLst>
                <a:gs pos="28000">
                  <a:srgbClr val="FFFFFF">
                    <a:alpha val="100000"/>
                  </a:srgbClr>
                </a:gs>
                <a:gs pos="79000">
                  <a:schemeClr val="bg1">
                    <a:alpha val="92000"/>
                  </a:schemeClr>
                </a:gs>
                <a:gs pos="55000">
                  <a:schemeClr val="bg1">
                    <a:alpha val="92000"/>
                  </a:schemeClr>
                </a:gs>
              </a:gsLst>
              <a:lin ang="42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PA-矩形 1">
            <a:extLst>
              <a:ext uri="{FF2B5EF4-FFF2-40B4-BE49-F238E27FC236}">
                <a16:creationId xmlns:a16="http://schemas.microsoft.com/office/drawing/2014/main" id="{18ABFAC9-1291-A317-839D-C72ACAEAED3F}"/>
              </a:ext>
            </a:extLst>
          </p:cNvPr>
          <p:cNvSpPr>
            <a:spLocks noChangeAspect="1"/>
          </p:cNvSpPr>
          <p:nvPr>
            <p:custDataLst>
              <p:tags r:id="rId1"/>
            </p:custDataLst>
          </p:nvPr>
        </p:nvSpPr>
        <p:spPr>
          <a:xfrm>
            <a:off x="-13970" y="0"/>
            <a:ext cx="12610854" cy="6858000"/>
          </a:xfrm>
          <a:prstGeom prst="rect">
            <a:avLst/>
          </a:prstGeom>
          <a:solidFill>
            <a:schemeClr val="accent2">
              <a:alpha val="98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6" name="标题 1">
            <a:extLst>
              <a:ext uri="{FF2B5EF4-FFF2-40B4-BE49-F238E27FC236}">
                <a16:creationId xmlns:a16="http://schemas.microsoft.com/office/drawing/2014/main" id="{AC69EBE8-3717-ECBE-54CD-4AE7077D7DA2}"/>
              </a:ext>
            </a:extLst>
          </p:cNvPr>
          <p:cNvSpPr txBox="1"/>
          <p:nvPr/>
        </p:nvSpPr>
        <p:spPr>
          <a:xfrm>
            <a:off x="1006475" y="1327280"/>
            <a:ext cx="10599420" cy="2030749"/>
          </a:xfrm>
          <a:prstGeom prst="rect">
            <a:avLst/>
          </a:prstGeom>
        </p:spPr>
        <p:txBody>
          <a:bodyPr wrap="square">
            <a:spAutoFit/>
          </a:bodyPr>
          <a:lstStyle>
            <a:defPPr>
              <a:defRPr lang="zh-CN"/>
            </a:defPPr>
            <a:lvl1pPr algn="ctr">
              <a:lnSpc>
                <a:spcPct val="120000"/>
              </a:lnSpc>
              <a:spcBef>
                <a:spcPct val="0"/>
              </a:spcBef>
              <a:buNone/>
              <a:defRPr sz="4400">
                <a:gradFill>
                  <a:gsLst>
                    <a:gs pos="0">
                      <a:schemeClr val="accent1">
                        <a:lumMod val="60000"/>
                        <a:lumOff val="40000"/>
                      </a:schemeClr>
                    </a:gs>
                    <a:gs pos="55000">
                      <a:schemeClr val="accent1"/>
                    </a:gs>
                  </a:gsLst>
                  <a:lin ang="5400000" scaled="1"/>
                </a:gradFill>
                <a:effectLst>
                  <a:outerShdw blurRad="127000" sx="102000" sy="102000" algn="ctr" rotWithShape="0">
                    <a:schemeClr val="accent1">
                      <a:alpha val="30000"/>
                    </a:schemeClr>
                  </a:outerShdw>
                </a:effectLst>
                <a:latin typeface="+mj-ea"/>
                <a:ea typeface="+mj-ea"/>
                <a:cs typeface="+mj-cs"/>
              </a:defRPr>
            </a:lvl1pPr>
          </a:lstStyle>
          <a:p>
            <a:pPr algn="l"/>
            <a:r>
              <a:rPr lang="en-US" altLang="zh-CN"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rPr>
              <a:t>Thank You</a:t>
            </a:r>
            <a:endParaRPr lang="zh-CN" altLang="en-US" sz="11500" b="1" dirty="0">
              <a:solidFill>
                <a:schemeClr val="bg1"/>
              </a:solidFill>
              <a:effectLst/>
              <a:latin typeface="Times New Roman" panose="02020603050405020304" pitchFamily="18" charset="0"/>
              <a:ea typeface="方正小标宋简体" panose="03000509000000000000" pitchFamily="65" charset="-122"/>
              <a:cs typeface="Times New Roman" panose="02020603050405020304" pitchFamily="18" charset="0"/>
              <a:sym typeface="+mn-lt"/>
            </a:endParaRPr>
          </a:p>
        </p:txBody>
      </p:sp>
      <p:sp>
        <p:nvSpPr>
          <p:cNvPr id="37" name="文本占位符 85">
            <a:extLst>
              <a:ext uri="{FF2B5EF4-FFF2-40B4-BE49-F238E27FC236}">
                <a16:creationId xmlns:a16="http://schemas.microsoft.com/office/drawing/2014/main" id="{E2AE5AD4-06BB-24A3-8CF5-B3EFA81517E7}"/>
              </a:ext>
            </a:extLst>
          </p:cNvPr>
          <p:cNvSpPr txBox="1"/>
          <p:nvPr/>
        </p:nvSpPr>
        <p:spPr>
          <a:xfrm>
            <a:off x="1006475" y="4407514"/>
            <a:ext cx="5520614" cy="369332"/>
          </a:xfrm>
          <a:prstGeom prst="rect">
            <a:avLst/>
          </a:prstGeom>
        </p:spPr>
        <p:txBody>
          <a:bodyPr wrap="none">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l">
              <a:spcBef>
                <a:spcPts val="0"/>
              </a:spcBef>
              <a:buNone/>
            </a:pPr>
            <a:r>
              <a:rPr lang="en-US" sz="2000" dirty="0">
                <a:solidFill>
                  <a:schemeClr val="bg1"/>
                </a:solidFill>
                <a:latin typeface="Times New Roman" panose="02020603050405020304" pitchFamily="18" charset="0"/>
                <a:cs typeface="Times New Roman" panose="02020603050405020304" pitchFamily="18" charset="0"/>
                <a:sym typeface="+mn-lt"/>
              </a:rPr>
              <a:t>Yong-Ming Tian, Zong-Yi Chen, Shiqi Liu, Yajie Li</a:t>
            </a:r>
            <a:endParaRPr sz="2000" dirty="0">
              <a:solidFill>
                <a:schemeClr val="bg1"/>
              </a:solidFill>
              <a:latin typeface="Times New Roman" panose="02020603050405020304" pitchFamily="18" charset="0"/>
              <a:cs typeface="Times New Roman" panose="02020603050405020304" pitchFamily="18" charset="0"/>
              <a:sym typeface="+mn-lt"/>
            </a:endParaRPr>
          </a:p>
        </p:txBody>
      </p:sp>
      <p:cxnSp>
        <p:nvCxnSpPr>
          <p:cNvPr id="10" name="直接连接符 9">
            <a:extLst>
              <a:ext uri="{FF2B5EF4-FFF2-40B4-BE49-F238E27FC236}">
                <a16:creationId xmlns:a16="http://schemas.microsoft.com/office/drawing/2014/main" id="{88F1F789-FC8C-4BCD-EEAA-EB1C00F56948}"/>
              </a:ext>
            </a:extLst>
          </p:cNvPr>
          <p:cNvCxnSpPr/>
          <p:nvPr/>
        </p:nvCxnSpPr>
        <p:spPr>
          <a:xfrm>
            <a:off x="1006475" y="3775319"/>
            <a:ext cx="429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D889C432-3B3A-CF44-0F84-4BBFA6D0BBAD}"/>
              </a:ext>
            </a:extLst>
          </p:cNvPr>
          <p:cNvSpPr/>
          <p:nvPr/>
        </p:nvSpPr>
        <p:spPr>
          <a:xfrm>
            <a:off x="3498850" y="-95250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D4B8F5D7-EE89-F56E-B21F-79B7C1182F48}"/>
              </a:ext>
            </a:extLst>
          </p:cNvPr>
          <p:cNvSpPr/>
          <p:nvPr/>
        </p:nvSpPr>
        <p:spPr>
          <a:xfrm>
            <a:off x="-1410335" y="1685290"/>
            <a:ext cx="1905000" cy="190500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椭圆 28">
            <a:extLst>
              <a:ext uri="{FF2B5EF4-FFF2-40B4-BE49-F238E27FC236}">
                <a16:creationId xmlns:a16="http://schemas.microsoft.com/office/drawing/2014/main" id="{71404DEE-AFC9-DC72-F00A-DB3E51DE60EA}"/>
              </a:ext>
            </a:extLst>
          </p:cNvPr>
          <p:cNvSpPr/>
          <p:nvPr/>
        </p:nvSpPr>
        <p:spPr>
          <a:xfrm>
            <a:off x="3265170" y="5385435"/>
            <a:ext cx="1487170" cy="148717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a:extLst>
              <a:ext uri="{FF2B5EF4-FFF2-40B4-BE49-F238E27FC236}">
                <a16:creationId xmlns:a16="http://schemas.microsoft.com/office/drawing/2014/main" id="{52629494-D5A8-12FA-BDD0-3EDE520B4A2B}"/>
              </a:ext>
            </a:extLst>
          </p:cNvPr>
          <p:cNvSpPr/>
          <p:nvPr/>
        </p:nvSpPr>
        <p:spPr>
          <a:xfrm>
            <a:off x="9946005" y="4836795"/>
            <a:ext cx="1659890" cy="173228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a:extLst>
              <a:ext uri="{FF2B5EF4-FFF2-40B4-BE49-F238E27FC236}">
                <a16:creationId xmlns:a16="http://schemas.microsoft.com/office/drawing/2014/main" id="{595014A0-6700-2F78-AEA7-88F2C97E7AE6}"/>
              </a:ext>
            </a:extLst>
          </p:cNvPr>
          <p:cNvSpPr/>
          <p:nvPr/>
        </p:nvSpPr>
        <p:spPr>
          <a:xfrm>
            <a:off x="10287000" y="459105"/>
            <a:ext cx="1905000" cy="190500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椭圆 31">
            <a:extLst>
              <a:ext uri="{FF2B5EF4-FFF2-40B4-BE49-F238E27FC236}">
                <a16:creationId xmlns:a16="http://schemas.microsoft.com/office/drawing/2014/main" id="{C3F150B5-EAC4-A810-7BB6-0B3FEF2B7412}"/>
              </a:ext>
            </a:extLst>
          </p:cNvPr>
          <p:cNvSpPr/>
          <p:nvPr/>
        </p:nvSpPr>
        <p:spPr>
          <a:xfrm>
            <a:off x="5732780" y="1079500"/>
            <a:ext cx="548640" cy="548640"/>
          </a:xfrm>
          <a:prstGeom prst="ellipse">
            <a:avLst/>
          </a:prstGeom>
          <a:gradFill>
            <a:gsLst>
              <a:gs pos="28000">
                <a:schemeClr val="accent2">
                  <a:lumMod val="75000"/>
                  <a:alpha val="14000"/>
                </a:schemeClr>
              </a:gs>
              <a:gs pos="100000">
                <a:schemeClr val="bg1">
                  <a:alpha val="11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a:extLst>
              <a:ext uri="{FF2B5EF4-FFF2-40B4-BE49-F238E27FC236}">
                <a16:creationId xmlns:a16="http://schemas.microsoft.com/office/drawing/2014/main" id="{9A27FF78-FA8B-3723-4479-A395E16EE1AF}"/>
              </a:ext>
            </a:extLst>
          </p:cNvPr>
          <p:cNvSpPr/>
          <p:nvPr/>
        </p:nvSpPr>
        <p:spPr>
          <a:xfrm>
            <a:off x="9222740" y="2101850"/>
            <a:ext cx="548640" cy="548640"/>
          </a:xfrm>
          <a:prstGeom prst="ellipse">
            <a:avLst/>
          </a:prstGeom>
          <a:gradFill>
            <a:gsLst>
              <a:gs pos="14000">
                <a:srgbClr val="FFFFFF">
                  <a:alpha val="0"/>
                </a:srgbClr>
              </a:gs>
              <a:gs pos="100000">
                <a:schemeClr val="bg1">
                  <a:alpha val="92000"/>
                </a:schemeClr>
              </a:gs>
            </a:gsLst>
            <a:lin ang="51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835567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9"/>
</p:tagLst>
</file>

<file path=ppt/tags/tag2.xml><?xml version="1.0" encoding="utf-8"?>
<p:tagLst xmlns:a="http://schemas.openxmlformats.org/drawingml/2006/main" xmlns:r="http://schemas.openxmlformats.org/officeDocument/2006/relationships" xmlns:p="http://schemas.openxmlformats.org/presentationml/2006/main">
  <p:tag name="PA" val="v5.2.9"/>
</p:tagLst>
</file>

<file path=ppt/tags/tag3.xml><?xml version="1.0" encoding="utf-8"?>
<p:tagLst xmlns:a="http://schemas.openxmlformats.org/drawingml/2006/main" xmlns:r="http://schemas.openxmlformats.org/officeDocument/2006/relationships" xmlns:p="http://schemas.openxmlformats.org/presentationml/2006/main">
  <p:tag name="PA" val="v5.2.9"/>
</p:tagLst>
</file>

<file path=ppt/tags/tag4.xml><?xml version="1.0" encoding="utf-8"?>
<p:tagLst xmlns:a="http://schemas.openxmlformats.org/drawingml/2006/main" xmlns:r="http://schemas.openxmlformats.org/officeDocument/2006/relationships" xmlns:p="http://schemas.openxmlformats.org/presentationml/2006/main">
  <p:tag name="PA" val="v5.2.9"/>
</p:tagLst>
</file>

<file path=ppt/tags/tag5.xml><?xml version="1.0" encoding="utf-8"?>
<p:tagLst xmlns:a="http://schemas.openxmlformats.org/drawingml/2006/main" xmlns:r="http://schemas.openxmlformats.org/officeDocument/2006/relationships" xmlns:p="http://schemas.openxmlformats.org/presentationml/2006/main">
  <p:tag name="PA" val="v5.2.9"/>
</p:tagLst>
</file>

<file path=ppt/tags/tag6.xml><?xml version="1.0" encoding="utf-8"?>
<p:tagLst xmlns:a="http://schemas.openxmlformats.org/drawingml/2006/main" xmlns:r="http://schemas.openxmlformats.org/officeDocument/2006/relationships" xmlns:p="http://schemas.openxmlformats.org/presentationml/2006/main">
  <p:tag name="PA" val="v5.2.9"/>
</p:tagLst>
</file>

<file path=ppt/tags/tag7.xml><?xml version="1.0" encoding="utf-8"?>
<p:tagLst xmlns:a="http://schemas.openxmlformats.org/drawingml/2006/main" xmlns:r="http://schemas.openxmlformats.org/officeDocument/2006/relationships" xmlns:p="http://schemas.openxmlformats.org/presentationml/2006/main">
  <p:tag name="PA" val="v5.2.9"/>
</p:tagLst>
</file>

<file path=ppt/tags/tag8.xml><?xml version="1.0" encoding="utf-8"?>
<p:tagLst xmlns:a="http://schemas.openxmlformats.org/drawingml/2006/main" xmlns:r="http://schemas.openxmlformats.org/officeDocument/2006/relationships" xmlns:p="http://schemas.openxmlformats.org/presentationml/2006/main">
  <p:tag name="ISLIDE.DIAGRAM" val="#294670"/>
</p:tagLst>
</file>

<file path=ppt/tags/tag9.xml><?xml version="1.0" encoding="utf-8"?>
<p:tagLst xmlns:a="http://schemas.openxmlformats.org/drawingml/2006/main" xmlns:r="http://schemas.openxmlformats.org/officeDocument/2006/relationships" xmlns:p="http://schemas.openxmlformats.org/presentationml/2006/main">
  <p:tag name="PA" val="v5.2.9"/>
</p:tagLst>
</file>

<file path=ppt/tags/tag10.xml><?xml version="1.0" encoding="utf-8"?>
<p:tagLst xmlns:a="http://schemas.openxmlformats.org/drawingml/2006/main" xmlns:r="http://schemas.openxmlformats.org/officeDocument/2006/relationships" xmlns:p="http://schemas.openxmlformats.org/presentationml/2006/main">
  <p:tag name="PA" val="v5.2.9"/>
</p:tagLst>
</file>

<file path=ppt/tags/tag11.xml><?xml version="1.0" encoding="utf-8"?>
<p:tagLst xmlns:a="http://schemas.openxmlformats.org/drawingml/2006/main" xmlns:r="http://schemas.openxmlformats.org/officeDocument/2006/relationships" xmlns:p="http://schemas.openxmlformats.org/presentationml/2006/main">
  <p:tag name="PA" val="v5.2.9"/>
</p:tagLst>
</file>

<file path=ppt/tags/tag12.xml><?xml version="1.0" encoding="utf-8"?>
<p:tagLst xmlns:a="http://schemas.openxmlformats.org/drawingml/2006/main" xmlns:r="http://schemas.openxmlformats.org/officeDocument/2006/relationships" xmlns:p="http://schemas.openxmlformats.org/presentationml/2006/main">
  <p:tag name="PA" val="v5.2.9"/>
</p:tagLst>
</file>

<file path=ppt/tags/tag13.xml><?xml version="1.0" encoding="utf-8"?>
<p:tagLst xmlns:a="http://schemas.openxmlformats.org/drawingml/2006/main" xmlns:r="http://schemas.openxmlformats.org/officeDocument/2006/relationships" xmlns:p="http://schemas.openxmlformats.org/presentationml/2006/main">
  <p:tag name="PA" val="v5.2.9"/>
</p:tagLst>
</file>

<file path=ppt/tags/tag14.xml><?xml version="1.0" encoding="utf-8"?>
<p:tagLst xmlns:a="http://schemas.openxmlformats.org/drawingml/2006/main" xmlns:r="http://schemas.openxmlformats.org/officeDocument/2006/relationships" xmlns:p="http://schemas.openxmlformats.org/presentationml/2006/main">
  <p:tag name="PA" val="v5.2.9"/>
</p:tagLst>
</file>

<file path=ppt/tags/tag15.xml><?xml version="1.0" encoding="utf-8"?>
<p:tagLst xmlns:a="http://schemas.openxmlformats.org/drawingml/2006/main" xmlns:r="http://schemas.openxmlformats.org/officeDocument/2006/relationships" xmlns:p="http://schemas.openxmlformats.org/presentationml/2006/main">
  <p:tag name="PA" val="v5.2.9"/>
</p:tagLst>
</file>

<file path=ppt/tags/tag16.xml><?xml version="1.0" encoding="utf-8"?>
<p:tagLst xmlns:a="http://schemas.openxmlformats.org/drawingml/2006/main" xmlns:r="http://schemas.openxmlformats.org/officeDocument/2006/relationships" xmlns:p="http://schemas.openxmlformats.org/presentationml/2006/main">
  <p:tag name="PA" val="v5.2.9"/>
</p:tagLst>
</file>

<file path=ppt/tags/tag17.xml><?xml version="1.0" encoding="utf-8"?>
<p:tagLst xmlns:a="http://schemas.openxmlformats.org/drawingml/2006/main" xmlns:r="http://schemas.openxmlformats.org/officeDocument/2006/relationships" xmlns:p="http://schemas.openxmlformats.org/presentationml/2006/main">
  <p:tag name="PA" val="v5.2.9"/>
</p:tagLst>
</file>

<file path=ppt/tags/tag18.xml><?xml version="1.0" encoding="utf-8"?>
<p:tagLst xmlns:a="http://schemas.openxmlformats.org/drawingml/2006/main" xmlns:r="http://schemas.openxmlformats.org/officeDocument/2006/relationships" xmlns:p="http://schemas.openxmlformats.org/presentationml/2006/main">
  <p:tag name="PA" val="v5.2.9"/>
</p:tagLst>
</file>

<file path=ppt/tags/tag19.xml><?xml version="1.0" encoding="utf-8"?>
<p:tagLst xmlns:a="http://schemas.openxmlformats.org/drawingml/2006/main" xmlns:r="http://schemas.openxmlformats.org/officeDocument/2006/relationships" xmlns:p="http://schemas.openxmlformats.org/presentationml/2006/main">
  <p:tag name="PA" val="v5.2.9"/>
</p:tagLst>
</file>

<file path=ppt/tags/tag20.xml><?xml version="1.0" encoding="utf-8"?>
<p:tagLst xmlns:a="http://schemas.openxmlformats.org/drawingml/2006/main" xmlns:r="http://schemas.openxmlformats.org/officeDocument/2006/relationships" xmlns:p="http://schemas.openxmlformats.org/presentationml/2006/main">
  <p:tag name="PA" val="v5.2.9"/>
</p:tagLst>
</file>

<file path=ppt/tags/tag21.xml><?xml version="1.0" encoding="utf-8"?>
<p:tagLst xmlns:a="http://schemas.openxmlformats.org/drawingml/2006/main" xmlns:r="http://schemas.openxmlformats.org/officeDocument/2006/relationships" xmlns:p="http://schemas.openxmlformats.org/presentationml/2006/main">
  <p:tag name="PA" val="v5.2.9"/>
</p:tagLst>
</file>

<file path=ppt/tags/tag22.xml><?xml version="1.0" encoding="utf-8"?>
<p:tagLst xmlns:a="http://schemas.openxmlformats.org/drawingml/2006/main" xmlns:r="http://schemas.openxmlformats.org/officeDocument/2006/relationships" xmlns:p="http://schemas.openxmlformats.org/presentationml/2006/main">
  <p:tag name="PA" val="v5.2.9"/>
</p:tagLst>
</file>

<file path=ppt/tags/tag23.xml><?xml version="1.0" encoding="utf-8"?>
<p:tagLst xmlns:a="http://schemas.openxmlformats.org/drawingml/2006/main" xmlns:r="http://schemas.openxmlformats.org/officeDocument/2006/relationships" xmlns:p="http://schemas.openxmlformats.org/presentationml/2006/main">
  <p:tag name="PA" val="v5.2.9"/>
</p:tagLst>
</file>

<file path=ppt/tags/tag24.xml><?xml version="1.0" encoding="utf-8"?>
<p:tagLst xmlns:a="http://schemas.openxmlformats.org/drawingml/2006/main" xmlns:r="http://schemas.openxmlformats.org/officeDocument/2006/relationships" xmlns:p="http://schemas.openxmlformats.org/presentationml/2006/main">
  <p:tag name="PA" val="v5.2.9"/>
</p:tagLst>
</file>

<file path=ppt/tags/tag25.xml><?xml version="1.0" encoding="utf-8"?>
<p:tagLst xmlns:a="http://schemas.openxmlformats.org/drawingml/2006/main" xmlns:r="http://schemas.openxmlformats.org/officeDocument/2006/relationships" xmlns:p="http://schemas.openxmlformats.org/presentationml/2006/main">
  <p:tag name="PA" val="v5.2.9"/>
</p:tagLst>
</file>

<file path=ppt/tags/tag26.xml><?xml version="1.0" encoding="utf-8"?>
<p:tagLst xmlns:a="http://schemas.openxmlformats.org/drawingml/2006/main" xmlns:r="http://schemas.openxmlformats.org/officeDocument/2006/relationships" xmlns:p="http://schemas.openxmlformats.org/presentationml/2006/main">
  <p:tag name="PA" val="v5.2.9"/>
</p:tagLst>
</file>

<file path=ppt/tags/tag27.xml><?xml version="1.0" encoding="utf-8"?>
<p:tagLst xmlns:a="http://schemas.openxmlformats.org/drawingml/2006/main" xmlns:r="http://schemas.openxmlformats.org/officeDocument/2006/relationships" xmlns:p="http://schemas.openxmlformats.org/presentationml/2006/main">
  <p:tag name="ISLIDE.DIAGRAM" val="#294670"/>
</p:tagLst>
</file>

<file path=ppt/tags/tag28.xml><?xml version="1.0" encoding="utf-8"?>
<p:tagLst xmlns:a="http://schemas.openxmlformats.org/drawingml/2006/main" xmlns:r="http://schemas.openxmlformats.org/officeDocument/2006/relationships" xmlns:p="http://schemas.openxmlformats.org/presentationml/2006/main">
  <p:tag name="ISLIDE.DIAGRAM" val="#294670"/>
</p:tagLst>
</file>

<file path=ppt/tags/tag29.xml><?xml version="1.0" encoding="utf-8"?>
<p:tagLst xmlns:a="http://schemas.openxmlformats.org/drawingml/2006/main" xmlns:r="http://schemas.openxmlformats.org/officeDocument/2006/relationships" xmlns:p="http://schemas.openxmlformats.org/presentationml/2006/main">
  <p:tag name="ISLIDE.DIAGRAM" val="#294670"/>
</p:tagLst>
</file>

<file path=ppt/tags/tag30.xml><?xml version="1.0" encoding="utf-8"?>
<p:tagLst xmlns:a="http://schemas.openxmlformats.org/drawingml/2006/main" xmlns:r="http://schemas.openxmlformats.org/officeDocument/2006/relationships" xmlns:p="http://schemas.openxmlformats.org/presentationml/2006/main">
  <p:tag name="ISLIDE.DIAGRAM" val="#294670"/>
</p:tagLst>
</file>

<file path=ppt/tags/tag31.xml><?xml version="1.0" encoding="utf-8"?>
<p:tagLst xmlns:a="http://schemas.openxmlformats.org/drawingml/2006/main" xmlns:r="http://schemas.openxmlformats.org/officeDocument/2006/relationships" xmlns:p="http://schemas.openxmlformats.org/presentationml/2006/main">
  <p:tag name="PA" val="v5.2.9"/>
</p:tagLst>
</file>

<file path=ppt/tags/tag32.xml><?xml version="1.0" encoding="utf-8"?>
<p:tagLst xmlns:a="http://schemas.openxmlformats.org/drawingml/2006/main" xmlns:r="http://schemas.openxmlformats.org/officeDocument/2006/relationships" xmlns:p="http://schemas.openxmlformats.org/presentationml/2006/main">
  <p:tag name="PA" val="v5.2.9"/>
</p:tagLst>
</file>

<file path=ppt/tags/tag33.xml><?xml version="1.0" encoding="utf-8"?>
<p:tagLst xmlns:a="http://schemas.openxmlformats.org/drawingml/2006/main" xmlns:r="http://schemas.openxmlformats.org/officeDocument/2006/relationships" xmlns:p="http://schemas.openxmlformats.org/presentationml/2006/main">
  <p:tag name="PA" val="v5.2.9"/>
</p:tagLst>
</file>

<file path=ppt/tags/tag34.xml><?xml version="1.0" encoding="utf-8"?>
<p:tagLst xmlns:a="http://schemas.openxmlformats.org/drawingml/2006/main" xmlns:r="http://schemas.openxmlformats.org/officeDocument/2006/relationships" xmlns:p="http://schemas.openxmlformats.org/presentationml/2006/main">
  <p:tag name="PA" val="v5.2.9"/>
</p:tagLst>
</file>

<file path=ppt/tags/tag35.xml><?xml version="1.0" encoding="utf-8"?>
<p:tagLst xmlns:a="http://schemas.openxmlformats.org/drawingml/2006/main" xmlns:r="http://schemas.openxmlformats.org/officeDocument/2006/relationships" xmlns:p="http://schemas.openxmlformats.org/presentationml/2006/main">
  <p:tag name="PA" val="v5.2.9"/>
</p:tagLst>
</file>

<file path=ppt/tags/tag36.xml><?xml version="1.0" encoding="utf-8"?>
<p:tagLst xmlns:a="http://schemas.openxmlformats.org/drawingml/2006/main" xmlns:r="http://schemas.openxmlformats.org/officeDocument/2006/relationships" xmlns:p="http://schemas.openxmlformats.org/presentationml/2006/main">
  <p:tag name="PA" val="v5.2.9"/>
</p:tagLst>
</file>

<file path=ppt/tags/tag37.xml><?xml version="1.0" encoding="utf-8"?>
<p:tagLst xmlns:a="http://schemas.openxmlformats.org/drawingml/2006/main" xmlns:r="http://schemas.openxmlformats.org/officeDocument/2006/relationships" xmlns:p="http://schemas.openxmlformats.org/presentationml/2006/main">
  <p:tag name="ISLIDE.DIAGRAM" val="#294670"/>
</p:tagLst>
</file>

<file path=ppt/tags/tag38.xml><?xml version="1.0" encoding="utf-8"?>
<p:tagLst xmlns:a="http://schemas.openxmlformats.org/drawingml/2006/main" xmlns:r="http://schemas.openxmlformats.org/officeDocument/2006/relationships" xmlns:p="http://schemas.openxmlformats.org/presentationml/2006/main">
  <p:tag name="ISLIDE.DIAGRAM" val="#294670"/>
</p:tagLst>
</file>

<file path=ppt/tags/tag39.xml><?xml version="1.0" encoding="utf-8"?>
<p:tagLst xmlns:a="http://schemas.openxmlformats.org/drawingml/2006/main" xmlns:r="http://schemas.openxmlformats.org/officeDocument/2006/relationships" xmlns:p="http://schemas.openxmlformats.org/presentationml/2006/main">
  <p:tag name="PA" val="v5.2.9"/>
</p:tagLst>
</file>

<file path=ppt/theme/theme1.xml><?xml version="1.0" encoding="utf-8"?>
<a:theme xmlns:a="http://schemas.openxmlformats.org/drawingml/2006/main" name="www.2ppt.com">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768</TotalTime>
  <Words>6308</Words>
  <Application>Microsoft Office PowerPoint</Application>
  <PresentationFormat>宽屏</PresentationFormat>
  <Paragraphs>355</Paragraphs>
  <Slides>27</Slides>
  <Notes>27</Notes>
  <HiddenSlides>0</HiddenSlides>
  <MMClips>1</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27</vt:i4>
      </vt:variant>
    </vt:vector>
  </HeadingPairs>
  <TitlesOfParts>
    <vt:vector size="33" baseType="lpstr">
      <vt:lpstr>方正小标宋简体</vt:lpstr>
      <vt:lpstr>Arial</vt:lpstr>
      <vt:lpstr>Calibri</vt:lpstr>
      <vt:lpstr>Cambria Math</vt:lpstr>
      <vt:lpstr>Times New Roman</vt:lpstr>
      <vt:lpstr>www.2ppt.com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subject>https://www.ypppt.com/</dc:subject>
  <dc:creator>优品PPT</dc:creator>
  <dc:description/>
  <cp:lastModifiedBy>永铭 田</cp:lastModifiedBy>
  <cp:revision>442</cp:revision>
  <dcterms:created xsi:type="dcterms:W3CDTF">2021-05-18T01:26:58Z</dcterms:created>
  <dcterms:modified xsi:type="dcterms:W3CDTF">2024-12-14T13:06:19Z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3B0E0EFBCFB64DCAB42B445F83569D6D</vt:lpwstr>
  </property>
</Properties>
</file>