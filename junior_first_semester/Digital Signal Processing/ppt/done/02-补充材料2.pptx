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handoutMasterIdLst>
    <p:handoutMasterId r:id="rId39"/>
  </p:handoutMasterIdLst>
  <p:sldIdLst>
    <p:sldId id="257" r:id="rId2"/>
    <p:sldId id="554" r:id="rId3"/>
    <p:sldId id="573" r:id="rId4"/>
    <p:sldId id="555" r:id="rId5"/>
    <p:sldId id="559" r:id="rId6"/>
    <p:sldId id="556" r:id="rId7"/>
    <p:sldId id="560" r:id="rId8"/>
    <p:sldId id="563" r:id="rId9"/>
    <p:sldId id="565" r:id="rId10"/>
    <p:sldId id="566" r:id="rId11"/>
    <p:sldId id="557" r:id="rId12"/>
    <p:sldId id="558" r:id="rId13"/>
    <p:sldId id="561" r:id="rId14"/>
    <p:sldId id="562" r:id="rId15"/>
    <p:sldId id="567" r:id="rId16"/>
    <p:sldId id="326" r:id="rId17"/>
    <p:sldId id="332" r:id="rId18"/>
    <p:sldId id="568" r:id="rId19"/>
    <p:sldId id="569" r:id="rId20"/>
    <p:sldId id="333" r:id="rId21"/>
    <p:sldId id="564" r:id="rId22"/>
    <p:sldId id="571" r:id="rId23"/>
    <p:sldId id="572" r:id="rId24"/>
    <p:sldId id="570" r:id="rId25"/>
    <p:sldId id="574" r:id="rId26"/>
    <p:sldId id="575" r:id="rId27"/>
    <p:sldId id="577" r:id="rId28"/>
    <p:sldId id="579" r:id="rId29"/>
    <p:sldId id="580" r:id="rId30"/>
    <p:sldId id="582" r:id="rId31"/>
    <p:sldId id="583" r:id="rId32"/>
    <p:sldId id="584" r:id="rId33"/>
    <p:sldId id="585" r:id="rId34"/>
    <p:sldId id="586" r:id="rId35"/>
    <p:sldId id="587" r:id="rId36"/>
    <p:sldId id="291" r:id="rId37"/>
  </p:sldIdLst>
  <p:sldSz cx="9144000" cy="6858000" type="screen4x3"/>
  <p:notesSz cx="6797675" cy="992822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00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1849"/>
  </p:normalViewPr>
  <p:slideViewPr>
    <p:cSldViewPr>
      <p:cViewPr>
        <p:scale>
          <a:sx n="100" d="100"/>
          <a:sy n="100" d="100"/>
        </p:scale>
        <p:origin x="1192" y="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49688" y="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7605D7-5386-493D-9109-7BDC1CA17B70}" type="datetimeFigureOut">
              <a:rPr lang="zh-CN" altLang="en-US" smtClean="0"/>
              <a:t>2024/10/24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49688" y="9429750"/>
            <a:ext cx="2946400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7F1A79-EB79-48D5-992C-06D6208C77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054065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1C0338-7D22-4605-8F05-FD0E137493DB}" type="datetimeFigureOut">
              <a:rPr lang="zh-CN" altLang="en-US" smtClean="0"/>
              <a:pPr/>
              <a:t>2024/10/24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641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01B1EC-434B-4B64-8081-F236B46C7B10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1822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0B0CAAF-08E5-4EAA-9BC7-2466A2AF21DF}" type="slidenum">
              <a:rPr lang="zh-TW" altLang="en-US"/>
              <a:pPr/>
              <a:t>16</a:t>
            </a:fld>
            <a:endParaRPr lang="en-US" altLang="zh-TW"/>
          </a:p>
        </p:txBody>
      </p:sp>
      <p:sp>
        <p:nvSpPr>
          <p:cNvPr id="1310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1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17273114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4E2E650-55EA-43F9-9B69-0B073A9716E3}" type="slidenum">
              <a:rPr lang="zh-TW" altLang="en-US"/>
              <a:pPr/>
              <a:t>17</a:t>
            </a:fld>
            <a:endParaRPr lang="en-US" altLang="zh-TW"/>
          </a:p>
        </p:txBody>
      </p:sp>
      <p:sp>
        <p:nvSpPr>
          <p:cNvPr id="1341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41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3120001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D4E0EE9-3397-4CC0-AF46-B590EE694EB0}" type="slidenum">
              <a:rPr lang="zh-TW" altLang="en-US"/>
              <a:pPr/>
              <a:t>20</a:t>
            </a:fld>
            <a:endParaRPr lang="en-US" altLang="zh-TW"/>
          </a:p>
        </p:txBody>
      </p:sp>
      <p:sp>
        <p:nvSpPr>
          <p:cNvPr id="1351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51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zh-CN" altLang="zh-CN"/>
          </a:p>
        </p:txBody>
      </p:sp>
    </p:spTree>
    <p:extLst>
      <p:ext uri="{BB962C8B-B14F-4D97-AF65-F5344CB8AC3E}">
        <p14:creationId xmlns:p14="http://schemas.microsoft.com/office/powerpoint/2010/main" val="21195939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2024/10/24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2024/10/24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2024/10/24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2024/10/24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2024/10/24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2024/10/24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2024/10/24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2024/10/24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2024/10/24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2024/10/24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2024/10/24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2024/10/24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8229600" cy="1143000"/>
          </a:xfrm>
        </p:spPr>
        <p:txBody>
          <a:bodyPr>
            <a:normAutofit/>
          </a:bodyPr>
          <a:lstStyle/>
          <a:p>
            <a:pPr marL="314325" marR="312420" algn="l">
              <a:spcBef>
                <a:spcPts val="15"/>
              </a:spcBef>
              <a:spcAft>
                <a:spcPts val="0"/>
              </a:spcAft>
            </a:pPr>
            <a:r>
              <a:rPr lang="zh-CN" altLang="en-US" sz="3200" b="1" kern="0" dirty="0">
                <a:effectLst/>
                <a:latin typeface="仿宋" panose="02010609060101010101" pitchFamily="49" charset="-122"/>
                <a:ea typeface="仿宋" panose="02010609060101010101" pitchFamily="49" charset="-122"/>
              </a:rPr>
              <a:t>提纲</a:t>
            </a:r>
            <a:endParaRPr lang="zh-CN" altLang="zh-CN" sz="3200" b="1" kern="0" dirty="0">
              <a:effectLst/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1268760"/>
            <a:ext cx="8229600" cy="4525963"/>
          </a:xfrm>
        </p:spPr>
        <p:txBody>
          <a:bodyPr>
            <a:noAutofit/>
          </a:bodyPr>
          <a:lstStyle/>
          <a:p>
            <a:r>
              <a:rPr lang="zh-CN" altLang="en-US" sz="2800" dirty="0"/>
              <a:t>感知机模型</a:t>
            </a:r>
            <a:endParaRPr lang="en-US" altLang="zh-CN" sz="2800" dirty="0"/>
          </a:p>
          <a:p>
            <a:r>
              <a:rPr lang="zh-CN" altLang="en-US" sz="2800" dirty="0"/>
              <a:t>感知机学习策略</a:t>
            </a:r>
            <a:endParaRPr lang="en-US" altLang="zh-CN" sz="2800" dirty="0"/>
          </a:p>
          <a:p>
            <a:r>
              <a:rPr lang="zh-CN" altLang="en-US" sz="2800" dirty="0"/>
              <a:t>感知机学习算法</a:t>
            </a:r>
            <a:endParaRPr lang="en-US" altLang="zh-CN" sz="2800" dirty="0"/>
          </a:p>
          <a:p>
            <a:r>
              <a:rPr lang="zh-CN" altLang="en-US" sz="2800" dirty="0"/>
              <a:t>多层感知机与</a:t>
            </a:r>
            <a:r>
              <a:rPr lang="en-US" altLang="zh-CN" sz="2800" dirty="0"/>
              <a:t>BP</a:t>
            </a:r>
            <a:r>
              <a:rPr lang="zh-CN" altLang="en-US" sz="2800" dirty="0"/>
              <a:t>算法</a:t>
            </a:r>
            <a:endParaRPr lang="en-US" altLang="zh-CN" sz="2800" dirty="0"/>
          </a:p>
          <a:p>
            <a:endParaRPr lang="zh-CN" altLang="en-US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8229600" cy="1143000"/>
          </a:xfrm>
        </p:spPr>
        <p:txBody>
          <a:bodyPr>
            <a:normAutofit/>
          </a:bodyPr>
          <a:lstStyle/>
          <a:p>
            <a:pPr marL="314325" marR="312420" algn="l">
              <a:spcBef>
                <a:spcPts val="15"/>
              </a:spcBef>
              <a:spcAft>
                <a:spcPts val="0"/>
              </a:spcAft>
            </a:pPr>
            <a:r>
              <a:rPr lang="zh-CN" altLang="en-US" sz="3200" b="1" kern="0" dirty="0">
                <a:effectLst/>
                <a:ea typeface="仿宋" panose="02010609060101010101" pitchFamily="49" charset="-122"/>
              </a:rPr>
              <a:t>背景</a:t>
            </a:r>
            <a:endParaRPr lang="zh-CN" altLang="zh-CN" sz="3200" b="1" kern="0" dirty="0">
              <a:effectLst/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1528775"/>
            <a:ext cx="3048000" cy="666750"/>
          </a:xfrm>
          <a:prstGeom prst="rect">
            <a:avLst/>
          </a:prstGeom>
        </p:spPr>
      </p:pic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457200" y="1013478"/>
            <a:ext cx="8229600" cy="4525963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/>
              <a:t>“感知机”一词出自于</a:t>
            </a:r>
            <a:r>
              <a:rPr lang="en-US" altLang="zh-CN" sz="2400" dirty="0"/>
              <a:t>20</a:t>
            </a:r>
            <a:r>
              <a:rPr lang="zh-CN" altLang="en-US" sz="2400" dirty="0"/>
              <a:t>世纪</a:t>
            </a:r>
            <a:r>
              <a:rPr lang="en-US" altLang="zh-CN" sz="2400" dirty="0"/>
              <a:t>50</a:t>
            </a:r>
            <a:r>
              <a:rPr lang="zh-CN" altLang="en-US" sz="2400" dirty="0"/>
              <a:t>年代中期到</a:t>
            </a:r>
            <a:r>
              <a:rPr lang="en-US" altLang="zh-CN" sz="2400" dirty="0"/>
              <a:t>60</a:t>
            </a:r>
            <a:r>
              <a:rPr lang="zh-CN" altLang="en-US" sz="2400" dirty="0"/>
              <a:t>年代中期人们对一种分类学习机模型的称呼，它是属于有关动物和机器学习的仿生学领域中的问题。</a:t>
            </a:r>
            <a:endParaRPr lang="en-US" altLang="zh-CN" sz="2400" dirty="0"/>
          </a:p>
          <a:p>
            <a:pPr>
              <a:lnSpc>
                <a:spcPct val="120000"/>
              </a:lnSpc>
            </a:pPr>
            <a:r>
              <a:rPr lang="en-US" altLang="zh-CN" sz="2400" dirty="0"/>
              <a:t>1957</a:t>
            </a:r>
            <a:r>
              <a:rPr lang="zh-CN" altLang="en-US" sz="2400" dirty="0"/>
              <a:t>年由</a:t>
            </a:r>
            <a:r>
              <a:rPr lang="en-US" altLang="zh-CN" sz="2400" dirty="0"/>
              <a:t>Rosenblatt</a:t>
            </a:r>
            <a:r>
              <a:rPr lang="zh-CN" altLang="en-US" sz="2400" dirty="0"/>
              <a:t>在康奈尔航空实验室提出，是神经网络与支持向量机的基础。</a:t>
            </a:r>
            <a:endParaRPr lang="en-US" altLang="zh-CN" sz="2400" dirty="0"/>
          </a:p>
          <a:p>
            <a:pPr>
              <a:lnSpc>
                <a:spcPct val="120000"/>
              </a:lnSpc>
            </a:pPr>
            <a:r>
              <a:rPr lang="zh-CN" altLang="en-US" sz="2400" dirty="0"/>
              <a:t>当时的一些研究者认为感知机是一种学习机的强有力模型，后来发现估计过高了，但发展感知机的一些相关概念仍然沿用下来。</a:t>
            </a:r>
            <a:r>
              <a:rPr lang="en-US" altLang="zh-CN" sz="2400" dirty="0"/>
              <a:t>1969</a:t>
            </a:r>
            <a:r>
              <a:rPr lang="zh-CN" altLang="en-US" sz="2400" dirty="0"/>
              <a:t>年，</a:t>
            </a:r>
            <a:r>
              <a:rPr lang="en-US" altLang="zh-CN" sz="2400" dirty="0"/>
              <a:t>Minsky</a:t>
            </a:r>
            <a:r>
              <a:rPr lang="zh-CN" altLang="en-US" sz="2400" dirty="0"/>
              <a:t>和</a:t>
            </a:r>
            <a:r>
              <a:rPr lang="en-US" altLang="zh-CN" sz="2400" dirty="0" err="1"/>
              <a:t>Papert</a:t>
            </a:r>
            <a:r>
              <a:rPr lang="zh-CN" altLang="en-US" sz="2400" dirty="0"/>
              <a:t>发表了</a:t>
            </a:r>
            <a:r>
              <a:rPr lang="en-US" altLang="zh-CN" sz="2400" dirty="0"/>
              <a:t>《</a:t>
            </a:r>
            <a:r>
              <a:rPr lang="zh-CN" altLang="en-US" sz="2400" dirty="0"/>
              <a:t>感知机</a:t>
            </a:r>
            <a:r>
              <a:rPr lang="en-US" altLang="zh-CN" sz="2400" dirty="0"/>
              <a:t>》</a:t>
            </a:r>
            <a:r>
              <a:rPr lang="zh-CN" altLang="en-US" sz="2400" dirty="0"/>
              <a:t>，感知机的功能和处理能力受到了限制。</a:t>
            </a:r>
          </a:p>
          <a:p>
            <a:endParaRPr lang="en-US" altLang="zh-CN" sz="2400" dirty="0"/>
          </a:p>
          <a:p>
            <a:pPr lvl="1"/>
            <a:endParaRPr lang="en-US" altLang="zh-CN" sz="2000" dirty="0">
              <a:latin typeface="+mn-ea"/>
            </a:endParaRPr>
          </a:p>
          <a:p>
            <a:pPr lvl="1"/>
            <a:endParaRPr lang="en-US" altLang="zh-CN" sz="2000" dirty="0">
              <a:latin typeface="+mn-ea"/>
            </a:endParaRPr>
          </a:p>
          <a:p>
            <a:pPr marL="0" indent="0">
              <a:buNone/>
            </a:pP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28608877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679566-EB99-4275-BFC0-26E08AAEE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9343" y="19380"/>
            <a:ext cx="8229600" cy="1143000"/>
          </a:xfrm>
        </p:spPr>
        <p:txBody>
          <a:bodyPr>
            <a:normAutofit/>
          </a:bodyPr>
          <a:lstStyle/>
          <a:p>
            <a:pPr algn="l"/>
            <a:r>
              <a:rPr lang="zh-CN" altLang="en-US" sz="3200" b="1" dirty="0"/>
              <a:t>神经元</a:t>
            </a:r>
          </a:p>
        </p:txBody>
      </p:sp>
      <p:pic>
        <p:nvPicPr>
          <p:cNvPr id="6" name="内容占位符 5">
            <a:extLst>
              <a:ext uri="{FF2B5EF4-FFF2-40B4-BE49-F238E27FC236}">
                <a16:creationId xmlns:a16="http://schemas.microsoft.com/office/drawing/2014/main" id="{A042CBAA-7808-44D5-B691-1993B59EA3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816" y="1108185"/>
            <a:ext cx="6742402" cy="3625684"/>
          </a:xfrm>
        </p:spPr>
      </p:pic>
      <p:grpSp>
        <p:nvGrpSpPr>
          <p:cNvPr id="7" name="组合 6">
            <a:extLst>
              <a:ext uri="{FF2B5EF4-FFF2-40B4-BE49-F238E27FC236}">
                <a16:creationId xmlns:a16="http://schemas.microsoft.com/office/drawing/2014/main" id="{9605A222-C295-4DE7-90E6-C59D69CF6A75}"/>
              </a:ext>
            </a:extLst>
          </p:cNvPr>
          <p:cNvGrpSpPr/>
          <p:nvPr/>
        </p:nvGrpSpPr>
        <p:grpSpPr>
          <a:xfrm>
            <a:off x="2267744" y="1378198"/>
            <a:ext cx="1512168" cy="537152"/>
            <a:chOff x="2514600" y="1700808"/>
            <a:chExt cx="1512168" cy="537152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310F00F5-B7DA-4DC0-AB4B-7197EA70E4EE}"/>
                </a:ext>
              </a:extLst>
            </p:cNvPr>
            <p:cNvSpPr/>
            <p:nvPr/>
          </p:nvSpPr>
          <p:spPr>
            <a:xfrm>
              <a:off x="2514600" y="1700808"/>
              <a:ext cx="1512168" cy="537152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dirty="0">
                  <a:solidFill>
                    <a:srgbClr val="FF0000"/>
                  </a:solidFill>
                </a:rPr>
                <a:t>输入</a:t>
              </a:r>
            </a:p>
          </p:txBody>
        </p:sp>
        <p:cxnSp>
          <p:nvCxnSpPr>
            <p:cNvPr id="9" name="直接箭头连接符 8">
              <a:extLst>
                <a:ext uri="{FF2B5EF4-FFF2-40B4-BE49-F238E27FC236}">
                  <a16:creationId xmlns:a16="http://schemas.microsoft.com/office/drawing/2014/main" id="{907838A1-C41C-43A3-80DD-33774F99288D}"/>
                </a:ext>
              </a:extLst>
            </p:cNvPr>
            <p:cNvCxnSpPr/>
            <p:nvPr/>
          </p:nvCxnSpPr>
          <p:spPr>
            <a:xfrm flipH="1">
              <a:off x="2557318" y="2085560"/>
              <a:ext cx="304800" cy="15240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79337B09-77F0-4404-94A2-B6B0B4F703AA}"/>
              </a:ext>
            </a:extLst>
          </p:cNvPr>
          <p:cNvGrpSpPr/>
          <p:nvPr/>
        </p:nvGrpSpPr>
        <p:grpSpPr>
          <a:xfrm>
            <a:off x="3131840" y="3789040"/>
            <a:ext cx="1600200" cy="693425"/>
            <a:chOff x="6804248" y="4061173"/>
            <a:chExt cx="1600200" cy="837441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DF29B61E-0F56-4C97-8915-E4DE75AFCB0B}"/>
                </a:ext>
              </a:extLst>
            </p:cNvPr>
            <p:cNvSpPr/>
            <p:nvPr/>
          </p:nvSpPr>
          <p:spPr>
            <a:xfrm>
              <a:off x="6804248" y="4293096"/>
              <a:ext cx="1600200" cy="6055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400" dirty="0">
                  <a:solidFill>
                    <a:srgbClr val="FF0000"/>
                  </a:solidFill>
                </a:rPr>
                <a:t>输出</a:t>
              </a:r>
            </a:p>
          </p:txBody>
        </p:sp>
        <p:cxnSp>
          <p:nvCxnSpPr>
            <p:cNvPr id="16" name="直接箭头连接符 15">
              <a:extLst>
                <a:ext uri="{FF2B5EF4-FFF2-40B4-BE49-F238E27FC236}">
                  <a16:creationId xmlns:a16="http://schemas.microsoft.com/office/drawing/2014/main" id="{583A7908-6C6B-43F5-B232-DCA8BA338D95}"/>
                </a:ext>
              </a:extLst>
            </p:cNvPr>
            <p:cNvCxnSpPr/>
            <p:nvPr/>
          </p:nvCxnSpPr>
          <p:spPr>
            <a:xfrm flipV="1">
              <a:off x="7586163" y="4061173"/>
              <a:ext cx="0" cy="45720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C6BDDF03-06CE-4A1F-8E2B-CE9A3BF00ADD}"/>
              </a:ext>
            </a:extLst>
          </p:cNvPr>
          <p:cNvSpPr txBox="1"/>
          <p:nvPr/>
        </p:nvSpPr>
        <p:spPr>
          <a:xfrm>
            <a:off x="565057" y="4792009"/>
            <a:ext cx="8013886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b="0" i="0" dirty="0">
                <a:solidFill>
                  <a:srgbClr val="2E3033"/>
                </a:solidFill>
                <a:effectLst/>
                <a:latin typeface="Arial" panose="020B0604020202020204" pitchFamily="34" charset="0"/>
              </a:rPr>
              <a:t>树突</a:t>
            </a:r>
            <a:r>
              <a:rPr lang="en-US" altLang="zh-CN" b="0" i="0" dirty="0">
                <a:solidFill>
                  <a:srgbClr val="2E3033"/>
                </a:solidFill>
                <a:effectLst/>
                <a:latin typeface="Arial" panose="020B0604020202020204" pitchFamily="34" charset="0"/>
              </a:rPr>
              <a:t>:</a:t>
            </a:r>
            <a:r>
              <a:rPr lang="zh-CN" altLang="en-US" b="0" i="0" dirty="0">
                <a:solidFill>
                  <a:srgbClr val="2E3033"/>
                </a:solidFill>
                <a:effectLst/>
                <a:latin typeface="Arial" panose="020B0604020202020204" pitchFamily="34" charset="0"/>
              </a:rPr>
              <a:t>它有大量的分支，多达</a:t>
            </a:r>
            <a:r>
              <a:rPr lang="en-US" altLang="zh-CN" sz="1800" dirty="0"/>
              <a:t>10</a:t>
            </a:r>
            <a:r>
              <a:rPr lang="en-US" altLang="zh-CN" sz="1800" baseline="30000" dirty="0"/>
              <a:t>3</a:t>
            </a:r>
            <a:r>
              <a:rPr lang="zh-CN" altLang="en-US" b="0" i="0" dirty="0">
                <a:solidFill>
                  <a:srgbClr val="2E3033"/>
                </a:solidFill>
                <a:effectLst/>
                <a:latin typeface="Arial" panose="020B0604020202020204" pitchFamily="34" charset="0"/>
              </a:rPr>
              <a:t>个，接收来自其他神经元的信号。</a:t>
            </a:r>
          </a:p>
          <a:p>
            <a:pPr algn="l"/>
            <a:r>
              <a:rPr lang="zh-CN" altLang="en-US" b="0" i="0" dirty="0">
                <a:solidFill>
                  <a:srgbClr val="2E3033"/>
                </a:solidFill>
                <a:effectLst/>
                <a:latin typeface="Arial" panose="020B0604020202020204" pitchFamily="34" charset="0"/>
              </a:rPr>
              <a:t>轴突</a:t>
            </a:r>
            <a:r>
              <a:rPr lang="en-US" altLang="zh-CN" b="0" i="0" dirty="0">
                <a:solidFill>
                  <a:srgbClr val="2E3033"/>
                </a:solidFill>
                <a:effectLst/>
                <a:latin typeface="Arial" panose="020B0604020202020204" pitchFamily="34" charset="0"/>
              </a:rPr>
              <a:t>:</a:t>
            </a:r>
            <a:r>
              <a:rPr lang="zh-CN" altLang="en-US" b="0" i="0" dirty="0">
                <a:solidFill>
                  <a:srgbClr val="2E3033"/>
                </a:solidFill>
                <a:effectLst/>
                <a:latin typeface="Arial" panose="020B0604020202020204" pitchFamily="34" charset="0"/>
              </a:rPr>
              <a:t>用于输出信号。轴突也有分支，并与多个神经元相连。</a:t>
            </a:r>
          </a:p>
          <a:p>
            <a:pPr algn="l"/>
            <a:r>
              <a:rPr lang="zh-CN" altLang="en-US" b="0" i="0" dirty="0">
                <a:solidFill>
                  <a:srgbClr val="2E3033"/>
                </a:solidFill>
                <a:effectLst/>
                <a:latin typeface="Arial" panose="020B0604020202020204" pitchFamily="34" charset="0"/>
              </a:rPr>
              <a:t>突触</a:t>
            </a:r>
            <a:r>
              <a:rPr lang="en-US" altLang="zh-CN" b="0" i="0" dirty="0">
                <a:solidFill>
                  <a:srgbClr val="2E3033"/>
                </a:solidFill>
                <a:effectLst/>
                <a:latin typeface="Arial" panose="020B0604020202020204" pitchFamily="34" charset="0"/>
              </a:rPr>
              <a:t>:</a:t>
            </a:r>
            <a:r>
              <a:rPr lang="zh-CN" altLang="en-US" b="0" i="0" dirty="0">
                <a:solidFill>
                  <a:srgbClr val="2E3033"/>
                </a:solidFill>
                <a:effectLst/>
                <a:latin typeface="Arial" panose="020B0604020202020204" pitchFamily="34" charset="0"/>
              </a:rPr>
              <a:t>连接一个神经元与另一个神经元，通常通过化学或电接触传递信号给下一个神经元。</a:t>
            </a:r>
            <a:endParaRPr lang="en-US" altLang="zh-CN" b="0" i="0" dirty="0">
              <a:solidFill>
                <a:srgbClr val="2E3033"/>
              </a:solidFill>
              <a:effectLst/>
              <a:latin typeface="Arial" panose="020B0604020202020204" pitchFamily="34" charset="0"/>
            </a:endParaRPr>
          </a:p>
          <a:p>
            <a:pPr algn="l"/>
            <a:r>
              <a:rPr lang="zh-CN" altLang="en-US" b="0" i="0" dirty="0">
                <a:solidFill>
                  <a:srgbClr val="3385FF"/>
                </a:solidFill>
                <a:effectLst/>
                <a:latin typeface="Arial" panose="020B0604020202020204" pitchFamily="34" charset="0"/>
              </a:rPr>
              <a:t>神经元之间的信号传递</a:t>
            </a:r>
            <a:r>
              <a:rPr lang="zh-CN" altLang="en-US" b="0" i="0" dirty="0">
                <a:solidFill>
                  <a:srgbClr val="2E3033"/>
                </a:solidFill>
                <a:effectLst/>
                <a:latin typeface="Arial" panose="020B0604020202020204" pitchFamily="34" charset="0"/>
              </a:rPr>
              <a:t>：兴奋或抑制状态。</a:t>
            </a:r>
          </a:p>
          <a:p>
            <a:pPr algn="l"/>
            <a:endParaRPr lang="zh-CN" altLang="en-US" b="0" i="0" dirty="0">
              <a:solidFill>
                <a:srgbClr val="2E3033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03316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8229600" cy="1143000"/>
          </a:xfrm>
        </p:spPr>
        <p:txBody>
          <a:bodyPr>
            <a:normAutofit/>
          </a:bodyPr>
          <a:lstStyle/>
          <a:p>
            <a:pPr marL="314325" marR="312420" algn="l">
              <a:spcBef>
                <a:spcPts val="15"/>
              </a:spcBef>
              <a:spcAft>
                <a:spcPts val="0"/>
              </a:spcAft>
            </a:pPr>
            <a:r>
              <a:rPr lang="zh-CN" altLang="en-US" sz="3200" b="1" kern="0" dirty="0">
                <a:effectLst/>
                <a:ea typeface="仿宋" panose="02010609060101010101" pitchFamily="49" charset="-122"/>
              </a:rPr>
              <a:t>感知机</a:t>
            </a:r>
            <a:r>
              <a:rPr lang="en-US" altLang="zh-CN" sz="3200" dirty="0"/>
              <a:t>(Perception )</a:t>
            </a:r>
            <a:endParaRPr lang="zh-CN" altLang="zh-CN" sz="3200" b="1" kern="0" dirty="0">
              <a:effectLst/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1528775"/>
            <a:ext cx="3048000" cy="666750"/>
          </a:xfrm>
          <a:prstGeom prst="rect">
            <a:avLst/>
          </a:prstGeom>
        </p:spPr>
      </p:pic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457200" y="1013478"/>
            <a:ext cx="8229600" cy="4525963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>
                <a:latin typeface="+mj-lt"/>
              </a:rPr>
              <a:t>感知机思想：在二维就是找到一条直线，在三维或者更高维就是找到一个超平面，将所有二元类别分开。找不到这条直线或超平面就是类别线性不可分，感知机不适合该数据分类。使用感知机最大前提就是</a:t>
            </a:r>
            <a:r>
              <a:rPr lang="zh-CN" altLang="en-US" sz="2400" dirty="0">
                <a:solidFill>
                  <a:srgbClr val="FF0000"/>
                </a:solidFill>
                <a:latin typeface="+mj-lt"/>
              </a:rPr>
              <a:t>数据线性可分</a:t>
            </a:r>
            <a:r>
              <a:rPr lang="zh-CN" altLang="en-US" sz="2400" dirty="0">
                <a:latin typeface="+mj-lt"/>
              </a:rPr>
              <a:t>。</a:t>
            </a:r>
            <a:endParaRPr lang="en-US" altLang="zh-CN" sz="2400" dirty="0">
              <a:latin typeface="+mj-lt"/>
            </a:endParaRPr>
          </a:p>
          <a:p>
            <a:pPr>
              <a:lnSpc>
                <a:spcPct val="120000"/>
              </a:lnSpc>
            </a:pPr>
            <a:r>
              <a:rPr kumimoji="1" lang="zh-CN" altLang="en-US" sz="2400" dirty="0">
                <a:latin typeface="+mj-lt"/>
              </a:rPr>
              <a:t>输入为实例的特征向量，输出为实例的类别，取</a:t>
            </a:r>
            <a:r>
              <a:rPr kumimoji="1" lang="en-US" altLang="zh-CN" sz="2400" dirty="0">
                <a:latin typeface="+mj-lt"/>
              </a:rPr>
              <a:t>+1</a:t>
            </a:r>
            <a:r>
              <a:rPr kumimoji="1" lang="zh-CN" altLang="en-US" sz="2400" dirty="0">
                <a:latin typeface="+mj-lt"/>
              </a:rPr>
              <a:t>和</a:t>
            </a:r>
            <a:r>
              <a:rPr kumimoji="1" lang="en-US" altLang="zh-CN" sz="2400" dirty="0">
                <a:latin typeface="+mj-lt"/>
              </a:rPr>
              <a:t>-1</a:t>
            </a:r>
            <a:r>
              <a:rPr kumimoji="1" lang="zh-CN" altLang="en-US" sz="2400" dirty="0">
                <a:latin typeface="+mj-lt"/>
              </a:rPr>
              <a:t>；</a:t>
            </a:r>
            <a:endParaRPr kumimoji="1" lang="en-US" altLang="zh-CN" sz="2400" dirty="0">
              <a:latin typeface="+mj-lt"/>
            </a:endParaRPr>
          </a:p>
          <a:p>
            <a:pPr>
              <a:lnSpc>
                <a:spcPct val="120000"/>
              </a:lnSpc>
            </a:pPr>
            <a:r>
              <a:rPr kumimoji="1" lang="zh-CN" altLang="en-US" sz="2400" dirty="0">
                <a:latin typeface="+mj-lt"/>
              </a:rPr>
              <a:t>感知机对应于输入空间中将实例划分为正负两类的分离超平面，属于判别模型</a:t>
            </a:r>
            <a:r>
              <a:rPr kumimoji="1" lang="zh-CN" altLang="zh-CN" sz="2400" dirty="0">
                <a:latin typeface="+mj-lt"/>
              </a:rPr>
              <a:t>；</a:t>
            </a:r>
            <a:endParaRPr kumimoji="1" lang="en-US" altLang="zh-CN" sz="2400" dirty="0">
              <a:latin typeface="+mj-lt"/>
            </a:endParaRPr>
          </a:p>
          <a:p>
            <a:pPr algn="l">
              <a:lnSpc>
                <a:spcPct val="120000"/>
              </a:lnSpc>
            </a:pPr>
            <a:r>
              <a:rPr kumimoji="1" lang="zh-CN" altLang="en-US" sz="2400" dirty="0">
                <a:latin typeface="+mj-lt"/>
              </a:rPr>
              <a:t>策略：导入基于误分类的损失函数</a:t>
            </a:r>
            <a:endParaRPr lang="en-US" altLang="zh-CN" sz="2400" dirty="0">
              <a:latin typeface="+mj-lt"/>
            </a:endParaRPr>
          </a:p>
          <a:p>
            <a:pPr marL="0" indent="0">
              <a:buNone/>
            </a:pPr>
            <a:endParaRPr lang="en-US" altLang="zh-CN" sz="20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242393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8229600" cy="1143000"/>
          </a:xfrm>
        </p:spPr>
        <p:txBody>
          <a:bodyPr>
            <a:normAutofit/>
          </a:bodyPr>
          <a:lstStyle/>
          <a:p>
            <a:pPr marL="314325" marR="312420" algn="l">
              <a:spcBef>
                <a:spcPts val="15"/>
              </a:spcBef>
              <a:spcAft>
                <a:spcPts val="0"/>
              </a:spcAft>
            </a:pPr>
            <a:r>
              <a:rPr lang="zh-CN" altLang="en-US" sz="3200" b="1" kern="0" dirty="0">
                <a:latin typeface="仿宋" panose="02010609060101010101" pitchFamily="49" charset="-122"/>
                <a:ea typeface="仿宋" panose="02010609060101010101" pitchFamily="49" charset="-122"/>
              </a:rPr>
              <a:t>感知机模型</a:t>
            </a:r>
            <a:endParaRPr lang="zh-CN" altLang="zh-CN" sz="3200" b="1" kern="0" dirty="0">
              <a:effectLst/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1528775"/>
            <a:ext cx="3048000" cy="666750"/>
          </a:xfrm>
          <a:prstGeom prst="rect">
            <a:avLst/>
          </a:prstGeom>
        </p:spPr>
      </p:pic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457200" y="1013478"/>
            <a:ext cx="8229600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线性输出</a:t>
            </a:r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对</a:t>
            </a:r>
            <a:r>
              <a:rPr lang="en-US" altLang="zh-CN" sz="2400" dirty="0"/>
              <a:t>scores</a:t>
            </a:r>
            <a:r>
              <a:rPr lang="zh-CN" altLang="en-US" sz="2400" dirty="0"/>
              <a:t>判断</a:t>
            </a:r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线性感知机模型由线性得分计算和阈值比较两个过程组成，最后根据比较结果判断样本属于正类还是负类。</a:t>
            </a:r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pPr lvl="1"/>
            <a:endParaRPr lang="en-US" altLang="zh-CN" sz="2000" dirty="0">
              <a:latin typeface="+mn-ea"/>
            </a:endParaRPr>
          </a:p>
          <a:p>
            <a:pPr lvl="1"/>
            <a:endParaRPr lang="en-US" altLang="zh-CN" sz="2000" dirty="0">
              <a:latin typeface="+mn-ea"/>
            </a:endParaRPr>
          </a:p>
          <a:p>
            <a:pPr marL="0" indent="0">
              <a:buNone/>
            </a:pPr>
            <a:endParaRPr lang="en-US" altLang="zh-CN" sz="2400" dirty="0"/>
          </a:p>
        </p:txBody>
      </p:sp>
      <p:pic>
        <p:nvPicPr>
          <p:cNvPr id="13" name="Picture 4" descr="这里写图片描述">
            <a:extLst>
              <a:ext uri="{FF2B5EF4-FFF2-40B4-BE49-F238E27FC236}">
                <a16:creationId xmlns:a16="http://schemas.microsoft.com/office/drawing/2014/main" id="{DFC2C01A-1628-40EF-9A86-F5119DE8C8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1800" y="836712"/>
            <a:ext cx="3353826" cy="1716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CF8A2C93-49D5-43B1-A623-57C4956FB6F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3444" y="2982373"/>
            <a:ext cx="2199581" cy="807659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2CB3CCE2-13F9-4D3C-8937-BAA63BBC7FA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7804" y="4187754"/>
            <a:ext cx="3528392" cy="1009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0288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8229600" cy="1143000"/>
          </a:xfrm>
        </p:spPr>
        <p:txBody>
          <a:bodyPr>
            <a:normAutofit/>
          </a:bodyPr>
          <a:lstStyle/>
          <a:p>
            <a:pPr marL="314325" marR="312420" algn="l">
              <a:spcBef>
                <a:spcPts val="15"/>
              </a:spcBef>
              <a:spcAft>
                <a:spcPts val="0"/>
              </a:spcAft>
            </a:pPr>
            <a:r>
              <a:rPr lang="zh-CN" altLang="en-US" sz="3200" b="1" kern="0" dirty="0">
                <a:latin typeface="仿宋" panose="02010609060101010101" pitchFamily="49" charset="-122"/>
                <a:ea typeface="仿宋" panose="02010609060101010101" pitchFamily="49" charset="-122"/>
              </a:rPr>
              <a:t>感知机模型</a:t>
            </a:r>
            <a:endParaRPr lang="zh-CN" altLang="zh-CN" sz="3200" b="1" kern="0" dirty="0">
              <a:effectLst/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1528775"/>
            <a:ext cx="3048000" cy="666750"/>
          </a:xfrm>
          <a:prstGeom prst="rect">
            <a:avLst/>
          </a:prstGeom>
        </p:spPr>
      </p:pic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457200" y="1013478"/>
            <a:ext cx="8229600" cy="4525963"/>
          </a:xfrm>
        </p:spPr>
        <p:txBody>
          <a:bodyPr>
            <a:noAutofit/>
          </a:bodyPr>
          <a:lstStyle/>
          <a:p>
            <a:r>
              <a:rPr lang="zh-CN" altLang="en-US" sz="2400" dirty="0"/>
              <a:t>假设输入空间</a:t>
            </a:r>
            <a:r>
              <a:rPr lang="en-US" altLang="zh-CN" sz="2400" dirty="0"/>
              <a:t>(</a:t>
            </a:r>
            <a:r>
              <a:rPr lang="zh-CN" altLang="en-US" sz="2400" dirty="0"/>
              <a:t>特征空间</a:t>
            </a:r>
            <a:r>
              <a:rPr lang="en-US" altLang="zh-CN" sz="2400" dirty="0"/>
              <a:t>)</a:t>
            </a:r>
            <a:r>
              <a:rPr lang="zh-CN" altLang="en-US" sz="2400" dirty="0"/>
              <a:t>是                ，输出空间是</a:t>
            </a:r>
          </a:p>
          <a:p>
            <a:r>
              <a:rPr lang="zh-CN" altLang="en-US" sz="2400" dirty="0"/>
              <a:t>输入      	表示实例的特征向量，对应于输入空间（特征空间）的点，输出          表示实例的类别，由输入空间到输出空间的函数：</a:t>
            </a:r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r>
              <a:rPr lang="zh-CN" altLang="en-US" sz="2400" dirty="0"/>
              <a:t>称为感知机，</a:t>
            </a:r>
            <a:endParaRPr lang="en-US" altLang="zh-CN" sz="2400" dirty="0"/>
          </a:p>
          <a:p>
            <a:r>
              <a:rPr lang="zh-CN" altLang="en-US" sz="2400" dirty="0"/>
              <a:t>模型参数：</a:t>
            </a:r>
            <a:r>
              <a:rPr lang="en-US" altLang="zh-CN" sz="2400" dirty="0"/>
              <a:t>w</a:t>
            </a:r>
            <a:r>
              <a:rPr lang="zh-CN" altLang="en-US" sz="2400" dirty="0"/>
              <a:t>  </a:t>
            </a:r>
            <a:r>
              <a:rPr lang="en-US" altLang="zh-CN" sz="2400" dirty="0"/>
              <a:t>x</a:t>
            </a:r>
            <a:r>
              <a:rPr lang="zh-CN" altLang="en-US" sz="2400" dirty="0"/>
              <a:t>，内积，权值向量，偏置，</a:t>
            </a:r>
            <a:endParaRPr lang="en-US" altLang="zh-CN" sz="2400" dirty="0"/>
          </a:p>
          <a:p>
            <a:r>
              <a:rPr lang="zh-CN" altLang="en-US" sz="2400" dirty="0"/>
              <a:t>符号函数：</a:t>
            </a:r>
            <a:endParaRPr lang="en-US" altLang="zh-CN" sz="2400" dirty="0"/>
          </a:p>
          <a:p>
            <a:endParaRPr lang="zh-CN" altLang="en-US" sz="2400" dirty="0"/>
          </a:p>
          <a:p>
            <a:endParaRPr lang="en-US" altLang="zh-CN" sz="2400" dirty="0"/>
          </a:p>
          <a:p>
            <a:pPr lvl="1"/>
            <a:endParaRPr lang="en-US" altLang="zh-CN" sz="2000" dirty="0">
              <a:latin typeface="+mn-ea"/>
            </a:endParaRPr>
          </a:p>
          <a:p>
            <a:pPr lvl="1"/>
            <a:endParaRPr lang="en-US" altLang="zh-CN" sz="2000" dirty="0">
              <a:latin typeface="+mn-ea"/>
            </a:endParaRPr>
          </a:p>
          <a:p>
            <a:pPr marL="0" indent="0">
              <a:buNone/>
            </a:pPr>
            <a:endParaRPr lang="en-US" altLang="zh-CN" sz="2400" dirty="0"/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4782D931-68E0-4F3E-B24A-65A671BBD4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9992" y="1048789"/>
            <a:ext cx="969990" cy="311129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C200AD15-C08C-456D-AD59-6DC77208DC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320" y="1098455"/>
            <a:ext cx="1338502" cy="288032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BA870FD0-8A6D-40B0-B6F1-17831451816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7664" y="1528775"/>
            <a:ext cx="864096" cy="216024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F2CF186E-1623-41A0-B306-10244DD9337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3359" y="1956762"/>
            <a:ext cx="648072" cy="238763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B7CD32E4-8B0A-4EE0-9CD8-4548D355A76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55776" y="2844411"/>
            <a:ext cx="3481795" cy="432048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07810324-D14D-4BDF-A639-DEBF6B1EC53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99792" y="4760952"/>
            <a:ext cx="3461412" cy="936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2672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8229600" cy="1143000"/>
          </a:xfrm>
        </p:spPr>
        <p:txBody>
          <a:bodyPr>
            <a:normAutofit/>
          </a:bodyPr>
          <a:lstStyle/>
          <a:p>
            <a:pPr marL="314325" marR="312420" algn="l">
              <a:spcBef>
                <a:spcPts val="15"/>
              </a:spcBef>
              <a:spcAft>
                <a:spcPts val="0"/>
              </a:spcAft>
            </a:pPr>
            <a:r>
              <a:rPr lang="zh-CN" altLang="en-US" sz="3200" b="1" kern="0" dirty="0">
                <a:effectLst/>
                <a:ea typeface="仿宋" panose="02010609060101010101" pitchFamily="49" charset="-122"/>
              </a:rPr>
              <a:t>感知机模型</a:t>
            </a:r>
            <a:endParaRPr lang="zh-CN" altLang="zh-CN" sz="3200" b="1" kern="0" dirty="0">
              <a:effectLst/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1528775"/>
            <a:ext cx="3048000" cy="666750"/>
          </a:xfrm>
          <a:prstGeom prst="rect">
            <a:avLst/>
          </a:prstGeom>
        </p:spPr>
      </p:pic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457200" y="1013478"/>
            <a:ext cx="8229600" cy="4525963"/>
          </a:xfrm>
        </p:spPr>
        <p:txBody>
          <a:bodyPr>
            <a:noAutofit/>
          </a:bodyPr>
          <a:lstStyle/>
          <a:p>
            <a:r>
              <a:rPr kumimoji="1" lang="zh-CN" altLang="en-US" sz="2400" dirty="0"/>
              <a:t>感知机几何解释：</a:t>
            </a:r>
            <a:endParaRPr kumimoji="1" lang="en-US" altLang="zh-CN" sz="2400" dirty="0"/>
          </a:p>
          <a:p>
            <a:r>
              <a:rPr kumimoji="1" lang="zh-CN" altLang="en-US" sz="2400" dirty="0"/>
              <a:t>线性方程：</a:t>
            </a:r>
            <a:endParaRPr kumimoji="1" lang="en-US" altLang="zh-CN" sz="2400" dirty="0"/>
          </a:p>
          <a:p>
            <a:r>
              <a:rPr kumimoji="1" lang="zh-CN" altLang="en-US" sz="2400" dirty="0"/>
              <a:t>对应于超平面</a:t>
            </a:r>
            <a:r>
              <a:rPr kumimoji="1" lang="en-US" altLang="zh-CN" sz="2400" dirty="0"/>
              <a:t>S</a:t>
            </a:r>
            <a:r>
              <a:rPr kumimoji="1" lang="zh-CN" altLang="en-US" sz="2400" dirty="0"/>
              <a:t>，</a:t>
            </a:r>
            <a:r>
              <a:rPr kumimoji="1" lang="en-US" altLang="zh-CN" sz="2400" dirty="0"/>
              <a:t>w</a:t>
            </a:r>
            <a:r>
              <a:rPr kumimoji="1" lang="zh-CN" altLang="en-US" sz="2400" dirty="0"/>
              <a:t>为法向量，</a:t>
            </a:r>
            <a:r>
              <a:rPr kumimoji="1" lang="en-US" altLang="zh-CN" sz="2400" dirty="0"/>
              <a:t>b</a:t>
            </a:r>
            <a:r>
              <a:rPr kumimoji="1" lang="zh-CN" altLang="en-US" sz="2400" dirty="0"/>
              <a:t>截距，分离正、负类：</a:t>
            </a:r>
            <a:endParaRPr kumimoji="1" lang="en-US" altLang="zh-CN" sz="2400" dirty="0"/>
          </a:p>
          <a:p>
            <a:r>
              <a:rPr kumimoji="1" lang="zh-CN" altLang="en-US" sz="2400" dirty="0"/>
              <a:t>分离超平面：</a:t>
            </a:r>
            <a:endParaRPr kumimoji="1" lang="en-US" altLang="zh-CN" sz="2400" dirty="0"/>
          </a:p>
          <a:p>
            <a:pPr lvl="1"/>
            <a:endParaRPr lang="en-US" altLang="zh-CN" sz="2000" dirty="0">
              <a:latin typeface="+mn-ea"/>
            </a:endParaRPr>
          </a:p>
          <a:p>
            <a:pPr lvl="1"/>
            <a:endParaRPr lang="en-US" altLang="zh-CN" sz="2000" dirty="0">
              <a:latin typeface="+mn-ea"/>
            </a:endParaRPr>
          </a:p>
          <a:p>
            <a:pPr marL="0" indent="0">
              <a:buNone/>
            </a:pPr>
            <a:endParaRPr lang="en-US" altLang="zh-CN" sz="24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DCDD936-4A50-410A-BF8A-97EEC4094F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7784" y="3068960"/>
            <a:ext cx="4032448" cy="3004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3835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8229600" cy="1143000"/>
          </a:xfrm>
        </p:spPr>
        <p:txBody>
          <a:bodyPr>
            <a:normAutofit/>
          </a:bodyPr>
          <a:lstStyle/>
          <a:p>
            <a:pPr marL="314325" marR="312420" algn="l">
              <a:spcBef>
                <a:spcPts val="15"/>
              </a:spcBef>
              <a:spcAft>
                <a:spcPts val="0"/>
              </a:spcAft>
            </a:pPr>
            <a:r>
              <a:rPr lang="zh-CN" altLang="en-US" sz="3200" b="1" kern="0" dirty="0">
                <a:effectLst/>
                <a:ea typeface="仿宋" panose="02010609060101010101" pitchFamily="49" charset="-122"/>
              </a:rPr>
              <a:t>感知机原理</a:t>
            </a:r>
            <a:endParaRPr lang="zh-CN" altLang="zh-CN" sz="3200" b="1" kern="0" dirty="0">
              <a:effectLst/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1528775"/>
            <a:ext cx="3048000" cy="666750"/>
          </a:xfrm>
          <a:prstGeom prst="rect">
            <a:avLst/>
          </a:prstGeom>
        </p:spPr>
      </p:pic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457200" y="1013478"/>
            <a:ext cx="8229600" cy="4525963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基本原理就是</a:t>
            </a:r>
            <a:r>
              <a:rPr lang="zh-CN" altLang="en-US" sz="2400" dirty="0">
                <a:solidFill>
                  <a:srgbClr val="FF0000"/>
                </a:solidFill>
              </a:rPr>
              <a:t>逐点修正</a:t>
            </a:r>
          </a:p>
          <a:p>
            <a:pPr lvl="1">
              <a:lnSpc>
                <a:spcPct val="150000"/>
              </a:lnSpc>
            </a:pPr>
            <a:r>
              <a:rPr lang="zh-CN" altLang="en-US" sz="2000" dirty="0"/>
              <a:t>（</a:t>
            </a:r>
            <a:r>
              <a:rPr lang="en-US" altLang="zh-CN" sz="2000" dirty="0"/>
              <a:t>1</a:t>
            </a:r>
            <a:r>
              <a:rPr lang="zh-CN" altLang="en-US" sz="2000" dirty="0"/>
              <a:t>）在超平面上随意取一条分类面，统计分类错误的点；</a:t>
            </a:r>
            <a:endParaRPr lang="en-US" altLang="zh-CN" sz="2000" dirty="0"/>
          </a:p>
          <a:p>
            <a:pPr lvl="1">
              <a:lnSpc>
                <a:spcPct val="150000"/>
              </a:lnSpc>
            </a:pPr>
            <a:r>
              <a:rPr lang="zh-CN" altLang="en-US" sz="2000" dirty="0"/>
              <a:t>（</a:t>
            </a:r>
            <a:r>
              <a:rPr lang="en-US" altLang="zh-CN" sz="2000" dirty="0"/>
              <a:t>2</a:t>
            </a:r>
            <a:r>
              <a:rPr lang="zh-CN" altLang="en-US" sz="2000" dirty="0"/>
              <a:t>）随机对某个错误点进行修正，即变换直线的位置，使该错误点得以修正；</a:t>
            </a:r>
            <a:endParaRPr lang="en-US" altLang="zh-CN" sz="2000" dirty="0"/>
          </a:p>
          <a:p>
            <a:pPr lvl="1">
              <a:lnSpc>
                <a:spcPct val="150000"/>
              </a:lnSpc>
            </a:pPr>
            <a:r>
              <a:rPr lang="zh-CN" altLang="en-US" sz="2000" dirty="0"/>
              <a:t>（</a:t>
            </a:r>
            <a:r>
              <a:rPr lang="en-US" altLang="zh-CN" sz="2000" dirty="0"/>
              <a:t>3</a:t>
            </a:r>
            <a:r>
              <a:rPr lang="zh-CN" altLang="en-US" sz="2000" dirty="0"/>
              <a:t>）再随机选择一个错误点进行纠正，分类面不断变化，直到所有的点都完全分类正确了，就得到了最佳的分类面。</a:t>
            </a:r>
          </a:p>
          <a:p>
            <a:pPr lvl="1"/>
            <a:endParaRPr lang="en-US" altLang="zh-CN" sz="2000" dirty="0">
              <a:latin typeface="+mn-ea"/>
            </a:endParaRPr>
          </a:p>
          <a:p>
            <a:pPr marL="0" indent="0">
              <a:buNone/>
            </a:pPr>
            <a:endParaRPr lang="en-US" altLang="zh-CN" sz="2400" dirty="0"/>
          </a:p>
        </p:txBody>
      </p:sp>
    </p:spTree>
    <p:extLst>
      <p:ext uri="{BB962C8B-B14F-4D97-AF65-F5344CB8AC3E}">
        <p14:creationId xmlns:p14="http://schemas.microsoft.com/office/powerpoint/2010/main" val="26994818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8229600" cy="1143000"/>
          </a:xfrm>
        </p:spPr>
        <p:txBody>
          <a:bodyPr>
            <a:normAutofit/>
          </a:bodyPr>
          <a:lstStyle/>
          <a:p>
            <a:pPr marL="314325" marR="312420" algn="l">
              <a:spcBef>
                <a:spcPts val="15"/>
              </a:spcBef>
              <a:spcAft>
                <a:spcPts val="0"/>
              </a:spcAft>
            </a:pPr>
            <a:r>
              <a:rPr lang="zh-CN" altLang="en-US" sz="3200" b="1" kern="0" dirty="0">
                <a:effectLst/>
                <a:ea typeface="仿宋" panose="02010609060101010101" pitchFamily="49" charset="-122"/>
              </a:rPr>
              <a:t>感知机原理</a:t>
            </a:r>
            <a:endParaRPr lang="zh-CN" altLang="zh-CN" sz="3200" b="1" kern="0" dirty="0">
              <a:effectLst/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1528775"/>
            <a:ext cx="3048000" cy="666750"/>
          </a:xfrm>
          <a:prstGeom prst="rect">
            <a:avLst/>
          </a:prstGeom>
        </p:spPr>
      </p:pic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457200" y="1013478"/>
            <a:ext cx="8229600" cy="4525963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修正例子</a:t>
            </a:r>
            <a:endParaRPr lang="zh-CN" altLang="en-US" sz="2400" dirty="0">
              <a:solidFill>
                <a:srgbClr val="FF0000"/>
              </a:solidFill>
            </a:endParaRPr>
          </a:p>
          <a:p>
            <a:pPr lvl="1">
              <a:lnSpc>
                <a:spcPct val="150000"/>
              </a:lnSpc>
            </a:pPr>
            <a:r>
              <a:rPr lang="zh-CN" altLang="en-US" sz="2000" dirty="0"/>
              <a:t>正样本（</a:t>
            </a:r>
            <a:r>
              <a:rPr lang="en-US" altLang="zh-CN" sz="2000" dirty="0"/>
              <a:t>y=1</a:t>
            </a:r>
            <a:r>
              <a:rPr lang="zh-CN" altLang="en-US" sz="2000" dirty="0"/>
              <a:t>）分类为负样本（</a:t>
            </a:r>
            <a:r>
              <a:rPr lang="en-US" altLang="zh-CN" sz="2000" dirty="0"/>
              <a:t>y=-1</a:t>
            </a:r>
            <a:r>
              <a:rPr lang="zh-CN" altLang="en-US" sz="2000" dirty="0"/>
              <a:t>）</a:t>
            </a:r>
            <a:endParaRPr lang="en-US" altLang="zh-CN" sz="2000" dirty="0"/>
          </a:p>
          <a:p>
            <a:pPr lvl="1">
              <a:lnSpc>
                <a:spcPct val="150000"/>
              </a:lnSpc>
            </a:pPr>
            <a:r>
              <a:rPr lang="en-US" altLang="zh-CN" sz="2000" dirty="0" err="1"/>
              <a:t>wx</a:t>
            </a:r>
            <a:r>
              <a:rPr lang="en-US" altLang="zh-CN" sz="2000" dirty="0"/>
              <a:t>&lt;0,</a:t>
            </a:r>
            <a:r>
              <a:rPr lang="zh-CN" altLang="en-US" sz="2000" dirty="0"/>
              <a:t> </a:t>
            </a:r>
            <a:r>
              <a:rPr lang="en-US" altLang="zh-CN" sz="2000" dirty="0"/>
              <a:t>w</a:t>
            </a:r>
            <a:r>
              <a:rPr lang="zh-CN" altLang="en-US" sz="2000" dirty="0"/>
              <a:t>与</a:t>
            </a:r>
            <a:r>
              <a:rPr lang="en-US" altLang="zh-CN" sz="2000" dirty="0"/>
              <a:t>x</a:t>
            </a:r>
            <a:r>
              <a:rPr lang="zh-CN" altLang="en-US" sz="2000" dirty="0"/>
              <a:t>的夹角大于</a:t>
            </a:r>
            <a:r>
              <a:rPr lang="en-US" altLang="zh-CN" sz="2000" dirty="0"/>
              <a:t>90</a:t>
            </a:r>
            <a:r>
              <a:rPr lang="zh-CN" altLang="en-US" sz="2000" dirty="0"/>
              <a:t>度，分类线</a:t>
            </a:r>
            <a:r>
              <a:rPr lang="en-US" altLang="zh-CN" sz="2000" dirty="0"/>
              <a:t>l</a:t>
            </a:r>
            <a:r>
              <a:rPr lang="zh-CN" altLang="en-US" sz="2000" dirty="0"/>
              <a:t>的两侧。修正的方法是让夹角变小，修正</a:t>
            </a:r>
            <a:r>
              <a:rPr lang="en-US" altLang="zh-CN" sz="2000" dirty="0"/>
              <a:t>w</a:t>
            </a:r>
            <a:r>
              <a:rPr lang="zh-CN" altLang="en-US" sz="2000" dirty="0"/>
              <a:t>值，使二者位于直线同侧：</a:t>
            </a:r>
            <a:endParaRPr lang="en-US" altLang="zh-CN" sz="2000" dirty="0"/>
          </a:p>
          <a:p>
            <a:pPr marL="0" indent="0">
              <a:buNone/>
            </a:pPr>
            <a:endParaRPr lang="en-US" altLang="zh-CN" sz="24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A7B3209-F449-41D7-9C8F-68CB72B2CD0C}"/>
              </a:ext>
            </a:extLst>
          </p:cNvPr>
          <p:cNvSpPr/>
          <p:nvPr/>
        </p:nvSpPr>
        <p:spPr>
          <a:xfrm>
            <a:off x="3563888" y="3429000"/>
            <a:ext cx="288032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l-PL" altLang="zh-CN" sz="2800" i="1" dirty="0"/>
              <a:t>w</a:t>
            </a:r>
            <a:r>
              <a:rPr lang="pl-PL" altLang="zh-CN" sz="2800" dirty="0"/>
              <a:t>:=</a:t>
            </a:r>
            <a:r>
              <a:rPr lang="pl-PL" altLang="zh-CN" sz="2800" i="1" dirty="0"/>
              <a:t>w</a:t>
            </a:r>
            <a:r>
              <a:rPr lang="pl-PL" altLang="zh-CN" sz="2800" dirty="0"/>
              <a:t>+</a:t>
            </a:r>
            <a:r>
              <a:rPr lang="pl-PL" altLang="zh-CN" sz="2800" i="1" dirty="0"/>
              <a:t>x</a:t>
            </a:r>
            <a:r>
              <a:rPr lang="pl-PL" altLang="zh-CN" sz="2800" dirty="0"/>
              <a:t>=</a:t>
            </a:r>
            <a:r>
              <a:rPr lang="pl-PL" altLang="zh-CN" sz="2800" i="1" dirty="0"/>
              <a:t>w</a:t>
            </a:r>
            <a:r>
              <a:rPr lang="pl-PL" altLang="zh-CN" sz="2800" dirty="0"/>
              <a:t>+</a:t>
            </a:r>
            <a:r>
              <a:rPr lang="pl-PL" altLang="zh-CN" sz="2800" i="1" dirty="0"/>
              <a:t>yx</a:t>
            </a:r>
            <a:endParaRPr lang="zh-CN" altLang="en-US" sz="2800" dirty="0"/>
          </a:p>
        </p:txBody>
      </p:sp>
      <p:pic>
        <p:nvPicPr>
          <p:cNvPr id="7" name="Picture 2" descr="这里写图片描述">
            <a:extLst>
              <a:ext uri="{FF2B5EF4-FFF2-40B4-BE49-F238E27FC236}">
                <a16:creationId xmlns:a16="http://schemas.microsoft.com/office/drawing/2014/main" id="{B3E3C5E9-A9E5-423B-9B72-7EF8531695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04975" y="3952220"/>
            <a:ext cx="5734050" cy="1743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20401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8229600" cy="1143000"/>
          </a:xfrm>
        </p:spPr>
        <p:txBody>
          <a:bodyPr>
            <a:normAutofit/>
          </a:bodyPr>
          <a:lstStyle/>
          <a:p>
            <a:pPr marL="314325" marR="312420" algn="l">
              <a:spcBef>
                <a:spcPts val="15"/>
              </a:spcBef>
              <a:spcAft>
                <a:spcPts val="0"/>
              </a:spcAft>
            </a:pPr>
            <a:r>
              <a:rPr lang="zh-CN" altLang="en-US" sz="3200" b="1" kern="0" dirty="0">
                <a:effectLst/>
                <a:ea typeface="仿宋" panose="02010609060101010101" pitchFamily="49" charset="-122"/>
              </a:rPr>
              <a:t>感知机原理</a:t>
            </a:r>
            <a:endParaRPr lang="zh-CN" altLang="zh-CN" sz="3200" b="1" kern="0" dirty="0">
              <a:effectLst/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1528775"/>
            <a:ext cx="3048000" cy="666750"/>
          </a:xfrm>
          <a:prstGeom prst="rect">
            <a:avLst/>
          </a:prstGeom>
        </p:spPr>
      </p:pic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457200" y="1013478"/>
            <a:ext cx="8229600" cy="4525963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/>
              <a:t>修正例子</a:t>
            </a:r>
            <a:endParaRPr lang="en-US" altLang="zh-CN" sz="2000" dirty="0"/>
          </a:p>
          <a:p>
            <a:pPr lvl="1">
              <a:lnSpc>
                <a:spcPct val="150000"/>
              </a:lnSpc>
            </a:pPr>
            <a:r>
              <a:rPr lang="zh-CN" altLang="en-US" sz="2000" dirty="0"/>
              <a:t>负样本（</a:t>
            </a:r>
            <a:r>
              <a:rPr lang="en-US" altLang="zh-CN" sz="2000" dirty="0"/>
              <a:t>y=-1</a:t>
            </a:r>
            <a:r>
              <a:rPr lang="zh-CN" altLang="en-US" sz="2000" dirty="0"/>
              <a:t>）分类为正样本（</a:t>
            </a:r>
            <a:r>
              <a:rPr lang="en-US" altLang="zh-CN" sz="2000" dirty="0"/>
              <a:t>y=1</a:t>
            </a:r>
            <a:r>
              <a:rPr lang="zh-CN" altLang="en-US" sz="2000" dirty="0"/>
              <a:t>）</a:t>
            </a:r>
            <a:endParaRPr lang="en-US" altLang="zh-CN" sz="2000" dirty="0"/>
          </a:p>
          <a:p>
            <a:pPr lvl="1">
              <a:lnSpc>
                <a:spcPct val="150000"/>
              </a:lnSpc>
            </a:pPr>
            <a:r>
              <a:rPr lang="en-US" altLang="zh-CN" sz="2000" dirty="0" err="1"/>
              <a:t>wx</a:t>
            </a:r>
            <a:r>
              <a:rPr lang="en-US" altLang="zh-CN" sz="2000" dirty="0"/>
              <a:t>&gt;0,</a:t>
            </a:r>
            <a:r>
              <a:rPr lang="zh-CN" altLang="en-US" sz="2000" dirty="0"/>
              <a:t> </a:t>
            </a:r>
            <a:r>
              <a:rPr lang="en-US" altLang="zh-CN" sz="2000" dirty="0"/>
              <a:t>w</a:t>
            </a:r>
            <a:r>
              <a:rPr lang="zh-CN" altLang="en-US" sz="2000" dirty="0"/>
              <a:t>与</a:t>
            </a:r>
            <a:r>
              <a:rPr lang="en-US" altLang="zh-CN" sz="2000" dirty="0"/>
              <a:t>x</a:t>
            </a:r>
            <a:r>
              <a:rPr lang="zh-CN" altLang="en-US" sz="2000" dirty="0"/>
              <a:t>的夹角小于</a:t>
            </a:r>
            <a:r>
              <a:rPr lang="en-US" altLang="zh-CN" sz="2000" dirty="0"/>
              <a:t>90</a:t>
            </a:r>
            <a:r>
              <a:rPr lang="zh-CN" altLang="en-US" sz="2000" dirty="0"/>
              <a:t>度，分类线</a:t>
            </a:r>
            <a:r>
              <a:rPr lang="en-US" altLang="zh-CN" sz="2000" dirty="0"/>
              <a:t>l</a:t>
            </a:r>
            <a:r>
              <a:rPr lang="zh-CN" altLang="en-US" sz="2000" dirty="0"/>
              <a:t>的同一侧。修正的方法是让夹角变大，修正</a:t>
            </a:r>
            <a:r>
              <a:rPr lang="en-US" altLang="zh-CN" sz="2000" dirty="0"/>
              <a:t>w</a:t>
            </a:r>
            <a:r>
              <a:rPr lang="zh-CN" altLang="en-US" sz="2000" dirty="0"/>
              <a:t>值，使二者位于直线两侧：</a:t>
            </a:r>
            <a:endParaRPr lang="en-US" altLang="zh-CN" sz="2000" dirty="0"/>
          </a:p>
          <a:p>
            <a:pPr>
              <a:lnSpc>
                <a:spcPct val="150000"/>
              </a:lnSpc>
            </a:pPr>
            <a:endParaRPr lang="zh-CN" altLang="en-US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n-US" altLang="zh-CN" sz="2400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EA7B3209-F449-41D7-9C8F-68CB72B2CD0C}"/>
              </a:ext>
            </a:extLst>
          </p:cNvPr>
          <p:cNvSpPr/>
          <p:nvPr/>
        </p:nvSpPr>
        <p:spPr>
          <a:xfrm>
            <a:off x="3563888" y="3429000"/>
            <a:ext cx="288032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l-PL" altLang="zh-CN" sz="2800" i="1" dirty="0"/>
              <a:t>w</a:t>
            </a:r>
            <a:r>
              <a:rPr lang="pl-PL" altLang="zh-CN" sz="2800" dirty="0"/>
              <a:t>:=</a:t>
            </a:r>
            <a:r>
              <a:rPr lang="pl-PL" altLang="zh-CN" sz="2800" i="1" dirty="0"/>
              <a:t>w</a:t>
            </a:r>
            <a:r>
              <a:rPr lang="en-US" altLang="zh-CN" sz="2800" dirty="0"/>
              <a:t>-</a:t>
            </a:r>
            <a:r>
              <a:rPr lang="pl-PL" altLang="zh-CN" sz="2800" i="1" dirty="0"/>
              <a:t>x</a:t>
            </a:r>
            <a:r>
              <a:rPr lang="pl-PL" altLang="zh-CN" sz="2800" dirty="0"/>
              <a:t>=</a:t>
            </a:r>
            <a:r>
              <a:rPr lang="pl-PL" altLang="zh-CN" sz="2800" i="1" dirty="0"/>
              <a:t>w</a:t>
            </a:r>
            <a:r>
              <a:rPr lang="pl-PL" altLang="zh-CN" sz="2800" dirty="0"/>
              <a:t>+</a:t>
            </a:r>
            <a:r>
              <a:rPr lang="pl-PL" altLang="zh-CN" sz="2800" i="1" dirty="0"/>
              <a:t>yx</a:t>
            </a:r>
            <a:endParaRPr lang="zh-CN" altLang="en-US" sz="2800" dirty="0"/>
          </a:p>
        </p:txBody>
      </p:sp>
      <p:pic>
        <p:nvPicPr>
          <p:cNvPr id="10" name="Picture 2" descr="这里写图片描述">
            <a:extLst>
              <a:ext uri="{FF2B5EF4-FFF2-40B4-BE49-F238E27FC236}">
                <a16:creationId xmlns:a16="http://schemas.microsoft.com/office/drawing/2014/main" id="{CEB651AF-54EC-43E0-8666-D0A08FCF8F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5696" y="4222077"/>
            <a:ext cx="5734050" cy="1600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6242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8229600" cy="1143000"/>
          </a:xfrm>
        </p:spPr>
        <p:txBody>
          <a:bodyPr>
            <a:normAutofit/>
          </a:bodyPr>
          <a:lstStyle/>
          <a:p>
            <a:pPr marL="314325" marR="312420" algn="l">
              <a:spcBef>
                <a:spcPts val="15"/>
              </a:spcBef>
              <a:spcAft>
                <a:spcPts val="0"/>
              </a:spcAft>
            </a:pPr>
            <a:r>
              <a:rPr lang="zh-CN" altLang="en-US" sz="3200" b="1" kern="0" dirty="0">
                <a:latin typeface="仿宋" panose="02010609060101010101" pitchFamily="49" charset="-122"/>
                <a:ea typeface="仿宋" panose="02010609060101010101" pitchFamily="49" charset="-122"/>
              </a:rPr>
              <a:t>感知机损失函数</a:t>
            </a:r>
            <a:endParaRPr lang="zh-CN" altLang="zh-CN" sz="3200" b="1" kern="0" dirty="0">
              <a:effectLst/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1528775"/>
            <a:ext cx="3048000" cy="666750"/>
          </a:xfrm>
          <a:prstGeom prst="rect">
            <a:avLst/>
          </a:prstGeom>
        </p:spPr>
      </p:pic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457200" y="1013478"/>
            <a:ext cx="8229600" cy="4525963"/>
          </a:xfrm>
        </p:spPr>
        <p:txBody>
          <a:bodyPr>
            <a:noAutofit/>
          </a:bodyPr>
          <a:lstStyle/>
          <a:p>
            <a:r>
              <a:rPr kumimoji="1" lang="zh-CN" altLang="en-US" sz="2400" dirty="0"/>
              <a:t>自然选择：误分类点的数目，但损失函数不是</a:t>
            </a:r>
            <a:r>
              <a:rPr kumimoji="1" lang="en-US" altLang="zh-CN" sz="2400" dirty="0"/>
              <a:t>w</a:t>
            </a:r>
            <a:r>
              <a:rPr kumimoji="1" lang="zh-CN" altLang="en-US" sz="2400" dirty="0"/>
              <a:t>,</a:t>
            </a:r>
            <a:r>
              <a:rPr kumimoji="1" lang="en-US" altLang="zh-CN" sz="2400" dirty="0"/>
              <a:t>b </a:t>
            </a:r>
            <a:r>
              <a:rPr kumimoji="1" lang="zh-CN" altLang="en-US" sz="2400" dirty="0"/>
              <a:t>连续可导，不宜优化。</a:t>
            </a:r>
            <a:endParaRPr kumimoji="1" lang="en-US" altLang="zh-CN" sz="2400" dirty="0"/>
          </a:p>
          <a:p>
            <a:r>
              <a:rPr kumimoji="1" lang="zh-CN" altLang="en-US" sz="2400" dirty="0"/>
              <a:t>另一选择：误分类点到超平面的总距离。</a:t>
            </a:r>
            <a:r>
              <a:rPr lang="zh-CN" altLang="en-US" sz="2400" b="0" i="0" dirty="0">
                <a:solidFill>
                  <a:srgbClr val="FF0000"/>
                </a:solidFill>
                <a:effectLst/>
                <a:latin typeface="Verdana" panose="020B0604030504040204" pitchFamily="34" charset="0"/>
              </a:rPr>
              <a:t>损失函数优化目标</a:t>
            </a:r>
            <a:r>
              <a:rPr lang="zh-CN" altLang="en-U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就是：</a:t>
            </a:r>
            <a:r>
              <a:rPr lang="zh-CN" altLang="en-US" sz="2400" b="0" i="0" dirty="0">
                <a:solidFill>
                  <a:srgbClr val="0000FF"/>
                </a:solidFill>
                <a:effectLst/>
                <a:latin typeface="Verdana" panose="020B0604030504040204" pitchFamily="34" charset="0"/>
              </a:rPr>
              <a:t>使所有误分类样本到超平面距离之和最小</a:t>
            </a:r>
            <a:r>
              <a:rPr lang="zh-CN" altLang="en-US" sz="2400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。</a:t>
            </a:r>
            <a:endParaRPr kumimoji="1" lang="en-US" altLang="zh-CN" sz="2400" dirty="0"/>
          </a:p>
          <a:p>
            <a:r>
              <a:rPr lang="zh-CN" altLang="en-US" sz="2400" dirty="0"/>
              <a:t>距离</a:t>
            </a:r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pPr marL="0" indent="0">
              <a:buNone/>
            </a:pPr>
            <a:endParaRPr lang="en-US" altLang="zh-CN" sz="2400" dirty="0"/>
          </a:p>
          <a:p>
            <a:pPr marL="0" indent="0">
              <a:buNone/>
            </a:pPr>
            <a:r>
              <a:rPr kumimoji="1" lang="zh-CN" altLang="en-US" sz="2400" dirty="0"/>
              <a:t>误分类点：</a:t>
            </a:r>
            <a:endParaRPr kumimoji="1" lang="en-US" altLang="zh-CN" sz="2400" dirty="0"/>
          </a:p>
          <a:p>
            <a:pPr marL="0" indent="0">
              <a:buNone/>
            </a:pPr>
            <a:endParaRPr kumimoji="1" lang="en-US" altLang="zh-CN" sz="2400" dirty="0"/>
          </a:p>
          <a:p>
            <a:pPr marL="0" indent="0">
              <a:buNone/>
            </a:pPr>
            <a:r>
              <a:rPr kumimoji="1" lang="zh-CN" altLang="en-US" sz="2400" dirty="0"/>
              <a:t>误分类点距离：          </a:t>
            </a:r>
            <a:endParaRPr kumimoji="1" lang="en-US" altLang="zh-CN" sz="2400" dirty="0"/>
          </a:p>
          <a:p>
            <a:pPr marL="0" indent="0">
              <a:buNone/>
            </a:pPr>
            <a:endParaRPr kumimoji="1" lang="en-US" altLang="zh-CN" sz="2400" dirty="0"/>
          </a:p>
          <a:p>
            <a:pPr marL="0" indent="0">
              <a:buNone/>
            </a:pPr>
            <a:r>
              <a:rPr kumimoji="1" lang="zh-CN" altLang="zh-CN" sz="2400" dirty="0"/>
              <a:t> </a:t>
            </a:r>
            <a:r>
              <a:rPr kumimoji="1" lang="zh-CN" altLang="en-US" sz="2400" dirty="0"/>
              <a:t>总距离：</a:t>
            </a:r>
            <a:endParaRPr kumimoji="1"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pPr lvl="1"/>
            <a:endParaRPr lang="en-US" altLang="zh-CN" sz="2000" dirty="0">
              <a:latin typeface="+mn-ea"/>
            </a:endParaRPr>
          </a:p>
          <a:p>
            <a:pPr lvl="1"/>
            <a:endParaRPr lang="en-US" altLang="zh-CN" sz="2000" dirty="0">
              <a:latin typeface="+mn-ea"/>
            </a:endParaRPr>
          </a:p>
          <a:p>
            <a:pPr marL="0" indent="0">
              <a:buNone/>
            </a:pPr>
            <a:endParaRPr lang="en-US" altLang="zh-CN" sz="24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5E887C1-C7E3-414D-B217-39A09AAD34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5384" y="2776955"/>
            <a:ext cx="2160240" cy="86409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539D8EB5-F9E6-4EAC-BF15-8895C14924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5776" y="4373081"/>
            <a:ext cx="2160240" cy="37245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2FCA8374-0AF6-44CA-B215-DEB926497D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30393" y="5107656"/>
            <a:ext cx="1999478" cy="722500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A11B360E-8E71-4D6E-9F49-CAF1D2802A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20951" y="5992676"/>
            <a:ext cx="2818361" cy="792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9550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8229600" cy="1143000"/>
          </a:xfrm>
        </p:spPr>
        <p:txBody>
          <a:bodyPr>
            <a:normAutofit/>
          </a:bodyPr>
          <a:lstStyle/>
          <a:p>
            <a:pPr marL="314325" marR="312420" algn="l">
              <a:spcBef>
                <a:spcPts val="15"/>
              </a:spcBef>
              <a:spcAft>
                <a:spcPts val="0"/>
              </a:spcAft>
            </a:pPr>
            <a:r>
              <a:rPr lang="zh-CN" altLang="en-US" sz="3200" b="1" kern="0" dirty="0">
                <a:latin typeface="仿宋" panose="02010609060101010101" pitchFamily="49" charset="-122"/>
                <a:ea typeface="仿宋" panose="02010609060101010101" pitchFamily="49" charset="-122"/>
              </a:rPr>
              <a:t>感知机损失函数</a:t>
            </a:r>
            <a:endParaRPr lang="zh-CN" altLang="zh-CN" sz="3200" b="1" kern="0" dirty="0">
              <a:effectLst/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1528775"/>
            <a:ext cx="3048000" cy="666750"/>
          </a:xfrm>
          <a:prstGeom prst="rect">
            <a:avLst/>
          </a:prstGeom>
        </p:spPr>
      </p:pic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457200" y="1013478"/>
            <a:ext cx="8229600" cy="4525963"/>
          </a:xfrm>
        </p:spPr>
        <p:txBody>
          <a:bodyPr>
            <a:noAutofit/>
          </a:bodyPr>
          <a:lstStyle/>
          <a:p>
            <a:r>
              <a:rPr lang="zh-CN" altLang="en-US" sz="2400" dirty="0"/>
              <a:t>损失函数</a:t>
            </a:r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endParaRPr lang="en-US" altLang="zh-CN" sz="2400" dirty="0"/>
          </a:p>
          <a:p>
            <a:pPr lvl="1"/>
            <a:r>
              <a:rPr kumimoji="1" lang="en-US" altLang="zh-CN" sz="1600" dirty="0"/>
              <a:t>M</a:t>
            </a:r>
            <a:r>
              <a:rPr kumimoji="1" lang="zh-CN" altLang="en-US" sz="1600" dirty="0"/>
              <a:t>为误分类点的数目</a:t>
            </a:r>
            <a:endParaRPr kumimoji="1" lang="en-US" altLang="zh-CN" sz="1600" dirty="0"/>
          </a:p>
          <a:p>
            <a:pPr lvl="1"/>
            <a:r>
              <a:rPr kumimoji="1" lang="zh-CN" altLang="en-US" sz="1600" dirty="0"/>
              <a:t>分子分母都含有</a:t>
            </a:r>
            <a:r>
              <a:rPr kumimoji="1" lang="en-US" altLang="zh-CN" sz="1600" dirty="0"/>
              <a:t>w</a:t>
            </a:r>
            <a:r>
              <a:rPr kumimoji="1" lang="zh-CN" altLang="en-US" sz="1600" dirty="0"/>
              <a:t>，可以固定分子或分母为</a:t>
            </a:r>
            <a:r>
              <a:rPr kumimoji="1" lang="en-US" altLang="zh-CN" sz="1600" dirty="0"/>
              <a:t>1</a:t>
            </a:r>
            <a:r>
              <a:rPr kumimoji="1" lang="zh-CN" altLang="en-US" sz="1600" dirty="0"/>
              <a:t>，然后求另一个，即分母的倒数或者分子自己的最小化作为损失函数。在感知机中，是保留分子</a:t>
            </a:r>
            <a:endParaRPr lang="en-US" altLang="zh-CN" sz="2400" dirty="0"/>
          </a:p>
          <a:p>
            <a:endParaRPr lang="en-US" altLang="zh-CN" sz="2400" dirty="0"/>
          </a:p>
          <a:p>
            <a:pPr lvl="1"/>
            <a:endParaRPr lang="en-US" altLang="zh-CN" sz="2000" dirty="0">
              <a:latin typeface="+mn-ea"/>
            </a:endParaRPr>
          </a:p>
          <a:p>
            <a:pPr lvl="1"/>
            <a:endParaRPr lang="en-US" altLang="zh-CN" sz="2000" dirty="0">
              <a:latin typeface="+mn-ea"/>
            </a:endParaRPr>
          </a:p>
          <a:p>
            <a:pPr marL="0" indent="0">
              <a:buNone/>
            </a:pPr>
            <a:endParaRPr lang="en-US" altLang="zh-CN" sz="24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A3202A3-3D57-4DF3-A53A-C3A6C619AA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8706" y="1861220"/>
            <a:ext cx="3812188" cy="720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82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8229600" cy="1143000"/>
          </a:xfrm>
        </p:spPr>
        <p:txBody>
          <a:bodyPr>
            <a:normAutofit/>
          </a:bodyPr>
          <a:lstStyle/>
          <a:p>
            <a:pPr marL="314325" marR="312420" algn="l">
              <a:spcBef>
                <a:spcPts val="15"/>
              </a:spcBef>
              <a:spcAft>
                <a:spcPts val="0"/>
              </a:spcAft>
            </a:pPr>
            <a:r>
              <a:rPr lang="zh-CN" altLang="en-US" sz="3200" b="1" kern="0" dirty="0">
                <a:effectLst/>
                <a:ea typeface="仿宋" panose="02010609060101010101" pitchFamily="49" charset="-122"/>
              </a:rPr>
              <a:t>感知机学习</a:t>
            </a:r>
            <a:endParaRPr lang="zh-CN" altLang="zh-CN" sz="3200" b="1" kern="0" dirty="0">
              <a:effectLst/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1528775"/>
            <a:ext cx="3048000" cy="666750"/>
          </a:xfrm>
          <a:prstGeom prst="rect">
            <a:avLst/>
          </a:prstGeom>
        </p:spPr>
      </p:pic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457200" y="1013478"/>
            <a:ext cx="8229600" cy="4525963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/>
              <a:t>求解最优化问题</a:t>
            </a:r>
            <a:endParaRPr lang="en-US" altLang="zh-CN" sz="2400" dirty="0"/>
          </a:p>
          <a:p>
            <a:pPr>
              <a:lnSpc>
                <a:spcPct val="120000"/>
              </a:lnSpc>
            </a:pPr>
            <a:endParaRPr lang="en-US" altLang="zh-CN" sz="2400" dirty="0"/>
          </a:p>
          <a:p>
            <a:pPr>
              <a:lnSpc>
                <a:spcPct val="120000"/>
              </a:lnSpc>
            </a:pPr>
            <a:endParaRPr lang="en-US" altLang="zh-CN" sz="2400" dirty="0"/>
          </a:p>
          <a:p>
            <a:r>
              <a:rPr kumimoji="1" lang="zh-CN" altLang="en-US" sz="2000" dirty="0"/>
              <a:t>随机梯度下降法，</a:t>
            </a:r>
            <a:endParaRPr kumimoji="1" lang="en-US" altLang="zh-CN" sz="2000" dirty="0"/>
          </a:p>
          <a:p>
            <a:r>
              <a:rPr kumimoji="1" lang="zh-CN" altLang="en-US" sz="2000" dirty="0"/>
              <a:t>首先任意选择一个超平面，</a:t>
            </a:r>
            <a:r>
              <a:rPr kumimoji="1" lang="en-US" altLang="zh-CN" sz="2000" dirty="0"/>
              <a:t>w</a:t>
            </a:r>
            <a:r>
              <a:rPr kumimoji="1" lang="zh-CN" altLang="en-US" sz="2000" dirty="0"/>
              <a:t>，</a:t>
            </a:r>
            <a:r>
              <a:rPr kumimoji="1" lang="en-US" altLang="zh-CN" sz="2000" dirty="0"/>
              <a:t>b</a:t>
            </a:r>
            <a:r>
              <a:rPr kumimoji="1" lang="zh-CN" altLang="en-US" sz="2000" dirty="0"/>
              <a:t>，然后不断极小化目标函数</a:t>
            </a:r>
            <a:r>
              <a:rPr kumimoji="1" lang="zh-CN" altLang="zh-CN" sz="2000" dirty="0"/>
              <a:t>,</a:t>
            </a:r>
            <a:r>
              <a:rPr kumimoji="1" lang="zh-CN" altLang="en-US" sz="2000" dirty="0"/>
              <a:t>损失函数</a:t>
            </a:r>
            <a:r>
              <a:rPr kumimoji="1" lang="en-US" altLang="zh-CN" sz="2000" dirty="0"/>
              <a:t>L</a:t>
            </a:r>
            <a:r>
              <a:rPr kumimoji="1" lang="zh-CN" altLang="en-US" sz="2000" dirty="0"/>
              <a:t>的梯度：</a:t>
            </a:r>
            <a:endParaRPr kumimoji="1" lang="en-US" altLang="zh-CN" sz="2000" dirty="0"/>
          </a:p>
          <a:p>
            <a:endParaRPr kumimoji="1" lang="en-US" altLang="zh-CN" sz="2000" dirty="0"/>
          </a:p>
          <a:p>
            <a:endParaRPr kumimoji="1" lang="en-US" altLang="zh-CN" sz="2000" dirty="0"/>
          </a:p>
          <a:p>
            <a:r>
              <a:rPr kumimoji="1" lang="zh-CN" altLang="en-US" sz="2000" dirty="0"/>
              <a:t>选取误分类点更新：</a:t>
            </a:r>
            <a:endParaRPr kumimoji="1" lang="en-US" altLang="zh-CN" sz="2000" dirty="0"/>
          </a:p>
          <a:p>
            <a:endParaRPr lang="en-US" altLang="zh-CN" sz="2400" dirty="0"/>
          </a:p>
          <a:p>
            <a:pPr lvl="1"/>
            <a:endParaRPr lang="en-US" altLang="zh-CN" sz="2000" dirty="0">
              <a:latin typeface="+mn-ea"/>
            </a:endParaRPr>
          </a:p>
          <a:p>
            <a:pPr lvl="1"/>
            <a:endParaRPr lang="en-US" altLang="zh-CN" sz="2000" dirty="0">
              <a:latin typeface="+mn-ea"/>
            </a:endParaRPr>
          </a:p>
          <a:p>
            <a:pPr marL="0" indent="0">
              <a:buNone/>
            </a:pPr>
            <a:endParaRPr lang="en-US" altLang="zh-CN" sz="24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8E0EA55A-2640-4170-9EAE-229F1A0CB3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4401" y="1664095"/>
            <a:ext cx="5135198" cy="864096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353D6576-19AC-466A-BC55-8308CC873C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7744" y="3585325"/>
            <a:ext cx="2638745" cy="576064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4BF348FC-26A7-4217-802E-CFE3AF1884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4088" y="3513317"/>
            <a:ext cx="2269343" cy="576064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D0C190CC-46DA-480C-BCFF-ACAE922E5B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83768" y="5002499"/>
            <a:ext cx="2009024" cy="432048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4C887855-8019-4A38-BE46-9343267D7D5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04047" y="5002499"/>
            <a:ext cx="1864628" cy="432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34088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8229600" cy="1143000"/>
          </a:xfrm>
        </p:spPr>
        <p:txBody>
          <a:bodyPr>
            <a:normAutofit/>
          </a:bodyPr>
          <a:lstStyle/>
          <a:p>
            <a:pPr marL="314325" marR="312420" algn="l">
              <a:spcBef>
                <a:spcPts val="15"/>
              </a:spcBef>
              <a:spcAft>
                <a:spcPts val="0"/>
              </a:spcAft>
            </a:pPr>
            <a:r>
              <a:rPr lang="zh-CN" altLang="en-US" sz="3200" b="1" kern="0" dirty="0">
                <a:effectLst/>
                <a:ea typeface="仿宋" panose="02010609060101010101" pitchFamily="49" charset="-122"/>
              </a:rPr>
              <a:t>感知机算法</a:t>
            </a:r>
            <a:endParaRPr lang="zh-CN" altLang="zh-CN" sz="3200" b="1" kern="0" dirty="0">
              <a:effectLst/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1528775"/>
            <a:ext cx="3048000" cy="666750"/>
          </a:xfrm>
          <a:prstGeom prst="rect">
            <a:avLst/>
          </a:prstGeom>
        </p:spPr>
      </p:pic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457200" y="1013478"/>
            <a:ext cx="8229600" cy="4525963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/>
              <a:t>感知机算法    </a:t>
            </a:r>
            <a:endParaRPr lang="en-US" altLang="zh-CN" sz="2400" i="1" dirty="0"/>
          </a:p>
          <a:p>
            <a:endParaRPr lang="en-US" altLang="zh-CN" sz="2400" dirty="0"/>
          </a:p>
          <a:p>
            <a:pPr lvl="1"/>
            <a:endParaRPr lang="en-US" altLang="zh-CN" sz="2000" dirty="0">
              <a:latin typeface="+mn-ea"/>
            </a:endParaRPr>
          </a:p>
          <a:p>
            <a:pPr lvl="1"/>
            <a:endParaRPr lang="en-US" altLang="zh-CN" sz="2000" dirty="0">
              <a:latin typeface="+mn-ea"/>
            </a:endParaRPr>
          </a:p>
          <a:p>
            <a:pPr marL="0" indent="0">
              <a:buNone/>
            </a:pPr>
            <a:endParaRPr lang="en-US" altLang="zh-CN" sz="2400" dirty="0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F0A81941-7456-4C64-B1AF-1D1247354F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99992" y="3713481"/>
            <a:ext cx="4536504" cy="1194106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a16:creationId xmlns:a16="http://schemas.microsoft.com/office/drawing/2014/main" id="{4922F2E7-2E00-480F-AB9B-71383DD9D0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1617981"/>
            <a:ext cx="6019800" cy="4191000"/>
          </a:xfrm>
          <a:prstGeom prst="rect">
            <a:avLst/>
          </a:prstGeom>
        </p:spPr>
      </p:pic>
      <p:grpSp>
        <p:nvGrpSpPr>
          <p:cNvPr id="33" name="组合 32">
            <a:extLst>
              <a:ext uri="{FF2B5EF4-FFF2-40B4-BE49-F238E27FC236}">
                <a16:creationId xmlns:a16="http://schemas.microsoft.com/office/drawing/2014/main" id="{314D2DF5-9009-43F1-B233-E50B96E008FF}"/>
              </a:ext>
            </a:extLst>
          </p:cNvPr>
          <p:cNvGrpSpPr/>
          <p:nvPr/>
        </p:nvGrpSpPr>
        <p:grpSpPr>
          <a:xfrm>
            <a:off x="1277482" y="5925216"/>
            <a:ext cx="6445020" cy="639539"/>
            <a:chOff x="1391539" y="5329225"/>
            <a:chExt cx="6276805" cy="639539"/>
          </a:xfrm>
        </p:grpSpPr>
        <p:pic>
          <p:nvPicPr>
            <p:cNvPr id="26" name="图片 25">
              <a:extLst>
                <a:ext uri="{FF2B5EF4-FFF2-40B4-BE49-F238E27FC236}">
                  <a16:creationId xmlns:a16="http://schemas.microsoft.com/office/drawing/2014/main" id="{68B788B9-7C10-41F8-86D9-9356168A017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91539" y="5329225"/>
              <a:ext cx="6276805" cy="639539"/>
            </a:xfrm>
            <a:prstGeom prst="rect">
              <a:avLst/>
            </a:prstGeom>
          </p:spPr>
        </p:pic>
        <p:pic>
          <p:nvPicPr>
            <p:cNvPr id="32" name="图片 31">
              <a:extLst>
                <a:ext uri="{FF2B5EF4-FFF2-40B4-BE49-F238E27FC236}">
                  <a16:creationId xmlns:a16="http://schemas.microsoft.com/office/drawing/2014/main" id="{3E7B1BD6-8544-44AA-BD7A-F08AE5AF9EF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35896" y="5456097"/>
              <a:ext cx="360040" cy="422845"/>
            </a:xfrm>
            <a:prstGeom prst="rect">
              <a:avLst/>
            </a:prstGeom>
          </p:spPr>
        </p:pic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EC60197-D333-4D2C-AD70-72FDB8E1B773}"/>
              </a:ext>
            </a:extLst>
          </p:cNvPr>
          <p:cNvSpPr txBox="1"/>
          <p:nvPr/>
        </p:nvSpPr>
        <p:spPr>
          <a:xfrm>
            <a:off x="683568" y="5590594"/>
            <a:ext cx="4572000" cy="398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800" dirty="0"/>
              <a:t>如果</a:t>
            </a:r>
            <a:r>
              <a:rPr lang="en-US" altLang="zh-CN" sz="1800" dirty="0"/>
              <a:t>y</a:t>
            </a:r>
            <a:r>
              <a:rPr lang="zh-CN" altLang="en-US" sz="1800" dirty="0"/>
              <a:t>属于</a:t>
            </a:r>
            <a:r>
              <a:rPr lang="en-US" altLang="zh-CN" sz="1800" dirty="0"/>
              <a:t>{0,1}</a:t>
            </a:r>
            <a:endParaRPr lang="en-US" altLang="zh-CN" sz="1800" i="1" dirty="0"/>
          </a:p>
        </p:txBody>
      </p:sp>
    </p:spTree>
    <p:extLst>
      <p:ext uri="{BB962C8B-B14F-4D97-AF65-F5344CB8AC3E}">
        <p14:creationId xmlns:p14="http://schemas.microsoft.com/office/powerpoint/2010/main" val="1396592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8229600" cy="1143000"/>
          </a:xfrm>
        </p:spPr>
        <p:txBody>
          <a:bodyPr>
            <a:normAutofit/>
          </a:bodyPr>
          <a:lstStyle/>
          <a:p>
            <a:pPr marL="314325" marR="312420" algn="l">
              <a:spcBef>
                <a:spcPts val="15"/>
              </a:spcBef>
              <a:spcAft>
                <a:spcPts val="0"/>
              </a:spcAft>
            </a:pPr>
            <a:r>
              <a:rPr lang="zh-CN" altLang="en-US" sz="3200" b="1" kern="0" dirty="0">
                <a:effectLst/>
                <a:ea typeface="仿宋" panose="02010609060101010101" pitchFamily="49" charset="-122"/>
              </a:rPr>
              <a:t>感知机算法</a:t>
            </a:r>
            <a:endParaRPr lang="zh-CN" altLang="zh-CN" sz="3200" b="1" kern="0" dirty="0">
              <a:effectLst/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1528775"/>
            <a:ext cx="3048000" cy="666750"/>
          </a:xfrm>
          <a:prstGeom prst="rect">
            <a:avLst/>
          </a:prstGeom>
        </p:spPr>
      </p:pic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457200" y="1013478"/>
            <a:ext cx="7772400" cy="4525963"/>
          </a:xfrm>
        </p:spPr>
        <p:txBody>
          <a:bodyPr>
            <a:noAutofit/>
          </a:bodyPr>
          <a:lstStyle/>
          <a:p>
            <a:pPr eaLnBrk="0" hangingPunct="0">
              <a:lnSpc>
                <a:spcPct val="110000"/>
              </a:lnSpc>
            </a:pPr>
            <a:r>
              <a:rPr lang="zh-CN" altLang="en-US" sz="2400" dirty="0"/>
              <a:t>感知机算法实质上是一种</a:t>
            </a:r>
            <a:r>
              <a:rPr lang="zh-CN" altLang="en-US" sz="2400" dirty="0">
                <a:solidFill>
                  <a:srgbClr val="FF0000"/>
                </a:solidFill>
              </a:rPr>
              <a:t>赏罚过程</a:t>
            </a:r>
          </a:p>
          <a:p>
            <a:pPr lvl="1" eaLnBrk="0" hangingPunct="0">
              <a:lnSpc>
                <a:spcPct val="130000"/>
              </a:lnSpc>
            </a:pPr>
            <a:r>
              <a:rPr lang="zh-CN" altLang="en-US" sz="2000" dirty="0"/>
              <a:t>对正确分类的样本则“赏”，实际上是“不罚”，即</a:t>
            </a:r>
            <a:r>
              <a:rPr lang="en-US" altLang="zh-CN" sz="2000" dirty="0"/>
              <a:t>w</a:t>
            </a:r>
            <a:r>
              <a:rPr lang="zh-CN" altLang="en-US" sz="2000" dirty="0"/>
              <a:t>不变。</a:t>
            </a:r>
          </a:p>
          <a:p>
            <a:pPr lvl="1" eaLnBrk="0" hangingPunct="0">
              <a:lnSpc>
                <a:spcPct val="130000"/>
              </a:lnSpc>
            </a:pPr>
            <a:r>
              <a:rPr lang="zh-CN" altLang="en-US" sz="2000" dirty="0"/>
              <a:t>对错误分类的样本则“罚”，使</a:t>
            </a:r>
            <a:r>
              <a:rPr lang="en-US" altLang="zh-CN" sz="2000" dirty="0"/>
              <a:t>w</a:t>
            </a:r>
            <a:r>
              <a:rPr lang="zh-CN" altLang="en-US" sz="2000" dirty="0"/>
              <a:t>加上一个正比于</a:t>
            </a:r>
            <a:r>
              <a:rPr lang="en-US" altLang="zh-CN" sz="2000" dirty="0"/>
              <a:t>x</a:t>
            </a:r>
            <a:r>
              <a:rPr lang="en-US" altLang="zh-CN" sz="2000" baseline="-25000" dirty="0"/>
              <a:t>i</a:t>
            </a:r>
            <a:r>
              <a:rPr lang="zh-CN" altLang="en-US" sz="2000" dirty="0"/>
              <a:t>的分量。</a:t>
            </a:r>
          </a:p>
          <a:p>
            <a:pPr lvl="1" eaLnBrk="0" hangingPunct="0">
              <a:lnSpc>
                <a:spcPct val="130000"/>
              </a:lnSpc>
            </a:pPr>
            <a:r>
              <a:rPr lang="zh-CN" altLang="en-US" sz="2000" dirty="0"/>
              <a:t>当用全部样本训练过一轮以后，只要有一个样本是判别错误的，则需要进行下一轮迭代，即用全部样本再训练一次。</a:t>
            </a:r>
          </a:p>
          <a:p>
            <a:pPr lvl="1" eaLnBrk="0" hangingPunct="0">
              <a:lnSpc>
                <a:spcPct val="130000"/>
              </a:lnSpc>
            </a:pPr>
            <a:r>
              <a:rPr lang="zh-CN" altLang="en-US" sz="2000" dirty="0"/>
              <a:t>如此不断反复直到全部样本进行训练都能得到正确的分类结果为止。</a:t>
            </a:r>
          </a:p>
          <a:p>
            <a:endParaRPr lang="en-US" altLang="zh-CN" sz="2000" dirty="0"/>
          </a:p>
          <a:p>
            <a:pPr lvl="1"/>
            <a:endParaRPr lang="en-US" altLang="zh-CN" sz="1800" dirty="0">
              <a:latin typeface="+mn-ea"/>
            </a:endParaRPr>
          </a:p>
          <a:p>
            <a:pPr lvl="1"/>
            <a:endParaRPr lang="en-US" altLang="zh-CN" sz="1800" dirty="0">
              <a:latin typeface="+mn-ea"/>
            </a:endParaRPr>
          </a:p>
          <a:p>
            <a:pPr marL="0" indent="0">
              <a:buNone/>
            </a:pP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32317369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03" name="Picture 3" descr="perceptron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31886" y="1776311"/>
            <a:ext cx="6035909" cy="45314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1204" name="Group 4"/>
          <p:cNvGrpSpPr>
            <a:grpSpLocks/>
          </p:cNvGrpSpPr>
          <p:nvPr/>
        </p:nvGrpSpPr>
        <p:grpSpPr bwMode="auto">
          <a:xfrm>
            <a:off x="2200750" y="1848167"/>
            <a:ext cx="2299394" cy="1652689"/>
            <a:chOff x="480" y="1104"/>
            <a:chExt cx="1536" cy="1104"/>
          </a:xfrm>
        </p:grpSpPr>
        <p:sp>
          <p:nvSpPr>
            <p:cNvPr id="51205" name="Text Box 5"/>
            <p:cNvSpPr txBox="1">
              <a:spLocks noChangeArrowheads="1"/>
            </p:cNvSpPr>
            <p:nvPr/>
          </p:nvSpPr>
          <p:spPr bwMode="auto">
            <a:xfrm>
              <a:off x="480" y="1104"/>
              <a:ext cx="318" cy="2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sv-SE" altLang="zh-CN" sz="1697">
                  <a:solidFill>
                    <a:schemeClr val="hlink"/>
                  </a:solidFill>
                </a:rPr>
                <a:t>t=1</a:t>
              </a:r>
              <a:endParaRPr lang="en-US" altLang="zh-TW" sz="1697">
                <a:solidFill>
                  <a:schemeClr val="hlink"/>
                </a:solidFill>
                <a:ea typeface="新細明體" pitchFamily="18" charset="-120"/>
              </a:endParaRPr>
            </a:p>
          </p:txBody>
        </p:sp>
        <p:sp>
          <p:nvSpPr>
            <p:cNvPr id="51206" name="Line 6"/>
            <p:cNvSpPr>
              <a:spLocks noChangeShapeType="1"/>
            </p:cNvSpPr>
            <p:nvPr/>
          </p:nvSpPr>
          <p:spPr bwMode="auto">
            <a:xfrm>
              <a:off x="864" y="1296"/>
              <a:ext cx="384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697"/>
            </a:p>
          </p:txBody>
        </p:sp>
        <p:sp>
          <p:nvSpPr>
            <p:cNvPr id="51207" name="Line 7"/>
            <p:cNvSpPr>
              <a:spLocks noChangeShapeType="1"/>
            </p:cNvSpPr>
            <p:nvPr/>
          </p:nvSpPr>
          <p:spPr bwMode="auto">
            <a:xfrm>
              <a:off x="864" y="1248"/>
              <a:ext cx="1152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697"/>
            </a:p>
          </p:txBody>
        </p:sp>
        <p:sp>
          <p:nvSpPr>
            <p:cNvPr id="51208" name="Line 8"/>
            <p:cNvSpPr>
              <a:spLocks noChangeShapeType="1"/>
            </p:cNvSpPr>
            <p:nvPr/>
          </p:nvSpPr>
          <p:spPr bwMode="auto">
            <a:xfrm>
              <a:off x="768" y="1392"/>
              <a:ext cx="480" cy="81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697"/>
            </a:p>
          </p:txBody>
        </p:sp>
      </p:grpSp>
      <p:grpSp>
        <p:nvGrpSpPr>
          <p:cNvPr id="51209" name="Group 9"/>
          <p:cNvGrpSpPr>
            <a:grpSpLocks/>
          </p:cNvGrpSpPr>
          <p:nvPr/>
        </p:nvGrpSpPr>
        <p:grpSpPr bwMode="auto">
          <a:xfrm>
            <a:off x="4787565" y="1632598"/>
            <a:ext cx="1549396" cy="1724545"/>
            <a:chOff x="2208" y="1008"/>
            <a:chExt cx="1035" cy="1152"/>
          </a:xfrm>
        </p:grpSpPr>
        <p:sp>
          <p:nvSpPr>
            <p:cNvPr id="51210" name="Text Box 10"/>
            <p:cNvSpPr txBox="1">
              <a:spLocks noChangeArrowheads="1"/>
            </p:cNvSpPr>
            <p:nvPr/>
          </p:nvSpPr>
          <p:spPr bwMode="auto">
            <a:xfrm>
              <a:off x="2880" y="1008"/>
              <a:ext cx="363" cy="2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sv-SE" altLang="zh-CN" sz="1697">
                  <a:solidFill>
                    <a:schemeClr val="tx2"/>
                  </a:solidFill>
                </a:rPr>
                <a:t>t=-1</a:t>
              </a:r>
              <a:endParaRPr lang="en-US" altLang="zh-TW" sz="1697">
                <a:solidFill>
                  <a:schemeClr val="tx2"/>
                </a:solidFill>
                <a:ea typeface="新細明體" pitchFamily="18" charset="-120"/>
              </a:endParaRPr>
            </a:p>
          </p:txBody>
        </p:sp>
        <p:sp>
          <p:nvSpPr>
            <p:cNvPr id="51211" name="Line 11"/>
            <p:cNvSpPr>
              <a:spLocks noChangeShapeType="1"/>
            </p:cNvSpPr>
            <p:nvPr/>
          </p:nvSpPr>
          <p:spPr bwMode="auto">
            <a:xfrm flipH="1">
              <a:off x="2640" y="1152"/>
              <a:ext cx="240" cy="192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697"/>
            </a:p>
          </p:txBody>
        </p:sp>
        <p:sp>
          <p:nvSpPr>
            <p:cNvPr id="51212" name="Line 12"/>
            <p:cNvSpPr>
              <a:spLocks noChangeShapeType="1"/>
            </p:cNvSpPr>
            <p:nvPr/>
          </p:nvSpPr>
          <p:spPr bwMode="auto">
            <a:xfrm flipH="1">
              <a:off x="2208" y="1296"/>
              <a:ext cx="720" cy="86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697"/>
            </a:p>
          </p:txBody>
        </p:sp>
      </p:grpSp>
      <p:grpSp>
        <p:nvGrpSpPr>
          <p:cNvPr id="51213" name="Group 13"/>
          <p:cNvGrpSpPr>
            <a:grpSpLocks/>
          </p:cNvGrpSpPr>
          <p:nvPr/>
        </p:nvGrpSpPr>
        <p:grpSpPr bwMode="auto">
          <a:xfrm>
            <a:off x="389379" y="2741877"/>
            <a:ext cx="3751485" cy="615268"/>
            <a:chOff x="86" y="1701"/>
            <a:chExt cx="2506" cy="411"/>
          </a:xfrm>
        </p:grpSpPr>
        <p:sp>
          <p:nvSpPr>
            <p:cNvPr id="51214" name="Text Box 14"/>
            <p:cNvSpPr txBox="1">
              <a:spLocks noChangeArrowheads="1"/>
            </p:cNvSpPr>
            <p:nvPr/>
          </p:nvSpPr>
          <p:spPr bwMode="auto">
            <a:xfrm>
              <a:off x="86" y="1701"/>
              <a:ext cx="1156" cy="41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sv-SE" altLang="zh-CN" sz="1697">
                  <a:solidFill>
                    <a:srgbClr val="008000"/>
                  </a:solidFill>
                </a:rPr>
                <a:t>w=[0.25 –0.1 0.5]</a:t>
              </a:r>
            </a:p>
            <a:p>
              <a:r>
                <a:rPr lang="sv-SE" altLang="zh-CN" sz="1697">
                  <a:solidFill>
                    <a:srgbClr val="008000"/>
                  </a:solidFill>
                </a:rPr>
                <a:t>x</a:t>
              </a:r>
              <a:r>
                <a:rPr lang="sv-SE" altLang="zh-CN" sz="1697" baseline="-25000">
                  <a:solidFill>
                    <a:srgbClr val="008000"/>
                  </a:solidFill>
                </a:rPr>
                <a:t>2</a:t>
              </a:r>
              <a:r>
                <a:rPr lang="sv-SE" altLang="zh-CN" sz="1697">
                  <a:solidFill>
                    <a:srgbClr val="008000"/>
                  </a:solidFill>
                </a:rPr>
                <a:t> = 0.2 x</a:t>
              </a:r>
              <a:r>
                <a:rPr lang="sv-SE" altLang="zh-CN" sz="1697" baseline="-25000">
                  <a:solidFill>
                    <a:srgbClr val="008000"/>
                  </a:solidFill>
                </a:rPr>
                <a:t>1</a:t>
              </a:r>
              <a:r>
                <a:rPr lang="sv-SE" altLang="zh-CN" sz="1697">
                  <a:solidFill>
                    <a:srgbClr val="008000"/>
                  </a:solidFill>
                </a:rPr>
                <a:t> – 0.5</a:t>
              </a:r>
              <a:endParaRPr lang="en-US" altLang="zh-TW" sz="1697">
                <a:solidFill>
                  <a:srgbClr val="008000"/>
                </a:solidFill>
                <a:ea typeface="新細明體" pitchFamily="18" charset="-120"/>
              </a:endParaRPr>
            </a:p>
          </p:txBody>
        </p:sp>
        <p:sp>
          <p:nvSpPr>
            <p:cNvPr id="51215" name="Line 15"/>
            <p:cNvSpPr>
              <a:spLocks noChangeShapeType="1"/>
            </p:cNvSpPr>
            <p:nvPr/>
          </p:nvSpPr>
          <p:spPr bwMode="auto">
            <a:xfrm>
              <a:off x="1728" y="1872"/>
              <a:ext cx="864" cy="9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697"/>
            </a:p>
          </p:txBody>
        </p:sp>
      </p:grpSp>
      <p:grpSp>
        <p:nvGrpSpPr>
          <p:cNvPr id="51216" name="Group 16"/>
          <p:cNvGrpSpPr>
            <a:grpSpLocks/>
          </p:cNvGrpSpPr>
          <p:nvPr/>
        </p:nvGrpSpPr>
        <p:grpSpPr bwMode="auto">
          <a:xfrm>
            <a:off x="3422303" y="2135591"/>
            <a:ext cx="1940114" cy="1221553"/>
            <a:chOff x="2112" y="1296"/>
            <a:chExt cx="1296" cy="816"/>
          </a:xfrm>
        </p:grpSpPr>
        <p:sp>
          <p:nvSpPr>
            <p:cNvPr id="51217" name="Freeform 17" descr="Wide downward diagonal"/>
            <p:cNvSpPr>
              <a:spLocks/>
            </p:cNvSpPr>
            <p:nvPr/>
          </p:nvSpPr>
          <p:spPr bwMode="auto">
            <a:xfrm>
              <a:off x="2112" y="1296"/>
              <a:ext cx="1296" cy="816"/>
            </a:xfrm>
            <a:custGeom>
              <a:avLst/>
              <a:gdLst>
                <a:gd name="T0" fmla="*/ 0 w 1296"/>
                <a:gd name="T1" fmla="*/ 816 h 816"/>
                <a:gd name="T2" fmla="*/ 0 w 1296"/>
                <a:gd name="T3" fmla="*/ 0 h 816"/>
                <a:gd name="T4" fmla="*/ 1296 w 1296"/>
                <a:gd name="T5" fmla="*/ 0 h 816"/>
                <a:gd name="T6" fmla="*/ 1296 w 1296"/>
                <a:gd name="T7" fmla="*/ 528 h 816"/>
                <a:gd name="T8" fmla="*/ 0 w 1296"/>
                <a:gd name="T9" fmla="*/ 816 h 8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96" h="816">
                  <a:moveTo>
                    <a:pt x="0" y="816"/>
                  </a:moveTo>
                  <a:lnTo>
                    <a:pt x="0" y="0"/>
                  </a:lnTo>
                  <a:lnTo>
                    <a:pt x="1296" y="0"/>
                  </a:lnTo>
                  <a:lnTo>
                    <a:pt x="1296" y="528"/>
                  </a:lnTo>
                  <a:lnTo>
                    <a:pt x="0" y="816"/>
                  </a:lnTo>
                  <a:close/>
                </a:path>
              </a:pathLst>
            </a:custGeom>
            <a:pattFill prst="wdDnDiag">
              <a:fgClr>
                <a:srgbClr val="008000"/>
              </a:fgClr>
              <a:bgClr>
                <a:srgbClr val="FFFFFF"/>
              </a:bgClr>
            </a:pattFill>
            <a:ln w="38100" cap="flat" cmpd="sng">
              <a:solidFill>
                <a:srgbClr val="008000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697"/>
            </a:p>
          </p:txBody>
        </p:sp>
        <p:sp>
          <p:nvSpPr>
            <p:cNvPr id="51218" name="Text Box 18"/>
            <p:cNvSpPr txBox="1">
              <a:spLocks noChangeArrowheads="1"/>
            </p:cNvSpPr>
            <p:nvPr/>
          </p:nvSpPr>
          <p:spPr bwMode="auto">
            <a:xfrm>
              <a:off x="2496" y="1440"/>
              <a:ext cx="348" cy="2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sv-SE" altLang="zh-CN" sz="1697" b="1">
                  <a:solidFill>
                    <a:schemeClr val="hlink"/>
                  </a:solidFill>
                </a:rPr>
                <a:t>o=1</a:t>
              </a:r>
              <a:endParaRPr lang="en-US" altLang="zh-TW" sz="1697" b="1">
                <a:solidFill>
                  <a:schemeClr val="hlink"/>
                </a:solidFill>
                <a:ea typeface="新細明體" pitchFamily="18" charset="-120"/>
              </a:endParaRPr>
            </a:p>
          </p:txBody>
        </p:sp>
      </p:grpSp>
      <p:grpSp>
        <p:nvGrpSpPr>
          <p:cNvPr id="51219" name="Group 19"/>
          <p:cNvGrpSpPr>
            <a:grpSpLocks/>
          </p:cNvGrpSpPr>
          <p:nvPr/>
        </p:nvGrpSpPr>
        <p:grpSpPr bwMode="auto">
          <a:xfrm>
            <a:off x="3422303" y="2926008"/>
            <a:ext cx="1940114" cy="718561"/>
            <a:chOff x="2112" y="1824"/>
            <a:chExt cx="1296" cy="480"/>
          </a:xfrm>
        </p:grpSpPr>
        <p:sp>
          <p:nvSpPr>
            <p:cNvPr id="51220" name="Freeform 20" descr="Wide upward diagonal"/>
            <p:cNvSpPr>
              <a:spLocks/>
            </p:cNvSpPr>
            <p:nvPr/>
          </p:nvSpPr>
          <p:spPr bwMode="auto">
            <a:xfrm>
              <a:off x="2112" y="1824"/>
              <a:ext cx="1296" cy="480"/>
            </a:xfrm>
            <a:custGeom>
              <a:avLst/>
              <a:gdLst>
                <a:gd name="T0" fmla="*/ 0 w 1296"/>
                <a:gd name="T1" fmla="*/ 288 h 480"/>
                <a:gd name="T2" fmla="*/ 0 w 1296"/>
                <a:gd name="T3" fmla="*/ 480 h 480"/>
                <a:gd name="T4" fmla="*/ 1296 w 1296"/>
                <a:gd name="T5" fmla="*/ 480 h 480"/>
                <a:gd name="T6" fmla="*/ 1296 w 1296"/>
                <a:gd name="T7" fmla="*/ 0 h 4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96" h="480">
                  <a:moveTo>
                    <a:pt x="0" y="288"/>
                  </a:moveTo>
                  <a:lnTo>
                    <a:pt x="0" y="480"/>
                  </a:lnTo>
                  <a:lnTo>
                    <a:pt x="1296" y="480"/>
                  </a:lnTo>
                  <a:lnTo>
                    <a:pt x="1296" y="0"/>
                  </a:lnTo>
                </a:path>
              </a:pathLst>
            </a:custGeom>
            <a:pattFill prst="wdUpDiag">
              <a:fgClr>
                <a:srgbClr val="008000"/>
              </a:fgClr>
              <a:bgClr>
                <a:srgbClr val="FFFFFF"/>
              </a:bgClr>
            </a:pattFill>
            <a:ln w="9525" cap="flat" cmpd="sng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697"/>
            </a:p>
          </p:txBody>
        </p:sp>
        <p:sp>
          <p:nvSpPr>
            <p:cNvPr id="51221" name="Text Box 21"/>
            <p:cNvSpPr txBox="1">
              <a:spLocks noChangeArrowheads="1"/>
            </p:cNvSpPr>
            <p:nvPr/>
          </p:nvSpPr>
          <p:spPr bwMode="auto">
            <a:xfrm>
              <a:off x="2544" y="1968"/>
              <a:ext cx="393" cy="2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sv-SE" altLang="zh-CN" sz="1697" b="1">
                  <a:solidFill>
                    <a:schemeClr val="folHlink"/>
                  </a:solidFill>
                </a:rPr>
                <a:t>o=-1</a:t>
              </a:r>
              <a:endParaRPr lang="en-US" altLang="zh-TW" sz="1697" b="1">
                <a:solidFill>
                  <a:schemeClr val="folHlink"/>
                </a:solidFill>
                <a:ea typeface="新細明體" pitchFamily="18" charset="-120"/>
              </a:endParaRPr>
            </a:p>
          </p:txBody>
        </p:sp>
      </p:grpSp>
      <p:grpSp>
        <p:nvGrpSpPr>
          <p:cNvPr id="51222" name="Group 22"/>
          <p:cNvGrpSpPr>
            <a:grpSpLocks/>
          </p:cNvGrpSpPr>
          <p:nvPr/>
        </p:nvGrpSpPr>
        <p:grpSpPr bwMode="auto">
          <a:xfrm>
            <a:off x="461236" y="3572711"/>
            <a:ext cx="3032925" cy="1050895"/>
            <a:chOff x="134" y="2256"/>
            <a:chExt cx="2026" cy="702"/>
          </a:xfrm>
        </p:grpSpPr>
        <p:sp>
          <p:nvSpPr>
            <p:cNvPr id="51223" name="Text Box 23"/>
            <p:cNvSpPr txBox="1">
              <a:spLocks noChangeArrowheads="1"/>
            </p:cNvSpPr>
            <p:nvPr/>
          </p:nvSpPr>
          <p:spPr bwMode="auto">
            <a:xfrm>
              <a:off x="134" y="2373"/>
              <a:ext cx="1307" cy="5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sv-SE" altLang="zh-CN" sz="1697"/>
                <a:t>(x,t)=([-1,-1],1)</a:t>
              </a:r>
            </a:p>
            <a:p>
              <a:r>
                <a:rPr lang="sv-SE" altLang="zh-CN" sz="1697"/>
                <a:t>o=sgn(0.25+0.1-0.5)</a:t>
              </a:r>
            </a:p>
            <a:p>
              <a:r>
                <a:rPr lang="sv-SE" altLang="zh-CN" sz="1697"/>
                <a:t>  =-1</a:t>
              </a:r>
              <a:endParaRPr lang="en-US" altLang="zh-TW" sz="1697">
                <a:ea typeface="新細明體" pitchFamily="18" charset="-120"/>
              </a:endParaRPr>
            </a:p>
          </p:txBody>
        </p:sp>
        <p:sp>
          <p:nvSpPr>
            <p:cNvPr id="51224" name="Line 24"/>
            <p:cNvSpPr>
              <a:spLocks noChangeShapeType="1"/>
            </p:cNvSpPr>
            <p:nvPr/>
          </p:nvSpPr>
          <p:spPr bwMode="auto">
            <a:xfrm flipV="1">
              <a:off x="1584" y="2256"/>
              <a:ext cx="576" cy="336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697"/>
            </a:p>
          </p:txBody>
        </p:sp>
      </p:grpSp>
      <p:grpSp>
        <p:nvGrpSpPr>
          <p:cNvPr id="51225" name="Group 25"/>
          <p:cNvGrpSpPr>
            <a:grpSpLocks/>
          </p:cNvGrpSpPr>
          <p:nvPr/>
        </p:nvGrpSpPr>
        <p:grpSpPr bwMode="auto">
          <a:xfrm>
            <a:off x="533092" y="3357144"/>
            <a:ext cx="6625727" cy="1895204"/>
            <a:chOff x="182" y="2112"/>
            <a:chExt cx="4426" cy="1266"/>
          </a:xfrm>
        </p:grpSpPr>
        <p:sp>
          <p:nvSpPr>
            <p:cNvPr id="51226" name="Text Box 26"/>
            <p:cNvSpPr txBox="1">
              <a:spLocks noChangeArrowheads="1"/>
            </p:cNvSpPr>
            <p:nvPr/>
          </p:nvSpPr>
          <p:spPr bwMode="auto">
            <a:xfrm>
              <a:off x="182" y="3142"/>
              <a:ext cx="1243" cy="2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TW" altLang="en-US" sz="1697">
                  <a:ea typeface="新細明體" pitchFamily="18" charset="-120"/>
                  <a:sym typeface="Symbol" panose="05050102010706020507" pitchFamily="18" charset="2"/>
                </a:rPr>
                <a:t></a:t>
              </a:r>
              <a:r>
                <a:rPr lang="sv-SE" altLang="zh-CN" sz="1697">
                  <a:sym typeface="Symbol" panose="05050102010706020507" pitchFamily="18" charset="2"/>
                </a:rPr>
                <a:t>w=[0.2 –0.2 –0.2]</a:t>
              </a:r>
              <a:endParaRPr lang="en-US" altLang="zh-TW" sz="1697">
                <a:ea typeface="新細明體" pitchFamily="18" charset="-120"/>
              </a:endParaRPr>
            </a:p>
          </p:txBody>
        </p:sp>
        <p:sp>
          <p:nvSpPr>
            <p:cNvPr id="51227" name="Line 27"/>
            <p:cNvSpPr>
              <a:spLocks noChangeShapeType="1"/>
            </p:cNvSpPr>
            <p:nvPr/>
          </p:nvSpPr>
          <p:spPr bwMode="auto">
            <a:xfrm flipV="1">
              <a:off x="1296" y="2112"/>
              <a:ext cx="3312" cy="96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697"/>
            </a:p>
          </p:txBody>
        </p:sp>
      </p:grpSp>
      <p:grpSp>
        <p:nvGrpSpPr>
          <p:cNvPr id="51228" name="Group 28"/>
          <p:cNvGrpSpPr>
            <a:grpSpLocks/>
          </p:cNvGrpSpPr>
          <p:nvPr/>
        </p:nvGrpSpPr>
        <p:grpSpPr bwMode="auto">
          <a:xfrm>
            <a:off x="476205" y="2351159"/>
            <a:ext cx="7401174" cy="2200592"/>
            <a:chOff x="144" y="1440"/>
            <a:chExt cx="4944" cy="1470"/>
          </a:xfrm>
        </p:grpSpPr>
        <p:sp>
          <p:nvSpPr>
            <p:cNvPr id="51229" name="Text Box 29"/>
            <p:cNvSpPr txBox="1">
              <a:spLocks noChangeArrowheads="1"/>
            </p:cNvSpPr>
            <p:nvPr/>
          </p:nvSpPr>
          <p:spPr bwMode="auto">
            <a:xfrm>
              <a:off x="144" y="2325"/>
              <a:ext cx="1307" cy="5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sv-SE" altLang="zh-CN" sz="1697"/>
                <a:t>(x,t)=([2,1],-1)</a:t>
              </a:r>
            </a:p>
            <a:p>
              <a:r>
                <a:rPr lang="sv-SE" altLang="zh-CN" sz="1697"/>
                <a:t>o=sgn(0.45-0.6+0.3)</a:t>
              </a:r>
            </a:p>
            <a:p>
              <a:r>
                <a:rPr lang="sv-SE" altLang="zh-CN" sz="1697"/>
                <a:t>  =1</a:t>
              </a:r>
              <a:endParaRPr lang="en-US" altLang="zh-TW" sz="1697">
                <a:ea typeface="新細明體" pitchFamily="18" charset="-120"/>
              </a:endParaRPr>
            </a:p>
          </p:txBody>
        </p:sp>
        <p:sp>
          <p:nvSpPr>
            <p:cNvPr id="51230" name="Line 30"/>
            <p:cNvSpPr>
              <a:spLocks noChangeShapeType="1"/>
            </p:cNvSpPr>
            <p:nvPr/>
          </p:nvSpPr>
          <p:spPr bwMode="auto">
            <a:xfrm flipV="1">
              <a:off x="1594" y="1440"/>
              <a:ext cx="3494" cy="110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697"/>
            </a:p>
          </p:txBody>
        </p:sp>
      </p:grpSp>
      <p:grpSp>
        <p:nvGrpSpPr>
          <p:cNvPr id="51231" name="Group 31"/>
          <p:cNvGrpSpPr>
            <a:grpSpLocks/>
          </p:cNvGrpSpPr>
          <p:nvPr/>
        </p:nvGrpSpPr>
        <p:grpSpPr bwMode="auto">
          <a:xfrm>
            <a:off x="476205" y="4650558"/>
            <a:ext cx="3880227" cy="673651"/>
            <a:chOff x="144" y="2976"/>
            <a:chExt cx="2592" cy="450"/>
          </a:xfrm>
        </p:grpSpPr>
        <p:sp>
          <p:nvSpPr>
            <p:cNvPr id="51232" name="Text Box 32"/>
            <p:cNvSpPr txBox="1">
              <a:spLocks noChangeArrowheads="1"/>
            </p:cNvSpPr>
            <p:nvPr/>
          </p:nvSpPr>
          <p:spPr bwMode="auto">
            <a:xfrm>
              <a:off x="144" y="3190"/>
              <a:ext cx="1288" cy="2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TW" altLang="en-US" sz="1697">
                  <a:ea typeface="新細明體" pitchFamily="18" charset="-120"/>
                  <a:sym typeface="Symbol" panose="05050102010706020507" pitchFamily="18" charset="2"/>
                </a:rPr>
                <a:t></a:t>
              </a:r>
              <a:r>
                <a:rPr lang="sv-SE" altLang="zh-CN" sz="1697">
                  <a:sym typeface="Symbol" panose="05050102010706020507" pitchFamily="18" charset="2"/>
                </a:rPr>
                <a:t>w=[-0.2 –0.4 –0.2]</a:t>
              </a:r>
              <a:endParaRPr lang="en-US" altLang="zh-TW" sz="1697">
                <a:ea typeface="新細明體" pitchFamily="18" charset="-120"/>
              </a:endParaRPr>
            </a:p>
          </p:txBody>
        </p:sp>
        <p:sp>
          <p:nvSpPr>
            <p:cNvPr id="51233" name="Line 33"/>
            <p:cNvSpPr>
              <a:spLocks noChangeShapeType="1"/>
            </p:cNvSpPr>
            <p:nvPr/>
          </p:nvSpPr>
          <p:spPr bwMode="auto">
            <a:xfrm flipV="1">
              <a:off x="1258" y="2976"/>
              <a:ext cx="1478" cy="14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697"/>
            </a:p>
          </p:txBody>
        </p:sp>
      </p:grpSp>
      <p:grpSp>
        <p:nvGrpSpPr>
          <p:cNvPr id="51234" name="Group 34"/>
          <p:cNvGrpSpPr>
            <a:grpSpLocks/>
          </p:cNvGrpSpPr>
          <p:nvPr/>
        </p:nvGrpSpPr>
        <p:grpSpPr bwMode="auto">
          <a:xfrm>
            <a:off x="548061" y="4003851"/>
            <a:ext cx="3952083" cy="875746"/>
            <a:chOff x="144" y="3717"/>
            <a:chExt cx="2640" cy="585"/>
          </a:xfrm>
        </p:grpSpPr>
        <p:sp>
          <p:nvSpPr>
            <p:cNvPr id="51235" name="Text Box 35"/>
            <p:cNvSpPr txBox="1">
              <a:spLocks noChangeArrowheads="1"/>
            </p:cNvSpPr>
            <p:nvPr/>
          </p:nvSpPr>
          <p:spPr bwMode="auto">
            <a:xfrm>
              <a:off x="144" y="3717"/>
              <a:ext cx="1307" cy="5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sv-SE" altLang="zh-CN" sz="1697"/>
                <a:t>(x,t)=([1,1],1)</a:t>
              </a:r>
            </a:p>
            <a:p>
              <a:r>
                <a:rPr lang="sv-SE" altLang="zh-CN" sz="1697"/>
                <a:t>o=sgn(0.25-0.7+0.1)</a:t>
              </a:r>
            </a:p>
            <a:p>
              <a:r>
                <a:rPr lang="sv-SE" altLang="zh-CN" sz="1697"/>
                <a:t>  =-1</a:t>
              </a:r>
              <a:endParaRPr lang="en-US" altLang="zh-TW" sz="1697">
                <a:ea typeface="新細明體" pitchFamily="18" charset="-120"/>
              </a:endParaRPr>
            </a:p>
          </p:txBody>
        </p:sp>
        <p:sp>
          <p:nvSpPr>
            <p:cNvPr id="51236" name="Line 36"/>
            <p:cNvSpPr>
              <a:spLocks noChangeShapeType="1"/>
            </p:cNvSpPr>
            <p:nvPr/>
          </p:nvSpPr>
          <p:spPr bwMode="auto">
            <a:xfrm flipV="1">
              <a:off x="1594" y="3936"/>
              <a:ext cx="119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697"/>
            </a:p>
          </p:txBody>
        </p:sp>
      </p:grpSp>
      <p:grpSp>
        <p:nvGrpSpPr>
          <p:cNvPr id="51237" name="Group 37"/>
          <p:cNvGrpSpPr>
            <a:grpSpLocks/>
          </p:cNvGrpSpPr>
          <p:nvPr/>
        </p:nvGrpSpPr>
        <p:grpSpPr bwMode="auto">
          <a:xfrm>
            <a:off x="476205" y="4578697"/>
            <a:ext cx="7041893" cy="1392211"/>
            <a:chOff x="0" y="3216"/>
            <a:chExt cx="4704" cy="930"/>
          </a:xfrm>
        </p:grpSpPr>
        <p:sp>
          <p:nvSpPr>
            <p:cNvPr id="51238" name="Text Box 38"/>
            <p:cNvSpPr txBox="1">
              <a:spLocks noChangeArrowheads="1"/>
            </p:cNvSpPr>
            <p:nvPr/>
          </p:nvSpPr>
          <p:spPr bwMode="auto">
            <a:xfrm>
              <a:off x="0" y="3910"/>
              <a:ext cx="1098" cy="23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zh-TW" altLang="en-US" sz="1697">
                  <a:ea typeface="新細明體" pitchFamily="18" charset="-120"/>
                  <a:sym typeface="Symbol" panose="05050102010706020507" pitchFamily="18" charset="2"/>
                </a:rPr>
                <a:t></a:t>
              </a:r>
              <a:r>
                <a:rPr lang="sv-SE" altLang="zh-CN" sz="1697">
                  <a:sym typeface="Symbol" panose="05050102010706020507" pitchFamily="18" charset="2"/>
                </a:rPr>
                <a:t>w=[0.2 0.2 0.2]</a:t>
              </a:r>
              <a:endParaRPr lang="en-US" altLang="zh-TW" sz="1697">
                <a:ea typeface="新細明體" pitchFamily="18" charset="-120"/>
              </a:endParaRPr>
            </a:p>
          </p:txBody>
        </p:sp>
        <p:sp>
          <p:nvSpPr>
            <p:cNvPr id="51239" name="Line 39"/>
            <p:cNvSpPr>
              <a:spLocks noChangeShapeType="1"/>
            </p:cNvSpPr>
            <p:nvPr/>
          </p:nvSpPr>
          <p:spPr bwMode="auto">
            <a:xfrm flipV="1">
              <a:off x="1114" y="3216"/>
              <a:ext cx="3590" cy="624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697"/>
            </a:p>
          </p:txBody>
        </p:sp>
      </p:grpSp>
      <p:sp>
        <p:nvSpPr>
          <p:cNvPr id="43" name="文本框 42">
            <a:extLst>
              <a:ext uri="{FF2B5EF4-FFF2-40B4-BE49-F238E27FC236}">
                <a16:creationId xmlns:a16="http://schemas.microsoft.com/office/drawing/2014/main" id="{3C2C4261-A3E4-4538-8010-3E7E1225BF4D}"/>
              </a:ext>
            </a:extLst>
          </p:cNvPr>
          <p:cNvSpPr txBox="1"/>
          <p:nvPr/>
        </p:nvSpPr>
        <p:spPr>
          <a:xfrm>
            <a:off x="0" y="116913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sz="32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仿宋" panose="02010609060101010101" pitchFamily="49" charset="-122"/>
                <a:cs typeface="+mj-cs"/>
              </a:rPr>
              <a:t>感知机算法例子</a:t>
            </a:r>
            <a:endParaRPr lang="zh-CN" altLang="en-US" dirty="0"/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954D5F78-227B-41DD-B97B-76E6050A1876}"/>
              </a:ext>
            </a:extLst>
          </p:cNvPr>
          <p:cNvSpPr txBox="1"/>
          <p:nvPr/>
        </p:nvSpPr>
        <p:spPr>
          <a:xfrm>
            <a:off x="7639722" y="116913"/>
            <a:ext cx="147639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800" dirty="0">
                <a:ea typeface="新細明體" pitchFamily="18" charset="-120"/>
              </a:rPr>
              <a:t>w= w + </a:t>
            </a:r>
            <a:r>
              <a:rPr lang="en-US" altLang="zh-TW" sz="1800" dirty="0">
                <a:latin typeface="Symbol" panose="05050102010706020507" pitchFamily="18" charset="2"/>
                <a:ea typeface="新細明體" pitchFamily="18" charset="-120"/>
                <a:sym typeface="Symbol" panose="05050102010706020507" pitchFamily="18" charset="2"/>
              </a:rPr>
              <a:t></a:t>
            </a:r>
            <a:r>
              <a:rPr lang="en-US" altLang="zh-TW" sz="1800" dirty="0">
                <a:ea typeface="新細明體" pitchFamily="18" charset="-120"/>
              </a:rPr>
              <a:t> </a:t>
            </a:r>
            <a:r>
              <a:rPr lang="en-US" altLang="zh-CN" dirty="0" err="1">
                <a:ea typeface="新細明體" pitchFamily="18" charset="-120"/>
              </a:rPr>
              <a:t>y</a:t>
            </a:r>
            <a:r>
              <a:rPr lang="en-US" altLang="zh-TW" sz="1800" baseline="-25000" dirty="0" err="1">
                <a:ea typeface="新細明體" pitchFamily="18" charset="-120"/>
              </a:rPr>
              <a:t>i</a:t>
            </a:r>
            <a:r>
              <a:rPr lang="en-US" altLang="zh-TW" sz="1800" baseline="-25000" dirty="0">
                <a:ea typeface="新細明體" pitchFamily="18" charset="-120"/>
              </a:rPr>
              <a:t> </a:t>
            </a:r>
            <a:r>
              <a:rPr lang="en-US" altLang="zh-TW" sz="1800" dirty="0">
                <a:ea typeface="新細明體" pitchFamily="18" charset="-120"/>
              </a:rPr>
              <a:t>x</a:t>
            </a:r>
            <a:r>
              <a:rPr lang="en-US" altLang="zh-TW" sz="1800" baseline="-25000" dirty="0">
                <a:ea typeface="新細明體" pitchFamily="18" charset="-120"/>
              </a:rPr>
              <a:t>i </a:t>
            </a:r>
          </a:p>
          <a:p>
            <a:r>
              <a:rPr lang="en-US" altLang="zh-TW" sz="1800" dirty="0">
                <a:ea typeface="新細明體" pitchFamily="18" charset="-120"/>
              </a:rPr>
              <a:t>w= w + </a:t>
            </a:r>
            <a:r>
              <a:rPr lang="en-US" altLang="zh-TW" sz="1800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  <a:sym typeface="Symbol" panose="05050102010706020507" pitchFamily="18" charset="2"/>
              </a:rPr>
              <a:t>∆w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5104612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120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120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12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12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12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12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12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12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12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12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512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512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512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512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12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12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12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12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512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512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512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512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51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1" name="Oval 3"/>
          <p:cNvSpPr>
            <a:spLocks noChangeArrowheads="1"/>
          </p:cNvSpPr>
          <p:nvPr/>
        </p:nvSpPr>
        <p:spPr bwMode="auto">
          <a:xfrm>
            <a:off x="5649841" y="2614631"/>
            <a:ext cx="862273" cy="86227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97"/>
          </a:p>
        </p:txBody>
      </p:sp>
      <p:sp>
        <p:nvSpPr>
          <p:cNvPr id="53252" name="Text Box 4"/>
          <p:cNvSpPr txBox="1">
            <a:spLocks noChangeArrowheads="1"/>
          </p:cNvSpPr>
          <p:nvPr/>
        </p:nvSpPr>
        <p:spPr bwMode="auto">
          <a:xfrm>
            <a:off x="5865410" y="2638584"/>
            <a:ext cx="498855" cy="7308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zh-TW" altLang="en-US" sz="4149">
                <a:ea typeface="新細明體" pitchFamily="18" charset="-120"/>
                <a:sym typeface="Symbol" panose="05050102010706020507" pitchFamily="18" charset="2"/>
              </a:rPr>
              <a:t></a:t>
            </a:r>
            <a:endParaRPr lang="zh-TW" altLang="en-US" sz="4149">
              <a:ea typeface="新細明體" pitchFamily="18" charset="-120"/>
            </a:endParaRPr>
          </a:p>
        </p:txBody>
      </p:sp>
      <p:grpSp>
        <p:nvGrpSpPr>
          <p:cNvPr id="53253" name="Group 5"/>
          <p:cNvGrpSpPr>
            <a:grpSpLocks/>
          </p:cNvGrpSpPr>
          <p:nvPr/>
        </p:nvGrpSpPr>
        <p:grpSpPr bwMode="auto">
          <a:xfrm>
            <a:off x="4212720" y="1896072"/>
            <a:ext cx="502993" cy="574848"/>
            <a:chOff x="288" y="1728"/>
            <a:chExt cx="336" cy="384"/>
          </a:xfrm>
        </p:grpSpPr>
        <p:sp>
          <p:nvSpPr>
            <p:cNvPr id="53254" name="Oval 6"/>
            <p:cNvSpPr>
              <a:spLocks noChangeArrowheads="1"/>
            </p:cNvSpPr>
            <p:nvPr/>
          </p:nvSpPr>
          <p:spPr bwMode="auto">
            <a:xfrm>
              <a:off x="288" y="1776"/>
              <a:ext cx="336" cy="336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97"/>
            </a:p>
          </p:txBody>
        </p:sp>
        <p:sp>
          <p:nvSpPr>
            <p:cNvPr id="53255" name="Text Box 7"/>
            <p:cNvSpPr txBox="1">
              <a:spLocks noChangeArrowheads="1"/>
            </p:cNvSpPr>
            <p:nvPr/>
          </p:nvSpPr>
          <p:spPr bwMode="auto">
            <a:xfrm>
              <a:off x="288" y="1728"/>
              <a:ext cx="298" cy="3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sv-SE" altLang="zh-CN" sz="2641"/>
                <a:t>x</a:t>
              </a:r>
              <a:r>
                <a:rPr lang="sv-SE" altLang="zh-CN" sz="2641" baseline="-25000"/>
                <a:t>1</a:t>
              </a:r>
              <a:endParaRPr lang="en-US" altLang="zh-TW" sz="2641" baseline="-25000">
                <a:ea typeface="新細明體" pitchFamily="18" charset="-120"/>
              </a:endParaRPr>
            </a:p>
          </p:txBody>
        </p:sp>
      </p:grpSp>
      <p:grpSp>
        <p:nvGrpSpPr>
          <p:cNvPr id="53256" name="Group 8"/>
          <p:cNvGrpSpPr>
            <a:grpSpLocks/>
          </p:cNvGrpSpPr>
          <p:nvPr/>
        </p:nvGrpSpPr>
        <p:grpSpPr bwMode="auto">
          <a:xfrm>
            <a:off x="4212720" y="2686488"/>
            <a:ext cx="502993" cy="574848"/>
            <a:chOff x="288" y="1728"/>
            <a:chExt cx="336" cy="384"/>
          </a:xfrm>
        </p:grpSpPr>
        <p:sp>
          <p:nvSpPr>
            <p:cNvPr id="53257" name="Oval 9"/>
            <p:cNvSpPr>
              <a:spLocks noChangeArrowheads="1"/>
            </p:cNvSpPr>
            <p:nvPr/>
          </p:nvSpPr>
          <p:spPr bwMode="auto">
            <a:xfrm>
              <a:off x="288" y="1776"/>
              <a:ext cx="336" cy="336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97"/>
            </a:p>
          </p:txBody>
        </p:sp>
        <p:sp>
          <p:nvSpPr>
            <p:cNvPr id="53258" name="Text Box 10"/>
            <p:cNvSpPr txBox="1">
              <a:spLocks noChangeArrowheads="1"/>
            </p:cNvSpPr>
            <p:nvPr/>
          </p:nvSpPr>
          <p:spPr bwMode="auto">
            <a:xfrm>
              <a:off x="288" y="1728"/>
              <a:ext cx="298" cy="3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sv-SE" altLang="zh-CN" sz="2641"/>
                <a:t>x</a:t>
              </a:r>
              <a:r>
                <a:rPr lang="sv-SE" altLang="zh-CN" sz="2641" baseline="-25000"/>
                <a:t>2</a:t>
              </a:r>
              <a:endParaRPr lang="en-US" altLang="zh-TW" sz="2641" baseline="-25000">
                <a:ea typeface="新細明體" pitchFamily="18" charset="-120"/>
              </a:endParaRPr>
            </a:p>
          </p:txBody>
        </p:sp>
      </p:grpSp>
      <p:grpSp>
        <p:nvGrpSpPr>
          <p:cNvPr id="53259" name="Group 11"/>
          <p:cNvGrpSpPr>
            <a:grpSpLocks/>
          </p:cNvGrpSpPr>
          <p:nvPr/>
        </p:nvGrpSpPr>
        <p:grpSpPr bwMode="auto">
          <a:xfrm>
            <a:off x="4212720" y="4051753"/>
            <a:ext cx="502993" cy="574848"/>
            <a:chOff x="288" y="1728"/>
            <a:chExt cx="336" cy="384"/>
          </a:xfrm>
        </p:grpSpPr>
        <p:sp>
          <p:nvSpPr>
            <p:cNvPr id="53260" name="Oval 12"/>
            <p:cNvSpPr>
              <a:spLocks noChangeArrowheads="1"/>
            </p:cNvSpPr>
            <p:nvPr/>
          </p:nvSpPr>
          <p:spPr bwMode="auto">
            <a:xfrm>
              <a:off x="288" y="1776"/>
              <a:ext cx="336" cy="336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97"/>
            </a:p>
          </p:txBody>
        </p:sp>
        <p:sp>
          <p:nvSpPr>
            <p:cNvPr id="53261" name="Text Box 13"/>
            <p:cNvSpPr txBox="1">
              <a:spLocks noChangeArrowheads="1"/>
            </p:cNvSpPr>
            <p:nvPr/>
          </p:nvSpPr>
          <p:spPr bwMode="auto">
            <a:xfrm>
              <a:off x="288" y="1728"/>
              <a:ext cx="301" cy="3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sv-SE" altLang="zh-CN" sz="2641"/>
                <a:t>x</a:t>
              </a:r>
              <a:r>
                <a:rPr lang="sv-SE" altLang="zh-CN" sz="2641" baseline="-25000"/>
                <a:t>n</a:t>
              </a:r>
              <a:endParaRPr lang="en-US" altLang="zh-TW" sz="2641" baseline="-25000">
                <a:ea typeface="新細明體" pitchFamily="18" charset="-120"/>
              </a:endParaRPr>
            </a:p>
          </p:txBody>
        </p:sp>
      </p:grpSp>
      <p:sp>
        <p:nvSpPr>
          <p:cNvPr id="53262" name="Line 14"/>
          <p:cNvSpPr>
            <a:spLocks noChangeShapeType="1"/>
          </p:cNvSpPr>
          <p:nvPr/>
        </p:nvSpPr>
        <p:spPr bwMode="auto">
          <a:xfrm>
            <a:off x="4715713" y="2183495"/>
            <a:ext cx="1005985" cy="574848"/>
          </a:xfrm>
          <a:prstGeom prst="line">
            <a:avLst/>
          </a:prstGeom>
          <a:noFill/>
          <a:ln w="57150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697"/>
          </a:p>
        </p:txBody>
      </p:sp>
      <p:sp>
        <p:nvSpPr>
          <p:cNvPr id="53263" name="Line 15"/>
          <p:cNvSpPr>
            <a:spLocks noChangeShapeType="1"/>
          </p:cNvSpPr>
          <p:nvPr/>
        </p:nvSpPr>
        <p:spPr bwMode="auto">
          <a:xfrm>
            <a:off x="4715712" y="2902056"/>
            <a:ext cx="934129" cy="71856"/>
          </a:xfrm>
          <a:prstGeom prst="line">
            <a:avLst/>
          </a:prstGeom>
          <a:noFill/>
          <a:ln w="57150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697"/>
          </a:p>
        </p:txBody>
      </p:sp>
      <p:sp>
        <p:nvSpPr>
          <p:cNvPr id="53264" name="Line 16"/>
          <p:cNvSpPr>
            <a:spLocks noChangeShapeType="1"/>
          </p:cNvSpPr>
          <p:nvPr/>
        </p:nvSpPr>
        <p:spPr bwMode="auto">
          <a:xfrm flipV="1">
            <a:off x="4715713" y="3405048"/>
            <a:ext cx="1005985" cy="934129"/>
          </a:xfrm>
          <a:prstGeom prst="line">
            <a:avLst/>
          </a:prstGeom>
          <a:noFill/>
          <a:ln w="57150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697"/>
          </a:p>
        </p:txBody>
      </p:sp>
      <p:sp>
        <p:nvSpPr>
          <p:cNvPr id="53265" name="Text Box 17"/>
          <p:cNvSpPr txBox="1">
            <a:spLocks noChangeArrowheads="1"/>
          </p:cNvSpPr>
          <p:nvPr/>
        </p:nvSpPr>
        <p:spPr bwMode="auto">
          <a:xfrm>
            <a:off x="4284576" y="2973913"/>
            <a:ext cx="306494" cy="12504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sv-SE" altLang="zh-CN" sz="3772"/>
              <a:t>.</a:t>
            </a:r>
          </a:p>
          <a:p>
            <a:pPr>
              <a:lnSpc>
                <a:spcPct val="40000"/>
              </a:lnSpc>
            </a:pPr>
            <a:r>
              <a:rPr lang="sv-SE" altLang="zh-CN" sz="3772"/>
              <a:t>.</a:t>
            </a:r>
          </a:p>
          <a:p>
            <a:pPr>
              <a:lnSpc>
                <a:spcPct val="50000"/>
              </a:lnSpc>
            </a:pPr>
            <a:r>
              <a:rPr lang="sv-SE" altLang="zh-CN" sz="3772"/>
              <a:t>.</a:t>
            </a:r>
            <a:endParaRPr lang="en-US" altLang="zh-TW" sz="3772">
              <a:ea typeface="新細明體" pitchFamily="18" charset="-120"/>
            </a:endParaRPr>
          </a:p>
        </p:txBody>
      </p:sp>
      <p:sp>
        <p:nvSpPr>
          <p:cNvPr id="53266" name="Text Box 18"/>
          <p:cNvSpPr txBox="1">
            <a:spLocks noChangeArrowheads="1"/>
          </p:cNvSpPr>
          <p:nvPr/>
        </p:nvSpPr>
        <p:spPr bwMode="auto">
          <a:xfrm>
            <a:off x="5003138" y="1896071"/>
            <a:ext cx="540533" cy="4987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sv-SE" altLang="zh-CN" sz="2641"/>
              <a:t>w</a:t>
            </a:r>
            <a:r>
              <a:rPr lang="sv-SE" altLang="zh-CN" sz="2641" baseline="-25000"/>
              <a:t>1</a:t>
            </a:r>
            <a:endParaRPr lang="en-US" altLang="zh-TW" sz="2641" baseline="-25000">
              <a:ea typeface="新細明體" pitchFamily="18" charset="-120"/>
            </a:endParaRPr>
          </a:p>
        </p:txBody>
      </p:sp>
      <p:sp>
        <p:nvSpPr>
          <p:cNvPr id="53267" name="Text Box 19"/>
          <p:cNvSpPr txBox="1">
            <a:spLocks noChangeArrowheads="1"/>
          </p:cNvSpPr>
          <p:nvPr/>
        </p:nvSpPr>
        <p:spPr bwMode="auto">
          <a:xfrm>
            <a:off x="4643857" y="2399063"/>
            <a:ext cx="540533" cy="4987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sv-SE" altLang="zh-CN" sz="2641"/>
              <a:t>w</a:t>
            </a:r>
            <a:r>
              <a:rPr lang="sv-SE" altLang="zh-CN" sz="2641" baseline="-25000"/>
              <a:t>2</a:t>
            </a:r>
            <a:endParaRPr lang="en-US" altLang="zh-TW" sz="2641" baseline="-25000">
              <a:ea typeface="新細明體" pitchFamily="18" charset="-120"/>
            </a:endParaRPr>
          </a:p>
        </p:txBody>
      </p:sp>
      <p:sp>
        <p:nvSpPr>
          <p:cNvPr id="53268" name="Text Box 20"/>
          <p:cNvSpPr txBox="1">
            <a:spLocks noChangeArrowheads="1"/>
          </p:cNvSpPr>
          <p:nvPr/>
        </p:nvSpPr>
        <p:spPr bwMode="auto">
          <a:xfrm>
            <a:off x="4643856" y="3548760"/>
            <a:ext cx="545342" cy="4987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sv-SE" altLang="zh-CN" sz="2641"/>
              <a:t>w</a:t>
            </a:r>
            <a:r>
              <a:rPr lang="sv-SE" altLang="zh-CN" sz="2641" baseline="-25000"/>
              <a:t>n</a:t>
            </a:r>
            <a:endParaRPr lang="en-US" altLang="zh-TW" sz="2641" baseline="-25000">
              <a:ea typeface="新細明體" pitchFamily="18" charset="-120"/>
            </a:endParaRPr>
          </a:p>
        </p:txBody>
      </p:sp>
      <p:sp>
        <p:nvSpPr>
          <p:cNvPr id="53269" name="Oval 21"/>
          <p:cNvSpPr>
            <a:spLocks noChangeArrowheads="1"/>
          </p:cNvSpPr>
          <p:nvPr/>
        </p:nvSpPr>
        <p:spPr bwMode="auto">
          <a:xfrm>
            <a:off x="7589954" y="2542775"/>
            <a:ext cx="862273" cy="86227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97"/>
          </a:p>
        </p:txBody>
      </p:sp>
      <p:sp>
        <p:nvSpPr>
          <p:cNvPr id="53270" name="Line 22"/>
          <p:cNvSpPr>
            <a:spLocks noChangeShapeType="1"/>
          </p:cNvSpPr>
          <p:nvPr/>
        </p:nvSpPr>
        <p:spPr bwMode="auto">
          <a:xfrm>
            <a:off x="7750135" y="2994870"/>
            <a:ext cx="570357" cy="0"/>
          </a:xfrm>
          <a:prstGeom prst="line">
            <a:avLst/>
          </a:prstGeom>
          <a:noFill/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697"/>
          </a:p>
        </p:txBody>
      </p:sp>
      <p:sp>
        <p:nvSpPr>
          <p:cNvPr id="53271" name="Line 23"/>
          <p:cNvSpPr>
            <a:spLocks noChangeShapeType="1"/>
          </p:cNvSpPr>
          <p:nvPr/>
        </p:nvSpPr>
        <p:spPr bwMode="auto">
          <a:xfrm flipH="1" flipV="1">
            <a:off x="7661811" y="2973911"/>
            <a:ext cx="431136" cy="0"/>
          </a:xfrm>
          <a:prstGeom prst="line">
            <a:avLst/>
          </a:prstGeom>
          <a:noFill/>
          <a:ln w="571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697"/>
          </a:p>
        </p:txBody>
      </p:sp>
      <p:sp>
        <p:nvSpPr>
          <p:cNvPr id="53272" name="Line 24"/>
          <p:cNvSpPr>
            <a:spLocks noChangeShapeType="1"/>
          </p:cNvSpPr>
          <p:nvPr/>
        </p:nvSpPr>
        <p:spPr bwMode="auto">
          <a:xfrm flipH="1" flipV="1">
            <a:off x="8021091" y="2686488"/>
            <a:ext cx="395208" cy="0"/>
          </a:xfrm>
          <a:prstGeom prst="line">
            <a:avLst/>
          </a:prstGeom>
          <a:noFill/>
          <a:ln w="571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697"/>
          </a:p>
        </p:txBody>
      </p:sp>
      <p:sp>
        <p:nvSpPr>
          <p:cNvPr id="53273" name="Line 25"/>
          <p:cNvSpPr>
            <a:spLocks noChangeShapeType="1"/>
          </p:cNvSpPr>
          <p:nvPr/>
        </p:nvSpPr>
        <p:spPr bwMode="auto">
          <a:xfrm>
            <a:off x="6583970" y="2973911"/>
            <a:ext cx="1005985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697"/>
          </a:p>
        </p:txBody>
      </p:sp>
      <p:sp>
        <p:nvSpPr>
          <p:cNvPr id="53274" name="Line 26"/>
          <p:cNvSpPr>
            <a:spLocks noChangeShapeType="1"/>
          </p:cNvSpPr>
          <p:nvPr/>
        </p:nvSpPr>
        <p:spPr bwMode="auto">
          <a:xfrm>
            <a:off x="8021091" y="2542775"/>
            <a:ext cx="0" cy="862273"/>
          </a:xfrm>
          <a:prstGeom prst="line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697"/>
          </a:p>
        </p:txBody>
      </p:sp>
      <p:sp>
        <p:nvSpPr>
          <p:cNvPr id="53275" name="Line 27"/>
          <p:cNvSpPr>
            <a:spLocks noChangeShapeType="1"/>
          </p:cNvSpPr>
          <p:nvPr/>
        </p:nvSpPr>
        <p:spPr bwMode="auto">
          <a:xfrm flipV="1">
            <a:off x="8021091" y="2686488"/>
            <a:ext cx="0" cy="287425"/>
          </a:xfrm>
          <a:prstGeom prst="line">
            <a:avLst/>
          </a:prstGeom>
          <a:noFill/>
          <a:ln w="571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697"/>
          </a:p>
        </p:txBody>
      </p:sp>
      <p:sp>
        <p:nvSpPr>
          <p:cNvPr id="53276" name="Freeform 28" descr="Solid diamond"/>
          <p:cNvSpPr>
            <a:spLocks/>
          </p:cNvSpPr>
          <p:nvPr/>
        </p:nvSpPr>
        <p:spPr bwMode="auto">
          <a:xfrm>
            <a:off x="907341" y="2207447"/>
            <a:ext cx="1005985" cy="2514962"/>
          </a:xfrm>
          <a:custGeom>
            <a:avLst/>
            <a:gdLst>
              <a:gd name="T0" fmla="*/ 0 w 672"/>
              <a:gd name="T1" fmla="*/ 384 h 1680"/>
              <a:gd name="T2" fmla="*/ 0 w 672"/>
              <a:gd name="T3" fmla="*/ 1680 h 1680"/>
              <a:gd name="T4" fmla="*/ 672 w 672"/>
              <a:gd name="T5" fmla="*/ 1296 h 1680"/>
              <a:gd name="T6" fmla="*/ 672 w 672"/>
              <a:gd name="T7" fmla="*/ 0 h 1680"/>
              <a:gd name="T8" fmla="*/ 0 w 672"/>
              <a:gd name="T9" fmla="*/ 384 h 168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72" h="1680">
                <a:moveTo>
                  <a:pt x="0" y="384"/>
                </a:moveTo>
                <a:lnTo>
                  <a:pt x="0" y="1680"/>
                </a:lnTo>
                <a:lnTo>
                  <a:pt x="672" y="1296"/>
                </a:lnTo>
                <a:lnTo>
                  <a:pt x="672" y="0"/>
                </a:lnTo>
                <a:lnTo>
                  <a:pt x="0" y="384"/>
                </a:lnTo>
                <a:close/>
              </a:path>
            </a:pathLst>
          </a:custGeom>
          <a:pattFill prst="solidDmnd">
            <a:fgClr>
              <a:schemeClr val="hlink"/>
            </a:fgClr>
            <a:bgClr>
              <a:schemeClr val="bg1"/>
            </a:bgClr>
          </a:pattFill>
          <a:ln w="57150" cap="flat" cmpd="sng">
            <a:solidFill>
              <a:schemeClr val="hlink"/>
            </a:solidFill>
            <a:prstDash val="solid"/>
            <a:miter lim="800000"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697"/>
          </a:p>
        </p:txBody>
      </p:sp>
      <p:sp>
        <p:nvSpPr>
          <p:cNvPr id="53277" name="Line 29"/>
          <p:cNvSpPr>
            <a:spLocks noChangeShapeType="1"/>
          </p:cNvSpPr>
          <p:nvPr/>
        </p:nvSpPr>
        <p:spPr bwMode="auto">
          <a:xfrm flipV="1">
            <a:off x="1625902" y="2207447"/>
            <a:ext cx="2586818" cy="502993"/>
          </a:xfrm>
          <a:prstGeom prst="line">
            <a:avLst/>
          </a:prstGeom>
          <a:noFill/>
          <a:ln w="571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697"/>
          </a:p>
        </p:txBody>
      </p:sp>
      <p:sp>
        <p:nvSpPr>
          <p:cNvPr id="53278" name="Line 30"/>
          <p:cNvSpPr>
            <a:spLocks noChangeShapeType="1"/>
          </p:cNvSpPr>
          <p:nvPr/>
        </p:nvSpPr>
        <p:spPr bwMode="auto">
          <a:xfrm flipV="1">
            <a:off x="1625902" y="2351160"/>
            <a:ext cx="2658674" cy="718561"/>
          </a:xfrm>
          <a:prstGeom prst="line">
            <a:avLst/>
          </a:prstGeom>
          <a:noFill/>
          <a:ln w="571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697"/>
          </a:p>
        </p:txBody>
      </p:sp>
      <p:sp>
        <p:nvSpPr>
          <p:cNvPr id="53279" name="Line 31"/>
          <p:cNvSpPr>
            <a:spLocks noChangeShapeType="1"/>
          </p:cNvSpPr>
          <p:nvPr/>
        </p:nvSpPr>
        <p:spPr bwMode="auto">
          <a:xfrm flipV="1">
            <a:off x="1554046" y="2063734"/>
            <a:ext cx="2730530" cy="502993"/>
          </a:xfrm>
          <a:prstGeom prst="line">
            <a:avLst/>
          </a:prstGeom>
          <a:noFill/>
          <a:ln w="571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697"/>
          </a:p>
        </p:txBody>
      </p:sp>
      <p:sp>
        <p:nvSpPr>
          <p:cNvPr id="53280" name="Line 32"/>
          <p:cNvSpPr>
            <a:spLocks noChangeShapeType="1"/>
          </p:cNvSpPr>
          <p:nvPr/>
        </p:nvSpPr>
        <p:spPr bwMode="auto">
          <a:xfrm flipV="1">
            <a:off x="1410334" y="2423016"/>
            <a:ext cx="2874243" cy="1580834"/>
          </a:xfrm>
          <a:prstGeom prst="line">
            <a:avLst/>
          </a:prstGeom>
          <a:noFill/>
          <a:ln w="571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697"/>
          </a:p>
        </p:txBody>
      </p:sp>
      <p:sp>
        <p:nvSpPr>
          <p:cNvPr id="53281" name="Line 33"/>
          <p:cNvSpPr>
            <a:spLocks noChangeShapeType="1"/>
          </p:cNvSpPr>
          <p:nvPr/>
        </p:nvSpPr>
        <p:spPr bwMode="auto">
          <a:xfrm flipV="1">
            <a:off x="1482190" y="2997864"/>
            <a:ext cx="2730530" cy="431136"/>
          </a:xfrm>
          <a:prstGeom prst="line">
            <a:avLst/>
          </a:prstGeom>
          <a:noFill/>
          <a:ln w="571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697"/>
          </a:p>
        </p:txBody>
      </p:sp>
      <p:sp>
        <p:nvSpPr>
          <p:cNvPr id="53282" name="Line 34"/>
          <p:cNvSpPr>
            <a:spLocks noChangeShapeType="1"/>
          </p:cNvSpPr>
          <p:nvPr/>
        </p:nvSpPr>
        <p:spPr bwMode="auto">
          <a:xfrm flipV="1">
            <a:off x="1194765" y="3141576"/>
            <a:ext cx="3089811" cy="71856"/>
          </a:xfrm>
          <a:prstGeom prst="line">
            <a:avLst/>
          </a:prstGeom>
          <a:noFill/>
          <a:ln w="571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697"/>
          </a:p>
        </p:txBody>
      </p:sp>
      <p:sp>
        <p:nvSpPr>
          <p:cNvPr id="53283" name="Line 35"/>
          <p:cNvSpPr>
            <a:spLocks noChangeShapeType="1"/>
          </p:cNvSpPr>
          <p:nvPr/>
        </p:nvSpPr>
        <p:spPr bwMode="auto">
          <a:xfrm flipV="1">
            <a:off x="1194765" y="2854152"/>
            <a:ext cx="3089811" cy="71856"/>
          </a:xfrm>
          <a:prstGeom prst="line">
            <a:avLst/>
          </a:prstGeom>
          <a:noFill/>
          <a:ln w="571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697"/>
          </a:p>
        </p:txBody>
      </p:sp>
      <p:sp>
        <p:nvSpPr>
          <p:cNvPr id="53284" name="Line 36"/>
          <p:cNvSpPr>
            <a:spLocks noChangeShapeType="1"/>
          </p:cNvSpPr>
          <p:nvPr/>
        </p:nvSpPr>
        <p:spPr bwMode="auto">
          <a:xfrm flipV="1">
            <a:off x="1122910" y="3213432"/>
            <a:ext cx="3161666" cy="1005985"/>
          </a:xfrm>
          <a:prstGeom prst="line">
            <a:avLst/>
          </a:prstGeom>
          <a:noFill/>
          <a:ln w="571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697"/>
          </a:p>
        </p:txBody>
      </p:sp>
      <p:sp>
        <p:nvSpPr>
          <p:cNvPr id="53285" name="Line 37"/>
          <p:cNvSpPr>
            <a:spLocks noChangeShapeType="1"/>
          </p:cNvSpPr>
          <p:nvPr/>
        </p:nvSpPr>
        <p:spPr bwMode="auto">
          <a:xfrm>
            <a:off x="1194766" y="3788281"/>
            <a:ext cx="3017954" cy="574848"/>
          </a:xfrm>
          <a:prstGeom prst="line">
            <a:avLst/>
          </a:prstGeom>
          <a:noFill/>
          <a:ln w="571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697"/>
          </a:p>
        </p:txBody>
      </p:sp>
      <p:sp>
        <p:nvSpPr>
          <p:cNvPr id="53286" name="Line 38"/>
          <p:cNvSpPr>
            <a:spLocks noChangeShapeType="1"/>
          </p:cNvSpPr>
          <p:nvPr/>
        </p:nvSpPr>
        <p:spPr bwMode="auto">
          <a:xfrm>
            <a:off x="1266621" y="4363129"/>
            <a:ext cx="3017954" cy="143712"/>
          </a:xfrm>
          <a:prstGeom prst="line">
            <a:avLst/>
          </a:prstGeom>
          <a:noFill/>
          <a:ln w="571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697"/>
          </a:p>
        </p:txBody>
      </p:sp>
      <p:sp>
        <p:nvSpPr>
          <p:cNvPr id="53287" name="Line 39"/>
          <p:cNvSpPr>
            <a:spLocks noChangeShapeType="1"/>
          </p:cNvSpPr>
          <p:nvPr/>
        </p:nvSpPr>
        <p:spPr bwMode="auto">
          <a:xfrm>
            <a:off x="1338477" y="3716424"/>
            <a:ext cx="2946098" cy="502993"/>
          </a:xfrm>
          <a:prstGeom prst="line">
            <a:avLst/>
          </a:prstGeom>
          <a:noFill/>
          <a:ln w="571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697"/>
          </a:p>
        </p:txBody>
      </p:sp>
      <p:sp>
        <p:nvSpPr>
          <p:cNvPr id="53288" name="Line 40"/>
          <p:cNvSpPr>
            <a:spLocks noChangeShapeType="1"/>
          </p:cNvSpPr>
          <p:nvPr/>
        </p:nvSpPr>
        <p:spPr bwMode="auto">
          <a:xfrm>
            <a:off x="1051053" y="3500857"/>
            <a:ext cx="3305379" cy="646705"/>
          </a:xfrm>
          <a:prstGeom prst="line">
            <a:avLst/>
          </a:prstGeom>
          <a:noFill/>
          <a:ln w="571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697"/>
          </a:p>
        </p:txBody>
      </p:sp>
      <p:sp>
        <p:nvSpPr>
          <p:cNvPr id="53289" name="Text Box 41"/>
          <p:cNvSpPr txBox="1">
            <a:spLocks noChangeArrowheads="1"/>
          </p:cNvSpPr>
          <p:nvPr/>
        </p:nvSpPr>
        <p:spPr bwMode="auto">
          <a:xfrm>
            <a:off x="835485" y="4794266"/>
            <a:ext cx="837730" cy="614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TW" sz="1697">
                <a:ea typeface="新細明體" pitchFamily="18" charset="-120"/>
              </a:rPr>
              <a:t>Input </a:t>
            </a:r>
          </a:p>
          <a:p>
            <a:r>
              <a:rPr lang="en-US" altLang="zh-TW" sz="1697">
                <a:ea typeface="新細明體" pitchFamily="18" charset="-120"/>
              </a:rPr>
              <a:t>pattern</a:t>
            </a:r>
          </a:p>
        </p:txBody>
      </p:sp>
      <p:sp>
        <p:nvSpPr>
          <p:cNvPr id="53290" name="Text Box 42"/>
          <p:cNvSpPr txBox="1">
            <a:spLocks noChangeArrowheads="1"/>
          </p:cNvSpPr>
          <p:nvPr/>
        </p:nvSpPr>
        <p:spPr bwMode="auto">
          <a:xfrm>
            <a:off x="3422304" y="4937978"/>
            <a:ext cx="1190967" cy="614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TW" sz="1697">
                <a:ea typeface="新細明體" pitchFamily="18" charset="-120"/>
              </a:rPr>
              <a:t>Association</a:t>
            </a:r>
          </a:p>
          <a:p>
            <a:r>
              <a:rPr lang="en-US" altLang="zh-TW" sz="1697">
                <a:ea typeface="新細明體" pitchFamily="18" charset="-120"/>
              </a:rPr>
              <a:t>units</a:t>
            </a:r>
          </a:p>
        </p:txBody>
      </p:sp>
      <p:sp>
        <p:nvSpPr>
          <p:cNvPr id="53291" name="Text Box 43"/>
          <p:cNvSpPr txBox="1">
            <a:spLocks noChangeArrowheads="1"/>
          </p:cNvSpPr>
          <p:nvPr/>
        </p:nvSpPr>
        <p:spPr bwMode="auto">
          <a:xfrm>
            <a:off x="4931280" y="4219418"/>
            <a:ext cx="1683089" cy="3534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TW" sz="1697">
                <a:ea typeface="新細明體" pitchFamily="18" charset="-120"/>
              </a:rPr>
              <a:t>weights (trained)</a:t>
            </a:r>
          </a:p>
        </p:txBody>
      </p:sp>
      <p:sp>
        <p:nvSpPr>
          <p:cNvPr id="53292" name="Text Box 44"/>
          <p:cNvSpPr txBox="1">
            <a:spLocks noChangeArrowheads="1"/>
          </p:cNvSpPr>
          <p:nvPr/>
        </p:nvSpPr>
        <p:spPr bwMode="auto">
          <a:xfrm>
            <a:off x="5362417" y="4937978"/>
            <a:ext cx="1197379" cy="3534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TW" sz="1697">
                <a:ea typeface="新細明體" pitchFamily="18" charset="-120"/>
              </a:rPr>
              <a:t>Summation</a:t>
            </a:r>
          </a:p>
        </p:txBody>
      </p:sp>
      <p:sp>
        <p:nvSpPr>
          <p:cNvPr id="53293" name="Text Box 45"/>
          <p:cNvSpPr txBox="1">
            <a:spLocks noChangeArrowheads="1"/>
          </p:cNvSpPr>
          <p:nvPr/>
        </p:nvSpPr>
        <p:spPr bwMode="auto">
          <a:xfrm>
            <a:off x="7086963" y="4937978"/>
            <a:ext cx="1063433" cy="614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TW" sz="1697">
                <a:ea typeface="新細明體" pitchFamily="18" charset="-120"/>
              </a:rPr>
              <a:t>Threshold</a:t>
            </a:r>
          </a:p>
          <a:p>
            <a:endParaRPr lang="zh-TW" altLang="en-US" sz="1697">
              <a:ea typeface="新細明體" pitchFamily="18" charset="-120"/>
            </a:endParaRPr>
          </a:p>
        </p:txBody>
      </p:sp>
      <p:sp>
        <p:nvSpPr>
          <p:cNvPr id="53294" name="Rectangle 46"/>
          <p:cNvSpPr>
            <a:spLocks noChangeArrowheads="1"/>
          </p:cNvSpPr>
          <p:nvPr/>
        </p:nvSpPr>
        <p:spPr bwMode="auto">
          <a:xfrm>
            <a:off x="3853439" y="1632599"/>
            <a:ext cx="4814356" cy="3305379"/>
          </a:xfrm>
          <a:prstGeom prst="rect">
            <a:avLst/>
          </a:prstGeom>
          <a:noFill/>
          <a:ln w="76200">
            <a:solidFill>
              <a:schemeClr val="tx1"/>
            </a:solidFill>
            <a:prstDash val="dash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 sz="1697"/>
          </a:p>
        </p:txBody>
      </p:sp>
      <p:sp>
        <p:nvSpPr>
          <p:cNvPr id="53295" name="Text Box 47"/>
          <p:cNvSpPr txBox="1">
            <a:spLocks noChangeArrowheads="1"/>
          </p:cNvSpPr>
          <p:nvPr/>
        </p:nvSpPr>
        <p:spPr bwMode="auto">
          <a:xfrm>
            <a:off x="2128895" y="4578698"/>
            <a:ext cx="611771" cy="3534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TW" sz="1697">
                <a:ea typeface="新細明體" pitchFamily="18" charset="-120"/>
              </a:rPr>
              <a:t>fixed</a:t>
            </a:r>
          </a:p>
        </p:txBody>
      </p:sp>
      <p:sp>
        <p:nvSpPr>
          <p:cNvPr id="50" name="标题 1">
            <a:extLst>
              <a:ext uri="{FF2B5EF4-FFF2-40B4-BE49-F238E27FC236}">
                <a16:creationId xmlns:a16="http://schemas.microsoft.com/office/drawing/2014/main" id="{DB5CC414-827A-484D-B4FB-747E56B23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229600" cy="1143000"/>
          </a:xfrm>
        </p:spPr>
        <p:txBody>
          <a:bodyPr>
            <a:normAutofit/>
          </a:bodyPr>
          <a:lstStyle/>
          <a:p>
            <a:pPr marL="314325" marR="312420" algn="l">
              <a:spcBef>
                <a:spcPts val="15"/>
              </a:spcBef>
              <a:spcAft>
                <a:spcPts val="0"/>
              </a:spcAft>
            </a:pPr>
            <a:r>
              <a:rPr lang="zh-CN" altLang="en-US" sz="3200" b="1" kern="0" dirty="0">
                <a:effectLst/>
                <a:ea typeface="仿宋" panose="02010609060101010101" pitchFamily="49" charset="-122"/>
              </a:rPr>
              <a:t>感知机流程</a:t>
            </a:r>
            <a:endParaRPr lang="zh-CN" altLang="zh-CN" sz="3200" b="1" kern="0" dirty="0">
              <a:effectLst/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619852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8229600" cy="1143000"/>
          </a:xfrm>
        </p:spPr>
        <p:txBody>
          <a:bodyPr>
            <a:normAutofit/>
          </a:bodyPr>
          <a:lstStyle/>
          <a:p>
            <a:pPr marL="314325" marR="312420" algn="l">
              <a:spcBef>
                <a:spcPts val="15"/>
              </a:spcBef>
              <a:spcAft>
                <a:spcPts val="0"/>
              </a:spcAft>
            </a:pPr>
            <a:r>
              <a:rPr lang="zh-CN" altLang="en-US" sz="3200" b="1" kern="0" dirty="0">
                <a:effectLst/>
                <a:ea typeface="仿宋" panose="02010609060101010101" pitchFamily="49" charset="-122"/>
              </a:rPr>
              <a:t>多分类感知机</a:t>
            </a:r>
            <a:endParaRPr lang="zh-CN" altLang="zh-CN" sz="3200" b="1" kern="0" dirty="0">
              <a:effectLst/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1528775"/>
            <a:ext cx="3048000" cy="666750"/>
          </a:xfrm>
          <a:prstGeom prst="rect">
            <a:avLst/>
          </a:prstGeom>
        </p:spPr>
      </p:pic>
      <p:sp>
        <p:nvSpPr>
          <p:cNvPr id="6" name="内容占位符 2"/>
          <p:cNvSpPr>
            <a:spLocks noGrp="1"/>
          </p:cNvSpPr>
          <p:nvPr>
            <p:ph idx="1"/>
          </p:nvPr>
        </p:nvSpPr>
        <p:spPr>
          <a:xfrm>
            <a:off x="457200" y="1013478"/>
            <a:ext cx="8229600" cy="4525963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dirty="0"/>
              <a:t>多类感知机是对感知机的扩展，用于解决多类分类问题。</a:t>
            </a:r>
          </a:p>
          <a:p>
            <a:pPr>
              <a:lnSpc>
                <a:spcPct val="120000"/>
              </a:lnSpc>
            </a:pPr>
            <a:r>
              <a:rPr lang="zh-CN" altLang="en-US" sz="2400" dirty="0"/>
              <a:t>多类感知机在自然语言处理中得到了广泛的应用。</a:t>
            </a:r>
            <a:endParaRPr lang="en-US" altLang="zh-CN" sz="2000" dirty="0">
              <a:latin typeface="+mn-ea"/>
            </a:endParaRPr>
          </a:p>
          <a:p>
            <a:pPr lvl="1"/>
            <a:endParaRPr lang="en-US" altLang="zh-CN" sz="2000" dirty="0">
              <a:latin typeface="+mn-ea"/>
            </a:endParaRPr>
          </a:p>
          <a:p>
            <a:pPr marL="0" indent="0">
              <a:buNone/>
            </a:pPr>
            <a:endParaRPr lang="en-US" altLang="zh-CN" sz="24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37773D8A-1903-40C6-8E90-E0F278135B8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528" y="2708920"/>
            <a:ext cx="8704307" cy="3573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427851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8229600" cy="1143000"/>
          </a:xfrm>
        </p:spPr>
        <p:txBody>
          <a:bodyPr>
            <a:normAutofit/>
          </a:bodyPr>
          <a:lstStyle/>
          <a:p>
            <a:pPr marL="314325" marR="312420" algn="l">
              <a:spcBef>
                <a:spcPts val="15"/>
              </a:spcBef>
              <a:spcAft>
                <a:spcPts val="0"/>
              </a:spcAft>
            </a:pPr>
            <a:r>
              <a:rPr lang="zh-CN" altLang="en-US" sz="3200" b="1" kern="0" dirty="0">
                <a:effectLst/>
                <a:ea typeface="仿宋" panose="02010609060101010101" pitchFamily="49" charset="-122"/>
              </a:rPr>
              <a:t>多分类感知机</a:t>
            </a:r>
            <a:endParaRPr lang="zh-CN" altLang="zh-CN" sz="3200" b="1" kern="0" dirty="0">
              <a:effectLst/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1528775"/>
            <a:ext cx="3048000" cy="666750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023966C4-550F-4DAB-9AD7-78C6F790A4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426" y="1156963"/>
            <a:ext cx="7255148" cy="5008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576542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48061" y="1129607"/>
            <a:ext cx="7329318" cy="3880227"/>
          </a:xfrm>
        </p:spPr>
        <p:txBody>
          <a:bodyPr>
            <a:normAutofit/>
          </a:bodyPr>
          <a:lstStyle/>
          <a:p>
            <a:pPr algn="l">
              <a:lnSpc>
                <a:spcPct val="120000"/>
              </a:lnSpc>
            </a:pPr>
            <a:r>
              <a:rPr lang="zh-CN" altLang="en-US" sz="2400" b="0" i="0" dirty="0">
                <a:solidFill>
                  <a:srgbClr val="2E3033"/>
                </a:solidFill>
                <a:effectLst/>
                <a:latin typeface="Arial" panose="020B0604020202020204" pitchFamily="34" charset="0"/>
              </a:rPr>
              <a:t>手写字母字符识别</a:t>
            </a:r>
          </a:p>
          <a:p>
            <a:pPr lvl="1">
              <a:lnSpc>
                <a:spcPct val="120000"/>
              </a:lnSpc>
            </a:pPr>
            <a:r>
              <a:rPr lang="en-US" altLang="zh-CN" sz="2000" b="0" i="0" dirty="0">
                <a:solidFill>
                  <a:srgbClr val="2E3033"/>
                </a:solidFill>
                <a:effectLst/>
                <a:latin typeface="Arial" panose="020B0604020202020204" pitchFamily="34" charset="0"/>
              </a:rPr>
              <a:t>26</a:t>
            </a:r>
            <a:r>
              <a:rPr lang="zh-CN" altLang="en-US" sz="2000" b="0" i="0" dirty="0">
                <a:solidFill>
                  <a:srgbClr val="2E3033"/>
                </a:solidFill>
                <a:effectLst/>
                <a:latin typeface="Arial" panose="020B0604020202020204" pitchFamily="34" charset="0"/>
              </a:rPr>
              <a:t>类：</a:t>
            </a:r>
            <a:r>
              <a:rPr lang="en-US" altLang="zh-CN" sz="2000" b="0" i="0" dirty="0">
                <a:solidFill>
                  <a:srgbClr val="2E3033"/>
                </a:solidFill>
                <a:effectLst/>
                <a:latin typeface="Arial" panose="020B0604020202020204" pitchFamily="34" charset="0"/>
              </a:rPr>
              <a:t>A</a:t>
            </a:r>
            <a:r>
              <a:rPr lang="zh-CN" altLang="en-US" sz="2000" b="0" i="0" dirty="0">
                <a:solidFill>
                  <a:srgbClr val="2E3033"/>
                </a:solidFill>
                <a:effectLst/>
                <a:latin typeface="Arial" panose="020B0604020202020204" pitchFamily="34" charset="0"/>
              </a:rPr>
              <a:t>，</a:t>
            </a:r>
            <a:r>
              <a:rPr lang="en-US" altLang="zh-CN" sz="2000" b="0" i="0" dirty="0">
                <a:solidFill>
                  <a:srgbClr val="2E3033"/>
                </a:solidFill>
                <a:effectLst/>
                <a:latin typeface="Arial" panose="020B0604020202020204" pitchFamily="34" charset="0"/>
              </a:rPr>
              <a:t>B</a:t>
            </a:r>
            <a:r>
              <a:rPr lang="zh-CN" altLang="en-US" sz="2000" b="0" i="0" dirty="0">
                <a:solidFill>
                  <a:srgbClr val="2E3033"/>
                </a:solidFill>
                <a:effectLst/>
                <a:latin typeface="Arial" panose="020B0604020202020204" pitchFamily="34" charset="0"/>
              </a:rPr>
              <a:t>，</a:t>
            </a:r>
            <a:r>
              <a:rPr lang="en-US" altLang="zh-CN" sz="2000" b="0" i="0" dirty="0">
                <a:solidFill>
                  <a:srgbClr val="2E3033"/>
                </a:solidFill>
                <a:effectLst/>
                <a:latin typeface="Arial" panose="020B0604020202020204" pitchFamily="34" charset="0"/>
              </a:rPr>
              <a:t>C…</a:t>
            </a:r>
            <a:r>
              <a:rPr lang="zh-CN" altLang="en-US" sz="2000" b="0" i="0" dirty="0">
                <a:solidFill>
                  <a:srgbClr val="2E3033"/>
                </a:solidFill>
                <a:effectLst/>
                <a:latin typeface="Arial" panose="020B0604020202020204" pitchFamily="34" charset="0"/>
              </a:rPr>
              <a:t>，</a:t>
            </a:r>
            <a:r>
              <a:rPr lang="en-US" altLang="zh-CN" sz="2000" b="0" i="0" dirty="0">
                <a:solidFill>
                  <a:srgbClr val="2E3033"/>
                </a:solidFill>
                <a:effectLst/>
                <a:latin typeface="Arial" panose="020B0604020202020204" pitchFamily="34" charset="0"/>
              </a:rPr>
              <a:t>Z</a:t>
            </a:r>
          </a:p>
          <a:p>
            <a:pPr lvl="1">
              <a:lnSpc>
                <a:spcPct val="120000"/>
              </a:lnSpc>
            </a:pPr>
            <a:r>
              <a:rPr lang="zh-CN" altLang="en-US" sz="2000" b="0" i="0" dirty="0">
                <a:solidFill>
                  <a:srgbClr val="2E3033"/>
                </a:solidFill>
                <a:effectLst/>
                <a:latin typeface="Arial" panose="020B0604020202020204" pitchFamily="34" charset="0"/>
              </a:rPr>
              <a:t>第一个输出单元区分</a:t>
            </a:r>
            <a:r>
              <a:rPr lang="en-US" altLang="zh-CN" sz="2000" b="0" i="0" dirty="0">
                <a:solidFill>
                  <a:srgbClr val="2E3033"/>
                </a:solidFill>
                <a:effectLst/>
                <a:latin typeface="Arial" panose="020B0604020202020204" pitchFamily="34" charset="0"/>
              </a:rPr>
              <a:t>A</a:t>
            </a:r>
            <a:r>
              <a:rPr lang="zh-CN" altLang="en-US" sz="2000" b="0" i="0" dirty="0">
                <a:solidFill>
                  <a:srgbClr val="2E3033"/>
                </a:solidFill>
                <a:effectLst/>
                <a:latin typeface="Arial" panose="020B0604020202020204" pitchFamily="34" charset="0"/>
              </a:rPr>
              <a:t>和非</a:t>
            </a:r>
            <a:r>
              <a:rPr lang="en-US" altLang="zh-CN" sz="2000" b="0" i="0" dirty="0">
                <a:solidFill>
                  <a:srgbClr val="2E3033"/>
                </a:solidFill>
                <a:effectLst/>
                <a:latin typeface="Arial" panose="020B0604020202020204" pitchFamily="34" charset="0"/>
              </a:rPr>
              <a:t>A</a:t>
            </a:r>
            <a:r>
              <a:rPr lang="zh-CN" altLang="en-US" sz="2000" b="0" i="0" dirty="0">
                <a:solidFill>
                  <a:srgbClr val="2E3033"/>
                </a:solidFill>
                <a:effectLst/>
                <a:latin typeface="Arial" panose="020B0604020202020204" pitchFamily="34" charset="0"/>
              </a:rPr>
              <a:t>，第二个输出单元区分</a:t>
            </a:r>
            <a:r>
              <a:rPr lang="en-US" altLang="zh-CN" sz="2000" b="0" i="0" dirty="0">
                <a:solidFill>
                  <a:srgbClr val="2E3033"/>
                </a:solidFill>
                <a:effectLst/>
                <a:latin typeface="Arial" panose="020B0604020202020204" pitchFamily="34" charset="0"/>
              </a:rPr>
              <a:t>B</a:t>
            </a:r>
            <a:r>
              <a:rPr lang="zh-CN" altLang="en-US" sz="2000" b="0" i="0" dirty="0">
                <a:solidFill>
                  <a:srgbClr val="2E3033"/>
                </a:solidFill>
                <a:effectLst/>
                <a:latin typeface="Arial" panose="020B0604020202020204" pitchFamily="34" charset="0"/>
              </a:rPr>
              <a:t>和非</a:t>
            </a:r>
            <a:r>
              <a:rPr lang="en-US" altLang="zh-CN" sz="2000" b="0" i="0" dirty="0">
                <a:solidFill>
                  <a:srgbClr val="2E3033"/>
                </a:solidFill>
                <a:effectLst/>
                <a:latin typeface="Arial" panose="020B0604020202020204" pitchFamily="34" charset="0"/>
              </a:rPr>
              <a:t>B</a:t>
            </a:r>
            <a:r>
              <a:rPr lang="zh-CN" altLang="en-US" sz="2000" b="0" i="0" dirty="0">
                <a:solidFill>
                  <a:srgbClr val="2E3033"/>
                </a:solidFill>
                <a:effectLst/>
                <a:latin typeface="Arial" panose="020B0604020202020204" pitchFamily="34" charset="0"/>
              </a:rPr>
              <a:t>等等。</a:t>
            </a:r>
          </a:p>
        </p:txBody>
      </p:sp>
      <p:grpSp>
        <p:nvGrpSpPr>
          <p:cNvPr id="54276" name="Group 4"/>
          <p:cNvGrpSpPr>
            <a:grpSpLocks/>
          </p:cNvGrpSpPr>
          <p:nvPr/>
        </p:nvGrpSpPr>
        <p:grpSpPr bwMode="auto">
          <a:xfrm>
            <a:off x="3637871" y="4794266"/>
            <a:ext cx="502993" cy="574848"/>
            <a:chOff x="288" y="1728"/>
            <a:chExt cx="336" cy="384"/>
          </a:xfrm>
        </p:grpSpPr>
        <p:sp>
          <p:nvSpPr>
            <p:cNvPr id="54277" name="Oval 5"/>
            <p:cNvSpPr>
              <a:spLocks noChangeArrowheads="1"/>
            </p:cNvSpPr>
            <p:nvPr/>
          </p:nvSpPr>
          <p:spPr bwMode="auto">
            <a:xfrm>
              <a:off x="288" y="1776"/>
              <a:ext cx="336" cy="336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97"/>
            </a:p>
          </p:txBody>
        </p:sp>
        <p:sp>
          <p:nvSpPr>
            <p:cNvPr id="54278" name="Text Box 6"/>
            <p:cNvSpPr txBox="1">
              <a:spLocks noChangeArrowheads="1"/>
            </p:cNvSpPr>
            <p:nvPr/>
          </p:nvSpPr>
          <p:spPr bwMode="auto">
            <a:xfrm>
              <a:off x="288" y="1728"/>
              <a:ext cx="298" cy="3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sv-SE" altLang="zh-CN" sz="2641"/>
                <a:t>x</a:t>
              </a:r>
              <a:r>
                <a:rPr lang="sv-SE" altLang="zh-CN" sz="2641" baseline="-25000"/>
                <a:t>1</a:t>
              </a:r>
              <a:endParaRPr lang="en-US" altLang="zh-TW" sz="2641" baseline="-25000">
                <a:ea typeface="新細明體" pitchFamily="18" charset="-120"/>
              </a:endParaRPr>
            </a:p>
          </p:txBody>
        </p:sp>
      </p:grpSp>
      <p:grpSp>
        <p:nvGrpSpPr>
          <p:cNvPr id="54279" name="Group 7"/>
          <p:cNvGrpSpPr>
            <a:grpSpLocks/>
          </p:cNvGrpSpPr>
          <p:nvPr/>
        </p:nvGrpSpPr>
        <p:grpSpPr bwMode="auto">
          <a:xfrm>
            <a:off x="4572000" y="4794266"/>
            <a:ext cx="502993" cy="574848"/>
            <a:chOff x="288" y="1728"/>
            <a:chExt cx="336" cy="384"/>
          </a:xfrm>
        </p:grpSpPr>
        <p:sp>
          <p:nvSpPr>
            <p:cNvPr id="54280" name="Oval 8"/>
            <p:cNvSpPr>
              <a:spLocks noChangeArrowheads="1"/>
            </p:cNvSpPr>
            <p:nvPr/>
          </p:nvSpPr>
          <p:spPr bwMode="auto">
            <a:xfrm>
              <a:off x="288" y="1776"/>
              <a:ext cx="336" cy="336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97"/>
            </a:p>
          </p:txBody>
        </p:sp>
        <p:sp>
          <p:nvSpPr>
            <p:cNvPr id="54281" name="Text Box 9"/>
            <p:cNvSpPr txBox="1">
              <a:spLocks noChangeArrowheads="1"/>
            </p:cNvSpPr>
            <p:nvPr/>
          </p:nvSpPr>
          <p:spPr bwMode="auto">
            <a:xfrm>
              <a:off x="288" y="1728"/>
              <a:ext cx="298" cy="3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sv-SE" altLang="zh-CN" sz="2641"/>
                <a:t>x</a:t>
              </a:r>
              <a:r>
                <a:rPr lang="sv-SE" altLang="zh-CN" sz="2641" baseline="-25000"/>
                <a:t>2</a:t>
              </a:r>
              <a:endParaRPr lang="en-US" altLang="zh-TW" sz="2641" baseline="-25000">
                <a:ea typeface="新細明體" pitchFamily="18" charset="-120"/>
              </a:endParaRPr>
            </a:p>
          </p:txBody>
        </p:sp>
      </p:grpSp>
      <p:grpSp>
        <p:nvGrpSpPr>
          <p:cNvPr id="54282" name="Group 10"/>
          <p:cNvGrpSpPr>
            <a:grpSpLocks/>
          </p:cNvGrpSpPr>
          <p:nvPr/>
        </p:nvGrpSpPr>
        <p:grpSpPr bwMode="auto">
          <a:xfrm>
            <a:off x="5434273" y="4794266"/>
            <a:ext cx="502993" cy="574848"/>
            <a:chOff x="288" y="1728"/>
            <a:chExt cx="336" cy="384"/>
          </a:xfrm>
        </p:grpSpPr>
        <p:sp>
          <p:nvSpPr>
            <p:cNvPr id="54283" name="Oval 11"/>
            <p:cNvSpPr>
              <a:spLocks noChangeArrowheads="1"/>
            </p:cNvSpPr>
            <p:nvPr/>
          </p:nvSpPr>
          <p:spPr bwMode="auto">
            <a:xfrm>
              <a:off x="288" y="1776"/>
              <a:ext cx="336" cy="336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97"/>
            </a:p>
          </p:txBody>
        </p:sp>
        <p:sp>
          <p:nvSpPr>
            <p:cNvPr id="54284" name="Text Box 12"/>
            <p:cNvSpPr txBox="1">
              <a:spLocks noChangeArrowheads="1"/>
            </p:cNvSpPr>
            <p:nvPr/>
          </p:nvSpPr>
          <p:spPr bwMode="auto">
            <a:xfrm>
              <a:off x="288" y="1728"/>
              <a:ext cx="298" cy="3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sv-SE" altLang="zh-CN" sz="2641"/>
                <a:t>x</a:t>
              </a:r>
              <a:r>
                <a:rPr lang="sv-SE" altLang="zh-CN" sz="2641" baseline="-25000"/>
                <a:t>3</a:t>
              </a:r>
              <a:endParaRPr lang="en-US" altLang="zh-TW" sz="2641" baseline="-25000">
                <a:ea typeface="新細明體" pitchFamily="18" charset="-120"/>
              </a:endParaRPr>
            </a:p>
          </p:txBody>
        </p:sp>
      </p:grpSp>
      <p:grpSp>
        <p:nvGrpSpPr>
          <p:cNvPr id="54285" name="Group 13"/>
          <p:cNvGrpSpPr>
            <a:grpSpLocks/>
          </p:cNvGrpSpPr>
          <p:nvPr/>
        </p:nvGrpSpPr>
        <p:grpSpPr bwMode="auto">
          <a:xfrm>
            <a:off x="8092947" y="4794266"/>
            <a:ext cx="502993" cy="574848"/>
            <a:chOff x="288" y="1728"/>
            <a:chExt cx="336" cy="384"/>
          </a:xfrm>
        </p:grpSpPr>
        <p:sp>
          <p:nvSpPr>
            <p:cNvPr id="54286" name="Oval 14"/>
            <p:cNvSpPr>
              <a:spLocks noChangeArrowheads="1"/>
            </p:cNvSpPr>
            <p:nvPr/>
          </p:nvSpPr>
          <p:spPr bwMode="auto">
            <a:xfrm>
              <a:off x="288" y="1776"/>
              <a:ext cx="336" cy="336"/>
            </a:xfrm>
            <a:prstGeom prst="ellipse">
              <a:avLst/>
            </a:prstGeom>
            <a:solidFill>
              <a:schemeClr val="hlink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 sz="1697"/>
            </a:p>
          </p:txBody>
        </p:sp>
        <p:sp>
          <p:nvSpPr>
            <p:cNvPr id="54287" name="Text Box 15"/>
            <p:cNvSpPr txBox="1">
              <a:spLocks noChangeArrowheads="1"/>
            </p:cNvSpPr>
            <p:nvPr/>
          </p:nvSpPr>
          <p:spPr bwMode="auto">
            <a:xfrm>
              <a:off x="288" y="1728"/>
              <a:ext cx="301" cy="3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sv-SE" altLang="zh-CN" sz="2641"/>
                <a:t>x</a:t>
              </a:r>
              <a:r>
                <a:rPr lang="sv-SE" altLang="zh-CN" sz="2641" baseline="-25000"/>
                <a:t>n</a:t>
              </a:r>
              <a:endParaRPr lang="en-US" altLang="zh-TW" sz="2641" baseline="-25000">
                <a:ea typeface="新細明體" pitchFamily="18" charset="-120"/>
              </a:endParaRPr>
            </a:p>
          </p:txBody>
        </p:sp>
      </p:grpSp>
      <p:sp>
        <p:nvSpPr>
          <p:cNvPr id="54288" name="Oval 16"/>
          <p:cNvSpPr>
            <a:spLocks noChangeArrowheads="1"/>
          </p:cNvSpPr>
          <p:nvPr/>
        </p:nvSpPr>
        <p:spPr bwMode="auto">
          <a:xfrm>
            <a:off x="4069007" y="3500856"/>
            <a:ext cx="502993" cy="50299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TW" sz="1697">
                <a:ea typeface="新細明體" pitchFamily="18" charset="-120"/>
              </a:rPr>
              <a:t>y</a:t>
            </a:r>
            <a:r>
              <a:rPr lang="en-US" altLang="zh-TW" sz="1697" baseline="-25000">
                <a:ea typeface="新細明體" pitchFamily="18" charset="-120"/>
              </a:rPr>
              <a:t>1</a:t>
            </a:r>
          </a:p>
        </p:txBody>
      </p:sp>
      <p:sp>
        <p:nvSpPr>
          <p:cNvPr id="54289" name="Oval 17"/>
          <p:cNvSpPr>
            <a:spLocks noChangeArrowheads="1"/>
          </p:cNvSpPr>
          <p:nvPr/>
        </p:nvSpPr>
        <p:spPr bwMode="auto">
          <a:xfrm>
            <a:off x="4931280" y="3500856"/>
            <a:ext cx="502993" cy="50299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TW" sz="1697">
                <a:ea typeface="新細明體" pitchFamily="18" charset="-120"/>
              </a:rPr>
              <a:t>y</a:t>
            </a:r>
            <a:r>
              <a:rPr lang="en-US" altLang="zh-TW" sz="1697" baseline="-25000">
                <a:ea typeface="新細明體" pitchFamily="18" charset="-120"/>
              </a:rPr>
              <a:t>2</a:t>
            </a:r>
          </a:p>
        </p:txBody>
      </p:sp>
      <p:sp>
        <p:nvSpPr>
          <p:cNvPr id="54290" name="Oval 18"/>
          <p:cNvSpPr>
            <a:spLocks noChangeArrowheads="1"/>
          </p:cNvSpPr>
          <p:nvPr/>
        </p:nvSpPr>
        <p:spPr bwMode="auto">
          <a:xfrm>
            <a:off x="7086962" y="3500856"/>
            <a:ext cx="502993" cy="502993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zh-TW" sz="1697">
                <a:ea typeface="新細明體" pitchFamily="18" charset="-120"/>
              </a:rPr>
              <a:t>y</a:t>
            </a:r>
            <a:r>
              <a:rPr lang="en-US" altLang="zh-TW" sz="1697" baseline="-25000">
                <a:ea typeface="新細明體" pitchFamily="18" charset="-120"/>
              </a:rPr>
              <a:t>26</a:t>
            </a:r>
          </a:p>
        </p:txBody>
      </p:sp>
      <p:sp>
        <p:nvSpPr>
          <p:cNvPr id="54291" name="Text Box 19"/>
          <p:cNvSpPr txBox="1">
            <a:spLocks noChangeArrowheads="1"/>
          </p:cNvSpPr>
          <p:nvPr/>
        </p:nvSpPr>
        <p:spPr bwMode="auto">
          <a:xfrm>
            <a:off x="5865409" y="3285288"/>
            <a:ext cx="712054" cy="6147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TW" sz="3395">
                <a:ea typeface="新細明體" pitchFamily="18" charset="-120"/>
              </a:rPr>
              <a:t>. . .</a:t>
            </a:r>
          </a:p>
        </p:txBody>
      </p:sp>
      <p:sp>
        <p:nvSpPr>
          <p:cNvPr id="54292" name="Text Box 20"/>
          <p:cNvSpPr txBox="1">
            <a:spLocks noChangeArrowheads="1"/>
          </p:cNvSpPr>
          <p:nvPr/>
        </p:nvSpPr>
        <p:spPr bwMode="auto">
          <a:xfrm>
            <a:off x="6440258" y="4722410"/>
            <a:ext cx="712054" cy="6147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TW" sz="3395">
                <a:ea typeface="新細明體" pitchFamily="18" charset="-120"/>
              </a:rPr>
              <a:t>. . .</a:t>
            </a:r>
          </a:p>
        </p:txBody>
      </p:sp>
      <p:sp>
        <p:nvSpPr>
          <p:cNvPr id="54293" name="Line 21"/>
          <p:cNvSpPr>
            <a:spLocks noChangeShapeType="1"/>
          </p:cNvSpPr>
          <p:nvPr/>
        </p:nvSpPr>
        <p:spPr bwMode="auto">
          <a:xfrm flipV="1">
            <a:off x="3853440" y="4003848"/>
            <a:ext cx="359280" cy="862273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697"/>
          </a:p>
        </p:txBody>
      </p:sp>
      <p:sp>
        <p:nvSpPr>
          <p:cNvPr id="54294" name="Line 22"/>
          <p:cNvSpPr>
            <a:spLocks noChangeShapeType="1"/>
          </p:cNvSpPr>
          <p:nvPr/>
        </p:nvSpPr>
        <p:spPr bwMode="auto">
          <a:xfrm flipH="1" flipV="1">
            <a:off x="4356432" y="4003848"/>
            <a:ext cx="359280" cy="862273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697"/>
          </a:p>
        </p:txBody>
      </p:sp>
      <p:sp>
        <p:nvSpPr>
          <p:cNvPr id="54295" name="Line 23"/>
          <p:cNvSpPr>
            <a:spLocks noChangeShapeType="1"/>
          </p:cNvSpPr>
          <p:nvPr/>
        </p:nvSpPr>
        <p:spPr bwMode="auto">
          <a:xfrm flipV="1">
            <a:off x="3997152" y="3931993"/>
            <a:ext cx="1005985" cy="1005985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697"/>
          </a:p>
        </p:txBody>
      </p:sp>
      <p:sp>
        <p:nvSpPr>
          <p:cNvPr id="54296" name="Line 24"/>
          <p:cNvSpPr>
            <a:spLocks noChangeShapeType="1"/>
          </p:cNvSpPr>
          <p:nvPr/>
        </p:nvSpPr>
        <p:spPr bwMode="auto">
          <a:xfrm flipV="1">
            <a:off x="4140864" y="3860136"/>
            <a:ext cx="2946098" cy="1221553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697"/>
          </a:p>
        </p:txBody>
      </p:sp>
      <p:sp>
        <p:nvSpPr>
          <p:cNvPr id="54297" name="Line 25"/>
          <p:cNvSpPr>
            <a:spLocks noChangeShapeType="1"/>
          </p:cNvSpPr>
          <p:nvPr/>
        </p:nvSpPr>
        <p:spPr bwMode="auto">
          <a:xfrm flipV="1">
            <a:off x="4931281" y="4003848"/>
            <a:ext cx="215568" cy="862273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697"/>
          </a:p>
        </p:txBody>
      </p:sp>
      <p:sp>
        <p:nvSpPr>
          <p:cNvPr id="54298" name="Line 26"/>
          <p:cNvSpPr>
            <a:spLocks noChangeShapeType="1"/>
          </p:cNvSpPr>
          <p:nvPr/>
        </p:nvSpPr>
        <p:spPr bwMode="auto">
          <a:xfrm flipV="1">
            <a:off x="5074993" y="4003849"/>
            <a:ext cx="2155682" cy="1005985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697"/>
          </a:p>
        </p:txBody>
      </p:sp>
      <p:sp>
        <p:nvSpPr>
          <p:cNvPr id="54299" name="Line 27"/>
          <p:cNvSpPr>
            <a:spLocks noChangeShapeType="1"/>
          </p:cNvSpPr>
          <p:nvPr/>
        </p:nvSpPr>
        <p:spPr bwMode="auto">
          <a:xfrm flipV="1">
            <a:off x="5937266" y="4003849"/>
            <a:ext cx="1437121" cy="1005985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697"/>
          </a:p>
        </p:txBody>
      </p:sp>
      <p:sp>
        <p:nvSpPr>
          <p:cNvPr id="54300" name="Line 28"/>
          <p:cNvSpPr>
            <a:spLocks noChangeShapeType="1"/>
          </p:cNvSpPr>
          <p:nvPr/>
        </p:nvSpPr>
        <p:spPr bwMode="auto">
          <a:xfrm flipH="1" flipV="1">
            <a:off x="5362417" y="3931993"/>
            <a:ext cx="287425" cy="934129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697"/>
          </a:p>
        </p:txBody>
      </p:sp>
      <p:sp>
        <p:nvSpPr>
          <p:cNvPr id="54301" name="Line 29"/>
          <p:cNvSpPr>
            <a:spLocks noChangeShapeType="1"/>
          </p:cNvSpPr>
          <p:nvPr/>
        </p:nvSpPr>
        <p:spPr bwMode="auto">
          <a:xfrm flipH="1" flipV="1">
            <a:off x="4500145" y="3931993"/>
            <a:ext cx="1005985" cy="1077841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697"/>
          </a:p>
        </p:txBody>
      </p:sp>
      <p:sp>
        <p:nvSpPr>
          <p:cNvPr id="54302" name="Line 30"/>
          <p:cNvSpPr>
            <a:spLocks noChangeShapeType="1"/>
          </p:cNvSpPr>
          <p:nvPr/>
        </p:nvSpPr>
        <p:spPr bwMode="auto">
          <a:xfrm flipH="1" flipV="1">
            <a:off x="7518098" y="3931993"/>
            <a:ext cx="646705" cy="1005985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697"/>
          </a:p>
        </p:txBody>
      </p:sp>
      <p:sp>
        <p:nvSpPr>
          <p:cNvPr id="54303" name="Line 31"/>
          <p:cNvSpPr>
            <a:spLocks noChangeShapeType="1"/>
          </p:cNvSpPr>
          <p:nvPr/>
        </p:nvSpPr>
        <p:spPr bwMode="auto">
          <a:xfrm flipH="1" flipV="1">
            <a:off x="5434273" y="3860137"/>
            <a:ext cx="2658674" cy="1149697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697"/>
          </a:p>
        </p:txBody>
      </p:sp>
      <p:sp>
        <p:nvSpPr>
          <p:cNvPr id="54304" name="Line 32"/>
          <p:cNvSpPr>
            <a:spLocks noChangeShapeType="1"/>
          </p:cNvSpPr>
          <p:nvPr/>
        </p:nvSpPr>
        <p:spPr bwMode="auto">
          <a:xfrm flipH="1" flipV="1">
            <a:off x="4572000" y="3860136"/>
            <a:ext cx="3520947" cy="1221553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/>
          <a:lstStyle/>
          <a:p>
            <a:endParaRPr lang="zh-CN" altLang="en-US" sz="1697"/>
          </a:p>
        </p:txBody>
      </p:sp>
      <p:sp>
        <p:nvSpPr>
          <p:cNvPr id="54306" name="Text Box 34"/>
          <p:cNvSpPr txBox="1">
            <a:spLocks noChangeArrowheads="1"/>
          </p:cNvSpPr>
          <p:nvPr/>
        </p:nvSpPr>
        <p:spPr bwMode="auto">
          <a:xfrm>
            <a:off x="951718" y="4403560"/>
            <a:ext cx="2379549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altLang="zh-TW" b="1" dirty="0" err="1">
                <a:ea typeface="新細明體" pitchFamily="18" charset="-120"/>
              </a:rPr>
              <a:t>w</a:t>
            </a:r>
            <a:r>
              <a:rPr lang="en-US" altLang="zh-TW" baseline="-25000" dirty="0" err="1">
                <a:ea typeface="新細明體" pitchFamily="18" charset="-120"/>
              </a:rPr>
              <a:t>ji</a:t>
            </a:r>
            <a:r>
              <a:rPr lang="en-US" altLang="zh-TW" baseline="-25000" dirty="0">
                <a:ea typeface="新細明體" pitchFamily="18" charset="-120"/>
              </a:rPr>
              <a:t> </a:t>
            </a:r>
            <a:r>
              <a:rPr lang="zh-CN" altLang="en-US" dirty="0">
                <a:ea typeface="新細明體" pitchFamily="18" charset="-120"/>
              </a:rPr>
              <a:t>是</a:t>
            </a:r>
            <a:r>
              <a:rPr lang="en-US" altLang="zh-TW" dirty="0">
                <a:ea typeface="新細明體" pitchFamily="18" charset="-120"/>
              </a:rPr>
              <a:t> </a:t>
            </a:r>
            <a:r>
              <a:rPr lang="en-US" altLang="zh-TW" b="1" dirty="0">
                <a:ea typeface="新細明體" pitchFamily="18" charset="-120"/>
              </a:rPr>
              <a:t>x</a:t>
            </a:r>
            <a:r>
              <a:rPr lang="en-US" altLang="zh-TW" baseline="-25000" dirty="0">
                <a:ea typeface="新細明體" pitchFamily="18" charset="-120"/>
              </a:rPr>
              <a:t>i</a:t>
            </a:r>
            <a:r>
              <a:rPr lang="en-US" altLang="zh-TW" dirty="0">
                <a:ea typeface="新細明體" pitchFamily="18" charset="-120"/>
              </a:rPr>
              <a:t> </a:t>
            </a:r>
            <a:r>
              <a:rPr lang="zh-CN" altLang="en-US" dirty="0">
                <a:ea typeface="新細明體" pitchFamily="18" charset="-120"/>
              </a:rPr>
              <a:t>连接</a:t>
            </a:r>
            <a:r>
              <a:rPr lang="en-US" altLang="zh-TW" dirty="0" err="1">
                <a:ea typeface="新細明體" pitchFamily="18" charset="-120"/>
              </a:rPr>
              <a:t>y</a:t>
            </a:r>
            <a:r>
              <a:rPr lang="en-US" altLang="zh-TW" baseline="-25000" dirty="0" err="1">
                <a:ea typeface="新細明體" pitchFamily="18" charset="-120"/>
              </a:rPr>
              <a:t>j</a:t>
            </a:r>
            <a:r>
              <a:rPr lang="zh-CN" altLang="en-US" dirty="0">
                <a:ea typeface="新細明體" pitchFamily="18" charset="-120"/>
              </a:rPr>
              <a:t>的权重</a:t>
            </a:r>
            <a:endParaRPr lang="en-US" altLang="zh-TW" baseline="-25000" dirty="0">
              <a:ea typeface="新細明體" pitchFamily="18" charset="-120"/>
            </a:endParaRPr>
          </a:p>
        </p:txBody>
      </p:sp>
      <p:sp>
        <p:nvSpPr>
          <p:cNvPr id="37" name="标题 1">
            <a:extLst>
              <a:ext uri="{FF2B5EF4-FFF2-40B4-BE49-F238E27FC236}">
                <a16:creationId xmlns:a16="http://schemas.microsoft.com/office/drawing/2014/main" id="{1E91E575-598D-4916-9853-BD395E523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229600" cy="1143000"/>
          </a:xfrm>
        </p:spPr>
        <p:txBody>
          <a:bodyPr>
            <a:normAutofit/>
          </a:bodyPr>
          <a:lstStyle/>
          <a:p>
            <a:pPr marL="314325" marR="312420" algn="l">
              <a:spcBef>
                <a:spcPts val="15"/>
              </a:spcBef>
              <a:spcAft>
                <a:spcPts val="0"/>
              </a:spcAft>
            </a:pPr>
            <a:r>
              <a:rPr lang="zh-CN" altLang="en-US" sz="3200" b="1" kern="0" dirty="0">
                <a:effectLst/>
                <a:ea typeface="仿宋" panose="02010609060101010101" pitchFamily="49" charset="-122"/>
              </a:rPr>
              <a:t>多分类感知机</a:t>
            </a:r>
            <a:endParaRPr lang="zh-CN" altLang="zh-CN" sz="3200" b="1" kern="0" dirty="0">
              <a:effectLst/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22631554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8229600" cy="1143000"/>
          </a:xfrm>
        </p:spPr>
        <p:txBody>
          <a:bodyPr>
            <a:normAutofit/>
          </a:bodyPr>
          <a:lstStyle/>
          <a:p>
            <a:pPr marL="314325" marR="312420" algn="l">
              <a:spcBef>
                <a:spcPts val="15"/>
              </a:spcBef>
              <a:spcAft>
                <a:spcPts val="0"/>
              </a:spcAft>
            </a:pPr>
            <a:r>
              <a:rPr lang="zh-CN" altLang="en-US" sz="3200" b="1" kern="0" dirty="0">
                <a:latin typeface="仿宋" panose="02010609060101010101" pitchFamily="49" charset="-122"/>
                <a:ea typeface="仿宋" panose="02010609060101010101" pitchFamily="49" charset="-122"/>
              </a:rPr>
              <a:t>线性可分</a:t>
            </a:r>
            <a:endParaRPr lang="zh-CN" altLang="zh-CN" sz="3200" b="1" kern="0" dirty="0">
              <a:effectLst/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A5220D1E-BF4D-44C6-86B4-847D155229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3808" y="836712"/>
            <a:ext cx="3306813" cy="2310852"/>
          </a:xfrm>
          <a:prstGeom prst="rect">
            <a:avLst/>
          </a:prstGeom>
        </p:spPr>
      </p:pic>
      <p:graphicFrame>
        <p:nvGraphicFramePr>
          <p:cNvPr id="47" name="Group 13">
            <a:extLst>
              <a:ext uri="{FF2B5EF4-FFF2-40B4-BE49-F238E27FC236}">
                <a16:creationId xmlns:a16="http://schemas.microsoft.com/office/drawing/2014/main" id="{321CDDCF-5087-4DEB-80F3-6F7367A61C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782969"/>
              </p:ext>
            </p:extLst>
          </p:nvPr>
        </p:nvGraphicFramePr>
        <p:xfrm>
          <a:off x="5814016" y="3321595"/>
          <a:ext cx="2899092" cy="2520950"/>
        </p:xfrm>
        <a:graphic>
          <a:graphicData uri="http://schemas.openxmlformats.org/drawingml/2006/table">
            <a:tbl>
              <a:tblPr/>
              <a:tblGrid>
                <a:gridCol w="966364">
                  <a:extLst>
                    <a:ext uri="{9D8B030D-6E8A-4147-A177-3AD203B41FA5}">
                      <a16:colId xmlns:a16="http://schemas.microsoft.com/office/drawing/2014/main" val="826496609"/>
                    </a:ext>
                  </a:extLst>
                </a:gridCol>
                <a:gridCol w="966364">
                  <a:extLst>
                    <a:ext uri="{9D8B030D-6E8A-4147-A177-3AD203B41FA5}">
                      <a16:colId xmlns:a16="http://schemas.microsoft.com/office/drawing/2014/main" val="3588644280"/>
                    </a:ext>
                  </a:extLst>
                </a:gridCol>
                <a:gridCol w="966364">
                  <a:extLst>
                    <a:ext uri="{9D8B030D-6E8A-4147-A177-3AD203B41FA5}">
                      <a16:colId xmlns:a16="http://schemas.microsoft.com/office/drawing/2014/main" val="618559902"/>
                    </a:ext>
                  </a:extLst>
                </a:gridCol>
              </a:tblGrid>
              <a:tr h="50419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TW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itchFamily="18" charset="-120"/>
                        </a:rPr>
                        <a:t>x</a:t>
                      </a:r>
                      <a:r>
                        <a:rPr kumimoji="0" lang="en-US" altLang="zh-TW" sz="26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100838" marR="100838" marT="50419" marB="5041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TW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itchFamily="18" charset="-120"/>
                        </a:rPr>
                        <a:t>x</a:t>
                      </a:r>
                      <a:r>
                        <a:rPr kumimoji="0" lang="en-US" altLang="zh-TW" sz="26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100838" marR="100838" marT="50419" marB="504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TW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itchFamily="18" charset="-120"/>
                        </a:rPr>
                        <a:t>y</a:t>
                      </a:r>
                    </a:p>
                  </a:txBody>
                  <a:tcPr marL="100838" marR="100838" marT="50419" marB="504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9910214"/>
                  </a:ext>
                </a:extLst>
              </a:tr>
              <a:tr h="50419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TW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100838" marR="100838" marT="50419" marB="5041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TW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100838" marR="100838" marT="50419" marB="504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TW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100838" marR="100838" marT="50419" marB="504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4960214"/>
                  </a:ext>
                </a:extLst>
              </a:tr>
              <a:tr h="50419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TW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100838" marR="100838" marT="50419" marB="5041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TW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100838" marR="100838" marT="50419" marB="504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TW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100838" marR="100838" marT="50419" marB="504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1386388"/>
                  </a:ext>
                </a:extLst>
              </a:tr>
              <a:tr h="50419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TW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100838" marR="100838" marT="50419" marB="5041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TW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100838" marR="100838" marT="50419" marB="504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TW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100838" marR="100838" marT="50419" marB="504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6349503"/>
                  </a:ext>
                </a:extLst>
              </a:tr>
              <a:tr h="50419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TW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100838" marR="100838" marT="50419" marB="5041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TW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100838" marR="100838" marT="50419" marB="504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TW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100838" marR="100838" marT="50419" marB="504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8137218"/>
                  </a:ext>
                </a:extLst>
              </a:tr>
            </a:tbl>
          </a:graphicData>
        </a:graphic>
      </p:graphicFrame>
      <p:grpSp>
        <p:nvGrpSpPr>
          <p:cNvPr id="48" name="组合 47">
            <a:extLst>
              <a:ext uri="{FF2B5EF4-FFF2-40B4-BE49-F238E27FC236}">
                <a16:creationId xmlns:a16="http://schemas.microsoft.com/office/drawing/2014/main" id="{42DAA10C-E54A-40C9-9831-936B0692F308}"/>
              </a:ext>
            </a:extLst>
          </p:cNvPr>
          <p:cNvGrpSpPr/>
          <p:nvPr/>
        </p:nvGrpSpPr>
        <p:grpSpPr>
          <a:xfrm>
            <a:off x="708616" y="3212976"/>
            <a:ext cx="3406184" cy="2918751"/>
            <a:chOff x="596009" y="1680634"/>
            <a:chExt cx="3406184" cy="2918751"/>
          </a:xfrm>
        </p:grpSpPr>
        <p:sp>
          <p:nvSpPr>
            <p:cNvPr id="49" name="Line 3">
              <a:extLst>
                <a:ext uri="{FF2B5EF4-FFF2-40B4-BE49-F238E27FC236}">
                  <a16:creationId xmlns:a16="http://schemas.microsoft.com/office/drawing/2014/main" id="{BF4546B6-52AD-4A0C-8663-D9E8EAD842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53497" y="1848697"/>
              <a:ext cx="0" cy="243691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985"/>
            </a:p>
          </p:txBody>
        </p:sp>
        <p:sp>
          <p:nvSpPr>
            <p:cNvPr id="50" name="Line 4">
              <a:extLst>
                <a:ext uri="{FF2B5EF4-FFF2-40B4-BE49-F238E27FC236}">
                  <a16:creationId xmlns:a16="http://schemas.microsoft.com/office/drawing/2014/main" id="{59BE9ABD-4B6E-4C8B-BA11-3FC68B77BB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45117" y="3361267"/>
              <a:ext cx="268901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985"/>
            </a:p>
          </p:txBody>
        </p:sp>
        <p:sp>
          <p:nvSpPr>
            <p:cNvPr id="51" name="Text Box 5">
              <a:extLst>
                <a:ext uri="{FF2B5EF4-FFF2-40B4-BE49-F238E27FC236}">
                  <a16:creationId xmlns:a16="http://schemas.microsoft.com/office/drawing/2014/main" id="{8F6064AD-8583-492B-9D5C-E7F2C6C028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8003" y="2773046"/>
              <a:ext cx="381836" cy="3978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sv-SE" altLang="zh-CN" sz="1985"/>
                <a:t>x</a:t>
              </a:r>
              <a:r>
                <a:rPr lang="sv-SE" altLang="zh-CN" sz="1985" baseline="-25000"/>
                <a:t>1</a:t>
              </a:r>
              <a:endParaRPr lang="en-US" altLang="zh-TW" sz="1985" baseline="-25000">
                <a:ea typeface="新細明體" pitchFamily="18" charset="-120"/>
              </a:endParaRPr>
            </a:p>
          </p:txBody>
        </p:sp>
        <p:sp>
          <p:nvSpPr>
            <p:cNvPr id="52" name="Text Box 6">
              <a:extLst>
                <a:ext uri="{FF2B5EF4-FFF2-40B4-BE49-F238E27FC236}">
                  <a16:creationId xmlns:a16="http://schemas.microsoft.com/office/drawing/2014/main" id="{4A3D6976-C2F0-4E2E-A213-6A20310699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37528" y="1680634"/>
              <a:ext cx="381836" cy="3978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sv-SE" altLang="zh-CN" sz="1985"/>
                <a:t>x</a:t>
              </a:r>
              <a:r>
                <a:rPr lang="sv-SE" altLang="zh-CN" sz="1985" baseline="-25000"/>
                <a:t>2</a:t>
              </a:r>
              <a:endParaRPr lang="en-US" altLang="zh-TW" sz="1985" baseline="-25000">
                <a:ea typeface="新細明體" pitchFamily="18" charset="-120"/>
              </a:endParaRPr>
            </a:p>
          </p:txBody>
        </p:sp>
        <p:sp>
          <p:nvSpPr>
            <p:cNvPr id="53" name="Line 7">
              <a:extLst>
                <a:ext uri="{FF2B5EF4-FFF2-40B4-BE49-F238E27FC236}">
                  <a16:creationId xmlns:a16="http://schemas.microsoft.com/office/drawing/2014/main" id="{6814486B-AC3D-4B16-9602-7391FCD37E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33338" y="1848697"/>
              <a:ext cx="2268855" cy="2016760"/>
            </a:xfrm>
            <a:prstGeom prst="line">
              <a:avLst/>
            </a:prstGeom>
            <a:noFill/>
            <a:ln w="57150">
              <a:solidFill>
                <a:schemeClr val="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985"/>
            </a:p>
          </p:txBody>
        </p:sp>
        <p:sp>
          <p:nvSpPr>
            <p:cNvPr id="54" name="Oval 8">
              <a:extLst>
                <a:ext uri="{FF2B5EF4-FFF2-40B4-BE49-F238E27FC236}">
                  <a16:creationId xmlns:a16="http://schemas.microsoft.com/office/drawing/2014/main" id="{43B9BD8D-6649-4271-BE00-470DFE086D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5750" y="2436919"/>
              <a:ext cx="420158" cy="42015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TW" sz="1985">
                  <a:ea typeface="新細明體" pitchFamily="18" charset="-120"/>
                </a:rPr>
                <a:t>1</a:t>
              </a:r>
            </a:p>
          </p:txBody>
        </p:sp>
        <p:sp>
          <p:nvSpPr>
            <p:cNvPr id="55" name="Oval 9">
              <a:extLst>
                <a:ext uri="{FF2B5EF4-FFF2-40B4-BE49-F238E27FC236}">
                  <a16:creationId xmlns:a16="http://schemas.microsoft.com/office/drawing/2014/main" id="{430284C2-919F-48DF-9CE4-62917FA489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5434" y="2436919"/>
              <a:ext cx="420158" cy="42015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TW" sz="1985">
                  <a:ea typeface="新細明體" pitchFamily="18" charset="-120"/>
                </a:rPr>
                <a:t>0</a:t>
              </a:r>
            </a:p>
          </p:txBody>
        </p:sp>
        <p:sp>
          <p:nvSpPr>
            <p:cNvPr id="56" name="Oval 10">
              <a:extLst>
                <a:ext uri="{FF2B5EF4-FFF2-40B4-BE49-F238E27FC236}">
                  <a16:creationId xmlns:a16="http://schemas.microsoft.com/office/drawing/2014/main" id="{6C524AE4-1841-4CBB-8DC7-298C52CEC7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5434" y="3109172"/>
              <a:ext cx="420158" cy="42015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TW" sz="1985">
                  <a:ea typeface="新細明體" pitchFamily="18" charset="-120"/>
                </a:rPr>
                <a:t>0</a:t>
              </a:r>
            </a:p>
          </p:txBody>
        </p:sp>
        <p:sp>
          <p:nvSpPr>
            <p:cNvPr id="57" name="Oval 11">
              <a:extLst>
                <a:ext uri="{FF2B5EF4-FFF2-40B4-BE49-F238E27FC236}">
                  <a16:creationId xmlns:a16="http://schemas.microsoft.com/office/drawing/2014/main" id="{1128F301-4F59-47B0-A816-5A94E40271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5750" y="3109172"/>
              <a:ext cx="420158" cy="42015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TW" sz="1985">
                  <a:ea typeface="新細明體" pitchFamily="18" charset="-120"/>
                </a:rPr>
                <a:t>0</a:t>
              </a:r>
            </a:p>
          </p:txBody>
        </p:sp>
        <p:sp>
          <p:nvSpPr>
            <p:cNvPr id="58" name="Text Box 12">
              <a:extLst>
                <a:ext uri="{FF2B5EF4-FFF2-40B4-BE49-F238E27FC236}">
                  <a16:creationId xmlns:a16="http://schemas.microsoft.com/office/drawing/2014/main" id="{56A6151D-644C-4010-88D4-CC6C8B1314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3181" y="4201584"/>
              <a:ext cx="1416863" cy="3978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TW" sz="1985">
                  <a:ea typeface="新細明體" pitchFamily="18" charset="-120"/>
                </a:rPr>
                <a:t>Logical AND</a:t>
              </a:r>
            </a:p>
          </p:txBody>
        </p:sp>
        <p:sp>
          <p:nvSpPr>
            <p:cNvPr id="59" name="Text Box 45">
              <a:extLst>
                <a:ext uri="{FF2B5EF4-FFF2-40B4-BE49-F238E27FC236}">
                  <a16:creationId xmlns:a16="http://schemas.microsoft.com/office/drawing/2014/main" id="{0760FDEE-A52D-4F04-AA8D-AB16CF619E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6009" y="1854333"/>
              <a:ext cx="969266" cy="10110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r>
                <a:rPr lang="en-US" altLang="zh-TW" sz="1985" dirty="0">
                  <a:ea typeface="新細明體" pitchFamily="18" charset="-120"/>
                </a:rPr>
                <a:t>w</a:t>
              </a:r>
              <a:r>
                <a:rPr lang="en-US" altLang="zh-TW" sz="1985" baseline="-25000" dirty="0">
                  <a:ea typeface="新細明體" pitchFamily="18" charset="-120"/>
                </a:rPr>
                <a:t>1</a:t>
              </a:r>
              <a:r>
                <a:rPr lang="en-US" altLang="zh-TW" sz="1985" dirty="0">
                  <a:ea typeface="新細明體" pitchFamily="18" charset="-120"/>
                </a:rPr>
                <a:t>=1</a:t>
              </a:r>
            </a:p>
            <a:p>
              <a:r>
                <a:rPr lang="en-US" altLang="zh-TW" sz="1985" dirty="0">
                  <a:ea typeface="新細明體" pitchFamily="18" charset="-120"/>
                </a:rPr>
                <a:t>w</a:t>
              </a:r>
              <a:r>
                <a:rPr lang="en-US" altLang="zh-TW" sz="1985" baseline="-25000" dirty="0">
                  <a:ea typeface="新細明體" pitchFamily="18" charset="-120"/>
                </a:rPr>
                <a:t>2</a:t>
              </a:r>
              <a:r>
                <a:rPr lang="en-US" altLang="zh-TW" sz="1985" dirty="0">
                  <a:ea typeface="新細明體" pitchFamily="18" charset="-120"/>
                </a:rPr>
                <a:t>=1</a:t>
              </a:r>
            </a:p>
            <a:p>
              <a:r>
                <a:rPr lang="en-US" altLang="zh-TW" sz="2000" dirty="0">
                  <a:ea typeface="新細明體" pitchFamily="18" charset="-120"/>
                </a:rPr>
                <a:t>w</a:t>
              </a:r>
              <a:r>
                <a:rPr lang="en-US" altLang="zh-TW" sz="2000" baseline="-25000" dirty="0">
                  <a:ea typeface="新細明體" pitchFamily="18" charset="-120"/>
                </a:rPr>
                <a:t>0</a:t>
              </a:r>
              <a:r>
                <a:rPr lang="en-US" altLang="zh-TW" sz="1985" dirty="0">
                  <a:ea typeface="新細明體" pitchFamily="18" charset="-120"/>
                </a:rPr>
                <a:t>=1.5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82595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8229600" cy="1143000"/>
          </a:xfrm>
        </p:spPr>
        <p:txBody>
          <a:bodyPr>
            <a:normAutofit/>
          </a:bodyPr>
          <a:lstStyle/>
          <a:p>
            <a:pPr marL="314325" marR="312420" algn="l">
              <a:spcBef>
                <a:spcPts val="15"/>
              </a:spcBef>
              <a:spcAft>
                <a:spcPts val="0"/>
              </a:spcAft>
            </a:pPr>
            <a:r>
              <a:rPr lang="zh-CN" altLang="en-US" sz="3200" b="1" kern="0" dirty="0">
                <a:latin typeface="仿宋" panose="02010609060101010101" pitchFamily="49" charset="-122"/>
                <a:ea typeface="仿宋" panose="02010609060101010101" pitchFamily="49" charset="-122"/>
              </a:rPr>
              <a:t>线性可分</a:t>
            </a:r>
            <a:endParaRPr lang="zh-CN" altLang="zh-CN" sz="3200" b="1" kern="0" dirty="0">
              <a:effectLst/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graphicFrame>
        <p:nvGraphicFramePr>
          <p:cNvPr id="59" name="Group 13">
            <a:extLst>
              <a:ext uri="{FF2B5EF4-FFF2-40B4-BE49-F238E27FC236}">
                <a16:creationId xmlns:a16="http://schemas.microsoft.com/office/drawing/2014/main" id="{ACDA2006-7BB5-4BD4-86BE-46E54C28EF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6665921"/>
              </p:ext>
            </p:extLst>
          </p:nvPr>
        </p:nvGraphicFramePr>
        <p:xfrm>
          <a:off x="5527892" y="2169467"/>
          <a:ext cx="2899092" cy="2520950"/>
        </p:xfrm>
        <a:graphic>
          <a:graphicData uri="http://schemas.openxmlformats.org/drawingml/2006/table">
            <a:tbl>
              <a:tblPr/>
              <a:tblGrid>
                <a:gridCol w="966364">
                  <a:extLst>
                    <a:ext uri="{9D8B030D-6E8A-4147-A177-3AD203B41FA5}">
                      <a16:colId xmlns:a16="http://schemas.microsoft.com/office/drawing/2014/main" val="826496609"/>
                    </a:ext>
                  </a:extLst>
                </a:gridCol>
                <a:gridCol w="966364">
                  <a:extLst>
                    <a:ext uri="{9D8B030D-6E8A-4147-A177-3AD203B41FA5}">
                      <a16:colId xmlns:a16="http://schemas.microsoft.com/office/drawing/2014/main" val="3588644280"/>
                    </a:ext>
                  </a:extLst>
                </a:gridCol>
                <a:gridCol w="966364">
                  <a:extLst>
                    <a:ext uri="{9D8B030D-6E8A-4147-A177-3AD203B41FA5}">
                      <a16:colId xmlns:a16="http://schemas.microsoft.com/office/drawing/2014/main" val="618559902"/>
                    </a:ext>
                  </a:extLst>
                </a:gridCol>
              </a:tblGrid>
              <a:tr h="50419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TW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itchFamily="18" charset="-120"/>
                        </a:rPr>
                        <a:t>x</a:t>
                      </a:r>
                      <a:r>
                        <a:rPr kumimoji="0" lang="en-US" altLang="zh-TW" sz="26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100838" marR="100838" marT="50419" marB="5041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TW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itchFamily="18" charset="-120"/>
                        </a:rPr>
                        <a:t>x</a:t>
                      </a:r>
                      <a:r>
                        <a:rPr kumimoji="0" lang="en-US" altLang="zh-TW" sz="2600" b="0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100838" marR="100838" marT="50419" marB="504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TW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itchFamily="18" charset="-120"/>
                        </a:rPr>
                        <a:t>y</a:t>
                      </a:r>
                    </a:p>
                  </a:txBody>
                  <a:tcPr marL="100838" marR="100838" marT="50419" marB="504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9910214"/>
                  </a:ext>
                </a:extLst>
              </a:tr>
              <a:tr h="50419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TW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100838" marR="100838" marT="50419" marB="5041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TW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100838" marR="100838" marT="50419" marB="504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TW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100838" marR="100838" marT="50419" marB="504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4960214"/>
                  </a:ext>
                </a:extLst>
              </a:tr>
              <a:tr h="50419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TW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100838" marR="100838" marT="50419" marB="5041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TW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100838" marR="100838" marT="50419" marB="504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TW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100838" marR="100838" marT="50419" marB="504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1386388"/>
                  </a:ext>
                </a:extLst>
              </a:tr>
              <a:tr h="50419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TW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100838" marR="100838" marT="50419" marB="5041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TW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100838" marR="100838" marT="50419" marB="504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TW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100838" marR="100838" marT="50419" marB="504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36349503"/>
                  </a:ext>
                </a:extLst>
              </a:tr>
              <a:tr h="50419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TW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100838" marR="100838" marT="50419" marB="5041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TW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100838" marR="100838" marT="50419" marB="504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TW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100838" marR="100838" marT="50419" marB="504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8137218"/>
                  </a:ext>
                </a:extLst>
              </a:tr>
            </a:tbl>
          </a:graphicData>
        </a:graphic>
      </p:graphicFrame>
      <p:grpSp>
        <p:nvGrpSpPr>
          <p:cNvPr id="60" name="组合 59">
            <a:extLst>
              <a:ext uri="{FF2B5EF4-FFF2-40B4-BE49-F238E27FC236}">
                <a16:creationId xmlns:a16="http://schemas.microsoft.com/office/drawing/2014/main" id="{3F72F49D-302F-4A44-B037-C74CEB3ABEDB}"/>
              </a:ext>
            </a:extLst>
          </p:cNvPr>
          <p:cNvGrpSpPr/>
          <p:nvPr/>
        </p:nvGrpSpPr>
        <p:grpSpPr>
          <a:xfrm>
            <a:off x="971600" y="2060848"/>
            <a:ext cx="2734722" cy="2918751"/>
            <a:chOff x="1145117" y="1680634"/>
            <a:chExt cx="2734722" cy="2918751"/>
          </a:xfrm>
        </p:grpSpPr>
        <p:sp>
          <p:nvSpPr>
            <p:cNvPr id="61" name="Line 3">
              <a:extLst>
                <a:ext uri="{FF2B5EF4-FFF2-40B4-BE49-F238E27FC236}">
                  <a16:creationId xmlns:a16="http://schemas.microsoft.com/office/drawing/2014/main" id="{5086B615-24D2-4514-AD1B-CCDA3899EC7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53497" y="1848697"/>
              <a:ext cx="0" cy="243691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985"/>
            </a:p>
          </p:txBody>
        </p:sp>
        <p:sp>
          <p:nvSpPr>
            <p:cNvPr id="62" name="Line 4">
              <a:extLst>
                <a:ext uri="{FF2B5EF4-FFF2-40B4-BE49-F238E27FC236}">
                  <a16:creationId xmlns:a16="http://schemas.microsoft.com/office/drawing/2014/main" id="{1EECB9CB-F6D2-48F6-844A-9F5AE172BD6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145117" y="3361267"/>
              <a:ext cx="2689013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985"/>
            </a:p>
          </p:txBody>
        </p:sp>
        <p:sp>
          <p:nvSpPr>
            <p:cNvPr id="63" name="Text Box 5">
              <a:extLst>
                <a:ext uri="{FF2B5EF4-FFF2-40B4-BE49-F238E27FC236}">
                  <a16:creationId xmlns:a16="http://schemas.microsoft.com/office/drawing/2014/main" id="{88018936-AA88-462A-847B-D51746609C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98003" y="2773046"/>
              <a:ext cx="381836" cy="3978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sv-SE" altLang="zh-CN" sz="1985"/>
                <a:t>x</a:t>
              </a:r>
              <a:r>
                <a:rPr lang="sv-SE" altLang="zh-CN" sz="1985" baseline="-25000"/>
                <a:t>1</a:t>
              </a:r>
              <a:endParaRPr lang="en-US" altLang="zh-TW" sz="1985" baseline="-25000">
                <a:ea typeface="新細明體" pitchFamily="18" charset="-120"/>
              </a:endParaRPr>
            </a:p>
          </p:txBody>
        </p:sp>
        <p:sp>
          <p:nvSpPr>
            <p:cNvPr id="64" name="Text Box 6">
              <a:extLst>
                <a:ext uri="{FF2B5EF4-FFF2-40B4-BE49-F238E27FC236}">
                  <a16:creationId xmlns:a16="http://schemas.microsoft.com/office/drawing/2014/main" id="{014E6814-1827-47E8-8664-C26F3D8455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37528" y="1680634"/>
              <a:ext cx="381836" cy="3978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sv-SE" altLang="zh-CN" sz="1985"/>
                <a:t>x</a:t>
              </a:r>
              <a:r>
                <a:rPr lang="sv-SE" altLang="zh-CN" sz="1985" baseline="-25000"/>
                <a:t>2</a:t>
              </a:r>
              <a:endParaRPr lang="en-US" altLang="zh-TW" sz="1985" baseline="-25000">
                <a:ea typeface="新細明體" pitchFamily="18" charset="-120"/>
              </a:endParaRPr>
            </a:p>
          </p:txBody>
        </p:sp>
        <p:sp>
          <p:nvSpPr>
            <p:cNvPr id="65" name="Line 7">
              <a:extLst>
                <a:ext uri="{FF2B5EF4-FFF2-40B4-BE49-F238E27FC236}">
                  <a16:creationId xmlns:a16="http://schemas.microsoft.com/office/drawing/2014/main" id="{6DDA35DC-F7B5-4D3F-9571-B47C8C45E4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52791" y="2311631"/>
              <a:ext cx="2268855" cy="2016760"/>
            </a:xfrm>
            <a:prstGeom prst="line">
              <a:avLst/>
            </a:prstGeom>
            <a:noFill/>
            <a:ln w="57150">
              <a:solidFill>
                <a:schemeClr val="hlink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985"/>
            </a:p>
          </p:txBody>
        </p:sp>
        <p:sp>
          <p:nvSpPr>
            <p:cNvPr id="66" name="Oval 8">
              <a:extLst>
                <a:ext uri="{FF2B5EF4-FFF2-40B4-BE49-F238E27FC236}">
                  <a16:creationId xmlns:a16="http://schemas.microsoft.com/office/drawing/2014/main" id="{34D8CD49-8CCE-4600-ADE9-BD824D91C9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5750" y="2436919"/>
              <a:ext cx="420158" cy="42015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TW" sz="1985" dirty="0">
                  <a:ea typeface="新細明體" pitchFamily="18" charset="-120"/>
                </a:rPr>
                <a:t>1</a:t>
              </a:r>
            </a:p>
          </p:txBody>
        </p:sp>
        <p:sp>
          <p:nvSpPr>
            <p:cNvPr id="67" name="Oval 9">
              <a:extLst>
                <a:ext uri="{FF2B5EF4-FFF2-40B4-BE49-F238E27FC236}">
                  <a16:creationId xmlns:a16="http://schemas.microsoft.com/office/drawing/2014/main" id="{8D81ED16-3C03-40F8-903A-5654065833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5434" y="2436919"/>
              <a:ext cx="420158" cy="42015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TW" sz="1985" dirty="0">
                  <a:ea typeface="新細明體" pitchFamily="18" charset="-120"/>
                </a:rPr>
                <a:t>1</a:t>
              </a:r>
            </a:p>
          </p:txBody>
        </p:sp>
        <p:sp>
          <p:nvSpPr>
            <p:cNvPr id="68" name="Oval 10">
              <a:extLst>
                <a:ext uri="{FF2B5EF4-FFF2-40B4-BE49-F238E27FC236}">
                  <a16:creationId xmlns:a16="http://schemas.microsoft.com/office/drawing/2014/main" id="{0F4B47B5-C13B-4B8A-94D2-1CD9A23360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5434" y="3109172"/>
              <a:ext cx="420158" cy="42015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TW" sz="1985">
                  <a:ea typeface="新細明體" pitchFamily="18" charset="-120"/>
                </a:rPr>
                <a:t>0</a:t>
              </a:r>
            </a:p>
          </p:txBody>
        </p:sp>
        <p:sp>
          <p:nvSpPr>
            <p:cNvPr id="69" name="Oval 11">
              <a:extLst>
                <a:ext uri="{FF2B5EF4-FFF2-40B4-BE49-F238E27FC236}">
                  <a16:creationId xmlns:a16="http://schemas.microsoft.com/office/drawing/2014/main" id="{CD9C0AAF-0C58-4589-AC9D-2F077DA873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5750" y="3109172"/>
              <a:ext cx="420158" cy="420158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zh-TW" sz="1985" dirty="0">
                  <a:ea typeface="新細明體" pitchFamily="18" charset="-120"/>
                </a:rPr>
                <a:t>1</a:t>
              </a:r>
            </a:p>
          </p:txBody>
        </p:sp>
        <p:sp>
          <p:nvSpPr>
            <p:cNvPr id="70" name="Text Box 12">
              <a:extLst>
                <a:ext uri="{FF2B5EF4-FFF2-40B4-BE49-F238E27FC236}">
                  <a16:creationId xmlns:a16="http://schemas.microsoft.com/office/drawing/2014/main" id="{04CF22D7-EBBE-4C12-8ECF-6B29E960DA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13181" y="4201584"/>
              <a:ext cx="1253356" cy="3978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TW" sz="1985" dirty="0">
                  <a:ea typeface="新細明體" pitchFamily="18" charset="-120"/>
                </a:rPr>
                <a:t>Logical OR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95432404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8229600" cy="1143000"/>
          </a:xfrm>
        </p:spPr>
        <p:txBody>
          <a:bodyPr>
            <a:normAutofit/>
          </a:bodyPr>
          <a:lstStyle/>
          <a:p>
            <a:pPr marL="314325" marR="312420" algn="l">
              <a:spcBef>
                <a:spcPts val="15"/>
              </a:spcBef>
              <a:spcAft>
                <a:spcPts val="0"/>
              </a:spcAft>
            </a:pPr>
            <a:r>
              <a:rPr lang="zh-CN" altLang="en-US" sz="3200" b="1" kern="0" dirty="0">
                <a:latin typeface="仿宋" panose="02010609060101010101" pitchFamily="49" charset="-122"/>
                <a:ea typeface="仿宋" panose="02010609060101010101" pitchFamily="49" charset="-122"/>
              </a:rPr>
              <a:t>线性可分</a:t>
            </a:r>
            <a:endParaRPr lang="zh-CN" altLang="zh-CN" sz="3200" b="1" kern="0" dirty="0">
              <a:effectLst/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3DDC3BBD-B7BF-4452-97A2-5BF0D664DE35}"/>
              </a:ext>
            </a:extLst>
          </p:cNvPr>
          <p:cNvGrpSpPr/>
          <p:nvPr/>
        </p:nvGrpSpPr>
        <p:grpSpPr>
          <a:xfrm>
            <a:off x="504376" y="1783149"/>
            <a:ext cx="3445298" cy="2750688"/>
            <a:chOff x="4926542" y="1764665"/>
            <a:chExt cx="3445298" cy="2750688"/>
          </a:xfrm>
        </p:grpSpPr>
        <p:sp>
          <p:nvSpPr>
            <p:cNvPr id="48" name="Line 46">
              <a:extLst>
                <a:ext uri="{FF2B5EF4-FFF2-40B4-BE49-F238E27FC236}">
                  <a16:creationId xmlns:a16="http://schemas.microsoft.com/office/drawing/2014/main" id="{5ECEDEA9-4D2F-462B-9C6A-BB530A17DA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23143" y="1764665"/>
              <a:ext cx="0" cy="243691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miter lim="800000"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985"/>
            </a:p>
          </p:txBody>
        </p:sp>
        <p:sp>
          <p:nvSpPr>
            <p:cNvPr id="49" name="Line 49">
              <a:extLst>
                <a:ext uri="{FF2B5EF4-FFF2-40B4-BE49-F238E27FC236}">
                  <a16:creationId xmlns:a16="http://schemas.microsoft.com/office/drawing/2014/main" id="{6B0571AA-497B-4E36-B444-754CDEAF04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02985" y="1764665"/>
              <a:ext cx="2268855" cy="2016760"/>
            </a:xfrm>
            <a:prstGeom prst="line">
              <a:avLst/>
            </a:prstGeom>
            <a:noFill/>
            <a:ln w="57150">
              <a:solidFill>
                <a:schemeClr val="hlink"/>
              </a:solidFill>
              <a:prstDash val="lgDash"/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/>
            <a:lstStyle/>
            <a:p>
              <a:endParaRPr lang="zh-CN" altLang="en-US" sz="1985"/>
            </a:p>
          </p:txBody>
        </p:sp>
        <p:sp>
          <p:nvSpPr>
            <p:cNvPr id="50" name="Text Box 53">
              <a:extLst>
                <a:ext uri="{FF2B5EF4-FFF2-40B4-BE49-F238E27FC236}">
                  <a16:creationId xmlns:a16="http://schemas.microsoft.com/office/drawing/2014/main" id="{3190E926-B99C-4BE9-94DD-86CF57658A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26542" y="1764665"/>
              <a:ext cx="756938" cy="10110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en-US" altLang="zh-TW" sz="1985" dirty="0">
                  <a:ea typeface="新細明體" pitchFamily="18" charset="-120"/>
                </a:rPr>
                <a:t>w</a:t>
              </a:r>
              <a:r>
                <a:rPr lang="en-US" altLang="zh-TW" sz="1985" baseline="-25000" dirty="0">
                  <a:ea typeface="新細明體" pitchFamily="18" charset="-120"/>
                </a:rPr>
                <a:t>1</a:t>
              </a:r>
              <a:r>
                <a:rPr lang="en-US" altLang="zh-TW" sz="1985" dirty="0">
                  <a:ea typeface="新細明體" pitchFamily="18" charset="-120"/>
                </a:rPr>
                <a:t>=?</a:t>
              </a:r>
            </a:p>
            <a:p>
              <a:r>
                <a:rPr lang="en-US" altLang="zh-TW" sz="1985" dirty="0">
                  <a:ea typeface="新細明體" pitchFamily="18" charset="-120"/>
                </a:rPr>
                <a:t>w</a:t>
              </a:r>
              <a:r>
                <a:rPr lang="en-US" altLang="zh-TW" sz="1985" baseline="-25000" dirty="0">
                  <a:ea typeface="新細明體" pitchFamily="18" charset="-120"/>
                </a:rPr>
                <a:t>2</a:t>
              </a:r>
              <a:r>
                <a:rPr lang="en-US" altLang="zh-TW" sz="1985" dirty="0">
                  <a:ea typeface="新細明體" pitchFamily="18" charset="-120"/>
                </a:rPr>
                <a:t>=?</a:t>
              </a:r>
            </a:p>
            <a:p>
              <a:r>
                <a:rPr lang="en-US" altLang="zh-TW" dirty="0">
                  <a:ea typeface="新細明體" pitchFamily="18" charset="-120"/>
                </a:rPr>
                <a:t>w</a:t>
              </a:r>
              <a:r>
                <a:rPr lang="en-US" altLang="zh-TW" baseline="-25000" dirty="0">
                  <a:ea typeface="新細明體" pitchFamily="18" charset="-120"/>
                </a:rPr>
                <a:t>0</a:t>
              </a:r>
              <a:r>
                <a:rPr lang="en-US" altLang="zh-TW" sz="1985" dirty="0">
                  <a:ea typeface="新細明體" pitchFamily="18" charset="-120"/>
                </a:rPr>
                <a:t>= ?</a:t>
              </a:r>
            </a:p>
          </p:txBody>
        </p:sp>
        <p:grpSp>
          <p:nvGrpSpPr>
            <p:cNvPr id="51" name="组合 50">
              <a:extLst>
                <a:ext uri="{FF2B5EF4-FFF2-40B4-BE49-F238E27FC236}">
                  <a16:creationId xmlns:a16="http://schemas.microsoft.com/office/drawing/2014/main" id="{36A0E6AD-2A3A-450B-B776-D8B17CE6EC73}"/>
                </a:ext>
              </a:extLst>
            </p:cNvPr>
            <p:cNvGrpSpPr/>
            <p:nvPr/>
          </p:nvGrpSpPr>
          <p:grpSpPr>
            <a:xfrm>
              <a:off x="5514764" y="2352887"/>
              <a:ext cx="2734722" cy="2162466"/>
              <a:chOff x="5514764" y="2352887"/>
              <a:chExt cx="2734722" cy="2162466"/>
            </a:xfrm>
          </p:grpSpPr>
          <p:sp>
            <p:nvSpPr>
              <p:cNvPr id="52" name="Line 47">
                <a:extLst>
                  <a:ext uri="{FF2B5EF4-FFF2-40B4-BE49-F238E27FC236}">
                    <a16:creationId xmlns:a16="http://schemas.microsoft.com/office/drawing/2014/main" id="{B5625EC3-17CD-4FD4-915B-6B530AE7AD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514764" y="3277235"/>
                <a:ext cx="2689013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miter lim="800000"/>
                <a:headEnd type="triangle" w="med" len="med"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/>
              <a:lstStyle/>
              <a:p>
                <a:endParaRPr lang="zh-CN" altLang="en-US" sz="1985"/>
              </a:p>
            </p:txBody>
          </p:sp>
          <p:sp>
            <p:nvSpPr>
              <p:cNvPr id="53" name="Text Box 48">
                <a:extLst>
                  <a:ext uri="{FF2B5EF4-FFF2-40B4-BE49-F238E27FC236}">
                    <a16:creationId xmlns:a16="http://schemas.microsoft.com/office/drawing/2014/main" id="{3FFF3D4C-4397-41A9-9B0A-B4DCE2105C6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867650" y="2689014"/>
                <a:ext cx="381836" cy="39780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sv-SE" altLang="zh-CN" sz="1985"/>
                  <a:t>x</a:t>
                </a:r>
                <a:r>
                  <a:rPr lang="sv-SE" altLang="zh-CN" sz="1985" baseline="-25000"/>
                  <a:t>1</a:t>
                </a:r>
                <a:endParaRPr lang="en-US" altLang="zh-TW" sz="1985" baseline="-25000">
                  <a:ea typeface="新細明體" pitchFamily="18" charset="-120"/>
                </a:endParaRPr>
              </a:p>
            </p:txBody>
          </p:sp>
          <p:sp>
            <p:nvSpPr>
              <p:cNvPr id="54" name="Oval 50">
                <a:extLst>
                  <a:ext uri="{FF2B5EF4-FFF2-40B4-BE49-F238E27FC236}">
                    <a16:creationId xmlns:a16="http://schemas.microsoft.com/office/drawing/2014/main" id="{15FA0820-2A1D-4C9F-8167-3E9619F374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95397" y="2352887"/>
                <a:ext cx="420158" cy="42015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TW" sz="1985">
                    <a:ea typeface="新細明體" pitchFamily="18" charset="-120"/>
                  </a:rPr>
                  <a:t>1</a:t>
                </a:r>
              </a:p>
            </p:txBody>
          </p:sp>
          <p:sp>
            <p:nvSpPr>
              <p:cNvPr id="55" name="Oval 51">
                <a:extLst>
                  <a:ext uri="{FF2B5EF4-FFF2-40B4-BE49-F238E27FC236}">
                    <a16:creationId xmlns:a16="http://schemas.microsoft.com/office/drawing/2014/main" id="{35391C77-4B36-43C3-98D0-0BE37B51BB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55080" y="2352887"/>
                <a:ext cx="420158" cy="42015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TW" sz="1985">
                    <a:ea typeface="新細明體" pitchFamily="18" charset="-120"/>
                  </a:rPr>
                  <a:t>0</a:t>
                </a:r>
              </a:p>
            </p:txBody>
          </p:sp>
          <p:sp>
            <p:nvSpPr>
              <p:cNvPr id="56" name="Oval 52">
                <a:extLst>
                  <a:ext uri="{FF2B5EF4-FFF2-40B4-BE49-F238E27FC236}">
                    <a16:creationId xmlns:a16="http://schemas.microsoft.com/office/drawing/2014/main" id="{D3143645-3E02-47D2-919A-AAA6DC089D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95397" y="3025140"/>
                <a:ext cx="420158" cy="42015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TW" sz="1985">
                    <a:ea typeface="新細明體" pitchFamily="18" charset="-120"/>
                  </a:rPr>
                  <a:t>0</a:t>
                </a:r>
              </a:p>
            </p:txBody>
          </p:sp>
          <p:sp>
            <p:nvSpPr>
              <p:cNvPr id="57" name="Oval 54">
                <a:extLst>
                  <a:ext uri="{FF2B5EF4-FFF2-40B4-BE49-F238E27FC236}">
                    <a16:creationId xmlns:a16="http://schemas.microsoft.com/office/drawing/2014/main" id="{B2E0818D-C1B0-42AA-8019-54CA517208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55080" y="3025140"/>
                <a:ext cx="420158" cy="420158"/>
              </a:xfrm>
              <a:prstGeom prst="ellipse">
                <a:avLst/>
              </a:prstGeom>
              <a:solidFill>
                <a:schemeClr val="accent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algn="ctr"/>
                <a:r>
                  <a:rPr lang="en-US" altLang="zh-TW" sz="1985">
                    <a:ea typeface="新細明體" pitchFamily="18" charset="-120"/>
                  </a:rPr>
                  <a:t>1</a:t>
                </a:r>
              </a:p>
            </p:txBody>
          </p:sp>
          <p:sp>
            <p:nvSpPr>
              <p:cNvPr id="58" name="Text Box 55">
                <a:extLst>
                  <a:ext uri="{FF2B5EF4-FFF2-40B4-BE49-F238E27FC236}">
                    <a16:creationId xmlns:a16="http://schemas.microsoft.com/office/drawing/2014/main" id="{2F90CF57-F0E1-41AD-A557-FC0FB3B1B9C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850891" y="4117552"/>
                <a:ext cx="1377749" cy="39780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r>
                  <a:rPr lang="en-US" altLang="zh-TW" sz="1985">
                    <a:ea typeface="新細明體" pitchFamily="18" charset="-120"/>
                  </a:rPr>
                  <a:t>Logical XOR</a:t>
                </a:r>
              </a:p>
            </p:txBody>
          </p:sp>
        </p:grpSp>
      </p:grpSp>
      <p:graphicFrame>
        <p:nvGraphicFramePr>
          <p:cNvPr id="59" name="Group 56">
            <a:extLst>
              <a:ext uri="{FF2B5EF4-FFF2-40B4-BE49-F238E27FC236}">
                <a16:creationId xmlns:a16="http://schemas.microsoft.com/office/drawing/2014/main" id="{6DC4DFD4-1749-4793-B38A-6FA034D5A3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0842662"/>
              </p:ext>
            </p:extLst>
          </p:nvPr>
        </p:nvGraphicFramePr>
        <p:xfrm>
          <a:off x="5580112" y="1844824"/>
          <a:ext cx="3259728" cy="2520950"/>
        </p:xfrm>
        <a:graphic>
          <a:graphicData uri="http://schemas.openxmlformats.org/drawingml/2006/table">
            <a:tbl>
              <a:tblPr/>
              <a:tblGrid>
                <a:gridCol w="1260475">
                  <a:extLst>
                    <a:ext uri="{9D8B030D-6E8A-4147-A177-3AD203B41FA5}">
                      <a16:colId xmlns:a16="http://schemas.microsoft.com/office/drawing/2014/main" val="3340038364"/>
                    </a:ext>
                  </a:extLst>
                </a:gridCol>
                <a:gridCol w="1008380">
                  <a:extLst>
                    <a:ext uri="{9D8B030D-6E8A-4147-A177-3AD203B41FA5}">
                      <a16:colId xmlns:a16="http://schemas.microsoft.com/office/drawing/2014/main" val="274510530"/>
                    </a:ext>
                  </a:extLst>
                </a:gridCol>
                <a:gridCol w="990873">
                  <a:extLst>
                    <a:ext uri="{9D8B030D-6E8A-4147-A177-3AD203B41FA5}">
                      <a16:colId xmlns:a16="http://schemas.microsoft.com/office/drawing/2014/main" val="3297349855"/>
                    </a:ext>
                  </a:extLst>
                </a:gridCol>
              </a:tblGrid>
              <a:tr h="50419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TW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itchFamily="18" charset="-120"/>
                        </a:rPr>
                        <a:t>x</a:t>
                      </a:r>
                      <a:r>
                        <a:rPr kumimoji="0" lang="en-US" altLang="zh-TW" sz="26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100838" marR="100838" marT="50419" marB="5041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TW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itchFamily="18" charset="-120"/>
                        </a:rPr>
                        <a:t>x</a:t>
                      </a:r>
                      <a:r>
                        <a:rPr kumimoji="0" lang="en-US" altLang="zh-TW" sz="2600" b="0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itchFamily="18" charset="-120"/>
                        </a:rPr>
                        <a:t>2</a:t>
                      </a:r>
                    </a:p>
                  </a:txBody>
                  <a:tcPr marL="100838" marR="100838" marT="50419" marB="504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TW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itchFamily="18" charset="-120"/>
                        </a:rPr>
                        <a:t>y</a:t>
                      </a:r>
                    </a:p>
                  </a:txBody>
                  <a:tcPr marL="100838" marR="100838" marT="50419" marB="504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3537905"/>
                  </a:ext>
                </a:extLst>
              </a:tr>
              <a:tr h="50419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TW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100838" marR="100838" marT="50419" marB="5041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TW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100838" marR="100838" marT="50419" marB="504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TW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100838" marR="100838" marT="50419" marB="504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11106033"/>
                  </a:ext>
                </a:extLst>
              </a:tr>
              <a:tr h="50419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TW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100838" marR="100838" marT="50419" marB="5041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TW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100838" marR="100838" marT="50419" marB="504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TW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100838" marR="100838" marT="50419" marB="504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5802"/>
                  </a:ext>
                </a:extLst>
              </a:tr>
              <a:tr h="50419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TW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100838" marR="100838" marT="50419" marB="5041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TW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100838" marR="100838" marT="50419" marB="504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TW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100838" marR="100838" marT="50419" marB="504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098957"/>
                  </a:ext>
                </a:extLst>
              </a:tr>
              <a:tr h="50419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TW" sz="2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100838" marR="100838" marT="50419" marB="50419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TW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itchFamily="18" charset="-120"/>
                        </a:rPr>
                        <a:t>1</a:t>
                      </a:r>
                    </a:p>
                  </a:txBody>
                  <a:tcPr marL="100838" marR="100838" marT="50419" marB="504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defRPr sz="28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buClr>
                          <a:schemeClr val="hlink"/>
                        </a:buClr>
                        <a:buSzPct val="55000"/>
                        <a:buFont typeface="Wingdings" panose="05000000000000000000" pitchFamily="2" charset="2"/>
                        <a:defRPr sz="24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50000"/>
                        <a:buFont typeface="Wingdings" panose="05000000000000000000" pitchFamily="2" charset="2"/>
                        <a:defRPr sz="200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5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5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Tahoma" panose="020B060403050404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6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en-US" altLang="zh-TW" sz="2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anose="020B0604030504040204" pitchFamily="34" charset="0"/>
                          <a:ea typeface="新細明體" pitchFamily="18" charset="-120"/>
                        </a:rPr>
                        <a:t>0</a:t>
                      </a:r>
                    </a:p>
                  </a:txBody>
                  <a:tcPr marL="100838" marR="100838" marT="50419" marB="50419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04672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7077629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0"/>
            <a:ext cx="8229600" cy="1143000"/>
          </a:xfrm>
        </p:spPr>
        <p:txBody>
          <a:bodyPr>
            <a:normAutofit/>
          </a:bodyPr>
          <a:lstStyle/>
          <a:p>
            <a:pPr marL="314325" marR="312420" algn="l">
              <a:spcBef>
                <a:spcPts val="15"/>
              </a:spcBef>
              <a:spcAft>
                <a:spcPts val="0"/>
              </a:spcAft>
            </a:pPr>
            <a:r>
              <a:rPr lang="zh-CN" altLang="en-US" sz="3200" b="1" kern="0" dirty="0">
                <a:effectLst/>
                <a:latin typeface="仿宋" panose="02010609060101010101" pitchFamily="49" charset="-122"/>
                <a:ea typeface="仿宋" panose="02010609060101010101" pitchFamily="49" charset="-122"/>
              </a:rPr>
              <a:t>多层网络（神经网络）</a:t>
            </a:r>
            <a:endParaRPr lang="zh-CN" altLang="zh-CN" sz="3200" b="1" kern="0" dirty="0">
              <a:effectLst/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F036F17A-C01B-4372-BE7E-C3D78B6097F7}"/>
              </a:ext>
            </a:extLst>
          </p:cNvPr>
          <p:cNvGrpSpPr/>
          <p:nvPr/>
        </p:nvGrpSpPr>
        <p:grpSpPr>
          <a:xfrm>
            <a:off x="1777249" y="1700808"/>
            <a:ext cx="4882984" cy="4304679"/>
            <a:chOff x="1981309" y="810453"/>
            <a:chExt cx="5703036" cy="5483066"/>
          </a:xfrm>
        </p:grpSpPr>
        <p:grpSp>
          <p:nvGrpSpPr>
            <p:cNvPr id="9" name="Group 3">
              <a:extLst>
                <a:ext uri="{FF2B5EF4-FFF2-40B4-BE49-F238E27FC236}">
                  <a16:creationId xmlns:a16="http://schemas.microsoft.com/office/drawing/2014/main" id="{75010A9F-39FF-46F7-BD7B-C577E5CFD86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23928" y="836712"/>
              <a:ext cx="3760417" cy="5456807"/>
              <a:chOff x="1536" y="1072"/>
              <a:chExt cx="2148" cy="3117"/>
            </a:xfrm>
          </p:grpSpPr>
          <p:sp>
            <p:nvSpPr>
              <p:cNvPr id="10" name="Oval 4">
                <a:extLst>
                  <a:ext uri="{FF2B5EF4-FFF2-40B4-BE49-F238E27FC236}">
                    <a16:creationId xmlns:a16="http://schemas.microsoft.com/office/drawing/2014/main" id="{E5EF3B25-25BB-4A0A-B2DF-5C1D9489CF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30" y="1625"/>
                <a:ext cx="340" cy="316"/>
              </a:xfrm>
              <a:prstGeom prst="ellips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985">
                  <a:latin typeface="+mn-ea"/>
                </a:endParaRPr>
              </a:p>
            </p:txBody>
          </p:sp>
          <p:sp>
            <p:nvSpPr>
              <p:cNvPr id="11" name="Oval 5">
                <a:extLst>
                  <a:ext uri="{FF2B5EF4-FFF2-40B4-BE49-F238E27FC236}">
                    <a16:creationId xmlns:a16="http://schemas.microsoft.com/office/drawing/2014/main" id="{94AD8786-E03F-4ABB-96FD-D3203BCD93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30" y="1642"/>
                <a:ext cx="340" cy="316"/>
              </a:xfrm>
              <a:prstGeom prst="ellips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985">
                  <a:latin typeface="+mn-ea"/>
                </a:endParaRPr>
              </a:p>
            </p:txBody>
          </p:sp>
          <p:sp>
            <p:nvSpPr>
              <p:cNvPr id="12" name="Oval 6">
                <a:extLst>
                  <a:ext uri="{FF2B5EF4-FFF2-40B4-BE49-F238E27FC236}">
                    <a16:creationId xmlns:a16="http://schemas.microsoft.com/office/drawing/2014/main" id="{B18ECC3B-FFBB-497B-8165-D2A15F999A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94" y="1642"/>
                <a:ext cx="340" cy="316"/>
              </a:xfrm>
              <a:prstGeom prst="ellips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985">
                  <a:latin typeface="+mn-ea"/>
                </a:endParaRPr>
              </a:p>
            </p:txBody>
          </p:sp>
          <p:sp>
            <p:nvSpPr>
              <p:cNvPr id="13" name="Oval 7">
                <a:extLst>
                  <a:ext uri="{FF2B5EF4-FFF2-40B4-BE49-F238E27FC236}">
                    <a16:creationId xmlns:a16="http://schemas.microsoft.com/office/drawing/2014/main" id="{ABF68F7E-9962-45EB-B47C-C705266692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449" y="2432"/>
                <a:ext cx="339" cy="316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985">
                  <a:latin typeface="+mn-ea"/>
                </a:endParaRPr>
              </a:p>
            </p:txBody>
          </p:sp>
          <p:sp>
            <p:nvSpPr>
              <p:cNvPr id="14" name="Oval 8">
                <a:extLst>
                  <a:ext uri="{FF2B5EF4-FFF2-40B4-BE49-F238E27FC236}">
                    <a16:creationId xmlns:a16="http://schemas.microsoft.com/office/drawing/2014/main" id="{5B3F5829-1E61-403D-98F2-CAA5906788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344" y="2432"/>
                <a:ext cx="340" cy="316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985">
                  <a:latin typeface="+mn-ea"/>
                </a:endParaRPr>
              </a:p>
            </p:txBody>
          </p:sp>
          <p:sp>
            <p:nvSpPr>
              <p:cNvPr id="15" name="Oval 9">
                <a:extLst>
                  <a:ext uri="{FF2B5EF4-FFF2-40B4-BE49-F238E27FC236}">
                    <a16:creationId xmlns:a16="http://schemas.microsoft.com/office/drawing/2014/main" id="{D3589900-72BF-41F8-B3A9-C4FCF76AD5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36" y="2448"/>
                <a:ext cx="340" cy="316"/>
              </a:xfrm>
              <a:prstGeom prst="ellipse">
                <a:avLst/>
              </a:prstGeom>
              <a:solidFill>
                <a:schemeClr val="tx1"/>
              </a:solidFill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985">
                  <a:latin typeface="+mn-ea"/>
                </a:endParaRPr>
              </a:p>
            </p:txBody>
          </p:sp>
          <p:sp>
            <p:nvSpPr>
              <p:cNvPr id="16" name="Oval 10">
                <a:extLst>
                  <a:ext uri="{FF2B5EF4-FFF2-40B4-BE49-F238E27FC236}">
                    <a16:creationId xmlns:a16="http://schemas.microsoft.com/office/drawing/2014/main" id="{60C33C1E-4154-4E7C-8B78-069B97C8C5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55" y="3288"/>
                <a:ext cx="339" cy="316"/>
              </a:xfrm>
              <a:prstGeom prst="ellips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985">
                  <a:latin typeface="+mn-ea"/>
                </a:endParaRPr>
              </a:p>
            </p:txBody>
          </p:sp>
          <p:sp>
            <p:nvSpPr>
              <p:cNvPr id="17" name="Oval 11">
                <a:extLst>
                  <a:ext uri="{FF2B5EF4-FFF2-40B4-BE49-F238E27FC236}">
                    <a16:creationId xmlns:a16="http://schemas.microsoft.com/office/drawing/2014/main" id="{BD70710C-E85F-42B9-9D84-B6D8768B4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897" y="3269"/>
                <a:ext cx="339" cy="316"/>
              </a:xfrm>
              <a:prstGeom prst="ellipse">
                <a:avLst/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985">
                  <a:latin typeface="+mn-ea"/>
                </a:endParaRPr>
              </a:p>
            </p:txBody>
          </p:sp>
          <p:sp>
            <p:nvSpPr>
              <p:cNvPr id="18" name="Line 12">
                <a:extLst>
                  <a:ext uri="{FF2B5EF4-FFF2-40B4-BE49-F238E27FC236}">
                    <a16:creationId xmlns:a16="http://schemas.microsoft.com/office/drawing/2014/main" id="{2140A335-84AD-4526-A9F7-14CFC31715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768" y="2781"/>
                <a:ext cx="320" cy="537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985">
                  <a:latin typeface="+mn-ea"/>
                </a:endParaRPr>
              </a:p>
            </p:txBody>
          </p:sp>
          <p:sp>
            <p:nvSpPr>
              <p:cNvPr id="19" name="Line 13">
                <a:extLst>
                  <a:ext uri="{FF2B5EF4-FFF2-40B4-BE49-F238E27FC236}">
                    <a16:creationId xmlns:a16="http://schemas.microsoft.com/office/drawing/2014/main" id="{3F824883-47E1-48E3-BF74-5F48B2701D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217" y="2732"/>
                <a:ext cx="303" cy="55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985">
                  <a:latin typeface="+mn-ea"/>
                </a:endParaRPr>
              </a:p>
            </p:txBody>
          </p:sp>
          <p:sp>
            <p:nvSpPr>
              <p:cNvPr id="20" name="Line 14">
                <a:extLst>
                  <a:ext uri="{FF2B5EF4-FFF2-40B4-BE49-F238E27FC236}">
                    <a16:creationId xmlns:a16="http://schemas.microsoft.com/office/drawing/2014/main" id="{4166469D-750B-4354-A2A2-1978E76030A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358" y="2715"/>
                <a:ext cx="1022" cy="619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985">
                  <a:latin typeface="+mn-ea"/>
                </a:endParaRPr>
              </a:p>
            </p:txBody>
          </p:sp>
          <p:sp>
            <p:nvSpPr>
              <p:cNvPr id="21" name="Line 15">
                <a:extLst>
                  <a:ext uri="{FF2B5EF4-FFF2-40B4-BE49-F238E27FC236}">
                    <a16:creationId xmlns:a16="http://schemas.microsoft.com/office/drawing/2014/main" id="{540A7B7B-9FD5-4FBE-B883-05B2808D330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875" y="2714"/>
                <a:ext cx="1020" cy="586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985">
                  <a:latin typeface="+mn-ea"/>
                </a:endParaRPr>
              </a:p>
            </p:txBody>
          </p:sp>
          <p:sp>
            <p:nvSpPr>
              <p:cNvPr id="22" name="Line 16">
                <a:extLst>
                  <a:ext uri="{FF2B5EF4-FFF2-40B4-BE49-F238E27FC236}">
                    <a16:creationId xmlns:a16="http://schemas.microsoft.com/office/drawing/2014/main" id="{12AFFF12-D054-49B0-B556-3DEAA73DE3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735" y="2765"/>
                <a:ext cx="322" cy="50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985">
                  <a:latin typeface="+mn-ea"/>
                </a:endParaRPr>
              </a:p>
            </p:txBody>
          </p:sp>
          <p:sp>
            <p:nvSpPr>
              <p:cNvPr id="23" name="Line 17">
                <a:extLst>
                  <a:ext uri="{FF2B5EF4-FFF2-40B4-BE49-F238E27FC236}">
                    <a16:creationId xmlns:a16="http://schemas.microsoft.com/office/drawing/2014/main" id="{89C154F1-0A00-473C-80CF-01D58E9444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219" y="2799"/>
                <a:ext cx="287" cy="469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985">
                  <a:latin typeface="+mn-ea"/>
                </a:endParaRPr>
              </a:p>
            </p:txBody>
          </p:sp>
          <p:sp>
            <p:nvSpPr>
              <p:cNvPr id="24" name="Line 18">
                <a:extLst>
                  <a:ext uri="{FF2B5EF4-FFF2-40B4-BE49-F238E27FC236}">
                    <a16:creationId xmlns:a16="http://schemas.microsoft.com/office/drawing/2014/main" id="{3DA666DD-36B2-48B2-B7D2-51F7AD6D73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606" y="1943"/>
                <a:ext cx="268" cy="519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985">
                  <a:latin typeface="+mn-ea"/>
                </a:endParaRPr>
              </a:p>
            </p:txBody>
          </p:sp>
          <p:sp>
            <p:nvSpPr>
              <p:cNvPr id="25" name="Line 19">
                <a:extLst>
                  <a:ext uri="{FF2B5EF4-FFF2-40B4-BE49-F238E27FC236}">
                    <a16:creationId xmlns:a16="http://schemas.microsoft.com/office/drawing/2014/main" id="{F7A50D18-5BD8-4694-A605-46E9752DF1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67" y="1940"/>
                <a:ext cx="787" cy="50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985">
                  <a:latin typeface="+mn-ea"/>
                </a:endParaRPr>
              </a:p>
            </p:txBody>
          </p:sp>
          <p:sp>
            <p:nvSpPr>
              <p:cNvPr id="26" name="Line 20">
                <a:extLst>
                  <a:ext uri="{FF2B5EF4-FFF2-40B4-BE49-F238E27FC236}">
                    <a16:creationId xmlns:a16="http://schemas.microsoft.com/office/drawing/2014/main" id="{7C98AABA-EB7C-45F8-9234-7D0FF2798E6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58" y="1959"/>
                <a:ext cx="1380" cy="50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985">
                  <a:latin typeface="+mn-ea"/>
                </a:endParaRPr>
              </a:p>
            </p:txBody>
          </p:sp>
          <p:sp>
            <p:nvSpPr>
              <p:cNvPr id="27" name="Line 21">
                <a:extLst>
                  <a:ext uri="{FF2B5EF4-FFF2-40B4-BE49-F238E27FC236}">
                    <a16:creationId xmlns:a16="http://schemas.microsoft.com/office/drawing/2014/main" id="{2745594E-A6BC-4DD5-A0DC-BD43759E0B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017" y="1905"/>
                <a:ext cx="1342" cy="572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985">
                  <a:latin typeface="+mn-ea"/>
                </a:endParaRPr>
              </a:p>
            </p:txBody>
          </p:sp>
          <p:sp>
            <p:nvSpPr>
              <p:cNvPr id="28" name="Line 22">
                <a:extLst>
                  <a:ext uri="{FF2B5EF4-FFF2-40B4-BE49-F238E27FC236}">
                    <a16:creationId xmlns:a16="http://schemas.microsoft.com/office/drawing/2014/main" id="{C325E139-2828-4416-99C3-4D06BE2D63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3341" y="1940"/>
                <a:ext cx="197" cy="50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985">
                  <a:latin typeface="+mn-ea"/>
                </a:endParaRPr>
              </a:p>
            </p:txBody>
          </p:sp>
          <p:sp>
            <p:nvSpPr>
              <p:cNvPr id="29" name="Line 23">
                <a:extLst>
                  <a:ext uri="{FF2B5EF4-FFF2-40B4-BE49-F238E27FC236}">
                    <a16:creationId xmlns:a16="http://schemas.microsoft.com/office/drawing/2014/main" id="{6BA56408-6D05-450F-9723-2CF968ED0D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2679" y="1990"/>
                <a:ext cx="734" cy="453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985">
                  <a:latin typeface="+mn-ea"/>
                </a:endParaRPr>
              </a:p>
            </p:txBody>
          </p:sp>
          <p:sp>
            <p:nvSpPr>
              <p:cNvPr id="30" name="Line 24">
                <a:extLst>
                  <a:ext uri="{FF2B5EF4-FFF2-40B4-BE49-F238E27FC236}">
                    <a16:creationId xmlns:a16="http://schemas.microsoft.com/office/drawing/2014/main" id="{A70961A0-3A8F-44AA-97DE-241EC549D3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1965" y="1960"/>
                <a:ext cx="537" cy="469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985">
                  <a:latin typeface="+mn-ea"/>
                </a:endParaRPr>
              </a:p>
            </p:txBody>
          </p:sp>
          <p:sp>
            <p:nvSpPr>
              <p:cNvPr id="31" name="Line 25">
                <a:extLst>
                  <a:ext uri="{FF2B5EF4-FFF2-40B4-BE49-F238E27FC236}">
                    <a16:creationId xmlns:a16="http://schemas.microsoft.com/office/drawing/2014/main" id="{BC2F03B5-74E1-4194-8196-B1C5647B244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610" y="1977"/>
                <a:ext cx="0" cy="434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985">
                  <a:latin typeface="+mn-ea"/>
                </a:endParaRPr>
              </a:p>
            </p:txBody>
          </p:sp>
          <p:sp>
            <p:nvSpPr>
              <p:cNvPr id="32" name="Line 26">
                <a:extLst>
                  <a:ext uri="{FF2B5EF4-FFF2-40B4-BE49-F238E27FC236}">
                    <a16:creationId xmlns:a16="http://schemas.microsoft.com/office/drawing/2014/main" id="{F54199B7-2090-4F25-8FE8-28F5D24291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736" y="2011"/>
                <a:ext cx="501" cy="451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985">
                  <a:latin typeface="+mn-ea"/>
                </a:endParaRPr>
              </a:p>
            </p:txBody>
          </p:sp>
          <p:sp>
            <p:nvSpPr>
              <p:cNvPr id="33" name="Line 27">
                <a:extLst>
                  <a:ext uri="{FF2B5EF4-FFF2-40B4-BE49-F238E27FC236}">
                    <a16:creationId xmlns:a16="http://schemas.microsoft.com/office/drawing/2014/main" id="{3DF72A24-1EAC-44A0-AC2A-9CBB24D75D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179" y="3604"/>
                <a:ext cx="0" cy="569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985">
                  <a:latin typeface="+mn-ea"/>
                </a:endParaRPr>
              </a:p>
            </p:txBody>
          </p:sp>
          <p:sp>
            <p:nvSpPr>
              <p:cNvPr id="34" name="Line 28">
                <a:extLst>
                  <a:ext uri="{FF2B5EF4-FFF2-40B4-BE49-F238E27FC236}">
                    <a16:creationId xmlns:a16="http://schemas.microsoft.com/office/drawing/2014/main" id="{CBA2B55B-1E67-480C-919A-FCCDD4E888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075" y="3621"/>
                <a:ext cx="0" cy="568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985">
                  <a:latin typeface="+mn-ea"/>
                </a:endParaRPr>
              </a:p>
            </p:txBody>
          </p:sp>
          <p:sp>
            <p:nvSpPr>
              <p:cNvPr id="35" name="Line 29">
                <a:extLst>
                  <a:ext uri="{FF2B5EF4-FFF2-40B4-BE49-F238E27FC236}">
                    <a16:creationId xmlns:a16="http://schemas.microsoft.com/office/drawing/2014/main" id="{CA521C2C-C02D-4DC4-837E-5C728F7252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75" y="1088"/>
                <a:ext cx="0" cy="568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985">
                  <a:latin typeface="+mn-ea"/>
                </a:endParaRPr>
              </a:p>
            </p:txBody>
          </p:sp>
          <p:sp>
            <p:nvSpPr>
              <p:cNvPr id="36" name="Line 30">
                <a:extLst>
                  <a:ext uri="{FF2B5EF4-FFF2-40B4-BE49-F238E27FC236}">
                    <a16:creationId xmlns:a16="http://schemas.microsoft.com/office/drawing/2014/main" id="{32E9EB73-E176-48B4-8F5C-6BFA356B03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591" y="1072"/>
                <a:ext cx="0" cy="568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985">
                  <a:latin typeface="+mn-ea"/>
                </a:endParaRPr>
              </a:p>
            </p:txBody>
          </p:sp>
          <p:sp>
            <p:nvSpPr>
              <p:cNvPr id="37" name="Line 31">
                <a:extLst>
                  <a:ext uri="{FF2B5EF4-FFF2-40B4-BE49-F238E27FC236}">
                    <a16:creationId xmlns:a16="http://schemas.microsoft.com/office/drawing/2014/main" id="{EFA4405E-EEFD-489A-BA0D-48C18A4CD4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235" y="1072"/>
                <a:ext cx="0" cy="568"/>
              </a:xfrm>
              <a:prstGeom prst="line">
                <a:avLst/>
              </a:prstGeom>
              <a:noFill/>
              <a:ln w="12700">
                <a:solidFill>
                  <a:srgbClr val="000000"/>
                </a:solidFill>
                <a:round/>
                <a:headEnd type="none" w="sm" len="sm"/>
                <a:tailEnd type="stealth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 sz="1985">
                  <a:latin typeface="+mn-ea"/>
                </a:endParaRPr>
              </a:p>
            </p:txBody>
          </p:sp>
        </p:grpSp>
        <p:sp>
          <p:nvSpPr>
            <p:cNvPr id="38" name="Rectangle 32">
              <a:extLst>
                <a:ext uri="{FF2B5EF4-FFF2-40B4-BE49-F238E27FC236}">
                  <a16:creationId xmlns:a16="http://schemas.microsoft.com/office/drawing/2014/main" id="{BE47B758-BFE3-4726-95C6-ADE04918C7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03116" y="1744922"/>
              <a:ext cx="1276863" cy="6010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01538" tIns="50770" rIns="101538" bIns="50770">
              <a:spAutoFit/>
            </a:bodyPr>
            <a:lstStyle/>
            <a:p>
              <a:pPr algn="ctr" eaLnBrk="0" hangingPunct="0"/>
              <a:r>
                <a:rPr lang="zh-CN" altLang="en-US" sz="2400" dirty="0">
                  <a:latin typeface="+mn-ea"/>
                </a:rPr>
                <a:t>输出层</a:t>
              </a:r>
              <a:endParaRPr lang="en-US" altLang="zh-TW" sz="2400" dirty="0">
                <a:latin typeface="+mn-ea"/>
              </a:endParaRPr>
            </a:p>
          </p:txBody>
        </p:sp>
        <p:sp>
          <p:nvSpPr>
            <p:cNvPr id="39" name="Rectangle 33">
              <a:extLst>
                <a:ext uri="{FF2B5EF4-FFF2-40B4-BE49-F238E27FC236}">
                  <a16:creationId xmlns:a16="http://schemas.microsoft.com/office/drawing/2014/main" id="{F384C2BE-1DAF-4873-B696-DFB6BD43F3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7067" y="4716175"/>
              <a:ext cx="1276863" cy="6010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01538" tIns="50770" rIns="101538" bIns="50770">
              <a:spAutoFit/>
            </a:bodyPr>
            <a:lstStyle/>
            <a:p>
              <a:pPr algn="ctr" eaLnBrk="0" hangingPunct="0"/>
              <a:r>
                <a:rPr lang="zh-CN" altLang="en-US" sz="2400" dirty="0">
                  <a:latin typeface="+mn-ea"/>
                </a:rPr>
                <a:t>输入层</a:t>
              </a:r>
              <a:endParaRPr lang="en-US" altLang="zh-TW" sz="2400" dirty="0">
                <a:latin typeface="+mn-ea"/>
              </a:endParaRPr>
            </a:p>
          </p:txBody>
        </p:sp>
        <p:sp>
          <p:nvSpPr>
            <p:cNvPr id="40" name="Rectangle 34">
              <a:extLst>
                <a:ext uri="{FF2B5EF4-FFF2-40B4-BE49-F238E27FC236}">
                  <a16:creationId xmlns:a16="http://schemas.microsoft.com/office/drawing/2014/main" id="{3F883465-4757-496E-82AA-F4780CFBB8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6595" y="3212358"/>
              <a:ext cx="1276863" cy="6010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01538" tIns="50770" rIns="101538" bIns="50770">
              <a:spAutoFit/>
            </a:bodyPr>
            <a:lstStyle/>
            <a:p>
              <a:pPr algn="ctr" eaLnBrk="0" hangingPunct="0"/>
              <a:r>
                <a:rPr lang="zh-CN" altLang="en-US" sz="2400" dirty="0">
                  <a:latin typeface="+mn-ea"/>
                </a:rPr>
                <a:t>隐藏层</a:t>
              </a:r>
              <a:endParaRPr lang="en-US" altLang="zh-TW" sz="2400" dirty="0">
                <a:latin typeface="+mn-ea"/>
              </a:endParaRPr>
            </a:p>
          </p:txBody>
        </p:sp>
        <p:sp>
          <p:nvSpPr>
            <p:cNvPr id="41" name="Rectangle 35">
              <a:extLst>
                <a:ext uri="{FF2B5EF4-FFF2-40B4-BE49-F238E27FC236}">
                  <a16:creationId xmlns:a16="http://schemas.microsoft.com/office/drawing/2014/main" id="{DBAB7069-4ECF-4F89-9C0D-5F07FB2580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1310" y="810453"/>
              <a:ext cx="1625137" cy="6010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01538" tIns="50770" rIns="101538" bIns="50770">
              <a:spAutoFit/>
            </a:bodyPr>
            <a:lstStyle/>
            <a:p>
              <a:pPr algn="ctr" eaLnBrk="0" hangingPunct="0"/>
              <a:r>
                <a:rPr lang="zh-CN" altLang="en-US" sz="2400" dirty="0">
                  <a:latin typeface="+mn-ea"/>
                </a:rPr>
                <a:t>输出向量</a:t>
              </a:r>
              <a:endParaRPr lang="en-US" altLang="zh-TW" sz="2400" dirty="0">
                <a:latin typeface="+mn-ea"/>
              </a:endParaRPr>
            </a:p>
          </p:txBody>
        </p:sp>
        <p:sp>
          <p:nvSpPr>
            <p:cNvPr id="42" name="Rectangle 36">
              <a:extLst>
                <a:ext uri="{FF2B5EF4-FFF2-40B4-BE49-F238E27FC236}">
                  <a16:creationId xmlns:a16="http://schemas.microsoft.com/office/drawing/2014/main" id="{F250CAF4-7BE0-4AB3-93E7-B5939C4095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81309" y="5650644"/>
              <a:ext cx="1625136" cy="6010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lIns="101538" tIns="50770" rIns="101538" bIns="50770">
              <a:spAutoFit/>
            </a:bodyPr>
            <a:lstStyle/>
            <a:p>
              <a:pPr algn="ctr" eaLnBrk="0" hangingPunct="0"/>
              <a:r>
                <a:rPr lang="zh-CN" altLang="en-US" sz="2400" dirty="0">
                  <a:latin typeface="+mn-ea"/>
                </a:rPr>
                <a:t>输入向量</a:t>
              </a:r>
              <a:endParaRPr lang="en-US" altLang="zh-TW" sz="2400" i="1" baseline="30000" dirty="0">
                <a:latin typeface="+mn-ea"/>
              </a:endParaRPr>
            </a:p>
          </p:txBody>
        </p:sp>
      </p:grpSp>
      <p:sp>
        <p:nvSpPr>
          <p:cNvPr id="45" name="文本框 44">
            <a:extLst>
              <a:ext uri="{FF2B5EF4-FFF2-40B4-BE49-F238E27FC236}">
                <a16:creationId xmlns:a16="http://schemas.microsoft.com/office/drawing/2014/main" id="{9FCB1098-2832-4C93-BF63-D9EBF169C910}"/>
              </a:ext>
            </a:extLst>
          </p:cNvPr>
          <p:cNvSpPr txBox="1"/>
          <p:nvPr/>
        </p:nvSpPr>
        <p:spPr>
          <a:xfrm>
            <a:off x="1954573" y="6472582"/>
            <a:ext cx="66154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对于非线性，神经网络通过</a:t>
            </a:r>
            <a:r>
              <a:rPr lang="zh-CN" altLang="en-US" b="0" i="0" dirty="0">
                <a:solidFill>
                  <a:srgbClr val="0000FF"/>
                </a:solidFill>
                <a:effectLst/>
                <a:latin typeface="Verdana" panose="020B0604030504040204" pitchFamily="34" charset="0"/>
              </a:rPr>
              <a:t>激活函数和隐藏函数</a:t>
            </a:r>
            <a:r>
              <a:rPr lang="zh-CN" altLang="en-US" b="0" i="0" dirty="0"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让数据可分</a:t>
            </a:r>
            <a:r>
              <a:rPr lang="zh-CN" altLang="en-US" b="1" i="0" kern="0" dirty="0">
                <a:solidFill>
                  <a:srgbClr val="000000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51525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AD0761-0DAC-4AE9-3283-E19E6559D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z="4400" b="1" kern="0" dirty="0">
                <a:effectLst/>
                <a:latin typeface="仿宋" panose="02010609060101010101" pitchFamily="49" charset="-122"/>
                <a:ea typeface="仿宋" panose="02010609060101010101" pitchFamily="49" charset="-122"/>
              </a:rPr>
              <a:t>多层网络（神经网络）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F2C3C3-7CE0-D5B4-49BA-BC38E28740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12776"/>
            <a:ext cx="8229600" cy="4525963"/>
          </a:xfrm>
        </p:spPr>
        <p:txBody>
          <a:bodyPr/>
          <a:lstStyle/>
          <a:p>
            <a:r>
              <a:rPr lang="en-CN" dirty="0"/>
              <a:t> </a:t>
            </a:r>
            <a:r>
              <a:rPr lang="en-CN" b="1" kern="0" dirty="0"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多层神经网络</a:t>
            </a:r>
            <a:r>
              <a:rPr lang="en-US" altLang="zh-CN" b="1" kern="0" dirty="0">
                <a:latin typeface="仿宋" panose="02010609060101010101" pitchFamily="49" charset="-122"/>
                <a:ea typeface="仿宋" panose="02010609060101010101" pitchFamily="49" charset="-122"/>
                <a:cs typeface="+mj-cs"/>
              </a:rPr>
              <a:t>(MLP)</a:t>
            </a:r>
            <a:endParaRPr lang="en-CN" b="1" kern="0" dirty="0">
              <a:latin typeface="仿宋" panose="02010609060101010101" pitchFamily="49" charset="-122"/>
              <a:ea typeface="仿宋" panose="02010609060101010101" pitchFamily="49" charset="-122"/>
              <a:cs typeface="+mj-cs"/>
            </a:endParaRPr>
          </a:p>
        </p:txBody>
      </p:sp>
      <p:pic>
        <p:nvPicPr>
          <p:cNvPr id="5" name="Picture 4" descr="A picture containing indoor, equipment&#10;&#10;Description automatically generated">
            <a:extLst>
              <a:ext uri="{FF2B5EF4-FFF2-40B4-BE49-F238E27FC236}">
                <a16:creationId xmlns:a16="http://schemas.microsoft.com/office/drawing/2014/main" id="{2576CB2F-C825-8B03-0D70-CBB3BE510F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7784" y="2060848"/>
            <a:ext cx="3240360" cy="4596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67194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A44A4-0A90-CD6D-DB43-36760677D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BP学习算法</a:t>
            </a:r>
          </a:p>
        </p:txBody>
      </p:sp>
      <p:pic>
        <p:nvPicPr>
          <p:cNvPr id="5" name="Content Placeholder 4" descr="Diagram, text&#10;&#10;Description automatically generated">
            <a:extLst>
              <a:ext uri="{FF2B5EF4-FFF2-40B4-BE49-F238E27FC236}">
                <a16:creationId xmlns:a16="http://schemas.microsoft.com/office/drawing/2014/main" id="{D66560F1-5156-0470-07AB-C00F629F475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772816"/>
            <a:ext cx="8229600" cy="3838989"/>
          </a:xfrm>
        </p:spPr>
      </p:pic>
    </p:spTree>
    <p:extLst>
      <p:ext uri="{BB962C8B-B14F-4D97-AF65-F5344CB8AC3E}">
        <p14:creationId xmlns:p14="http://schemas.microsoft.com/office/powerpoint/2010/main" val="19115206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A44A4-0A90-CD6D-DB43-36760677D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BP学习算法</a:t>
            </a:r>
          </a:p>
        </p:txBody>
      </p:sp>
      <p:pic>
        <p:nvPicPr>
          <p:cNvPr id="6" name="Content Placeholder 5" descr="Text, letter&#10;&#10;Description automatically generated">
            <a:extLst>
              <a:ext uri="{FF2B5EF4-FFF2-40B4-BE49-F238E27FC236}">
                <a16:creationId xmlns:a16="http://schemas.microsoft.com/office/drawing/2014/main" id="{F107D5C5-877F-5DAD-1459-983DD25B29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6663" y="1600200"/>
            <a:ext cx="6810674" cy="4525963"/>
          </a:xfrm>
        </p:spPr>
      </p:pic>
    </p:spTree>
    <p:extLst>
      <p:ext uri="{BB962C8B-B14F-4D97-AF65-F5344CB8AC3E}">
        <p14:creationId xmlns:p14="http://schemas.microsoft.com/office/powerpoint/2010/main" val="21812667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A44A4-0A90-CD6D-DB43-36760677D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BP学习算法</a:t>
            </a:r>
          </a:p>
        </p:txBody>
      </p:sp>
      <p:pic>
        <p:nvPicPr>
          <p:cNvPr id="7" name="Content Placeholder 6" descr="Text, letter&#10;&#10;Description automatically generated">
            <a:extLst>
              <a:ext uri="{FF2B5EF4-FFF2-40B4-BE49-F238E27FC236}">
                <a16:creationId xmlns:a16="http://schemas.microsoft.com/office/drawing/2014/main" id="{E2103E44-5B25-6ECF-F271-CF586B2518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6448" y="1340768"/>
            <a:ext cx="6851104" cy="3528391"/>
          </a:xfrm>
        </p:spPr>
      </p:pic>
      <p:pic>
        <p:nvPicPr>
          <p:cNvPr id="9" name="Picture 8" descr="Chart, diagram&#10;&#10;Description automatically generated">
            <a:extLst>
              <a:ext uri="{FF2B5EF4-FFF2-40B4-BE49-F238E27FC236}">
                <a16:creationId xmlns:a16="http://schemas.microsoft.com/office/drawing/2014/main" id="{4F80A0FD-ADDF-3E9C-4E3E-A75343B9FC9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3728" y="5004724"/>
            <a:ext cx="3024336" cy="930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79473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A44A4-0A90-CD6D-DB43-36760677D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BP学习算法</a:t>
            </a:r>
          </a:p>
        </p:txBody>
      </p:sp>
      <p:pic>
        <p:nvPicPr>
          <p:cNvPr id="6" name="Content Placeholder 5" descr="Text, letter&#10;&#10;Description automatically generated">
            <a:extLst>
              <a:ext uri="{FF2B5EF4-FFF2-40B4-BE49-F238E27FC236}">
                <a16:creationId xmlns:a16="http://schemas.microsoft.com/office/drawing/2014/main" id="{529EAEBA-AF53-FB13-BCF0-BE1BF83BD6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718796"/>
            <a:ext cx="8229600" cy="4288771"/>
          </a:xfrm>
        </p:spPr>
      </p:pic>
    </p:spTree>
    <p:extLst>
      <p:ext uri="{BB962C8B-B14F-4D97-AF65-F5344CB8AC3E}">
        <p14:creationId xmlns:p14="http://schemas.microsoft.com/office/powerpoint/2010/main" val="402365746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A44A4-0A90-CD6D-DB43-36760677D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BP学习算法</a:t>
            </a:r>
          </a:p>
        </p:txBody>
      </p:sp>
      <p:pic>
        <p:nvPicPr>
          <p:cNvPr id="7" name="Content Placeholder 6" descr="Text, letter&#10;&#10;Description automatically generated">
            <a:extLst>
              <a:ext uri="{FF2B5EF4-FFF2-40B4-BE49-F238E27FC236}">
                <a16:creationId xmlns:a16="http://schemas.microsoft.com/office/drawing/2014/main" id="{48D625D4-B515-F21A-7287-39EDCAAE3E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720" y="1600200"/>
            <a:ext cx="7256559" cy="4525963"/>
          </a:xfrm>
        </p:spPr>
      </p:pic>
    </p:spTree>
    <p:extLst>
      <p:ext uri="{BB962C8B-B14F-4D97-AF65-F5344CB8AC3E}">
        <p14:creationId xmlns:p14="http://schemas.microsoft.com/office/powerpoint/2010/main" val="14788737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A44A4-0A90-CD6D-DB43-36760677D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BP学习算法</a:t>
            </a:r>
          </a:p>
        </p:txBody>
      </p:sp>
      <p:pic>
        <p:nvPicPr>
          <p:cNvPr id="6" name="Content Placeholder 5" descr="Text&#10;&#10;Description automatically generated with low confidence">
            <a:extLst>
              <a:ext uri="{FF2B5EF4-FFF2-40B4-BE49-F238E27FC236}">
                <a16:creationId xmlns:a16="http://schemas.microsoft.com/office/drawing/2014/main" id="{8E2C28F8-09DA-8C20-0413-AE806E869F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4036" y="1600200"/>
            <a:ext cx="7115927" cy="4525963"/>
          </a:xfrm>
        </p:spPr>
      </p:pic>
    </p:spTree>
    <p:extLst>
      <p:ext uri="{BB962C8B-B14F-4D97-AF65-F5344CB8AC3E}">
        <p14:creationId xmlns:p14="http://schemas.microsoft.com/office/powerpoint/2010/main" val="285742279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A44A4-0A90-CD6D-DB43-36760677D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BP学习算法</a:t>
            </a:r>
          </a:p>
        </p:txBody>
      </p:sp>
      <p:pic>
        <p:nvPicPr>
          <p:cNvPr id="7" name="Content Placeholder 6" descr="Text, letter&#10;&#10;Description automatically generated">
            <a:extLst>
              <a:ext uri="{FF2B5EF4-FFF2-40B4-BE49-F238E27FC236}">
                <a16:creationId xmlns:a16="http://schemas.microsoft.com/office/drawing/2014/main" id="{8F3E9429-EFC7-2728-C1D6-B99EA7AFF1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3654" y="1600200"/>
            <a:ext cx="6556691" cy="4525963"/>
          </a:xfrm>
        </p:spPr>
      </p:pic>
    </p:spTree>
    <p:extLst>
      <p:ext uri="{BB962C8B-B14F-4D97-AF65-F5344CB8AC3E}">
        <p14:creationId xmlns:p14="http://schemas.microsoft.com/office/powerpoint/2010/main" val="21418615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A44A4-0A90-CD6D-DB43-36760677D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BP学习算法</a:t>
            </a:r>
          </a:p>
        </p:txBody>
      </p:sp>
      <p:pic>
        <p:nvPicPr>
          <p:cNvPr id="6" name="Content Placeholder 5" descr="Text, letter&#10;&#10;Description automatically generated">
            <a:extLst>
              <a:ext uri="{FF2B5EF4-FFF2-40B4-BE49-F238E27FC236}">
                <a16:creationId xmlns:a16="http://schemas.microsoft.com/office/drawing/2014/main" id="{D514E019-A87C-6EE7-7680-2017C49DA1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8101" y="1600200"/>
            <a:ext cx="6107798" cy="4525963"/>
          </a:xfrm>
        </p:spPr>
      </p:pic>
    </p:spTree>
    <p:extLst>
      <p:ext uri="{BB962C8B-B14F-4D97-AF65-F5344CB8AC3E}">
        <p14:creationId xmlns:p14="http://schemas.microsoft.com/office/powerpoint/2010/main" val="240397112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A44A4-0A90-CD6D-DB43-36760677D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BP学习算法</a:t>
            </a:r>
          </a:p>
        </p:txBody>
      </p:sp>
      <p:pic>
        <p:nvPicPr>
          <p:cNvPr id="7" name="Content Placeholder 6" descr="Text, letter&#10;&#10;Description automatically generated">
            <a:extLst>
              <a:ext uri="{FF2B5EF4-FFF2-40B4-BE49-F238E27FC236}">
                <a16:creationId xmlns:a16="http://schemas.microsoft.com/office/drawing/2014/main" id="{7F1109A0-C64C-9CC9-EF28-CB8E4280A6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0407" y="1600200"/>
            <a:ext cx="6763186" cy="4525963"/>
          </a:xfrm>
        </p:spPr>
      </p:pic>
    </p:spTree>
    <p:extLst>
      <p:ext uri="{BB962C8B-B14F-4D97-AF65-F5344CB8AC3E}">
        <p14:creationId xmlns:p14="http://schemas.microsoft.com/office/powerpoint/2010/main" val="339690755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FA44A4-0A90-CD6D-DB43-36760677D9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BP学习算法</a:t>
            </a:r>
          </a:p>
        </p:txBody>
      </p:sp>
      <p:pic>
        <p:nvPicPr>
          <p:cNvPr id="6" name="Content Placeholder 5" descr="Text, letter&#10;&#10;Description automatically generated">
            <a:extLst>
              <a:ext uri="{FF2B5EF4-FFF2-40B4-BE49-F238E27FC236}">
                <a16:creationId xmlns:a16="http://schemas.microsoft.com/office/drawing/2014/main" id="{0B8E1A53-F576-E895-351D-1103CF5956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196752"/>
            <a:ext cx="7499176" cy="3512544"/>
          </a:xfrm>
        </p:spPr>
      </p:pic>
      <p:pic>
        <p:nvPicPr>
          <p:cNvPr id="9" name="Picture 8" descr="A picture containing text&#10;&#10;Description automatically generated">
            <a:extLst>
              <a:ext uri="{FF2B5EF4-FFF2-40B4-BE49-F238E27FC236}">
                <a16:creationId xmlns:a16="http://schemas.microsoft.com/office/drawing/2014/main" id="{29D686AF-6719-D560-D529-D6399DC6084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4736073"/>
            <a:ext cx="7772400" cy="1676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12358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a16:creationId xmlns:a16="http://schemas.microsoft.com/office/drawing/2014/main" id="{6426A7DB-934B-46D6-AD06-822DABB340AD}"/>
              </a:ext>
            </a:extLst>
          </p:cNvPr>
          <p:cNvSpPr txBox="1"/>
          <p:nvPr/>
        </p:nvSpPr>
        <p:spPr>
          <a:xfrm>
            <a:off x="3347864" y="2924944"/>
            <a:ext cx="178194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6000" b="0" i="0" dirty="0">
                <a:solidFill>
                  <a:srgbClr val="002060"/>
                </a:solidFill>
                <a:effectLst/>
                <a:latin typeface="+mj-lt"/>
              </a:rPr>
              <a:t>Q&amp;A</a:t>
            </a:r>
            <a:r>
              <a:rPr lang="en-US" altLang="zh-CN" sz="6000" dirty="0">
                <a:solidFill>
                  <a:srgbClr val="002060"/>
                </a:solidFill>
                <a:latin typeface="+mj-lt"/>
              </a:rPr>
              <a:t>?</a:t>
            </a:r>
            <a:endParaRPr lang="zh-CN" altLang="en-US" sz="6000" dirty="0">
              <a:solidFill>
                <a:srgbClr val="002060"/>
              </a:solidFill>
              <a:latin typeface="+mj-l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8668</TotalTime>
  <Words>1311</Words>
  <Application>Microsoft Office PowerPoint</Application>
  <PresentationFormat>全屏显示(4:3)</PresentationFormat>
  <Paragraphs>275</Paragraphs>
  <Slides>36</Slides>
  <Notes>3</Notes>
  <HiddenSlides>2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36</vt:i4>
      </vt:variant>
    </vt:vector>
  </HeadingPairs>
  <TitlesOfParts>
    <vt:vector size="45" baseType="lpstr">
      <vt:lpstr>新細明體</vt:lpstr>
      <vt:lpstr>仿宋</vt:lpstr>
      <vt:lpstr>Arial</vt:lpstr>
      <vt:lpstr>Calibri</vt:lpstr>
      <vt:lpstr>Symbol</vt:lpstr>
      <vt:lpstr>Tahoma</vt:lpstr>
      <vt:lpstr>Verdana</vt:lpstr>
      <vt:lpstr>Wingdings</vt:lpstr>
      <vt:lpstr>Office 主题</vt:lpstr>
      <vt:lpstr>提纲</vt:lpstr>
      <vt:lpstr>背景</vt:lpstr>
      <vt:lpstr>神经元</vt:lpstr>
      <vt:lpstr>感知机(Perception )</vt:lpstr>
      <vt:lpstr>感知机模型</vt:lpstr>
      <vt:lpstr>感知机模型</vt:lpstr>
      <vt:lpstr>感知机模型</vt:lpstr>
      <vt:lpstr>感知机原理</vt:lpstr>
      <vt:lpstr>感知机原理</vt:lpstr>
      <vt:lpstr>感知机原理</vt:lpstr>
      <vt:lpstr>感知机损失函数</vt:lpstr>
      <vt:lpstr>感知机损失函数</vt:lpstr>
      <vt:lpstr>感知机学习</vt:lpstr>
      <vt:lpstr>感知机算法</vt:lpstr>
      <vt:lpstr>感知机算法</vt:lpstr>
      <vt:lpstr>PowerPoint 演示文稿</vt:lpstr>
      <vt:lpstr>感知机流程</vt:lpstr>
      <vt:lpstr>多分类感知机</vt:lpstr>
      <vt:lpstr>多分类感知机</vt:lpstr>
      <vt:lpstr>多分类感知机</vt:lpstr>
      <vt:lpstr>线性可分</vt:lpstr>
      <vt:lpstr>线性可分</vt:lpstr>
      <vt:lpstr>线性可分</vt:lpstr>
      <vt:lpstr>多层网络（神经网络）</vt:lpstr>
      <vt:lpstr>多层网络（神经网络）</vt:lpstr>
      <vt:lpstr>BP学习算法</vt:lpstr>
      <vt:lpstr>BP学习算法</vt:lpstr>
      <vt:lpstr>BP学习算法</vt:lpstr>
      <vt:lpstr>BP学习算法</vt:lpstr>
      <vt:lpstr>BP学习算法</vt:lpstr>
      <vt:lpstr>BP学习算法</vt:lpstr>
      <vt:lpstr>BP学习算法</vt:lpstr>
      <vt:lpstr>BP学习算法</vt:lpstr>
      <vt:lpstr>BP学习算法</vt:lpstr>
      <vt:lpstr>BP学习算法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user</dc:creator>
  <cp:lastModifiedBy>永铭 田</cp:lastModifiedBy>
  <cp:revision>230</cp:revision>
  <cp:lastPrinted>2018-09-10T04:26:47Z</cp:lastPrinted>
  <dcterms:created xsi:type="dcterms:W3CDTF">2017-08-16T13:23:05Z</dcterms:created>
  <dcterms:modified xsi:type="dcterms:W3CDTF">2024-10-24T02:20:47Z</dcterms:modified>
</cp:coreProperties>
</file>